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  <p:sldMasterId id="2147483660" r:id="rId2"/>
  </p:sldMasterIdLst>
  <p:notesMasterIdLst>
    <p:notesMasterId r:id="rId24"/>
  </p:notesMasterIdLst>
  <p:sldIdLst>
    <p:sldId id="256" r:id="rId3"/>
    <p:sldId id="277" r:id="rId4"/>
    <p:sldId id="278" r:id="rId5"/>
    <p:sldId id="280" r:id="rId6"/>
    <p:sldId id="302" r:id="rId7"/>
    <p:sldId id="297" r:id="rId8"/>
    <p:sldId id="298" r:id="rId9"/>
    <p:sldId id="300" r:id="rId10"/>
    <p:sldId id="301" r:id="rId11"/>
    <p:sldId id="303" r:id="rId12"/>
    <p:sldId id="282" r:id="rId13"/>
    <p:sldId id="304" r:id="rId14"/>
    <p:sldId id="305" r:id="rId15"/>
    <p:sldId id="306" r:id="rId16"/>
    <p:sldId id="307" r:id="rId17"/>
    <p:sldId id="308" r:id="rId18"/>
    <p:sldId id="309" r:id="rId19"/>
    <p:sldId id="310" r:id="rId20"/>
    <p:sldId id="311" r:id="rId21"/>
    <p:sldId id="312" r:id="rId22"/>
    <p:sldId id="313" r:id="rId23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834" y="15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viewProps" Target="viewProp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15.06.2026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好，欢迎来到《直流有刷电机高性能控制实战系列》课程。今天我们将深入探讨PID控制中至关重要的一环——电流环。在前面的章节中，我们已经学习了电流检测、PID理论以及速度环的控制。本次课程，我们将聚焦于一个完整的电流环控制案例，从需求分析到系统设计，为大家构建一个清晰的工程实现蓝图。这是我们实战系列的第11-02节，让我们开始吧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7239A2-8EE9-6113-16EA-0082B5046D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9747A08-45E5-BF74-E99D-4D9FDCCEA6F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D548C28-F673-F52F-89B9-8FAA24819295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103326DE-8DE9-C00F-3ACC-5DCFB9B1225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34DD7F77-FF08-F2C3-21C6-11AB9B4B2BC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B292BB-3437-9AA8-28D9-D3EE1C7FACE7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9C5C54-D9F1-286A-8982-E16B75F6AB6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3227767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AA9BAD-9E59-F829-7673-A9F546297B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0794ED9-8831-EFA1-3FC3-8A1B05C4DF0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6244E4B-6875-D03F-670B-97435A4BC4C3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3F680D38-E31A-831E-2FC1-472CFA14F63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E8D4A602-23B0-45B1-0D54-F730B59925A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4A0C05-712E-D5AC-E087-9453955EFE84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C0B58E-5C29-F013-7905-0D6C21D0A29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108953936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01AE91-7773-E2F3-E3B5-2EEC3F89B5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6027487-A634-83E1-04AC-87661088715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4B20E0-6F7D-95A6-3E77-25F18AAF3AC3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30EE0B55-2F6E-4E2A-BDFA-B95DD7617E5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8F328E30-F0C4-AF29-F0AD-57E816A3017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AE37A0-0846-76BB-6968-7607D323D47C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0A2565-2DCA-179B-7AE6-F7E8C33E4D4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93456395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2009EF-767B-BE99-85D8-AB6F72B56C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0506D7F-B597-DB4C-3BF9-570CE9DDF83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5510DBA-1D5F-8278-15E5-789643833D0B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CD09C210-E253-483E-9A5A-8E418D74E92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92C7BDA5-1CD3-8348-5052-2D47A6FA2C1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668D27-6748-B5AC-5386-92654C3CE95E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A393B2-5EBE-1934-3A7E-9C0BC73628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62801121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BFB5EB-8B4F-D7B1-75BE-5626182391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8E0300C-E770-586D-9488-C20CCEFFA6C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572FF23-A5D1-CB04-B398-EDE0947AE452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B855D76C-6698-B1B9-C759-E72987FA20A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F1F9841C-CA18-58AF-0567-8E92F9A8C32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CB37BE-3659-AE29-9B8F-8C37C0D5EE84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E71B3D-955D-6F7A-FBA6-C46BE738565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401562987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FD52B8-D9D2-B538-20F0-94F775A8B8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FC5A64F-F9DC-41CE-9A4C-06035FE5B24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997F32C-A88D-853D-C14C-0EB6BED2DD35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D469C9BD-D63E-D29F-B65F-4B2438AA51F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4D3E9791-B829-297B-F1CB-2DA34B15842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ECF6C3-D5B7-65B4-B0CD-5C3A46C2755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31E9B0-FC45-BC19-9CFA-9EAF748C315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94070737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了解了需求之后，我们进入第二部分：系统设计与实现。这一章将从宏观上构建我们整个控制系统的框架，并深入到软硬件的具体实现细节。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幻灯片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" name="Shape 31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4" name="Shape 3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" name="Shape 3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" name="Shape 3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内容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" name="Shape 5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0" name="Shape 5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" name="Shape 5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2" name="Shape 5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节标题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5" name="Shape 60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Shape 6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7" name="Shape 6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8" name="Shape 6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两栏内容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1" name="Shape 1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2" name="Shape 11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3" name="Shape 1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4" name="Shape 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5" name="Shape 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较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8" name="Shape 36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9" name="Shape 37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0" name="Shape 38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1" name="Shape 3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2" name="Shape 4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3" name="Shape 4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4" name="Shape 4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仅标题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7" name="Shape 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8" name="Shape 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9" name="Shape 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空白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2" name="Shape 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3" name="Shape 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内容与标题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6" name="Shape 44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57" name="Shape 45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58" name="Shape 4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9" name="Shape 4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Shape 4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图片与标题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3" name="Shape 25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65" name="Shape 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6" name="Shape 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7" name="Shape 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竖排文字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0" name="Shape 50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1" name="Shape 5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2" name="Shape 5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3" name="Shape 5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竖排标题与文本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6" name="Shape 16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7" name="Shape 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8" name="Shape 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9" name="Shape 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7" name="Shape 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Shape 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Shape 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Shape 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默认主题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5748369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13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14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10" Type="http://schemas.openxmlformats.org/officeDocument/2006/relationships/image" Target="../media/image8.svg"/><Relationship Id="rId4" Type="http://schemas.openxmlformats.org/officeDocument/2006/relationships/image" Target="../media/image2.png"/><Relationship Id="rId9" Type="http://schemas.openxmlformats.org/officeDocument/2006/relationships/image" Target="../media/image7.svg"/><Relationship Id="rId1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1.sv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4.png"/><Relationship Id="rId4" Type="http://schemas.openxmlformats.org/officeDocument/2006/relationships/image" Target="../media/image21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8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1905000"/>
            <a:ext cx="12192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800" b="1" i="0" u="none" strike="noStrike" dirty="0">
                <a:solidFill>
                  <a:srgbClr val="00838F"/>
                </a:solidFill>
                <a:latin typeface="Noto Sans SC"/>
                <a:ea typeface="Noto Sans SC"/>
                <a:cs typeface="Noto Sans SC"/>
                <a:sym typeface="Noto Sans SC"/>
              </a:rPr>
              <a:t>11-03 </a:t>
            </a:r>
            <a:r>
              <a:rPr lang="en-US" sz="4800" b="1" i="0" u="none" strike="noStrike" dirty="0" err="1">
                <a:solidFill>
                  <a:srgbClr val="00838F"/>
                </a:solidFill>
                <a:latin typeface="Noto Sans SC"/>
                <a:ea typeface="Noto Sans SC"/>
                <a:cs typeface="Noto Sans SC"/>
                <a:sym typeface="Noto Sans SC"/>
              </a:rPr>
              <a:t>电流环控制案例</a:t>
            </a:r>
            <a:r>
              <a:rPr lang="zh-CN" altLang="en-US" sz="4800" b="1" dirty="0">
                <a:solidFill>
                  <a:srgbClr val="00838F"/>
                </a:solidFill>
                <a:latin typeface="Noto Sans SC"/>
                <a:ea typeface="Noto Sans SC"/>
                <a:cs typeface="Noto Sans SC"/>
                <a:sym typeface="Noto Sans SC"/>
              </a:rPr>
              <a:t>（二）</a:t>
            </a:r>
            <a:endParaRPr lang="en-US" sz="1100" dirty="0"/>
          </a:p>
        </p:txBody>
      </p:sp>
      <p:sp>
        <p:nvSpPr>
          <p:cNvPr id="3" name="AutoShape 3"/>
          <p:cNvSpPr/>
          <p:nvPr/>
        </p:nvSpPr>
        <p:spPr>
          <a:xfrm>
            <a:off x="0" y="3302000"/>
            <a:ext cx="1219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zh-CN" altLang="en-US" sz="2400" b="0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开环控制的电流测量</a:t>
            </a:r>
            <a:endParaRPr lang="en-US" sz="1100" dirty="0"/>
          </a:p>
        </p:txBody>
      </p:sp>
      <p:sp>
        <p:nvSpPr>
          <p:cNvPr id="4" name="AutoShape 4"/>
          <p:cNvSpPr/>
          <p:nvPr/>
        </p:nvSpPr>
        <p:spPr>
          <a:xfrm>
            <a:off x="5588000" y="4572000"/>
            <a:ext cx="1016000" cy="50800"/>
          </a:xfrm>
          <a:prstGeom prst="roundRect">
            <a:avLst>
              <a:gd name="adj" fmla="val 0"/>
            </a:avLst>
          </a:prstGeom>
          <a:solidFill>
            <a:srgbClr val="00838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381000" y="5334000"/>
            <a:ext cx="11430000" cy="1143000"/>
          </a:xfrm>
          <a:prstGeom prst="roundRect">
            <a:avLst>
              <a:gd name="adj" fmla="val 13333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762000" y="5562600"/>
            <a:ext cx="5080000" cy="685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6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主讲人：高博士 | 淘宝店铺：GenBotter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6731000" y="5588000"/>
            <a:ext cx="431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r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2026.05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2286000" cy="6858000"/>
          </a:xfrm>
          <a:prstGeom prst="roundRect">
            <a:avLst>
              <a:gd name="adj" fmla="val 0"/>
            </a:avLst>
          </a:prstGeom>
          <a:solidFill>
            <a:srgbClr val="00838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0" y="2286000"/>
            <a:ext cx="2286000" cy="228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8333"/>
              </a:lnSpc>
              <a:defRPr/>
            </a:pPr>
            <a:r>
              <a:rPr lang="en-US" sz="44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课程</a:t>
            </a:r>
            <a:br>
              <a:rPr lang="en-US" sz="44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44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大纲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2921000" y="762000"/>
            <a:ext cx="863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0838F"/>
                </a:solidFill>
                <a:latin typeface="Noto Sans SC"/>
                <a:ea typeface="Noto Sans SC"/>
                <a:cs typeface="Noto Sans SC"/>
                <a:sym typeface="Noto Sans SC"/>
              </a:rPr>
              <a:t>CONTENTS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2921000" y="2540000"/>
            <a:ext cx="4254500" cy="2032000"/>
          </a:xfrm>
          <a:prstGeom prst="roundRect">
            <a:avLst>
              <a:gd name="adj" fmla="val 75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3175000" y="2794000"/>
            <a:ext cx="1016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00838F"/>
                </a:solidFill>
                <a:latin typeface="Noto Sans SC"/>
                <a:ea typeface="Noto Sans SC"/>
                <a:cs typeface="Noto Sans SC"/>
                <a:sym typeface="Noto Sans SC"/>
              </a:rPr>
              <a:t>01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4318000" y="2857500"/>
            <a:ext cx="2667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altLang="zh-CN" sz="2000" b="1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CubeMX</a:t>
            </a:r>
            <a:r>
              <a:rPr lang="zh-CN" altLang="en-US" sz="20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配置</a:t>
            </a:r>
            <a:endParaRPr lang="en-US" sz="1100" dirty="0"/>
          </a:p>
          <a:p>
            <a:pPr indent="0" algn="l">
              <a:lnSpc>
                <a:spcPct val="116666"/>
              </a:lnSpc>
            </a:pPr>
            <a:endParaRPr lang="en-US" altLang="zh-CN" sz="1400" b="0" i="0" u="none" strike="noStrike" dirty="0">
              <a:solidFill>
                <a:srgbClr val="666666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16666"/>
              </a:lnSpc>
            </a:pPr>
            <a:r>
              <a:rPr lang="en-US" altLang="zh-CN" sz="1400" b="0" i="0" u="none" strike="noStrike" dirty="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ADC</a:t>
            </a:r>
            <a:r>
              <a:rPr lang="zh-CN" altLang="en-US" sz="1400" b="0" i="0" u="none" strike="noStrike" dirty="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相关配置</a:t>
            </a:r>
            <a:endParaRPr lang="en-US" altLang="zh-CN" sz="1400" b="0" i="0" u="none" strike="noStrike" dirty="0">
              <a:solidFill>
                <a:srgbClr val="666666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16666"/>
              </a:lnSpc>
            </a:pPr>
            <a:r>
              <a:rPr lang="zh-CN" altLang="en-US" sz="1400" b="0" i="0" u="none" strike="noStrike" dirty="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定时器相关配置</a:t>
            </a:r>
            <a:endParaRPr lang="en-US" altLang="zh-CN" sz="1400" b="0" i="0" u="none" strike="noStrike" dirty="0">
              <a:solidFill>
                <a:srgbClr val="666666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16666"/>
              </a:lnSpc>
            </a:pPr>
            <a:r>
              <a:rPr lang="zh-CN" altLang="en-US" dirty="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其它配置</a:t>
            </a:r>
            <a:endParaRPr lang="en-US" altLang="zh-CN" sz="1400" b="0" i="0" u="none" strike="noStrike" dirty="0">
              <a:solidFill>
                <a:srgbClr val="666666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7429500" y="2540000"/>
            <a:ext cx="4254500" cy="2032000"/>
          </a:xfrm>
          <a:prstGeom prst="roundRect">
            <a:avLst>
              <a:gd name="adj" fmla="val 75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7683500" y="2794000"/>
            <a:ext cx="1016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00838F"/>
                </a:solidFill>
                <a:latin typeface="Noto Sans SC"/>
                <a:ea typeface="Noto Sans SC"/>
                <a:cs typeface="Noto Sans SC"/>
                <a:sym typeface="Noto Sans SC"/>
              </a:rPr>
              <a:t>02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8826500" y="2857500"/>
            <a:ext cx="2667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2000" b="1" dirty="0">
                <a:solidFill>
                  <a:srgbClr val="333333"/>
                </a:solidFill>
                <a:latin typeface="Noto Sans SC"/>
                <a:ea typeface="Noto Sans SC"/>
                <a:sym typeface="Noto Sans SC"/>
              </a:rPr>
              <a:t>关键代码与效果展示</a:t>
            </a:r>
            <a:endParaRPr lang="en-US" sz="1100" dirty="0"/>
          </a:p>
          <a:p>
            <a:pPr indent="0" algn="l">
              <a:lnSpc>
                <a:spcPct val="116666"/>
              </a:lnSpc>
              <a:spcBef>
                <a:spcPts val="1200"/>
              </a:spcBef>
            </a:pPr>
            <a:r>
              <a:rPr lang="zh-CN" altLang="en-US" dirty="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电机</a:t>
            </a:r>
            <a:r>
              <a:rPr lang="zh-CN" altLang="en-US" sz="1400" b="0" i="0" u="none" strike="noStrike" dirty="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开环控制</a:t>
            </a:r>
            <a:endParaRPr lang="en-US" altLang="zh-CN" sz="1400" b="0" i="0" u="none" strike="noStrike" dirty="0">
              <a:solidFill>
                <a:srgbClr val="666666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16666"/>
              </a:lnSpc>
            </a:pPr>
            <a:r>
              <a:rPr lang="zh-CN" altLang="en-US" sz="1400" b="0" i="0" u="none" strike="noStrike" dirty="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相同</a:t>
            </a:r>
            <a:r>
              <a:rPr lang="en-US" altLang="zh-CN" sz="1400" b="0" i="0" u="none" strike="noStrike" dirty="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PWM</a:t>
            </a:r>
            <a:r>
              <a:rPr lang="zh-CN" altLang="en-US" sz="1400" b="0" i="0" u="none" strike="noStrike" dirty="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，不同转速时电流</a:t>
            </a:r>
            <a:endParaRPr lang="en-US" sz="1400" b="0" i="0" u="none" strike="noStrike" dirty="0">
              <a:solidFill>
                <a:srgbClr val="666666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838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1905000"/>
            <a:ext cx="12192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80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01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0" y="3683000"/>
            <a:ext cx="1219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altLang="zh-CN" sz="3600" b="1" i="0" u="none" strike="noStrike" spc="200" dirty="0" err="1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CubeMX</a:t>
            </a:r>
            <a:r>
              <a:rPr lang="zh-CN" altLang="en-US" sz="3600" b="1" i="0" u="none" strike="noStrike" spc="200" dirty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配置</a:t>
            </a:r>
            <a:endParaRPr lang="en-US" sz="1100" dirty="0"/>
          </a:p>
        </p:txBody>
      </p:sp>
      <p:sp>
        <p:nvSpPr>
          <p:cNvPr id="4" name="AutoShape 4"/>
          <p:cNvSpPr/>
          <p:nvPr/>
        </p:nvSpPr>
        <p:spPr>
          <a:xfrm>
            <a:off x="5588000" y="5207000"/>
            <a:ext cx="1016000" cy="508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09600" y="148936"/>
            <a:ext cx="109728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zh-CN" altLang="en-US" sz="3200" b="1" i="0" u="none" strike="noStrike" dirty="0">
                <a:solidFill>
                  <a:srgbClr val="00838F"/>
                </a:solidFill>
                <a:latin typeface="Noto Sans SC"/>
                <a:ea typeface="Noto Sans SC"/>
                <a:cs typeface="Noto Sans SC"/>
                <a:sym typeface="Noto Sans SC"/>
              </a:rPr>
              <a:t>由</a:t>
            </a:r>
            <a:r>
              <a:rPr lang="en-US" altLang="zh-CN" sz="3200" b="1" i="0" u="none" strike="noStrike" dirty="0">
                <a:solidFill>
                  <a:srgbClr val="00838F"/>
                </a:solidFill>
                <a:latin typeface="Noto Sans SC"/>
                <a:ea typeface="Noto Sans SC"/>
                <a:cs typeface="Noto Sans SC"/>
                <a:sym typeface="Noto Sans SC"/>
              </a:rPr>
              <a:t>PM2</a:t>
            </a:r>
            <a:r>
              <a:rPr lang="zh-CN" altLang="en-US" sz="3200" b="1" i="0" u="none" strike="noStrike" dirty="0">
                <a:solidFill>
                  <a:srgbClr val="00838F"/>
                </a:solidFill>
                <a:latin typeface="Noto Sans SC"/>
                <a:ea typeface="Noto Sans SC"/>
                <a:cs typeface="Noto Sans SC"/>
                <a:sym typeface="Noto Sans SC"/>
              </a:rPr>
              <a:t>换回</a:t>
            </a:r>
            <a:r>
              <a:rPr lang="en-US" altLang="zh-CN" sz="3200" b="1" i="0" u="none" strike="noStrike" dirty="0">
                <a:solidFill>
                  <a:srgbClr val="00838F"/>
                </a:solidFill>
                <a:latin typeface="Noto Sans SC"/>
                <a:ea typeface="Noto Sans SC"/>
                <a:cs typeface="Noto Sans SC"/>
                <a:sym typeface="Noto Sans SC"/>
              </a:rPr>
              <a:t>PM1</a:t>
            </a:r>
            <a:r>
              <a:rPr lang="zh-CN" altLang="en-US" sz="3200" b="1" i="0" u="none" strike="noStrike" dirty="0">
                <a:solidFill>
                  <a:srgbClr val="00838F"/>
                </a:solidFill>
                <a:latin typeface="Noto Sans SC"/>
                <a:ea typeface="Noto Sans SC"/>
                <a:cs typeface="Noto Sans SC"/>
                <a:sym typeface="Noto Sans SC"/>
              </a:rPr>
              <a:t>的原因</a:t>
            </a:r>
            <a:endParaRPr lang="en-US" sz="1100" dirty="0"/>
          </a:p>
        </p:txBody>
      </p:sp>
      <p:sp>
        <p:nvSpPr>
          <p:cNvPr id="9" name="AutoShape 15">
            <a:extLst>
              <a:ext uri="{FF2B5EF4-FFF2-40B4-BE49-F238E27FC236}">
                <a16:creationId xmlns:a16="http://schemas.microsoft.com/office/drawing/2014/main" id="{624F0ECF-AA0A-2286-50C6-594626972D88}"/>
              </a:ext>
            </a:extLst>
          </p:cNvPr>
          <p:cNvSpPr/>
          <p:nvPr/>
        </p:nvSpPr>
        <p:spPr>
          <a:xfrm>
            <a:off x="0" y="1016000"/>
            <a:ext cx="4020578" cy="5327072"/>
          </a:xfrm>
          <a:prstGeom prst="roundRect">
            <a:avLst>
              <a:gd name="adj" fmla="val 3243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0E0E0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4">
            <a:extLst>
              <a:ext uri="{FF2B5EF4-FFF2-40B4-BE49-F238E27FC236}">
                <a16:creationId xmlns:a16="http://schemas.microsoft.com/office/drawing/2014/main" id="{57B39C1A-A2B2-2217-9CCE-048C847DE748}"/>
              </a:ext>
            </a:extLst>
          </p:cNvPr>
          <p:cNvSpPr/>
          <p:nvPr/>
        </p:nvSpPr>
        <p:spPr>
          <a:xfrm>
            <a:off x="721743" y="5962072"/>
            <a:ext cx="2611582" cy="381000"/>
          </a:xfrm>
          <a:prstGeom prst="roundRect">
            <a:avLst>
              <a:gd name="adj" fmla="val 12500"/>
            </a:avLst>
          </a:prstGeom>
          <a:solidFill>
            <a:srgbClr val="E0F2F1">
              <a:alpha val="100000"/>
            </a:srgbClr>
          </a:solidFill>
          <a:ln w="12700" cap="flat" cmpd="sng">
            <a:solidFill>
              <a:srgbClr val="00838F">
                <a:alpha val="50000"/>
              </a:srgbClr>
            </a:solidFill>
            <a:prstDash val="dash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zh-CN" altLang="en-US" sz="1400" b="0" i="0" u="none" strike="noStrike" dirty="0">
                <a:solidFill>
                  <a:srgbClr val="00666B"/>
                </a:solidFill>
                <a:latin typeface="Noto Sans SC"/>
                <a:ea typeface="Noto Sans SC"/>
                <a:cs typeface="Noto Sans SC"/>
                <a:sym typeface="Noto Sans SC"/>
              </a:rPr>
              <a:t>开发板上的</a:t>
            </a:r>
            <a:r>
              <a:rPr lang="en-US" altLang="zh-CN" sz="1400" b="0" i="0" u="none" strike="noStrike" dirty="0">
                <a:solidFill>
                  <a:srgbClr val="00666B"/>
                </a:solidFill>
                <a:latin typeface="Noto Sans SC"/>
                <a:ea typeface="Noto Sans SC"/>
                <a:cs typeface="Noto Sans SC"/>
                <a:sym typeface="Noto Sans SC"/>
              </a:rPr>
              <a:t>PM2</a:t>
            </a:r>
            <a:r>
              <a:rPr lang="zh-CN" altLang="en-US" sz="1400" b="0" i="0" u="none" strike="noStrike" dirty="0">
                <a:solidFill>
                  <a:srgbClr val="00666B"/>
                </a:solidFill>
                <a:latin typeface="Noto Sans SC"/>
                <a:ea typeface="Noto Sans SC"/>
                <a:cs typeface="Noto Sans SC"/>
                <a:sym typeface="Noto Sans SC"/>
              </a:rPr>
              <a:t>插排</a:t>
            </a:r>
            <a:endParaRPr lang="en-US" sz="1100" dirty="0"/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2872AFE8-2F4D-3B99-35C4-C282D344F3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490" y="1091754"/>
            <a:ext cx="3986088" cy="1847718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6002DB0D-1334-C36F-2081-DEB52E4FFB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03691" y="3235035"/>
            <a:ext cx="2002553" cy="476283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95DCE3D6-ABA6-545B-C1E9-7DE00344E58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047" y="4250907"/>
            <a:ext cx="1914525" cy="1171575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6DB9A027-7817-DC71-8372-0E2564D9EE7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88572" y="4207766"/>
            <a:ext cx="1895475" cy="600075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F97E5690-679A-6A2E-F4EF-4AB2D2716B5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77444" y="5470972"/>
            <a:ext cx="1828800" cy="295275"/>
          </a:xfrm>
          <a:prstGeom prst="rect">
            <a:avLst/>
          </a:prstGeom>
        </p:spPr>
      </p:pic>
      <p:sp>
        <p:nvSpPr>
          <p:cNvPr id="23" name="AutoShape 15">
            <a:extLst>
              <a:ext uri="{FF2B5EF4-FFF2-40B4-BE49-F238E27FC236}">
                <a16:creationId xmlns:a16="http://schemas.microsoft.com/office/drawing/2014/main" id="{59CD3B7D-3A48-7613-F5DA-E7A7312187EA}"/>
              </a:ext>
            </a:extLst>
          </p:cNvPr>
          <p:cNvSpPr/>
          <p:nvPr/>
        </p:nvSpPr>
        <p:spPr>
          <a:xfrm>
            <a:off x="8136934" y="1016000"/>
            <a:ext cx="4020578" cy="5327072"/>
          </a:xfrm>
          <a:prstGeom prst="roundRect">
            <a:avLst>
              <a:gd name="adj" fmla="val 3243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0E0E0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4" name="AutoShape 14">
            <a:extLst>
              <a:ext uri="{FF2B5EF4-FFF2-40B4-BE49-F238E27FC236}">
                <a16:creationId xmlns:a16="http://schemas.microsoft.com/office/drawing/2014/main" id="{4371D7B1-BBF6-EB24-727D-D2AC940D3020}"/>
              </a:ext>
            </a:extLst>
          </p:cNvPr>
          <p:cNvSpPr/>
          <p:nvPr/>
        </p:nvSpPr>
        <p:spPr>
          <a:xfrm>
            <a:off x="8858677" y="5962072"/>
            <a:ext cx="2611582" cy="381000"/>
          </a:xfrm>
          <a:prstGeom prst="roundRect">
            <a:avLst>
              <a:gd name="adj" fmla="val 12500"/>
            </a:avLst>
          </a:prstGeom>
          <a:solidFill>
            <a:srgbClr val="E0F2F1">
              <a:alpha val="100000"/>
            </a:srgbClr>
          </a:solidFill>
          <a:ln w="12700" cap="flat" cmpd="sng">
            <a:solidFill>
              <a:srgbClr val="00838F">
                <a:alpha val="50000"/>
              </a:srgbClr>
            </a:solidFill>
            <a:prstDash val="dash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zh-CN" altLang="en-US" sz="1400" b="0" i="0" u="none" strike="noStrike" dirty="0">
                <a:solidFill>
                  <a:srgbClr val="00666B"/>
                </a:solidFill>
                <a:latin typeface="Noto Sans SC"/>
                <a:ea typeface="Noto Sans SC"/>
                <a:cs typeface="Noto Sans SC"/>
                <a:sym typeface="Noto Sans SC"/>
              </a:rPr>
              <a:t>开发板上的</a:t>
            </a:r>
            <a:r>
              <a:rPr lang="en-US" altLang="zh-CN" sz="1400" b="0" i="0" u="none" strike="noStrike" dirty="0">
                <a:solidFill>
                  <a:srgbClr val="00666B"/>
                </a:solidFill>
                <a:latin typeface="Noto Sans SC"/>
                <a:ea typeface="Noto Sans SC"/>
                <a:cs typeface="Noto Sans SC"/>
                <a:sym typeface="Noto Sans SC"/>
              </a:rPr>
              <a:t>PM2</a:t>
            </a:r>
            <a:r>
              <a:rPr lang="zh-CN" altLang="en-US" sz="1400" b="0" i="0" u="none" strike="noStrike" dirty="0">
                <a:solidFill>
                  <a:srgbClr val="00666B"/>
                </a:solidFill>
                <a:latin typeface="Noto Sans SC"/>
                <a:ea typeface="Noto Sans SC"/>
                <a:cs typeface="Noto Sans SC"/>
                <a:sym typeface="Noto Sans SC"/>
              </a:rPr>
              <a:t>插排</a:t>
            </a:r>
            <a:endParaRPr lang="en-US" sz="1100" dirty="0"/>
          </a:p>
        </p:txBody>
      </p:sp>
      <p:pic>
        <p:nvPicPr>
          <p:cNvPr id="30" name="Picture 17">
            <a:extLst>
              <a:ext uri="{FF2B5EF4-FFF2-40B4-BE49-F238E27FC236}">
                <a16:creationId xmlns:a16="http://schemas.microsoft.com/office/drawing/2014/main" id="{556483FB-A8CC-F5E3-E55C-A6446B2E852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094625" y="1079500"/>
            <a:ext cx="304800" cy="304800"/>
          </a:xfrm>
          <a:prstGeom prst="rect">
            <a:avLst/>
          </a:prstGeom>
        </p:spPr>
      </p:pic>
      <p:sp>
        <p:nvSpPr>
          <p:cNvPr id="31" name="AutoShape 18">
            <a:extLst>
              <a:ext uri="{FF2B5EF4-FFF2-40B4-BE49-F238E27FC236}">
                <a16:creationId xmlns:a16="http://schemas.microsoft.com/office/drawing/2014/main" id="{EA7F7A70-54A7-DD7F-B72B-BE794D9ABCB8}"/>
              </a:ext>
            </a:extLst>
          </p:cNvPr>
          <p:cNvSpPr/>
          <p:nvPr/>
        </p:nvSpPr>
        <p:spPr>
          <a:xfrm>
            <a:off x="4602625" y="1016000"/>
            <a:ext cx="3405302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1. </a:t>
            </a:r>
            <a:r>
              <a:rPr lang="en-US" altLang="zh-CN" sz="1600" b="1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ADC</a:t>
            </a:r>
            <a:r>
              <a:rPr lang="zh-CN" altLang="en-US" sz="1600" b="1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外部触发</a:t>
            </a:r>
            <a:r>
              <a:rPr lang="en-US" sz="16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：</a:t>
            </a:r>
            <a:r>
              <a:rPr lang="zh-CN" altLang="en-US" sz="1400" b="0" i="0" u="none" strike="noStrike" dirty="0">
                <a:solidFill>
                  <a:srgbClr val="616161"/>
                </a:solidFill>
                <a:latin typeface="Noto Sans SC"/>
                <a:ea typeface="Noto Sans SC"/>
                <a:cs typeface="Noto Sans SC"/>
                <a:sym typeface="Noto Sans SC"/>
              </a:rPr>
              <a:t>不支持</a:t>
            </a:r>
            <a:r>
              <a:rPr lang="en-US" altLang="zh-CN" sz="1400" b="0" i="0" u="none" strike="noStrike" dirty="0">
                <a:solidFill>
                  <a:srgbClr val="616161"/>
                </a:solidFill>
                <a:latin typeface="Noto Sans SC"/>
                <a:ea typeface="Noto Sans SC"/>
                <a:cs typeface="Noto Sans SC"/>
                <a:sym typeface="Noto Sans SC"/>
              </a:rPr>
              <a:t>Timer 8 Trigger Out event</a:t>
            </a:r>
            <a:r>
              <a:rPr lang="en-US" sz="1400" b="0" i="0" u="none" strike="noStrike" dirty="0">
                <a:solidFill>
                  <a:srgbClr val="616161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 dirty="0"/>
          </a:p>
        </p:txBody>
      </p:sp>
      <p:pic>
        <p:nvPicPr>
          <p:cNvPr id="33" name="Picture 19">
            <a:extLst>
              <a:ext uri="{FF2B5EF4-FFF2-40B4-BE49-F238E27FC236}">
                <a16:creationId xmlns:a16="http://schemas.microsoft.com/office/drawing/2014/main" id="{77E52D16-0D81-FC3B-C280-AFDFFB8D845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094625" y="1863213"/>
            <a:ext cx="304800" cy="304800"/>
          </a:xfrm>
          <a:prstGeom prst="rect">
            <a:avLst/>
          </a:prstGeom>
        </p:spPr>
      </p:pic>
      <p:sp>
        <p:nvSpPr>
          <p:cNvPr id="34" name="AutoShape 20">
            <a:extLst>
              <a:ext uri="{FF2B5EF4-FFF2-40B4-BE49-F238E27FC236}">
                <a16:creationId xmlns:a16="http://schemas.microsoft.com/office/drawing/2014/main" id="{4E6C454A-CA14-7E33-3243-09F45D34A56F}"/>
              </a:ext>
            </a:extLst>
          </p:cNvPr>
          <p:cNvSpPr/>
          <p:nvPr/>
        </p:nvSpPr>
        <p:spPr>
          <a:xfrm>
            <a:off x="4602625" y="1745674"/>
            <a:ext cx="3405302" cy="1546352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2. Timer Trigger Out (TRGO)：</a:t>
            </a:r>
            <a:r>
              <a:rPr lang="en-US" altLang="zh-CN" sz="1400" b="0" i="0" u="none" strike="noStrike" dirty="0">
                <a:solidFill>
                  <a:srgbClr val="616161"/>
                </a:solidFill>
                <a:latin typeface="Noto Sans SC"/>
                <a:ea typeface="Noto Sans SC"/>
                <a:cs typeface="Noto Sans SC"/>
                <a:sym typeface="Noto Sans SC"/>
              </a:rPr>
              <a:t>STM32 </a:t>
            </a:r>
            <a:r>
              <a:rPr lang="zh-CN" altLang="en-US" sz="1400" b="0" i="0" u="none" strike="noStrike" dirty="0">
                <a:solidFill>
                  <a:srgbClr val="616161"/>
                </a:solidFill>
                <a:latin typeface="Noto Sans SC"/>
                <a:ea typeface="Noto Sans SC"/>
                <a:cs typeface="Noto Sans SC"/>
                <a:sym typeface="Noto Sans SC"/>
              </a:rPr>
              <a:t>高级</a:t>
            </a:r>
            <a:r>
              <a:rPr lang="en-US" altLang="zh-CN" sz="1400" b="0" i="0" u="none" strike="noStrike" dirty="0">
                <a:solidFill>
                  <a:srgbClr val="616161"/>
                </a:solidFill>
                <a:latin typeface="Noto Sans SC"/>
                <a:ea typeface="Noto Sans SC"/>
                <a:cs typeface="Noto Sans SC"/>
                <a:sym typeface="Noto Sans SC"/>
              </a:rPr>
              <a:t>/</a:t>
            </a:r>
            <a:r>
              <a:rPr lang="zh-CN" altLang="en-US" sz="1400" b="0" i="0" u="none" strike="noStrike" dirty="0">
                <a:solidFill>
                  <a:srgbClr val="616161"/>
                </a:solidFill>
                <a:latin typeface="Noto Sans SC"/>
                <a:ea typeface="Noto Sans SC"/>
                <a:cs typeface="Noto Sans SC"/>
                <a:sym typeface="Noto Sans SC"/>
              </a:rPr>
              <a:t>通用定时器内置的主模式输出信号，每个定时器周期性地产生一个脉冲，送给其他外设（</a:t>
            </a:r>
            <a:r>
              <a:rPr lang="en-US" altLang="zh-CN" sz="1400" b="0" i="0" u="none" strike="noStrike" dirty="0">
                <a:solidFill>
                  <a:srgbClr val="616161"/>
                </a:solidFill>
                <a:latin typeface="Noto Sans SC"/>
                <a:ea typeface="Noto Sans SC"/>
                <a:cs typeface="Noto Sans SC"/>
                <a:sym typeface="Noto Sans SC"/>
              </a:rPr>
              <a:t>ADC</a:t>
            </a:r>
            <a:r>
              <a:rPr lang="zh-CN" altLang="en-US" sz="1400" b="0" i="0" u="none" strike="noStrike" dirty="0">
                <a:solidFill>
                  <a:srgbClr val="616161"/>
                </a:solidFill>
                <a:latin typeface="Noto Sans SC"/>
                <a:ea typeface="Noto Sans SC"/>
                <a:cs typeface="Noto Sans SC"/>
                <a:sym typeface="Noto Sans SC"/>
              </a:rPr>
              <a:t>、</a:t>
            </a:r>
            <a:r>
              <a:rPr lang="en-US" altLang="zh-CN" sz="1400" b="0" i="0" u="none" strike="noStrike" dirty="0">
                <a:solidFill>
                  <a:srgbClr val="616161"/>
                </a:solidFill>
                <a:latin typeface="Noto Sans SC"/>
                <a:ea typeface="Noto Sans SC"/>
                <a:cs typeface="Noto Sans SC"/>
                <a:sym typeface="Noto Sans SC"/>
              </a:rPr>
              <a:t>DAC</a:t>
            </a:r>
            <a:r>
              <a:rPr lang="zh-CN" altLang="en-US" sz="1400" b="0" i="0" u="none" strike="noStrike" dirty="0">
                <a:solidFill>
                  <a:srgbClr val="616161"/>
                </a:solidFill>
                <a:latin typeface="Noto Sans SC"/>
                <a:ea typeface="Noto Sans SC"/>
                <a:cs typeface="Noto Sans SC"/>
                <a:sym typeface="Noto Sans SC"/>
              </a:rPr>
              <a:t>、其他定时器）做硬件同步触发。</a:t>
            </a:r>
            <a:r>
              <a:rPr lang="en-US" sz="1400" b="0" i="0" u="none" strike="noStrike" dirty="0">
                <a:solidFill>
                  <a:srgbClr val="616161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 dirty="0"/>
          </a:p>
        </p:txBody>
      </p:sp>
      <p:pic>
        <p:nvPicPr>
          <p:cNvPr id="37" name="Picture 21">
            <a:extLst>
              <a:ext uri="{FF2B5EF4-FFF2-40B4-BE49-F238E27FC236}">
                <a16:creationId xmlns:a16="http://schemas.microsoft.com/office/drawing/2014/main" id="{255EBC9D-5FC1-7C77-3793-1435DAD6F31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094625" y="3338254"/>
            <a:ext cx="304800" cy="304800"/>
          </a:xfrm>
          <a:prstGeom prst="rect">
            <a:avLst/>
          </a:prstGeom>
        </p:spPr>
      </p:pic>
      <p:sp>
        <p:nvSpPr>
          <p:cNvPr id="39" name="AutoShape 22">
            <a:extLst>
              <a:ext uri="{FF2B5EF4-FFF2-40B4-BE49-F238E27FC236}">
                <a16:creationId xmlns:a16="http://schemas.microsoft.com/office/drawing/2014/main" id="{1826163F-FF99-78AE-5C51-69F0722F6ACF}"/>
              </a:ext>
            </a:extLst>
          </p:cNvPr>
          <p:cNvSpPr/>
          <p:nvPr/>
        </p:nvSpPr>
        <p:spPr>
          <a:xfrm>
            <a:off x="4602625" y="3437867"/>
            <a:ext cx="3405302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altLang="zh-CN" sz="16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TRGO </a:t>
            </a:r>
            <a:r>
              <a:rPr lang="zh-CN" altLang="en-US" sz="16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是定时器</a:t>
            </a:r>
            <a:r>
              <a:rPr lang="en-US" altLang="zh-CN" sz="16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“</a:t>
            </a:r>
            <a:r>
              <a:rPr lang="zh-CN" altLang="en-US" sz="16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心跳信号</a:t>
            </a:r>
            <a:r>
              <a:rPr lang="en-US" altLang="zh-CN" sz="16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”</a:t>
            </a:r>
            <a:r>
              <a:rPr lang="zh-CN" altLang="en-US" sz="16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，接到 </a:t>
            </a:r>
            <a:r>
              <a:rPr lang="en-US" altLang="zh-CN" sz="16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ADC </a:t>
            </a:r>
            <a:r>
              <a:rPr lang="zh-CN" altLang="en-US" sz="16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上</a:t>
            </a:r>
            <a:r>
              <a:rPr lang="zh-CN" altLang="en-US" sz="1600" b="1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容易</a:t>
            </a:r>
            <a:r>
              <a:rPr lang="zh-CN" altLang="en-US" sz="16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实现采样与 </a:t>
            </a:r>
            <a:r>
              <a:rPr lang="en-US" altLang="zh-CN" sz="16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PWM </a:t>
            </a:r>
            <a:r>
              <a:rPr lang="zh-CN" altLang="en-US" sz="16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的硬件级同步。</a:t>
            </a:r>
            <a:endParaRPr lang="en-US" sz="1100" dirty="0"/>
          </a:p>
        </p:txBody>
      </p:sp>
      <p:pic>
        <p:nvPicPr>
          <p:cNvPr id="43" name="图片 42">
            <a:extLst>
              <a:ext uri="{FF2B5EF4-FFF2-40B4-BE49-F238E27FC236}">
                <a16:creationId xmlns:a16="http://schemas.microsoft.com/office/drawing/2014/main" id="{0BE46194-9F75-6BD5-0163-28D73F53F73E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247025" y="4419231"/>
            <a:ext cx="3794379" cy="1688746"/>
          </a:xfrm>
          <a:prstGeom prst="rect">
            <a:avLst/>
          </a:prstGeom>
        </p:spPr>
      </p:pic>
      <p:pic>
        <p:nvPicPr>
          <p:cNvPr id="45" name="图片 44">
            <a:extLst>
              <a:ext uri="{FF2B5EF4-FFF2-40B4-BE49-F238E27FC236}">
                <a16:creationId xmlns:a16="http://schemas.microsoft.com/office/drawing/2014/main" id="{8C6A968A-0F5A-AC97-A04E-5271583DAAD6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225026" y="1038737"/>
            <a:ext cx="3897083" cy="1787590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771E1F1B-0809-9BF3-E937-566B43575B33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562949" y="2953999"/>
            <a:ext cx="2346615" cy="626653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FFADB576-DB18-BD03-45FE-1FE24C82F352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225026" y="3736557"/>
            <a:ext cx="1952625" cy="514350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E6CCEDF9-3EA8-07FD-BCD5-9403826AD975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286938" y="4322762"/>
            <a:ext cx="1828800" cy="523875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48BECDF6-3B27-AA93-6522-BDE559F2A8A9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0115738" y="5118692"/>
            <a:ext cx="1895475" cy="4953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F1B5B7-E096-1AD8-411A-1DCF55D9E1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2A3246C0-E721-DC82-123B-E3C4F9E46343}"/>
              </a:ext>
            </a:extLst>
          </p:cNvPr>
          <p:cNvSpPr/>
          <p:nvPr/>
        </p:nvSpPr>
        <p:spPr>
          <a:xfrm>
            <a:off x="609600" y="148936"/>
            <a:ext cx="109728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altLang="zh-CN" sz="3200" b="1" i="0" u="none" strike="noStrike" dirty="0">
                <a:solidFill>
                  <a:srgbClr val="00838F"/>
                </a:solidFill>
                <a:latin typeface="Noto Sans SC"/>
                <a:ea typeface="Noto Sans SC"/>
                <a:cs typeface="Noto Sans SC"/>
                <a:sym typeface="Noto Sans SC"/>
              </a:rPr>
              <a:t>TIM1</a:t>
            </a:r>
            <a:r>
              <a:rPr lang="zh-CN" altLang="en-US" sz="3200" b="1" i="0" u="none" strike="noStrike" dirty="0">
                <a:solidFill>
                  <a:srgbClr val="00838F"/>
                </a:solidFill>
                <a:latin typeface="Noto Sans SC"/>
                <a:ea typeface="Noto Sans SC"/>
                <a:cs typeface="Noto Sans SC"/>
                <a:sym typeface="Noto Sans SC"/>
              </a:rPr>
              <a:t>配置</a:t>
            </a:r>
            <a:endParaRPr lang="en-US" sz="1100" dirty="0"/>
          </a:p>
        </p:txBody>
      </p:sp>
      <p:grpSp>
        <p:nvGrpSpPr>
          <p:cNvPr id="35" name="组合 34">
            <a:extLst>
              <a:ext uri="{FF2B5EF4-FFF2-40B4-BE49-F238E27FC236}">
                <a16:creationId xmlns:a16="http://schemas.microsoft.com/office/drawing/2014/main" id="{7FA682B4-C3F8-8E13-8418-C142426230CF}"/>
              </a:ext>
            </a:extLst>
          </p:cNvPr>
          <p:cNvGrpSpPr/>
          <p:nvPr/>
        </p:nvGrpSpPr>
        <p:grpSpPr>
          <a:xfrm>
            <a:off x="64657" y="57731"/>
            <a:ext cx="2041236" cy="3983182"/>
            <a:chOff x="600364" y="1101436"/>
            <a:chExt cx="2041236" cy="3983182"/>
          </a:xfrm>
        </p:grpSpPr>
        <p:sp>
          <p:nvSpPr>
            <p:cNvPr id="4" name="AutoShape 4">
              <a:extLst>
                <a:ext uri="{FF2B5EF4-FFF2-40B4-BE49-F238E27FC236}">
                  <a16:creationId xmlns:a16="http://schemas.microsoft.com/office/drawing/2014/main" id="{A07D689D-3F69-69E1-B699-549B1E0CF72E}"/>
                </a:ext>
              </a:extLst>
            </p:cNvPr>
            <p:cNvSpPr/>
            <p:nvPr/>
          </p:nvSpPr>
          <p:spPr>
            <a:xfrm>
              <a:off x="600364" y="1101436"/>
              <a:ext cx="2032000" cy="3983182"/>
            </a:xfrm>
            <a:prstGeom prst="roundRect">
              <a:avLst>
                <a:gd name="adj" fmla="val 5000"/>
              </a:avLst>
            </a:prstGeom>
            <a:solidFill>
              <a:srgbClr val="FFFFFF">
                <a:alpha val="100000"/>
              </a:srgbClr>
            </a:solidFill>
            <a:ln w="25400" cap="flat" cmpd="sng">
              <a:noFill/>
              <a:prstDash val="solid"/>
              <a:round/>
            </a:ln>
            <a:effectLst>
              <a:outerShdw blurRad="444500" dist="190500" dir="2700000" algn="tl" rotWithShape="0">
                <a:srgbClr val="000000">
                  <a:alpha val="25000"/>
                </a:srgbClr>
              </a:outerShdw>
            </a:effectLst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5" name="AutoShape 5">
              <a:extLst>
                <a:ext uri="{FF2B5EF4-FFF2-40B4-BE49-F238E27FC236}">
                  <a16:creationId xmlns:a16="http://schemas.microsoft.com/office/drawing/2014/main" id="{AF42E5D5-5F8A-AE6B-4D4D-262D5EE74643}"/>
                </a:ext>
              </a:extLst>
            </p:cNvPr>
            <p:cNvSpPr/>
            <p:nvPr/>
          </p:nvSpPr>
          <p:spPr>
            <a:xfrm>
              <a:off x="609600" y="1101436"/>
              <a:ext cx="2032000" cy="50800"/>
            </a:xfrm>
            <a:prstGeom prst="roundRect">
              <a:avLst>
                <a:gd name="adj" fmla="val 0"/>
              </a:avLst>
            </a:prstGeom>
            <a:solidFill>
              <a:srgbClr val="00838F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pic>
          <p:nvPicPr>
            <p:cNvPr id="6" name="Picture 6">
              <a:extLst>
                <a:ext uri="{FF2B5EF4-FFF2-40B4-BE49-F238E27FC236}">
                  <a16:creationId xmlns:a16="http://schemas.microsoft.com/office/drawing/2014/main" id="{F274ED9C-EE95-CEE3-3347-7B8FDD5CF0B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863600" y="1482436"/>
              <a:ext cx="457200" cy="457200"/>
            </a:xfrm>
            <a:prstGeom prst="rect">
              <a:avLst/>
            </a:prstGeom>
          </p:spPr>
        </p:pic>
        <p:sp>
          <p:nvSpPr>
            <p:cNvPr id="7" name="AutoShape 7">
              <a:extLst>
                <a:ext uri="{FF2B5EF4-FFF2-40B4-BE49-F238E27FC236}">
                  <a16:creationId xmlns:a16="http://schemas.microsoft.com/office/drawing/2014/main" id="{4183C1A8-0994-1CEB-087C-F67904F3443A}"/>
                </a:ext>
              </a:extLst>
            </p:cNvPr>
            <p:cNvSpPr/>
            <p:nvPr/>
          </p:nvSpPr>
          <p:spPr>
            <a:xfrm>
              <a:off x="1447800" y="1457036"/>
              <a:ext cx="1016000" cy="5080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25000"/>
                </a:lnSpc>
                <a:defRPr/>
              </a:pPr>
              <a:r>
                <a:rPr lang="en-US" altLang="zh-CN" sz="1800" b="1" i="0" u="none" strike="noStrike" dirty="0">
                  <a:solidFill>
                    <a:srgbClr val="333333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Counter Settings</a:t>
              </a:r>
              <a:endParaRPr lang="en-US" sz="1100" dirty="0"/>
            </a:p>
          </p:txBody>
        </p:sp>
        <p:sp>
          <p:nvSpPr>
            <p:cNvPr id="8" name="AutoShape 8">
              <a:extLst>
                <a:ext uri="{FF2B5EF4-FFF2-40B4-BE49-F238E27FC236}">
                  <a16:creationId xmlns:a16="http://schemas.microsoft.com/office/drawing/2014/main" id="{EE6E3EF9-3A10-B8FA-34E7-A01B72BFDBD8}"/>
                </a:ext>
              </a:extLst>
            </p:cNvPr>
            <p:cNvSpPr/>
            <p:nvPr/>
          </p:nvSpPr>
          <p:spPr>
            <a:xfrm>
              <a:off x="762000" y="2371436"/>
              <a:ext cx="1727200" cy="11430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>
                <a:lnSpc>
                  <a:spcPct val="116666"/>
                </a:lnSpc>
                <a:defRPr/>
              </a:pPr>
              <a:r>
                <a:rPr lang="zh-CN" altLang="en-US" sz="1300" b="0" i="0" u="none" strike="noStrike" dirty="0">
                  <a:solidFill>
                    <a:srgbClr val="666666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中央对齐模式</a:t>
              </a:r>
              <a:endParaRPr lang="en-US" altLang="zh-CN" sz="1300" b="0" i="0" u="none" strike="noStrike" dirty="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endParaRPr>
            </a:p>
            <a:p>
              <a:pPr>
                <a:lnSpc>
                  <a:spcPct val="116666"/>
                </a:lnSpc>
                <a:defRPr/>
              </a:pPr>
              <a:r>
                <a:rPr lang="en-US" altLang="zh-CN" sz="1200" dirty="0"/>
                <a:t>Center-Aligned mode 1</a:t>
              </a:r>
              <a:endParaRPr lang="en-US" altLang="zh-CN" sz="1300" b="0" i="0" u="none" strike="noStrike" dirty="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endParaRPr>
            </a:p>
            <a:p>
              <a:pPr>
                <a:lnSpc>
                  <a:spcPct val="116666"/>
                </a:lnSpc>
                <a:defRPr/>
              </a:pPr>
              <a:r>
                <a:rPr lang="zh-CN" altLang="en-US" sz="1200" dirty="0"/>
                <a:t>在计数器回零时触发 </a:t>
              </a:r>
              <a:r>
                <a:rPr lang="en-US" altLang="zh-CN" sz="1200" dirty="0"/>
                <a:t>ADC</a:t>
              </a:r>
              <a:r>
                <a:rPr lang="zh-CN" altLang="en-US" sz="1200" dirty="0"/>
                <a:t>，正好避开了 </a:t>
              </a:r>
              <a:r>
                <a:rPr lang="en-US" altLang="zh-CN" sz="1200" dirty="0"/>
                <a:t>PWM </a:t>
              </a:r>
              <a:r>
                <a:rPr lang="zh-CN" altLang="en-US" sz="1200" dirty="0"/>
                <a:t>互补切换瞬间的毛刺噪声</a:t>
              </a:r>
              <a:endParaRPr lang="en-US" sz="1100" dirty="0"/>
            </a:p>
          </p:txBody>
        </p:sp>
      </p:grpSp>
      <p:pic>
        <p:nvPicPr>
          <p:cNvPr id="36" name="图片 35">
            <a:extLst>
              <a:ext uri="{FF2B5EF4-FFF2-40B4-BE49-F238E27FC236}">
                <a16:creationId xmlns:a16="http://schemas.microsoft.com/office/drawing/2014/main" id="{0F4CB80E-F43E-0B76-9946-3EF12E502A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3612" y="191696"/>
            <a:ext cx="4885116" cy="1110595"/>
          </a:xfrm>
          <a:prstGeom prst="rect">
            <a:avLst/>
          </a:prstGeom>
        </p:spPr>
      </p:pic>
      <p:sp>
        <p:nvSpPr>
          <p:cNvPr id="38" name="文本框 37">
            <a:extLst>
              <a:ext uri="{FF2B5EF4-FFF2-40B4-BE49-F238E27FC236}">
                <a16:creationId xmlns:a16="http://schemas.microsoft.com/office/drawing/2014/main" id="{DE034753-D8FE-3EC6-57A7-EEF25C40AED3}"/>
              </a:ext>
            </a:extLst>
          </p:cNvPr>
          <p:cNvSpPr txBox="1"/>
          <p:nvPr/>
        </p:nvSpPr>
        <p:spPr>
          <a:xfrm>
            <a:off x="2170543" y="3662076"/>
            <a:ext cx="995680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zh-CN" sz="1200" b="1" dirty="0" err="1">
                <a:effectLst/>
                <a:latin typeface="Google Sans Text"/>
              </a:rPr>
              <a:t>Prescaler</a:t>
            </a:r>
            <a:r>
              <a:rPr lang="en-US" altLang="zh-CN" sz="1200" b="1" dirty="0">
                <a:effectLst/>
                <a:latin typeface="Google Sans Text"/>
              </a:rPr>
              <a:t> (</a:t>
            </a:r>
            <a:r>
              <a:rPr lang="zh-CN" altLang="en-US" sz="1200" b="1" dirty="0">
                <a:effectLst/>
                <a:latin typeface="Google Sans Text"/>
              </a:rPr>
              <a:t>预分频系数</a:t>
            </a:r>
            <a:r>
              <a:rPr lang="en-US" altLang="zh-CN" sz="1200" b="1" dirty="0">
                <a:effectLst/>
                <a:latin typeface="Google Sans Text"/>
              </a:rPr>
              <a:t>) = 1</a:t>
            </a:r>
            <a:endParaRPr lang="zh-CN" altLang="en-US" sz="1200" dirty="0">
              <a:effectLst/>
              <a:latin typeface="Google Sans Text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sz="1200" b="1" dirty="0">
                <a:effectLst/>
                <a:latin typeface="Google Sans Text"/>
              </a:rPr>
              <a:t>原因：</a:t>
            </a:r>
            <a:r>
              <a:rPr lang="zh-CN" altLang="en-US" sz="1200" dirty="0">
                <a:effectLst/>
                <a:latin typeface="Google Sans Text"/>
              </a:rPr>
              <a:t> 内部时钟分频，</a:t>
            </a:r>
            <a:r>
              <a:rPr lang="en-US" altLang="zh-CN" sz="1200" dirty="0">
                <a:effectLst/>
                <a:latin typeface="Google Sans Text"/>
              </a:rPr>
              <a:t>TIM1</a:t>
            </a:r>
            <a:r>
              <a:rPr lang="zh-CN" altLang="en-US" sz="1200" dirty="0">
                <a:effectLst/>
                <a:latin typeface="Google Sans Text"/>
              </a:rPr>
              <a:t>挂在</a:t>
            </a:r>
            <a:r>
              <a:rPr lang="en-US" altLang="zh-CN" sz="1200" dirty="0">
                <a:effectLst/>
                <a:latin typeface="Google Sans Text"/>
              </a:rPr>
              <a:t>APB2</a:t>
            </a:r>
            <a:r>
              <a:rPr lang="zh-CN" altLang="en-US" sz="1200" dirty="0">
                <a:effectLst/>
                <a:latin typeface="Google Sans Text"/>
              </a:rPr>
              <a:t>总线（</a:t>
            </a:r>
            <a:r>
              <a:rPr lang="en-US" altLang="zh-CN" sz="1200" dirty="0">
                <a:effectLst/>
                <a:latin typeface="Google Sans Text"/>
              </a:rPr>
              <a:t>168M</a:t>
            </a:r>
            <a:r>
              <a:rPr lang="zh-CN" altLang="en-US" sz="1200" dirty="0">
                <a:effectLst/>
                <a:latin typeface="Google Sans Text"/>
              </a:rPr>
              <a:t>），二分频后定时器跑在（</a:t>
            </a:r>
            <a:r>
              <a:rPr lang="en-US" altLang="zh-CN" sz="1200" dirty="0">
                <a:effectLst/>
                <a:latin typeface="Google Sans Text"/>
              </a:rPr>
              <a:t>84 MHz</a:t>
            </a:r>
            <a:r>
              <a:rPr lang="zh-CN" altLang="en-US" sz="1200" dirty="0">
                <a:effectLst/>
                <a:latin typeface="Google Sans Text"/>
              </a:rPr>
              <a:t>），获得最细腻、最精准的 </a:t>
            </a:r>
            <a:r>
              <a:rPr lang="en-US" altLang="zh-CN" sz="1200" dirty="0">
                <a:effectLst/>
                <a:latin typeface="Google Sans Text"/>
              </a:rPr>
              <a:t>PWM </a:t>
            </a:r>
            <a:r>
              <a:rPr lang="zh-CN" altLang="en-US" sz="1200" dirty="0">
                <a:effectLst/>
                <a:latin typeface="Google Sans Text"/>
              </a:rPr>
              <a:t>占空比调整分辨率。</a:t>
            </a:r>
          </a:p>
          <a:p>
            <a:pPr>
              <a:buNone/>
            </a:pPr>
            <a:endParaRPr lang="en-US" altLang="zh-CN" sz="1200" b="1" dirty="0">
              <a:effectLst/>
              <a:latin typeface="Google Sans Text"/>
            </a:endParaRPr>
          </a:p>
          <a:p>
            <a:pPr>
              <a:buNone/>
            </a:pPr>
            <a:r>
              <a:rPr lang="en-US" altLang="zh-CN" sz="1200" b="1" dirty="0">
                <a:effectLst/>
                <a:latin typeface="Google Sans Text"/>
              </a:rPr>
              <a:t>Counter Mode (</a:t>
            </a:r>
            <a:r>
              <a:rPr lang="zh-CN" altLang="en-US" sz="1200" b="1" dirty="0">
                <a:effectLst/>
                <a:latin typeface="Google Sans Text"/>
              </a:rPr>
              <a:t>计数模式</a:t>
            </a:r>
            <a:r>
              <a:rPr lang="en-US" altLang="zh-CN" sz="1200" b="1" dirty="0">
                <a:effectLst/>
                <a:latin typeface="Google Sans Text"/>
              </a:rPr>
              <a:t>) = Center Aligned mode 1 (</a:t>
            </a:r>
            <a:r>
              <a:rPr lang="zh-CN" altLang="en-US" sz="1200" b="1" dirty="0">
                <a:effectLst/>
                <a:latin typeface="Google Sans Text"/>
              </a:rPr>
              <a:t>中央对齐模式</a:t>
            </a:r>
            <a:r>
              <a:rPr lang="en-US" altLang="zh-CN" sz="1200" b="1" dirty="0">
                <a:effectLst/>
                <a:latin typeface="Google Sans Text"/>
              </a:rPr>
              <a:t>1)</a:t>
            </a:r>
            <a:endParaRPr lang="zh-CN" altLang="en-US" sz="1200" dirty="0">
              <a:effectLst/>
              <a:latin typeface="Google Sans Text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sz="1200" b="1" dirty="0">
                <a:effectLst/>
                <a:latin typeface="Google Sans Text"/>
              </a:rPr>
              <a:t>原因：</a:t>
            </a:r>
            <a:r>
              <a:rPr lang="zh-CN" altLang="en-US" sz="1200" dirty="0">
                <a:effectLst/>
                <a:latin typeface="Google Sans Text"/>
              </a:rPr>
              <a:t> 三角波计数。配合该模式，定时器只在“向下计数到底”时产生事件，此时 </a:t>
            </a:r>
            <a:r>
              <a:rPr lang="en-US" altLang="zh-CN" sz="1200" dirty="0">
                <a:effectLst/>
                <a:latin typeface="Google Sans Text"/>
              </a:rPr>
              <a:t>PWM </a:t>
            </a:r>
            <a:r>
              <a:rPr lang="zh-CN" altLang="en-US" sz="1200" dirty="0">
                <a:effectLst/>
                <a:latin typeface="Google Sans Text"/>
              </a:rPr>
              <a:t>刚好完成电平切换，</a:t>
            </a:r>
            <a:r>
              <a:rPr lang="zh-CN" altLang="en-US" sz="1200" b="1" dirty="0">
                <a:effectLst/>
                <a:latin typeface="Google Sans Text"/>
              </a:rPr>
              <a:t>能够完美避开开关噪声，让 </a:t>
            </a:r>
            <a:r>
              <a:rPr lang="en-US" altLang="zh-CN" sz="1200" b="1" dirty="0">
                <a:effectLst/>
                <a:latin typeface="Google Sans Text"/>
              </a:rPr>
              <a:t>ADC </a:t>
            </a:r>
            <a:r>
              <a:rPr lang="zh-CN" altLang="en-US" sz="1200" b="1" dirty="0">
                <a:effectLst/>
                <a:latin typeface="Google Sans Text"/>
              </a:rPr>
              <a:t>采样到最纯净、平稳的电流信号</a:t>
            </a:r>
            <a:r>
              <a:rPr lang="zh-CN" altLang="en-US" sz="1200" dirty="0">
                <a:effectLst/>
                <a:latin typeface="Google Sans Text"/>
              </a:rPr>
              <a:t>。</a:t>
            </a:r>
          </a:p>
          <a:p>
            <a:pPr>
              <a:buNone/>
            </a:pPr>
            <a:endParaRPr lang="en-US" altLang="zh-CN" sz="1200" b="1" dirty="0">
              <a:effectLst/>
              <a:latin typeface="Google Sans Text"/>
            </a:endParaRPr>
          </a:p>
          <a:p>
            <a:pPr>
              <a:buNone/>
            </a:pPr>
            <a:r>
              <a:rPr lang="en-US" altLang="zh-CN" sz="1200" b="1" dirty="0">
                <a:effectLst/>
                <a:latin typeface="Google Sans Text"/>
              </a:rPr>
              <a:t>Counter Period (</a:t>
            </a:r>
            <a:r>
              <a:rPr lang="zh-CN" altLang="en-US" sz="1200" b="1" dirty="0">
                <a:effectLst/>
                <a:latin typeface="Google Sans Text"/>
              </a:rPr>
              <a:t>自动重装载值 </a:t>
            </a:r>
            <a:r>
              <a:rPr lang="en-US" altLang="zh-CN" sz="1200" b="1" dirty="0">
                <a:effectLst/>
                <a:latin typeface="Google Sans Text"/>
              </a:rPr>
              <a:t>ARR) = 8399</a:t>
            </a:r>
            <a:endParaRPr lang="zh-CN" altLang="en-US" sz="1200" dirty="0">
              <a:effectLst/>
              <a:latin typeface="Google Sans Text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sz="1200" b="1" dirty="0">
                <a:effectLst/>
                <a:latin typeface="Google Sans Text"/>
              </a:rPr>
              <a:t>原因：</a:t>
            </a:r>
            <a:r>
              <a:rPr lang="zh-CN" altLang="en-US" sz="1200" dirty="0">
                <a:effectLst/>
                <a:latin typeface="Google Sans Text"/>
              </a:rPr>
              <a:t> 配合中央对齐模式，锁定 </a:t>
            </a:r>
            <a:r>
              <a:rPr lang="en-US" altLang="zh-CN" sz="1200" b="1" dirty="0">
                <a:effectLst/>
                <a:latin typeface="Google Sans Text"/>
              </a:rPr>
              <a:t>10 kHz</a:t>
            </a:r>
            <a:r>
              <a:rPr lang="zh-CN" altLang="en-US" sz="1200" dirty="0">
                <a:effectLst/>
                <a:latin typeface="Google Sans Text"/>
              </a:rPr>
              <a:t> 的电机控制频率，这是工业电流环最经典的黄金频率。</a:t>
            </a:r>
          </a:p>
          <a:p>
            <a:pPr>
              <a:buNone/>
            </a:pPr>
            <a:endParaRPr lang="en-US" altLang="zh-CN" sz="1200" b="1" dirty="0">
              <a:effectLst/>
              <a:latin typeface="Google Sans Text"/>
            </a:endParaRPr>
          </a:p>
          <a:p>
            <a:pPr>
              <a:buNone/>
            </a:pPr>
            <a:r>
              <a:rPr lang="en-US" altLang="zh-CN" sz="1200" b="1" dirty="0">
                <a:effectLst/>
                <a:latin typeface="Google Sans Text"/>
              </a:rPr>
              <a:t>Repetition Counter (</a:t>
            </a:r>
            <a:r>
              <a:rPr lang="zh-CN" altLang="en-US" sz="1200" b="1" dirty="0">
                <a:effectLst/>
                <a:latin typeface="Google Sans Text"/>
              </a:rPr>
              <a:t>重复计数器 </a:t>
            </a:r>
            <a:r>
              <a:rPr lang="en-US" altLang="zh-CN" sz="1200" b="1" dirty="0">
                <a:effectLst/>
                <a:latin typeface="Google Sans Text"/>
              </a:rPr>
              <a:t>RCR) = 0</a:t>
            </a:r>
            <a:endParaRPr lang="zh-CN" altLang="en-US" sz="1200" dirty="0">
              <a:effectLst/>
              <a:latin typeface="Google Sans Text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sz="1200" b="1" dirty="0">
                <a:effectLst/>
                <a:latin typeface="Google Sans Text"/>
              </a:rPr>
              <a:t>原因： 本项目 ADC 由 TRGO 硬件信号直接触发，不依赖定时器中断。TRGO 每周期都发脉冲，采样频率 = PWM 频率，无需 RCR 分频。</a:t>
            </a:r>
            <a:endParaRPr lang="en-US" altLang="zh-CN" sz="1200" dirty="0">
              <a:effectLst/>
              <a:latin typeface="Google Sans Text"/>
            </a:endParaRPr>
          </a:p>
          <a:p>
            <a:pPr>
              <a:buFont typeface="Arial" panose="020B0604020202020204" pitchFamily="34" charset="0"/>
              <a:buChar char="•"/>
            </a:pPr>
            <a:endParaRPr lang="zh-CN" altLang="en-US" sz="1200" dirty="0">
              <a:effectLst/>
              <a:latin typeface="Google Sans Text"/>
            </a:endParaRPr>
          </a:p>
          <a:p>
            <a:pPr>
              <a:buNone/>
            </a:pPr>
            <a:r>
              <a:rPr lang="en-US" altLang="zh-CN" sz="1200" b="1" dirty="0">
                <a:effectLst/>
                <a:latin typeface="Google Sans Text"/>
              </a:rPr>
              <a:t>auto-reload preload (</a:t>
            </a:r>
            <a:r>
              <a:rPr lang="zh-CN" altLang="en-US" sz="1200" b="1" dirty="0">
                <a:effectLst/>
                <a:latin typeface="Google Sans Text"/>
              </a:rPr>
              <a:t>自动重装载预装载</a:t>
            </a:r>
            <a:r>
              <a:rPr lang="en-US" altLang="zh-CN" sz="1200" b="1" dirty="0">
                <a:effectLst/>
                <a:latin typeface="Google Sans Text"/>
              </a:rPr>
              <a:t>) = Disable</a:t>
            </a:r>
            <a:endParaRPr lang="zh-CN" altLang="en-US" sz="1200" dirty="0">
              <a:effectLst/>
              <a:latin typeface="Google Sans Text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sz="1200" b="1" dirty="0">
                <a:effectLst/>
                <a:latin typeface="Google Sans Text"/>
              </a:rPr>
              <a:t>原因： 本项目运行中不动态修改 ARR，无需影子寄存器保护。设为 Disable 即可。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752EB083-0461-6F3A-7464-642C90D0F95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5932" y="1617447"/>
            <a:ext cx="2819775" cy="691643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253FC3F6-180E-CE34-3233-F8EAABE1557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38172" y="1514980"/>
            <a:ext cx="5883301" cy="16809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6100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CE607B-D35B-92E3-AE7A-F047F7EC5C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7F9ABC3F-DB2F-DBF6-6BF2-D365BF9F6338}"/>
              </a:ext>
            </a:extLst>
          </p:cNvPr>
          <p:cNvSpPr/>
          <p:nvPr/>
        </p:nvSpPr>
        <p:spPr>
          <a:xfrm>
            <a:off x="609600" y="148936"/>
            <a:ext cx="109728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altLang="zh-CN" sz="3200" b="1" i="0" u="none" strike="noStrike" dirty="0">
                <a:solidFill>
                  <a:srgbClr val="00838F"/>
                </a:solidFill>
                <a:latin typeface="Noto Sans SC"/>
                <a:ea typeface="Noto Sans SC"/>
                <a:cs typeface="Noto Sans SC"/>
                <a:sym typeface="Noto Sans SC"/>
              </a:rPr>
              <a:t>TIM1</a:t>
            </a:r>
            <a:r>
              <a:rPr lang="zh-CN" altLang="en-US" sz="3200" b="1" i="0" u="none" strike="noStrike" dirty="0">
                <a:solidFill>
                  <a:srgbClr val="00838F"/>
                </a:solidFill>
                <a:latin typeface="Noto Sans SC"/>
                <a:ea typeface="Noto Sans SC"/>
                <a:cs typeface="Noto Sans SC"/>
                <a:sym typeface="Noto Sans SC"/>
              </a:rPr>
              <a:t>配置</a:t>
            </a:r>
            <a:endParaRPr lang="en-US" sz="1100" dirty="0"/>
          </a:p>
        </p:txBody>
      </p:sp>
      <p:grpSp>
        <p:nvGrpSpPr>
          <p:cNvPr id="35" name="组合 34">
            <a:extLst>
              <a:ext uri="{FF2B5EF4-FFF2-40B4-BE49-F238E27FC236}">
                <a16:creationId xmlns:a16="http://schemas.microsoft.com/office/drawing/2014/main" id="{28D8ECD7-19FE-BE7D-B280-B81B793FB1F6}"/>
              </a:ext>
            </a:extLst>
          </p:cNvPr>
          <p:cNvGrpSpPr/>
          <p:nvPr/>
        </p:nvGrpSpPr>
        <p:grpSpPr>
          <a:xfrm>
            <a:off x="64657" y="57731"/>
            <a:ext cx="2041236" cy="2255978"/>
            <a:chOff x="600364" y="1101436"/>
            <a:chExt cx="2041236" cy="2255978"/>
          </a:xfrm>
        </p:grpSpPr>
        <p:sp>
          <p:nvSpPr>
            <p:cNvPr id="4" name="AutoShape 4">
              <a:extLst>
                <a:ext uri="{FF2B5EF4-FFF2-40B4-BE49-F238E27FC236}">
                  <a16:creationId xmlns:a16="http://schemas.microsoft.com/office/drawing/2014/main" id="{6CF86BD1-5C12-A71B-C5B5-2B52B2207A28}"/>
                </a:ext>
              </a:extLst>
            </p:cNvPr>
            <p:cNvSpPr/>
            <p:nvPr/>
          </p:nvSpPr>
          <p:spPr>
            <a:xfrm>
              <a:off x="600364" y="1101436"/>
              <a:ext cx="2032000" cy="2255978"/>
            </a:xfrm>
            <a:prstGeom prst="roundRect">
              <a:avLst>
                <a:gd name="adj" fmla="val 5000"/>
              </a:avLst>
            </a:prstGeom>
            <a:solidFill>
              <a:srgbClr val="FFFFFF">
                <a:alpha val="100000"/>
              </a:srgbClr>
            </a:solidFill>
            <a:ln w="25400" cap="flat" cmpd="sng">
              <a:noFill/>
              <a:prstDash val="solid"/>
              <a:round/>
            </a:ln>
            <a:effectLst>
              <a:outerShdw blurRad="444500" dist="190500" dir="2700000" algn="tl" rotWithShape="0">
                <a:srgbClr val="000000">
                  <a:alpha val="25000"/>
                </a:srgbClr>
              </a:outerShdw>
            </a:effectLst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5" name="AutoShape 5">
              <a:extLst>
                <a:ext uri="{FF2B5EF4-FFF2-40B4-BE49-F238E27FC236}">
                  <a16:creationId xmlns:a16="http://schemas.microsoft.com/office/drawing/2014/main" id="{B56714CF-6FA3-A913-FAF8-A9F736D2853B}"/>
                </a:ext>
              </a:extLst>
            </p:cNvPr>
            <p:cNvSpPr/>
            <p:nvPr/>
          </p:nvSpPr>
          <p:spPr>
            <a:xfrm>
              <a:off x="609600" y="1101436"/>
              <a:ext cx="2032000" cy="50800"/>
            </a:xfrm>
            <a:prstGeom prst="roundRect">
              <a:avLst>
                <a:gd name="adj" fmla="val 0"/>
              </a:avLst>
            </a:prstGeom>
            <a:solidFill>
              <a:srgbClr val="00838F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pic>
          <p:nvPicPr>
            <p:cNvPr id="6" name="Picture 6">
              <a:extLst>
                <a:ext uri="{FF2B5EF4-FFF2-40B4-BE49-F238E27FC236}">
                  <a16:creationId xmlns:a16="http://schemas.microsoft.com/office/drawing/2014/main" id="{BC9BABB3-1097-2083-A1D0-E58F8249932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808182" y="1529769"/>
              <a:ext cx="457200" cy="406404"/>
            </a:xfrm>
            <a:prstGeom prst="rect">
              <a:avLst/>
            </a:prstGeom>
          </p:spPr>
        </p:pic>
        <p:sp>
          <p:nvSpPr>
            <p:cNvPr id="7" name="AutoShape 7">
              <a:extLst>
                <a:ext uri="{FF2B5EF4-FFF2-40B4-BE49-F238E27FC236}">
                  <a16:creationId xmlns:a16="http://schemas.microsoft.com/office/drawing/2014/main" id="{58CF197E-1516-D65C-E6A8-0A584B705269}"/>
                </a:ext>
              </a:extLst>
            </p:cNvPr>
            <p:cNvSpPr/>
            <p:nvPr/>
          </p:nvSpPr>
          <p:spPr>
            <a:xfrm>
              <a:off x="1422400" y="1211119"/>
              <a:ext cx="1016000" cy="999833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25000"/>
                </a:lnSpc>
                <a:defRPr/>
              </a:pPr>
              <a:r>
                <a:rPr lang="en-US" altLang="zh-CN" sz="1800" b="1" i="0" u="none" strike="noStrike" dirty="0">
                  <a:solidFill>
                    <a:srgbClr val="333333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Trigger Output (TRGO)</a:t>
              </a:r>
              <a:endParaRPr lang="en-US" sz="1100" dirty="0"/>
            </a:p>
          </p:txBody>
        </p:sp>
        <p:sp>
          <p:nvSpPr>
            <p:cNvPr id="8" name="AutoShape 8">
              <a:extLst>
                <a:ext uri="{FF2B5EF4-FFF2-40B4-BE49-F238E27FC236}">
                  <a16:creationId xmlns:a16="http://schemas.microsoft.com/office/drawing/2014/main" id="{9291D3DF-AAA0-0320-7EAE-49D360DD4E81}"/>
                </a:ext>
              </a:extLst>
            </p:cNvPr>
            <p:cNvSpPr/>
            <p:nvPr/>
          </p:nvSpPr>
          <p:spPr>
            <a:xfrm>
              <a:off x="762000" y="2371436"/>
              <a:ext cx="1727200" cy="805869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>
                <a:lnSpc>
                  <a:spcPct val="116666"/>
                </a:lnSpc>
                <a:defRPr/>
              </a:pPr>
              <a:r>
                <a:rPr lang="zh-CN" altLang="en-US" sz="1200" dirty="0"/>
                <a:t>负责把定时器的节拍传递给 </a:t>
              </a:r>
              <a:r>
                <a:rPr lang="en-US" altLang="zh-CN" sz="1200" dirty="0"/>
                <a:t>ADC</a:t>
              </a:r>
              <a:r>
                <a:rPr lang="zh-CN" altLang="en-US" sz="1200" dirty="0"/>
                <a:t>，实现“硬件级硬同步”</a:t>
              </a:r>
              <a:endParaRPr lang="en-US" sz="1100" dirty="0"/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7615C775-92B4-512F-3152-1649FC474E39}"/>
              </a:ext>
            </a:extLst>
          </p:cNvPr>
          <p:cNvSpPr txBox="1"/>
          <p:nvPr/>
        </p:nvSpPr>
        <p:spPr>
          <a:xfrm>
            <a:off x="2258293" y="1467723"/>
            <a:ext cx="9869051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zh-CN" b="1" dirty="0"/>
              <a:t>Master/Slave Mode (MSM bit): </a:t>
            </a:r>
            <a:r>
              <a:rPr lang="en-US" altLang="zh-CN" b="1" dirty="0">
                <a:latin typeface="Courier New" panose="02070309020205020404" pitchFamily="49" charset="0"/>
              </a:rPr>
              <a:t>Enable</a:t>
            </a:r>
            <a:endParaRPr lang="en-US" altLang="zh-CN" dirty="0"/>
          </a:p>
          <a:p>
            <a:pPr lvl="3">
              <a:buFont typeface="Arial" panose="020B0604020202020204" pitchFamily="34" charset="0"/>
              <a:buChar char="•"/>
            </a:pPr>
            <a:r>
              <a:rPr lang="zh-CN" altLang="en-US" dirty="0"/>
              <a:t> 使能，每个 </a:t>
            </a:r>
            <a:r>
              <a:rPr lang="en-US" altLang="zh-CN" dirty="0"/>
              <a:t>PWM </a:t>
            </a:r>
            <a:r>
              <a:rPr lang="zh-CN" altLang="en-US" dirty="0"/>
              <a:t>周期 </a:t>
            </a:r>
            <a:r>
              <a:rPr lang="en-US" altLang="zh-CN" dirty="0"/>
              <a:t>TIM1 </a:t>
            </a:r>
            <a:r>
              <a:rPr lang="zh-CN" altLang="en-US" dirty="0"/>
              <a:t>产生一次更新事件 → </a:t>
            </a:r>
            <a:r>
              <a:rPr lang="en-US" altLang="zh-CN" dirty="0"/>
              <a:t>TRGO </a:t>
            </a:r>
            <a:r>
              <a:rPr lang="zh-CN" altLang="en-US" dirty="0"/>
              <a:t>发一个脉冲 → </a:t>
            </a:r>
            <a:r>
              <a:rPr lang="en-US" altLang="zh-CN" dirty="0"/>
              <a:t>ADC </a:t>
            </a:r>
            <a:r>
              <a:rPr lang="zh-CN" altLang="en-US" dirty="0"/>
              <a:t>自动采样一次</a:t>
            </a:r>
            <a:endParaRPr lang="en-US" altLang="zh-CN" dirty="0"/>
          </a:p>
          <a:p>
            <a:pPr lvl="2">
              <a:buFont typeface="Arial" panose="020B0604020202020204" pitchFamily="34" charset="0"/>
              <a:buChar char="•"/>
            </a:pPr>
            <a:endParaRPr lang="en-US" altLang="zh-CN" b="1" dirty="0"/>
          </a:p>
          <a:p>
            <a:pPr lvl="2">
              <a:buFont typeface="Arial" panose="020B0604020202020204" pitchFamily="34" charset="0"/>
              <a:buChar char="•"/>
            </a:pPr>
            <a:r>
              <a:rPr lang="en-US" altLang="zh-CN" b="1" dirty="0"/>
              <a:t>Trigger Event Selection: </a:t>
            </a:r>
            <a:r>
              <a:rPr lang="en-US" altLang="zh-CN" b="1" dirty="0">
                <a:latin typeface="Courier New" panose="02070309020205020404" pitchFamily="49" charset="0"/>
              </a:rPr>
              <a:t>Update Event</a:t>
            </a:r>
            <a:r>
              <a:rPr lang="en-US" altLang="zh-CN" b="1" dirty="0"/>
              <a:t> (</a:t>
            </a:r>
            <a:r>
              <a:rPr lang="zh-CN" altLang="en-US" b="1" dirty="0"/>
              <a:t>更新事件</a:t>
            </a:r>
            <a:r>
              <a:rPr lang="en-US" altLang="zh-CN" b="1" dirty="0"/>
              <a:t>) </a:t>
            </a:r>
            <a:endParaRPr lang="zh-CN" alt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dirty="0"/>
              <a:t>结合前面的 </a:t>
            </a:r>
            <a:r>
              <a:rPr lang="en-US" altLang="zh-CN" dirty="0">
                <a:latin typeface="Courier New" panose="02070309020205020404" pitchFamily="49" charset="0"/>
              </a:rPr>
              <a:t>RCR = 0（本项目RCR=0，TRGO每周期都触发）</a:t>
            </a:r>
            <a:r>
              <a:rPr lang="zh-CN" altLang="en-US" dirty="0"/>
              <a:t>，现在 </a:t>
            </a:r>
            <a:r>
              <a:rPr lang="en-US" altLang="zh-CN" dirty="0"/>
              <a:t>TIM1 </a:t>
            </a:r>
            <a:r>
              <a:rPr lang="zh-CN" altLang="en-US" dirty="0"/>
              <a:t>每当向下计数到底（</a:t>
            </a:r>
            <a:r>
              <a:rPr lang="en-US" altLang="zh-CN" dirty="0"/>
              <a:t>0</a:t>
            </a:r>
            <a:r>
              <a:rPr lang="zh-CN" altLang="en-US" dirty="0"/>
              <a:t>时刻）产生 </a:t>
            </a:r>
            <a:r>
              <a:rPr lang="en-US" altLang="zh-CN" dirty="0"/>
              <a:t>Update </a:t>
            </a:r>
            <a:r>
              <a:rPr lang="zh-CN" altLang="en-US" dirty="0"/>
              <a:t>事件时，就会从 </a:t>
            </a:r>
            <a:r>
              <a:rPr lang="en-US" altLang="zh-CN" dirty="0">
                <a:latin typeface="Courier New" panose="02070309020205020404" pitchFamily="49" charset="0"/>
              </a:rPr>
              <a:t>TRGO</a:t>
            </a:r>
            <a:r>
              <a:rPr lang="en-US" altLang="zh-CN" dirty="0"/>
              <a:t> </a:t>
            </a:r>
            <a:r>
              <a:rPr lang="zh-CN" altLang="en-US" dirty="0"/>
              <a:t>引脚发出一根硬触发脉冲。在 </a:t>
            </a:r>
            <a:r>
              <a:rPr lang="en-US" altLang="zh-CN" dirty="0"/>
              <a:t>ADC </a:t>
            </a:r>
            <a:r>
              <a:rPr lang="zh-CN" altLang="en-US" dirty="0"/>
              <a:t>的配置中，将触发源选为 </a:t>
            </a:r>
            <a:r>
              <a:rPr lang="en-US" altLang="zh-CN" dirty="0">
                <a:latin typeface="Courier New" panose="02070309020205020404" pitchFamily="49" charset="0"/>
              </a:rPr>
              <a:t>TIM1 TRGO</a:t>
            </a:r>
            <a:r>
              <a:rPr lang="zh-CN" altLang="en-US" dirty="0"/>
              <a:t>，</a:t>
            </a:r>
            <a:r>
              <a:rPr lang="en-US" altLang="zh-CN" dirty="0"/>
              <a:t>ADC </a:t>
            </a:r>
            <a:r>
              <a:rPr lang="zh-CN" altLang="en-US" dirty="0"/>
              <a:t>就会在这个</a:t>
            </a:r>
            <a:r>
              <a:rPr lang="zh-CN" altLang="en-US" b="1" dirty="0"/>
              <a:t>没有任何开关噪声的黄金时刻</a:t>
            </a:r>
            <a:r>
              <a:rPr lang="zh-CN" altLang="en-US" dirty="0"/>
              <a:t>自动启动电流采样。</a:t>
            </a: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6A9FB50D-83C7-0EB3-E6A7-CBCB328A8F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51520" y="3130835"/>
            <a:ext cx="4514850" cy="781050"/>
          </a:xfrm>
          <a:prstGeom prst="rect">
            <a:avLst/>
          </a:prstGeom>
        </p:spPr>
      </p:pic>
      <p:grpSp>
        <p:nvGrpSpPr>
          <p:cNvPr id="14" name="组合 13">
            <a:extLst>
              <a:ext uri="{FF2B5EF4-FFF2-40B4-BE49-F238E27FC236}">
                <a16:creationId xmlns:a16="http://schemas.microsoft.com/office/drawing/2014/main" id="{696B3408-C58E-7625-BD6C-3A6C4382B2AD}"/>
              </a:ext>
            </a:extLst>
          </p:cNvPr>
          <p:cNvGrpSpPr/>
          <p:nvPr/>
        </p:nvGrpSpPr>
        <p:grpSpPr>
          <a:xfrm>
            <a:off x="55421" y="2811307"/>
            <a:ext cx="2041236" cy="2255978"/>
            <a:chOff x="600364" y="1101436"/>
            <a:chExt cx="2041236" cy="2255978"/>
          </a:xfrm>
        </p:grpSpPr>
        <p:sp>
          <p:nvSpPr>
            <p:cNvPr id="15" name="AutoShape 4">
              <a:extLst>
                <a:ext uri="{FF2B5EF4-FFF2-40B4-BE49-F238E27FC236}">
                  <a16:creationId xmlns:a16="http://schemas.microsoft.com/office/drawing/2014/main" id="{6EAD6849-1B17-C22C-7FF9-3392697A3249}"/>
                </a:ext>
              </a:extLst>
            </p:cNvPr>
            <p:cNvSpPr/>
            <p:nvPr/>
          </p:nvSpPr>
          <p:spPr>
            <a:xfrm>
              <a:off x="600364" y="1101436"/>
              <a:ext cx="2032000" cy="2255978"/>
            </a:xfrm>
            <a:prstGeom prst="roundRect">
              <a:avLst>
                <a:gd name="adj" fmla="val 5000"/>
              </a:avLst>
            </a:prstGeom>
            <a:solidFill>
              <a:srgbClr val="FFFFFF">
                <a:alpha val="100000"/>
              </a:srgbClr>
            </a:solidFill>
            <a:ln w="25400" cap="flat" cmpd="sng">
              <a:noFill/>
              <a:prstDash val="solid"/>
              <a:round/>
            </a:ln>
            <a:effectLst>
              <a:outerShdw blurRad="444500" dist="190500" dir="2700000" algn="tl" rotWithShape="0">
                <a:srgbClr val="000000">
                  <a:alpha val="25000"/>
                </a:srgbClr>
              </a:outerShdw>
            </a:effectLst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16" name="AutoShape 5">
              <a:extLst>
                <a:ext uri="{FF2B5EF4-FFF2-40B4-BE49-F238E27FC236}">
                  <a16:creationId xmlns:a16="http://schemas.microsoft.com/office/drawing/2014/main" id="{A049C4C7-9553-6F05-FD2A-43E343985383}"/>
                </a:ext>
              </a:extLst>
            </p:cNvPr>
            <p:cNvSpPr/>
            <p:nvPr/>
          </p:nvSpPr>
          <p:spPr>
            <a:xfrm>
              <a:off x="609600" y="1101436"/>
              <a:ext cx="2032000" cy="50800"/>
            </a:xfrm>
            <a:prstGeom prst="roundRect">
              <a:avLst>
                <a:gd name="adj" fmla="val 0"/>
              </a:avLst>
            </a:prstGeom>
            <a:solidFill>
              <a:srgbClr val="00838F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pic>
          <p:nvPicPr>
            <p:cNvPr id="17" name="Picture 6">
              <a:extLst>
                <a:ext uri="{FF2B5EF4-FFF2-40B4-BE49-F238E27FC236}">
                  <a16:creationId xmlns:a16="http://schemas.microsoft.com/office/drawing/2014/main" id="{B5399E7C-13E0-60A7-4AB5-C970B1F6A04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808182" y="1529769"/>
              <a:ext cx="457200" cy="406404"/>
            </a:xfrm>
            <a:prstGeom prst="rect">
              <a:avLst/>
            </a:prstGeom>
          </p:spPr>
        </p:pic>
        <p:sp>
          <p:nvSpPr>
            <p:cNvPr id="18" name="AutoShape 7">
              <a:extLst>
                <a:ext uri="{FF2B5EF4-FFF2-40B4-BE49-F238E27FC236}">
                  <a16:creationId xmlns:a16="http://schemas.microsoft.com/office/drawing/2014/main" id="{F5B7D0A2-FCEA-60D9-BA0D-C0E96031BB42}"/>
                </a:ext>
              </a:extLst>
            </p:cNvPr>
            <p:cNvSpPr/>
            <p:nvPr/>
          </p:nvSpPr>
          <p:spPr>
            <a:xfrm>
              <a:off x="1228436" y="1211119"/>
              <a:ext cx="1403928" cy="999833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25000"/>
                </a:lnSpc>
                <a:defRPr/>
              </a:pPr>
              <a:r>
                <a:rPr lang="en-US" altLang="zh-CN" sz="1800" b="1" i="0" u="none" strike="noStrike" dirty="0">
                  <a:solidFill>
                    <a:srgbClr val="333333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Break and Dead Time</a:t>
              </a:r>
              <a:endParaRPr lang="en-US" sz="1100" dirty="0"/>
            </a:p>
          </p:txBody>
        </p:sp>
        <p:sp>
          <p:nvSpPr>
            <p:cNvPr id="19" name="AutoShape 8">
              <a:extLst>
                <a:ext uri="{FF2B5EF4-FFF2-40B4-BE49-F238E27FC236}">
                  <a16:creationId xmlns:a16="http://schemas.microsoft.com/office/drawing/2014/main" id="{67812CA4-1CB5-5EFE-62E9-D2FAE39DC740}"/>
                </a:ext>
              </a:extLst>
            </p:cNvPr>
            <p:cNvSpPr/>
            <p:nvPr/>
          </p:nvSpPr>
          <p:spPr>
            <a:xfrm>
              <a:off x="762000" y="2371436"/>
              <a:ext cx="1727200" cy="805869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>
                <a:lnSpc>
                  <a:spcPct val="116666"/>
                </a:lnSpc>
                <a:defRPr/>
              </a:pPr>
              <a:r>
                <a:rPr lang="zh-CN" altLang="en-US" sz="1200" dirty="0"/>
                <a:t>防止 </a:t>
              </a:r>
              <a:r>
                <a:rPr lang="en-US" altLang="zh-CN" sz="1200" dirty="0"/>
                <a:t>H </a:t>
              </a:r>
              <a:r>
                <a:rPr lang="zh-CN" altLang="en-US" sz="1200" dirty="0"/>
                <a:t>桥电路的上下桥臂在切换时由于</a:t>
              </a:r>
              <a:r>
                <a:rPr lang="en-US" altLang="zh-CN" sz="1200" dirty="0"/>
                <a:t>MOS</a:t>
              </a:r>
              <a:r>
                <a:rPr lang="zh-CN" altLang="en-US" sz="1200" dirty="0"/>
                <a:t>管关断延迟发生“硬件直通短路”，加入死区时间。</a:t>
              </a:r>
              <a:endParaRPr lang="en-US" sz="1100" dirty="0"/>
            </a:p>
          </p:txBody>
        </p:sp>
      </p:grpSp>
      <p:sp>
        <p:nvSpPr>
          <p:cNvPr id="21" name="文本框 20">
            <a:extLst>
              <a:ext uri="{FF2B5EF4-FFF2-40B4-BE49-F238E27FC236}">
                <a16:creationId xmlns:a16="http://schemas.microsoft.com/office/drawing/2014/main" id="{82FADF3C-2D02-D86C-9E56-D7BA29234094}"/>
              </a:ext>
            </a:extLst>
          </p:cNvPr>
          <p:cNvSpPr txBox="1"/>
          <p:nvPr/>
        </p:nvSpPr>
        <p:spPr>
          <a:xfrm>
            <a:off x="2351520" y="3919052"/>
            <a:ext cx="622069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不开启硬件刹车引脚（我们没有外部硬件过流保护信号接入刹车脚）</a:t>
            </a:r>
          </a:p>
        </p:txBody>
      </p:sp>
      <p:pic>
        <p:nvPicPr>
          <p:cNvPr id="23" name="图片 22">
            <a:extLst>
              <a:ext uri="{FF2B5EF4-FFF2-40B4-BE49-F238E27FC236}">
                <a16:creationId xmlns:a16="http://schemas.microsoft.com/office/drawing/2014/main" id="{29171274-2594-5A10-0F2F-8EB97E19B34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51519" y="4366771"/>
            <a:ext cx="5019759" cy="1553735"/>
          </a:xfrm>
          <a:prstGeom prst="rect">
            <a:avLst/>
          </a:prstGeom>
        </p:spPr>
      </p:pic>
      <p:sp>
        <p:nvSpPr>
          <p:cNvPr id="25" name="文本框 24">
            <a:extLst>
              <a:ext uri="{FF2B5EF4-FFF2-40B4-BE49-F238E27FC236}">
                <a16:creationId xmlns:a16="http://schemas.microsoft.com/office/drawing/2014/main" id="{1A0CAD01-5A8D-4B0A-D327-BCA96F94E8B7}"/>
              </a:ext>
            </a:extLst>
          </p:cNvPr>
          <p:cNvSpPr txBox="1"/>
          <p:nvPr/>
        </p:nvSpPr>
        <p:spPr>
          <a:xfrm>
            <a:off x="7371278" y="4670349"/>
            <a:ext cx="4756066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zh-CN" b="1" dirty="0">
                <a:effectLst/>
                <a:latin typeface="Google Sans Text"/>
              </a:rPr>
              <a:t>Automatic Output State / Off State...: </a:t>
            </a:r>
            <a:r>
              <a:rPr lang="zh-CN" altLang="en-US" b="1" dirty="0">
                <a:effectLst/>
                <a:latin typeface="Google Sans Text"/>
              </a:rPr>
              <a:t>均保持默认 </a:t>
            </a:r>
            <a:r>
              <a:rPr lang="en-US" altLang="zh-CN" b="1" dirty="0">
                <a:effectLst/>
                <a:latin typeface="Google Sans Text"/>
              </a:rPr>
              <a:t>Disable</a:t>
            </a:r>
            <a:endParaRPr lang="en-US" altLang="zh-CN" dirty="0">
              <a:effectLst/>
              <a:latin typeface="Google Sans Text"/>
            </a:endParaRPr>
          </a:p>
          <a:p>
            <a:pPr>
              <a:buNone/>
            </a:pPr>
            <a:r>
              <a:rPr lang="en-US" altLang="zh-CN" b="1" dirty="0">
                <a:effectLst/>
                <a:latin typeface="Google Sans Text"/>
              </a:rPr>
              <a:t>Lock Configuration: Off</a:t>
            </a:r>
            <a:endParaRPr lang="en-US" altLang="zh-CN" dirty="0">
              <a:effectLst/>
              <a:latin typeface="Google Sans Text"/>
            </a:endParaRPr>
          </a:p>
          <a:p>
            <a:pPr>
              <a:buNone/>
            </a:pPr>
            <a:r>
              <a:rPr lang="en-US" altLang="zh-CN" b="1" dirty="0">
                <a:effectLst/>
                <a:latin typeface="Google Sans Text"/>
              </a:rPr>
              <a:t>Dead Time: 0（IR2104芯片内部已集成硬件死区，MCU无需额外设置）</a:t>
            </a:r>
            <a:endParaRPr lang="zh-CN" altLang="en-US" dirty="0">
              <a:effectLst/>
              <a:latin typeface="Google Sans Text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altLang="zh-CN" dirty="0">
              <a:effectLst/>
              <a:latin typeface="Google Sans Text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altLang="zh-CN" dirty="0">
              <a:effectLst/>
              <a:latin typeface="Google Sans Text"/>
            </a:endParaRPr>
          </a:p>
        </p:txBody>
      </p:sp>
      <p:pic>
        <p:nvPicPr>
          <p:cNvPr id="26" name="Picture 8">
            <a:extLst>
              <a:ext uri="{FF2B5EF4-FFF2-40B4-BE49-F238E27FC236}">
                <a16:creationId xmlns:a16="http://schemas.microsoft.com/office/drawing/2014/main" id="{473D1704-56E5-724C-8618-47643EB9F31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038772" y="292394"/>
            <a:ext cx="889000" cy="889000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9BDE2A24-664B-EA1E-4422-E83E86BDD45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304474" y="699886"/>
            <a:ext cx="8529781" cy="759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84209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971621-8BEB-122A-3216-904D79B285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862DCCCC-41B7-C971-A495-A1ED9A198558}"/>
              </a:ext>
            </a:extLst>
          </p:cNvPr>
          <p:cNvSpPr/>
          <p:nvPr/>
        </p:nvSpPr>
        <p:spPr>
          <a:xfrm>
            <a:off x="609600" y="148936"/>
            <a:ext cx="109728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altLang="zh-CN" sz="3200" b="1" i="0" u="none" strike="noStrike" dirty="0">
                <a:solidFill>
                  <a:srgbClr val="00838F"/>
                </a:solidFill>
                <a:latin typeface="Noto Sans SC"/>
                <a:ea typeface="Noto Sans SC"/>
                <a:cs typeface="Noto Sans SC"/>
                <a:sym typeface="Noto Sans SC"/>
              </a:rPr>
              <a:t>TIM1</a:t>
            </a:r>
            <a:r>
              <a:rPr lang="zh-CN" altLang="en-US" sz="3200" b="1" i="0" u="none" strike="noStrike" dirty="0">
                <a:solidFill>
                  <a:srgbClr val="00838F"/>
                </a:solidFill>
                <a:latin typeface="Noto Sans SC"/>
                <a:ea typeface="Noto Sans SC"/>
                <a:cs typeface="Noto Sans SC"/>
                <a:sym typeface="Noto Sans SC"/>
              </a:rPr>
              <a:t>配置</a:t>
            </a:r>
            <a:endParaRPr lang="en-US" sz="1100" dirty="0"/>
          </a:p>
        </p:txBody>
      </p:sp>
      <p:grpSp>
        <p:nvGrpSpPr>
          <p:cNvPr id="35" name="组合 34">
            <a:extLst>
              <a:ext uri="{FF2B5EF4-FFF2-40B4-BE49-F238E27FC236}">
                <a16:creationId xmlns:a16="http://schemas.microsoft.com/office/drawing/2014/main" id="{F95B7E02-48B1-EFC9-4738-A6E1C9DB841D}"/>
              </a:ext>
            </a:extLst>
          </p:cNvPr>
          <p:cNvGrpSpPr/>
          <p:nvPr/>
        </p:nvGrpSpPr>
        <p:grpSpPr>
          <a:xfrm>
            <a:off x="64657" y="57731"/>
            <a:ext cx="2041236" cy="2255978"/>
            <a:chOff x="600364" y="1101436"/>
            <a:chExt cx="2041236" cy="2255978"/>
          </a:xfrm>
        </p:grpSpPr>
        <p:sp>
          <p:nvSpPr>
            <p:cNvPr id="4" name="AutoShape 4">
              <a:extLst>
                <a:ext uri="{FF2B5EF4-FFF2-40B4-BE49-F238E27FC236}">
                  <a16:creationId xmlns:a16="http://schemas.microsoft.com/office/drawing/2014/main" id="{7D031F67-CDA9-F8F7-5617-B04AD98629D0}"/>
                </a:ext>
              </a:extLst>
            </p:cNvPr>
            <p:cNvSpPr/>
            <p:nvPr/>
          </p:nvSpPr>
          <p:spPr>
            <a:xfrm>
              <a:off x="600364" y="1101436"/>
              <a:ext cx="2032000" cy="2255978"/>
            </a:xfrm>
            <a:prstGeom prst="roundRect">
              <a:avLst>
                <a:gd name="adj" fmla="val 5000"/>
              </a:avLst>
            </a:prstGeom>
            <a:solidFill>
              <a:srgbClr val="FFFFFF">
                <a:alpha val="100000"/>
              </a:srgbClr>
            </a:solidFill>
            <a:ln w="25400" cap="flat" cmpd="sng">
              <a:noFill/>
              <a:prstDash val="solid"/>
              <a:round/>
            </a:ln>
            <a:effectLst>
              <a:outerShdw blurRad="444500" dist="190500" dir="2700000" algn="tl" rotWithShape="0">
                <a:srgbClr val="000000">
                  <a:alpha val="25000"/>
                </a:srgbClr>
              </a:outerShdw>
            </a:effectLst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5" name="AutoShape 5">
              <a:extLst>
                <a:ext uri="{FF2B5EF4-FFF2-40B4-BE49-F238E27FC236}">
                  <a16:creationId xmlns:a16="http://schemas.microsoft.com/office/drawing/2014/main" id="{4925FA66-F463-85A1-6087-F7A965FC89D6}"/>
                </a:ext>
              </a:extLst>
            </p:cNvPr>
            <p:cNvSpPr/>
            <p:nvPr/>
          </p:nvSpPr>
          <p:spPr>
            <a:xfrm>
              <a:off x="609600" y="1101436"/>
              <a:ext cx="2032000" cy="50800"/>
            </a:xfrm>
            <a:prstGeom prst="roundRect">
              <a:avLst>
                <a:gd name="adj" fmla="val 0"/>
              </a:avLst>
            </a:prstGeom>
            <a:solidFill>
              <a:srgbClr val="00838F">
                <a:alpha val="100000"/>
              </a:srgbClr>
            </a:solidFill>
            <a:ln w="25400" cap="flat" cmpd="sng">
              <a:noFill/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sp>
          <p:nvSpPr>
            <p:cNvPr id="7" name="AutoShape 7">
              <a:extLst>
                <a:ext uri="{FF2B5EF4-FFF2-40B4-BE49-F238E27FC236}">
                  <a16:creationId xmlns:a16="http://schemas.microsoft.com/office/drawing/2014/main" id="{874C5996-C579-1970-41B9-EFF900DBA236}"/>
                </a:ext>
              </a:extLst>
            </p:cNvPr>
            <p:cNvSpPr/>
            <p:nvPr/>
          </p:nvSpPr>
          <p:spPr>
            <a:xfrm>
              <a:off x="609600" y="1211119"/>
              <a:ext cx="2022764" cy="999833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indent="0" algn="l">
                <a:lnSpc>
                  <a:spcPct val="125000"/>
                </a:lnSpc>
                <a:defRPr/>
              </a:pPr>
              <a:r>
                <a:rPr lang="en-US" altLang="zh-CN" sz="1800" b="1" i="0" u="none" strike="noStrike" dirty="0">
                  <a:solidFill>
                    <a:srgbClr val="333333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PWM Generation Channel 1 and 1N</a:t>
              </a:r>
              <a:endParaRPr lang="en-US" sz="1100" dirty="0"/>
            </a:p>
          </p:txBody>
        </p:sp>
        <p:sp>
          <p:nvSpPr>
            <p:cNvPr id="8" name="AutoShape 8">
              <a:extLst>
                <a:ext uri="{FF2B5EF4-FFF2-40B4-BE49-F238E27FC236}">
                  <a16:creationId xmlns:a16="http://schemas.microsoft.com/office/drawing/2014/main" id="{35E33779-8FD0-7D97-4FBB-7383CB67D08A}"/>
                </a:ext>
              </a:extLst>
            </p:cNvPr>
            <p:cNvSpPr/>
            <p:nvPr/>
          </p:nvSpPr>
          <p:spPr>
            <a:xfrm>
              <a:off x="762000" y="2371436"/>
              <a:ext cx="1727200" cy="805869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>
                <a:lnSpc>
                  <a:spcPct val="116666"/>
                </a:lnSpc>
                <a:defRPr/>
              </a:pPr>
              <a:r>
                <a:rPr lang="zh-CN" altLang="en-US" sz="1200" dirty="0"/>
                <a:t>通道互补输出</a:t>
              </a:r>
              <a:endParaRPr lang="en-US" sz="1100" dirty="0"/>
            </a:p>
          </p:txBody>
        </p:sp>
      </p:grpSp>
      <p:pic>
        <p:nvPicPr>
          <p:cNvPr id="10" name="图片 9">
            <a:extLst>
              <a:ext uri="{FF2B5EF4-FFF2-40B4-BE49-F238E27FC236}">
                <a16:creationId xmlns:a16="http://schemas.microsoft.com/office/drawing/2014/main" id="{1D4B3BE0-E638-B45A-4B86-C5112A678F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332187"/>
            <a:ext cx="4829175" cy="1990725"/>
          </a:xfrm>
          <a:prstGeom prst="rect">
            <a:avLst/>
          </a:prstGeom>
        </p:spPr>
      </p:pic>
      <p:sp>
        <p:nvSpPr>
          <p:cNvPr id="20" name="文本框 19">
            <a:extLst>
              <a:ext uri="{FF2B5EF4-FFF2-40B4-BE49-F238E27FC236}">
                <a16:creationId xmlns:a16="http://schemas.microsoft.com/office/drawing/2014/main" id="{CC99A8E7-AC16-7435-581E-568A760DB776}"/>
              </a:ext>
            </a:extLst>
          </p:cNvPr>
          <p:cNvSpPr txBox="1"/>
          <p:nvPr/>
        </p:nvSpPr>
        <p:spPr>
          <a:xfrm>
            <a:off x="4829176" y="1185720"/>
            <a:ext cx="7136532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zh-CN" b="1" dirty="0"/>
              <a:t>Mode (PWM</a:t>
            </a:r>
            <a:r>
              <a:rPr lang="zh-CN" altLang="en-US" b="1" dirty="0"/>
              <a:t>模式</a:t>
            </a:r>
            <a:r>
              <a:rPr lang="en-US" altLang="zh-CN" b="1" dirty="0"/>
              <a:t>) = </a:t>
            </a:r>
            <a:r>
              <a:rPr lang="en-US" altLang="zh-CN" b="1" dirty="0">
                <a:latin typeface="Courier New" panose="02070309020205020404" pitchFamily="49" charset="0"/>
              </a:rPr>
              <a:t>PWM mode 1</a:t>
            </a:r>
            <a:endParaRPr lang="zh-CN" alt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b="1" dirty="0"/>
              <a:t>原因：</a:t>
            </a:r>
            <a:r>
              <a:rPr lang="zh-CN" altLang="en-US" dirty="0"/>
              <a:t> 最符合直觉的脉宽调制模式，占空比随比较寄存器（</a:t>
            </a:r>
            <a:r>
              <a:rPr lang="en-US" altLang="zh-CN" dirty="0"/>
              <a:t>CCR</a:t>
            </a:r>
            <a:r>
              <a:rPr lang="zh-CN" altLang="en-US" dirty="0"/>
              <a:t>）的值线性正相关增大。</a:t>
            </a:r>
          </a:p>
          <a:p>
            <a:pPr>
              <a:buNone/>
            </a:pPr>
            <a:r>
              <a:rPr lang="en-US" altLang="zh-CN" b="1" dirty="0"/>
              <a:t>Pulse (</a:t>
            </a:r>
            <a:r>
              <a:rPr lang="zh-CN" altLang="en-US" b="1" dirty="0"/>
              <a:t>初始占空比</a:t>
            </a:r>
            <a:r>
              <a:rPr lang="en-US" altLang="zh-CN" b="1" dirty="0"/>
              <a:t>) = </a:t>
            </a:r>
            <a:r>
              <a:rPr lang="en-US" altLang="zh-CN" b="1" dirty="0">
                <a:latin typeface="Courier New" panose="02070309020205020404" pitchFamily="49" charset="0"/>
              </a:rPr>
              <a:t>0</a:t>
            </a:r>
            <a:endParaRPr lang="zh-CN" alt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b="1" dirty="0"/>
              <a:t>原因：</a:t>
            </a:r>
            <a:r>
              <a:rPr lang="zh-CN" altLang="en-US" dirty="0"/>
              <a:t> 初始占空比设为 </a:t>
            </a:r>
            <a:r>
              <a:rPr lang="en-US" altLang="zh-CN" dirty="0"/>
              <a:t>0</a:t>
            </a:r>
            <a:r>
              <a:rPr lang="zh-CN" altLang="en-US" dirty="0"/>
              <a:t>，保证电机在刚开机初始化时处于静止安全状态，后续由 </a:t>
            </a:r>
            <a:r>
              <a:rPr lang="en-US" altLang="zh-CN" dirty="0"/>
              <a:t>PID </a:t>
            </a:r>
            <a:r>
              <a:rPr lang="zh-CN" altLang="en-US" dirty="0"/>
              <a:t>算法动态改写该值。</a:t>
            </a:r>
          </a:p>
          <a:p>
            <a:pPr>
              <a:buNone/>
            </a:pPr>
            <a:r>
              <a:rPr lang="en-US" altLang="zh-CN" b="1" dirty="0"/>
              <a:t>Output compare preload (</a:t>
            </a:r>
            <a:r>
              <a:rPr lang="zh-CN" altLang="en-US" b="1" dirty="0"/>
              <a:t>输出比较预装载</a:t>
            </a:r>
            <a:r>
              <a:rPr lang="en-US" altLang="zh-CN" b="1" dirty="0"/>
              <a:t>) = </a:t>
            </a:r>
            <a:r>
              <a:rPr lang="en-US" altLang="zh-CN" b="1" dirty="0">
                <a:latin typeface="Courier New" panose="02070309020205020404" pitchFamily="49" charset="0"/>
              </a:rPr>
              <a:t>Enable</a:t>
            </a:r>
            <a:endParaRPr lang="zh-CN" alt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b="1" dirty="0"/>
              <a:t>原因：</a:t>
            </a:r>
            <a:r>
              <a:rPr lang="zh-CN" altLang="en-US" dirty="0"/>
              <a:t> 保证在 </a:t>
            </a:r>
            <a:r>
              <a:rPr lang="en-US" altLang="zh-CN" dirty="0"/>
              <a:t>ADC </a:t>
            </a:r>
            <a:r>
              <a:rPr lang="zh-CN" altLang="en-US" dirty="0"/>
              <a:t>中断里算出的新 </a:t>
            </a:r>
            <a:r>
              <a:rPr lang="en-US" altLang="zh-CN" dirty="0"/>
              <a:t>PID </a:t>
            </a:r>
            <a:r>
              <a:rPr lang="zh-CN" altLang="en-US" dirty="0"/>
              <a:t>结果，只在下一个周期的起始点才会“整齐”地生效，避免在周期中途突变产生硬件尖峰毛刺。</a:t>
            </a:r>
          </a:p>
          <a:p>
            <a:pPr>
              <a:buNone/>
            </a:pPr>
            <a:r>
              <a:rPr lang="en-US" altLang="zh-CN" b="1" dirty="0"/>
              <a:t>CH / CHN Polarity (</a:t>
            </a:r>
            <a:r>
              <a:rPr lang="zh-CN" altLang="en-US" b="1" dirty="0"/>
              <a:t>通道极性</a:t>
            </a:r>
            <a:r>
              <a:rPr lang="en-US" altLang="zh-CN" b="1" dirty="0"/>
              <a:t>) = </a:t>
            </a:r>
            <a:r>
              <a:rPr lang="en-US" altLang="zh-CN" b="1" dirty="0">
                <a:latin typeface="Courier New" panose="02070309020205020404" pitchFamily="49" charset="0"/>
              </a:rPr>
              <a:t>High</a:t>
            </a:r>
            <a:endParaRPr lang="zh-CN" alt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b="1" dirty="0"/>
              <a:t>原因：</a:t>
            </a:r>
            <a:r>
              <a:rPr lang="zh-CN" altLang="en-US" dirty="0"/>
              <a:t> 适配主流驱动芯片“高电平导通、低电平关断”的硬件逻辑。</a:t>
            </a:r>
          </a:p>
          <a:p>
            <a:pPr>
              <a:buNone/>
            </a:pPr>
            <a:r>
              <a:rPr lang="en-US" altLang="zh-CN" b="1" dirty="0"/>
              <a:t>CH / CHN Idle State (</a:t>
            </a:r>
            <a:r>
              <a:rPr lang="zh-CN" altLang="en-US" b="1" dirty="0"/>
              <a:t>空闲状态</a:t>
            </a:r>
            <a:r>
              <a:rPr lang="en-US" altLang="zh-CN" b="1" dirty="0"/>
              <a:t>) = </a:t>
            </a:r>
            <a:r>
              <a:rPr lang="en-US" altLang="zh-CN" b="1" dirty="0">
                <a:latin typeface="Courier New" panose="02070309020205020404" pitchFamily="49" charset="0"/>
              </a:rPr>
              <a:t>Reset</a:t>
            </a:r>
            <a:endParaRPr lang="zh-CN" alt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b="1" dirty="0"/>
              <a:t>原因：</a:t>
            </a:r>
            <a:r>
              <a:rPr lang="zh-CN" altLang="en-US" dirty="0"/>
              <a:t> </a:t>
            </a:r>
            <a:r>
              <a:rPr lang="zh-CN" altLang="en-US" b="1" dirty="0"/>
              <a:t>重大安全配置。</a:t>
            </a:r>
            <a:r>
              <a:rPr lang="zh-CN" altLang="en-US" dirty="0"/>
              <a:t> 确保当程序关断 </a:t>
            </a:r>
            <a:r>
              <a:rPr lang="en-US" altLang="zh-CN" dirty="0"/>
              <a:t>PWM</a:t>
            </a:r>
            <a:r>
              <a:rPr lang="zh-CN" altLang="en-US" dirty="0"/>
              <a:t>、或用仿真器调试代码卡在断点（</a:t>
            </a:r>
            <a:r>
              <a:rPr lang="en-US" altLang="zh-CN" dirty="0"/>
              <a:t>Debug</a:t>
            </a:r>
            <a:r>
              <a:rPr lang="zh-CN" altLang="en-US" dirty="0"/>
              <a:t>）时，</a:t>
            </a:r>
            <a:r>
              <a:rPr lang="zh-CN" altLang="en-US" b="1" dirty="0"/>
              <a:t>两个引脚立刻被硬件强制拉低</a:t>
            </a:r>
            <a:r>
              <a:rPr lang="zh-CN" altLang="en-US" dirty="0"/>
              <a:t>。瞬间关闭所有 </a:t>
            </a:r>
            <a:r>
              <a:rPr lang="en-US" altLang="zh-CN" dirty="0"/>
              <a:t>MOS </a:t>
            </a:r>
            <a:r>
              <a:rPr lang="zh-CN" altLang="en-US" dirty="0"/>
              <a:t>管，切断电机电源，防止意外“炸板”。</a:t>
            </a:r>
          </a:p>
        </p:txBody>
      </p:sp>
      <p:pic>
        <p:nvPicPr>
          <p:cNvPr id="24" name="Picture 8">
            <a:extLst>
              <a:ext uri="{FF2B5EF4-FFF2-40B4-BE49-F238E27FC236}">
                <a16:creationId xmlns:a16="http://schemas.microsoft.com/office/drawing/2014/main" id="{BF72DC6B-03E6-F281-184B-57F00C68BE2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323282" y="108531"/>
            <a:ext cx="889000" cy="889000"/>
          </a:xfrm>
          <a:prstGeom prst="rect">
            <a:avLst/>
          </a:prstGeom>
        </p:spPr>
      </p:pic>
      <p:pic>
        <p:nvPicPr>
          <p:cNvPr id="27" name="图片 26">
            <a:extLst>
              <a:ext uri="{FF2B5EF4-FFF2-40B4-BE49-F238E27FC236}">
                <a16:creationId xmlns:a16="http://schemas.microsoft.com/office/drawing/2014/main" id="{93FA3931-33BD-C698-A9BD-922377BC091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4380603"/>
            <a:ext cx="6382327" cy="2328461"/>
          </a:xfrm>
          <a:prstGeom prst="rect">
            <a:avLst/>
          </a:prstGeom>
        </p:spPr>
      </p:pic>
      <p:sp>
        <p:nvSpPr>
          <p:cNvPr id="30" name="矩形 29">
            <a:extLst>
              <a:ext uri="{FF2B5EF4-FFF2-40B4-BE49-F238E27FC236}">
                <a16:creationId xmlns:a16="http://schemas.microsoft.com/office/drawing/2014/main" id="{8B0D9941-4C5E-7FD5-BB77-6EF49884C4F4}"/>
              </a:ext>
            </a:extLst>
          </p:cNvPr>
          <p:cNvSpPr/>
          <p:nvPr/>
        </p:nvSpPr>
        <p:spPr>
          <a:xfrm>
            <a:off x="2872509" y="5440216"/>
            <a:ext cx="3454400" cy="68349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AF51754C-70CB-B8ED-1C17-A4C7894D4DBF}"/>
              </a:ext>
            </a:extLst>
          </p:cNvPr>
          <p:cNvSpPr txBox="1"/>
          <p:nvPr/>
        </p:nvSpPr>
        <p:spPr>
          <a:xfrm>
            <a:off x="6530110" y="4738712"/>
            <a:ext cx="5172364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zh-CN" altLang="en-US" b="1" dirty="0"/>
              <a:t>什么时候用上下拉？</a:t>
            </a:r>
            <a:r>
              <a:rPr lang="zh-CN" altLang="en-US" dirty="0"/>
              <a:t> 当引脚作为</a:t>
            </a:r>
            <a:r>
              <a:rPr lang="zh-CN" altLang="en-US" b="1" dirty="0"/>
              <a:t>输入引脚</a:t>
            </a:r>
            <a:r>
              <a:rPr lang="zh-CN" altLang="en-US" dirty="0"/>
              <a:t>（如读取按键、传感器状态、或者配置为开漏输出 </a:t>
            </a:r>
            <a:r>
              <a:rPr lang="en-US" altLang="zh-CN" dirty="0">
                <a:latin typeface="Courier New" panose="02070309020205020404" pitchFamily="49" charset="0"/>
              </a:rPr>
              <a:t>Open-Drain</a:t>
            </a:r>
            <a:r>
              <a:rPr lang="zh-CN" altLang="en-US" dirty="0"/>
              <a:t>）时，为了防止引脚悬空处于浮空不确定状态，</a:t>
            </a:r>
            <a:r>
              <a:rPr lang="zh-CN" altLang="en-US" b="1" dirty="0"/>
              <a:t>必须</a:t>
            </a:r>
            <a:r>
              <a:rPr lang="zh-CN" altLang="en-US" dirty="0"/>
              <a:t>配置上下拉。</a:t>
            </a:r>
          </a:p>
          <a:p>
            <a:pPr>
              <a:buNone/>
            </a:pPr>
            <a:r>
              <a:rPr lang="zh-CN" altLang="en-US" b="1" dirty="0"/>
              <a:t>什么时候不用上下拉？</a:t>
            </a:r>
            <a:r>
              <a:rPr lang="zh-CN" altLang="en-US" dirty="0"/>
              <a:t> 当引脚作为高速强推挽输出（如本例的 </a:t>
            </a:r>
            <a:r>
              <a:rPr lang="en-US" altLang="zh-CN" dirty="0"/>
              <a:t>TIM1 PWM </a:t>
            </a:r>
            <a:r>
              <a:rPr lang="zh-CN" altLang="en-US" dirty="0"/>
              <a:t>输出）且外部有明确负载</a:t>
            </a:r>
            <a:r>
              <a:rPr lang="en-US" altLang="zh-CN" dirty="0"/>
              <a:t>/</a:t>
            </a:r>
            <a:r>
              <a:rPr lang="zh-CN" altLang="en-US" dirty="0"/>
              <a:t>驱动器时，为了保证方波不失真，</a:t>
            </a:r>
            <a:r>
              <a:rPr lang="zh-CN" altLang="en-US" b="1" dirty="0"/>
              <a:t>一律选择 </a:t>
            </a:r>
            <a:r>
              <a:rPr lang="en-US" altLang="zh-CN" b="1" dirty="0"/>
              <a:t>No pull-up and no pull-down</a:t>
            </a:r>
            <a:r>
              <a:rPr lang="zh-CN" altLang="en-US" dirty="0"/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32501376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B2D9B9-4A05-527C-B91E-997F06FB98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2ED9C9BA-73F5-3451-8E08-0A77BE4FA826}"/>
              </a:ext>
            </a:extLst>
          </p:cNvPr>
          <p:cNvSpPr/>
          <p:nvPr/>
        </p:nvSpPr>
        <p:spPr>
          <a:xfrm>
            <a:off x="2677211" y="0"/>
            <a:ext cx="6196553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altLang="zh-CN" sz="3200" b="1" i="0" u="none" strike="noStrike" dirty="0">
                <a:solidFill>
                  <a:srgbClr val="00838F"/>
                </a:solidFill>
                <a:latin typeface="Noto Sans SC"/>
                <a:ea typeface="Noto Sans SC"/>
                <a:cs typeface="Noto Sans SC"/>
                <a:sym typeface="Noto Sans SC"/>
              </a:rPr>
              <a:t>ADC</a:t>
            </a:r>
            <a:r>
              <a:rPr lang="zh-CN" altLang="en-US" sz="3200" b="1" i="0" u="none" strike="noStrike" dirty="0">
                <a:solidFill>
                  <a:srgbClr val="00838F"/>
                </a:solidFill>
                <a:latin typeface="Noto Sans SC"/>
                <a:ea typeface="Noto Sans SC"/>
                <a:cs typeface="Noto Sans SC"/>
                <a:sym typeface="Noto Sans SC"/>
              </a:rPr>
              <a:t>配置</a:t>
            </a:r>
            <a:endParaRPr lang="en-US" sz="1100"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DF90989B-2CA6-DFD1-DAFB-4F47A899EF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82200" y="810704"/>
            <a:ext cx="5143507" cy="6047295"/>
          </a:xfrm>
          <a:prstGeom prst="rect">
            <a:avLst/>
          </a:prstGeom>
        </p:spPr>
      </p:pic>
      <p:sp>
        <p:nvSpPr>
          <p:cNvPr id="20" name="文本框 19">
            <a:extLst>
              <a:ext uri="{FF2B5EF4-FFF2-40B4-BE49-F238E27FC236}">
                <a16:creationId xmlns:a16="http://schemas.microsoft.com/office/drawing/2014/main" id="{A666E7F5-6102-0708-A66C-4F6C2BE2A96E}"/>
              </a:ext>
            </a:extLst>
          </p:cNvPr>
          <p:cNvSpPr txBox="1"/>
          <p:nvPr/>
        </p:nvSpPr>
        <p:spPr>
          <a:xfrm>
            <a:off x="5061307" y="810704"/>
            <a:ext cx="7130691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zh-CN" altLang="en-US" sz="1200" b="1" dirty="0">
                <a:effectLst/>
                <a:latin typeface="Google Sans"/>
              </a:rPr>
              <a:t>一、 </a:t>
            </a:r>
            <a:r>
              <a:rPr lang="en-US" altLang="zh-CN" sz="1200" b="1" dirty="0" err="1">
                <a:effectLst/>
                <a:latin typeface="Google Sans"/>
              </a:rPr>
              <a:t>ADC_Settings</a:t>
            </a:r>
            <a:r>
              <a:rPr lang="en-US" altLang="zh-CN" sz="1200" b="1" dirty="0">
                <a:effectLst/>
                <a:latin typeface="Google Sans"/>
              </a:rPr>
              <a:t> (</a:t>
            </a:r>
            <a:r>
              <a:rPr lang="zh-CN" altLang="en-US" sz="1200" b="1" dirty="0">
                <a:effectLst/>
                <a:latin typeface="Google Sans"/>
              </a:rPr>
              <a:t>基础设置</a:t>
            </a:r>
            <a:r>
              <a:rPr lang="en-US" altLang="zh-CN" sz="1200" b="1" dirty="0">
                <a:effectLst/>
                <a:latin typeface="Google Sans"/>
              </a:rPr>
              <a:t>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sz="1200" b="1" dirty="0">
                <a:effectLst/>
                <a:latin typeface="Google Sans Text"/>
              </a:rPr>
              <a:t>Clock </a:t>
            </a:r>
            <a:r>
              <a:rPr lang="en-US" altLang="zh-CN" sz="1200" b="1" dirty="0" err="1">
                <a:effectLst/>
                <a:latin typeface="Google Sans Text"/>
              </a:rPr>
              <a:t>Prescaler</a:t>
            </a:r>
            <a:r>
              <a:rPr lang="en-US" altLang="zh-CN" sz="1200" b="1" dirty="0">
                <a:effectLst/>
                <a:latin typeface="Google Sans Text"/>
              </a:rPr>
              <a:t> = PCLK2 divided by 4</a:t>
            </a:r>
            <a:endParaRPr lang="en-US" altLang="zh-CN" sz="1200" dirty="0">
              <a:effectLst/>
              <a:latin typeface="Google Sans Text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sz="1200" b="1" dirty="0">
                <a:effectLst/>
                <a:latin typeface="Google Sans Text"/>
              </a:rPr>
              <a:t>原因</a:t>
            </a:r>
            <a:r>
              <a:rPr lang="zh-CN" altLang="en-US" sz="1200" dirty="0">
                <a:effectLst/>
                <a:latin typeface="Google Sans Text"/>
              </a:rPr>
              <a:t>：将 </a:t>
            </a:r>
            <a:r>
              <a:rPr lang="en-US" altLang="zh-CN" sz="1200" dirty="0">
                <a:effectLst/>
                <a:latin typeface="Google Sans Text"/>
              </a:rPr>
              <a:t>84 MHz </a:t>
            </a:r>
            <a:r>
              <a:rPr lang="zh-CN" altLang="en-US" sz="1200" dirty="0">
                <a:effectLst/>
                <a:latin typeface="Google Sans Text"/>
              </a:rPr>
              <a:t>时钟 </a:t>
            </a:r>
            <a:r>
              <a:rPr lang="en-US" altLang="zh-CN" sz="1200" dirty="0">
                <a:effectLst/>
                <a:latin typeface="Google Sans Text"/>
              </a:rPr>
              <a:t>4 </a:t>
            </a:r>
            <a:r>
              <a:rPr lang="zh-CN" altLang="en-US" sz="1200" dirty="0">
                <a:effectLst/>
                <a:latin typeface="Google Sans Text"/>
              </a:rPr>
              <a:t>分频得到 </a:t>
            </a:r>
            <a:r>
              <a:rPr lang="en-US" altLang="zh-CN" sz="1200" b="1" dirty="0">
                <a:effectLst/>
                <a:latin typeface="Google Sans Text"/>
              </a:rPr>
              <a:t>21 MHz</a:t>
            </a:r>
            <a:r>
              <a:rPr lang="zh-CN" altLang="en-US" sz="1200" dirty="0">
                <a:effectLst/>
                <a:latin typeface="Google Sans Text"/>
              </a:rPr>
              <a:t>。既保证了最高采样速度，又没有超出 </a:t>
            </a:r>
            <a:r>
              <a:rPr lang="en-US" altLang="zh-CN" sz="1200" dirty="0">
                <a:effectLst/>
                <a:latin typeface="Google Sans Text"/>
              </a:rPr>
              <a:t>STM32F407 </a:t>
            </a:r>
            <a:r>
              <a:rPr lang="zh-CN" altLang="en-US" sz="1200" dirty="0">
                <a:effectLst/>
                <a:latin typeface="Google Sans Text"/>
              </a:rPr>
              <a:t>的 </a:t>
            </a:r>
            <a:r>
              <a:rPr lang="en-US" altLang="zh-CN" sz="1200" dirty="0">
                <a:effectLst/>
                <a:latin typeface="Google Sans Text"/>
              </a:rPr>
              <a:t>36MHz </a:t>
            </a:r>
            <a:r>
              <a:rPr lang="zh-CN" altLang="en-US" sz="1200" dirty="0">
                <a:effectLst/>
                <a:latin typeface="Google Sans Text"/>
              </a:rPr>
              <a:t>硬件限额。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sz="1200" b="1" dirty="0">
                <a:effectLst/>
                <a:latin typeface="Google Sans Text"/>
              </a:rPr>
              <a:t>Resolution = 12 bits</a:t>
            </a:r>
            <a:endParaRPr lang="en-US" altLang="zh-CN" sz="1200" dirty="0">
              <a:effectLst/>
              <a:latin typeface="Google Sans Text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sz="1200" b="1" dirty="0">
                <a:effectLst/>
                <a:latin typeface="Google Sans Text"/>
              </a:rPr>
              <a:t>原因</a:t>
            </a:r>
            <a:r>
              <a:rPr lang="zh-CN" altLang="en-US" sz="1200" dirty="0">
                <a:effectLst/>
                <a:latin typeface="Google Sans Text"/>
              </a:rPr>
              <a:t>：保持最高 </a:t>
            </a:r>
            <a:r>
              <a:rPr lang="en-US" altLang="zh-CN" sz="1200" dirty="0">
                <a:effectLst/>
                <a:latin typeface="Google Sans Text"/>
              </a:rPr>
              <a:t>12 </a:t>
            </a:r>
            <a:r>
              <a:rPr lang="zh-CN" altLang="en-US" sz="1200" dirty="0">
                <a:effectLst/>
                <a:latin typeface="Google Sans Text"/>
              </a:rPr>
              <a:t>位分辨率，数字化范围 </a:t>
            </a:r>
            <a:r>
              <a:rPr lang="en-US" altLang="zh-CN" sz="1200" dirty="0">
                <a:effectLst/>
                <a:latin typeface="Google Sans Text"/>
              </a:rPr>
              <a:t>0~4095</a:t>
            </a:r>
            <a:r>
              <a:rPr lang="zh-CN" altLang="en-US" sz="1200" dirty="0">
                <a:effectLst/>
                <a:latin typeface="Google Sans Text"/>
              </a:rPr>
              <a:t>。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sz="1200" b="1" dirty="0">
                <a:effectLst/>
                <a:latin typeface="Google Sans Text"/>
              </a:rPr>
              <a:t>Data Alignment = Right alignment</a:t>
            </a:r>
            <a:endParaRPr lang="en-US" altLang="zh-CN" sz="1200" dirty="0">
              <a:effectLst/>
              <a:latin typeface="Google Sans Text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sz="1200" b="1" dirty="0">
                <a:effectLst/>
                <a:latin typeface="Google Sans Text"/>
              </a:rPr>
              <a:t>原因</a:t>
            </a:r>
            <a:r>
              <a:rPr lang="zh-CN" altLang="en-US" sz="1200" dirty="0">
                <a:effectLst/>
                <a:latin typeface="Google Sans Text"/>
              </a:rPr>
              <a:t>：右对齐。读取的数据直接对应十进制数值，无需代码位移操作。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sz="1200" b="1" dirty="0">
                <a:effectLst/>
                <a:latin typeface="Google Sans Text"/>
              </a:rPr>
              <a:t>Continuous Conversion Mode = Disabled</a:t>
            </a:r>
            <a:endParaRPr lang="en-US" altLang="zh-CN" sz="1200" dirty="0">
              <a:effectLst/>
              <a:latin typeface="Google Sans Text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sz="1200" b="1" dirty="0">
                <a:effectLst/>
                <a:latin typeface="Google Sans Text"/>
              </a:rPr>
              <a:t>原因</a:t>
            </a:r>
            <a:r>
              <a:rPr lang="zh-CN" altLang="en-US" sz="1200" dirty="0">
                <a:effectLst/>
                <a:latin typeface="Google Sans Text"/>
              </a:rPr>
              <a:t>：关闭连续转换，防止 </a:t>
            </a:r>
            <a:r>
              <a:rPr lang="en-US" altLang="zh-CN" sz="1200" dirty="0">
                <a:effectLst/>
                <a:latin typeface="Google Sans Text"/>
              </a:rPr>
              <a:t>ADC </a:t>
            </a:r>
            <a:r>
              <a:rPr lang="zh-CN" altLang="en-US" sz="1200" dirty="0">
                <a:effectLst/>
                <a:latin typeface="Google Sans Text"/>
              </a:rPr>
              <a:t>自行疯狂循环，将控制权完全交给定时器。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sz="1200" b="1" dirty="0">
                <a:effectLst/>
                <a:latin typeface="Google Sans Text"/>
              </a:rPr>
              <a:t>End Of Conversion Selection = EOC flag... single channel</a:t>
            </a:r>
            <a:endParaRPr lang="en-US" altLang="zh-CN" sz="1200" dirty="0">
              <a:effectLst/>
              <a:latin typeface="Google Sans Text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sz="1200" b="1" dirty="0">
                <a:effectLst/>
                <a:latin typeface="Google Sans Text"/>
              </a:rPr>
              <a:t>原因</a:t>
            </a:r>
            <a:r>
              <a:rPr lang="zh-CN" altLang="en-US" sz="1200" dirty="0">
                <a:effectLst/>
                <a:latin typeface="Google Sans Text"/>
              </a:rPr>
              <a:t>：单通道转换完成即抛式中断。确保关键电流一测完，</a:t>
            </a:r>
            <a:r>
              <a:rPr lang="zh-CN" altLang="en-US" sz="1200" b="1" dirty="0">
                <a:effectLst/>
                <a:latin typeface="Google Sans Text"/>
              </a:rPr>
              <a:t>零延迟</a:t>
            </a:r>
            <a:r>
              <a:rPr lang="zh-CN" altLang="en-US" sz="1200" dirty="0">
                <a:effectLst/>
                <a:latin typeface="Google Sans Text"/>
              </a:rPr>
              <a:t>立即进入 </a:t>
            </a:r>
            <a:r>
              <a:rPr lang="en-US" altLang="zh-CN" sz="1200" dirty="0">
                <a:effectLst/>
                <a:latin typeface="Google Sans Text"/>
              </a:rPr>
              <a:t>PID </a:t>
            </a:r>
            <a:r>
              <a:rPr lang="zh-CN" altLang="en-US" sz="1200" dirty="0">
                <a:effectLst/>
                <a:latin typeface="Google Sans Text"/>
              </a:rPr>
              <a:t>计算。</a:t>
            </a:r>
          </a:p>
          <a:p>
            <a:pPr>
              <a:buNone/>
            </a:pPr>
            <a:r>
              <a:rPr lang="zh-CN" altLang="en-US" sz="1200" b="1" dirty="0">
                <a:effectLst/>
                <a:latin typeface="Google Sans"/>
              </a:rPr>
              <a:t>二、 </a:t>
            </a:r>
            <a:r>
              <a:rPr lang="en-US" altLang="zh-CN" sz="1200" b="1" dirty="0" err="1">
                <a:effectLst/>
                <a:latin typeface="Google Sans"/>
              </a:rPr>
              <a:t>ADC_Regular_ConversionMode</a:t>
            </a:r>
            <a:r>
              <a:rPr lang="en-US" altLang="zh-CN" sz="1200" b="1" dirty="0">
                <a:effectLst/>
                <a:latin typeface="Google Sans"/>
              </a:rPr>
              <a:t> (</a:t>
            </a:r>
            <a:r>
              <a:rPr lang="zh-CN" altLang="en-US" sz="1200" b="1" dirty="0">
                <a:effectLst/>
                <a:latin typeface="Google Sans"/>
              </a:rPr>
              <a:t>规则通道设置</a:t>
            </a:r>
            <a:r>
              <a:rPr lang="en-US" altLang="zh-CN" sz="1200" b="1" dirty="0">
                <a:effectLst/>
                <a:latin typeface="Google Sans"/>
              </a:rPr>
              <a:t>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sz="1200" b="1" dirty="0">
                <a:effectLst/>
                <a:latin typeface="Google Sans Text"/>
              </a:rPr>
              <a:t>External Trigger Conversion Edge = 1</a:t>
            </a:r>
            <a:endParaRPr lang="en-US" altLang="zh-CN" sz="1200" dirty="0">
              <a:effectLst/>
              <a:latin typeface="Google Sans Text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sz="1200" b="1" dirty="0">
                <a:effectLst/>
                <a:latin typeface="Google Sans Text"/>
              </a:rPr>
              <a:t>原因</a:t>
            </a:r>
            <a:r>
              <a:rPr lang="zh-CN" altLang="en-US" sz="1200" dirty="0">
                <a:effectLst/>
                <a:latin typeface="Google Sans Text"/>
              </a:rPr>
              <a:t>：为</a:t>
            </a:r>
            <a:r>
              <a:rPr lang="en-US" altLang="zh-CN" sz="1200" dirty="0">
                <a:effectLst/>
                <a:latin typeface="Google Sans Text"/>
              </a:rPr>
              <a:t>IN9</a:t>
            </a:r>
            <a:r>
              <a:rPr lang="zh-CN" altLang="en-US" sz="1200" dirty="0">
                <a:effectLst/>
                <a:latin typeface="Google Sans Text"/>
              </a:rPr>
              <a:t>采集电压预留。</a:t>
            </a:r>
          </a:p>
          <a:p>
            <a:pPr>
              <a:buNone/>
            </a:pPr>
            <a:r>
              <a:rPr lang="zh-CN" altLang="en-US" sz="1200" b="1" dirty="0">
                <a:effectLst/>
                <a:latin typeface="Google Sans"/>
              </a:rPr>
              <a:t>三、 </a:t>
            </a:r>
            <a:r>
              <a:rPr lang="en-US" altLang="zh-CN" sz="1200" b="1" dirty="0" err="1">
                <a:effectLst/>
                <a:latin typeface="Google Sans"/>
              </a:rPr>
              <a:t>ADC_Injected_ConversionMode</a:t>
            </a:r>
            <a:r>
              <a:rPr lang="en-US" altLang="zh-CN" sz="1200" b="1" dirty="0">
                <a:effectLst/>
                <a:latin typeface="Google Sans"/>
              </a:rPr>
              <a:t> (</a:t>
            </a:r>
            <a:r>
              <a:rPr lang="zh-CN" altLang="en-US" sz="1200" b="1" dirty="0">
                <a:effectLst/>
                <a:latin typeface="Google Sans"/>
              </a:rPr>
              <a:t>注入通道设置</a:t>
            </a:r>
            <a:r>
              <a:rPr lang="en-US" altLang="zh-CN" sz="1200" b="1" dirty="0">
                <a:effectLst/>
                <a:latin typeface="Google Sans"/>
              </a:rPr>
              <a:t>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sz="1200" b="1" dirty="0">
                <a:effectLst/>
                <a:latin typeface="Google Sans Text"/>
              </a:rPr>
              <a:t>Number Of Conversions = 1</a:t>
            </a:r>
            <a:endParaRPr lang="en-US" altLang="zh-CN" sz="1200" dirty="0">
              <a:effectLst/>
              <a:latin typeface="Google Sans Text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sz="1200" b="1" dirty="0">
                <a:effectLst/>
                <a:latin typeface="Google Sans Text"/>
              </a:rPr>
              <a:t>原因</a:t>
            </a:r>
            <a:r>
              <a:rPr lang="zh-CN" altLang="en-US" sz="1200" dirty="0">
                <a:effectLst/>
                <a:latin typeface="Google Sans Text"/>
              </a:rPr>
              <a:t>：当前直流有刷电机仅需单路电流采样。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sz="1200" b="1" dirty="0">
                <a:effectLst/>
                <a:latin typeface="Google Sans Text"/>
              </a:rPr>
              <a:t>External Trigger Source = Timer 1 Trigger Out event</a:t>
            </a:r>
            <a:endParaRPr lang="en-US" altLang="zh-CN" sz="1200" dirty="0">
              <a:effectLst/>
              <a:latin typeface="Google Sans Text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sz="1200" b="1" dirty="0">
                <a:effectLst/>
                <a:latin typeface="Google Sans Text"/>
              </a:rPr>
              <a:t>原因</a:t>
            </a:r>
            <a:r>
              <a:rPr lang="zh-CN" altLang="en-US" sz="1200" dirty="0">
                <a:effectLst/>
                <a:latin typeface="Google Sans Text"/>
              </a:rPr>
              <a:t>：</a:t>
            </a:r>
            <a:r>
              <a:rPr lang="zh-CN" altLang="en-US" sz="1200" b="1" dirty="0">
                <a:effectLst/>
                <a:latin typeface="Google Sans Text"/>
              </a:rPr>
              <a:t>硬件联动</a:t>
            </a:r>
            <a:r>
              <a:rPr lang="zh-CN" altLang="en-US" sz="1200" dirty="0">
                <a:effectLst/>
                <a:latin typeface="Google Sans Text"/>
              </a:rPr>
              <a:t>。将采样启动直接绑定在 </a:t>
            </a:r>
            <a:r>
              <a:rPr lang="en-US" altLang="zh-CN" sz="1200" dirty="0">
                <a:effectLst/>
                <a:latin typeface="Google Sans Text"/>
              </a:rPr>
              <a:t>TIM1 </a:t>
            </a:r>
            <a:r>
              <a:rPr lang="zh-CN" altLang="en-US" sz="1200" dirty="0">
                <a:effectLst/>
                <a:latin typeface="Google Sans Text"/>
              </a:rPr>
              <a:t>计数到底的 </a:t>
            </a:r>
            <a:r>
              <a:rPr lang="en-US" altLang="zh-CN" sz="1200" dirty="0">
                <a:effectLst/>
                <a:latin typeface="Google Sans Text"/>
              </a:rPr>
              <a:t>TRGO </a:t>
            </a:r>
            <a:r>
              <a:rPr lang="zh-CN" altLang="en-US" sz="1200" dirty="0">
                <a:effectLst/>
                <a:latin typeface="Google Sans Text"/>
              </a:rPr>
              <a:t>硬件信号上，硬同步采样。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sz="1200" b="1" dirty="0">
                <a:effectLst/>
                <a:latin typeface="Google Sans Text"/>
              </a:rPr>
              <a:t>External Trigger Edge = Trigger detection on the rising edge</a:t>
            </a:r>
            <a:endParaRPr lang="en-US" altLang="zh-CN" sz="1200" dirty="0">
              <a:effectLst/>
              <a:latin typeface="Google Sans Text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sz="1200" b="1" dirty="0">
                <a:effectLst/>
                <a:latin typeface="Google Sans Text"/>
              </a:rPr>
              <a:t>原因</a:t>
            </a:r>
            <a:r>
              <a:rPr lang="zh-CN" altLang="en-US" sz="1200" dirty="0">
                <a:effectLst/>
                <a:latin typeface="Google Sans Text"/>
              </a:rPr>
              <a:t>：配合定时器触发信号的上升沿瞬间启动采样。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sz="1200" b="1" dirty="0">
                <a:effectLst/>
                <a:latin typeface="Google Sans Text"/>
              </a:rPr>
              <a:t>Injected Rank 1 -&gt; Channel = Channel 8</a:t>
            </a:r>
            <a:endParaRPr lang="en-US" altLang="zh-CN" sz="1200" dirty="0">
              <a:effectLst/>
              <a:latin typeface="Google Sans Text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sz="1200" b="1" dirty="0">
                <a:effectLst/>
                <a:latin typeface="Google Sans Text"/>
              </a:rPr>
              <a:t>原因</a:t>
            </a:r>
            <a:r>
              <a:rPr lang="zh-CN" altLang="en-US" sz="1200" dirty="0">
                <a:effectLst/>
                <a:latin typeface="Google Sans Text"/>
              </a:rPr>
              <a:t>：通道</a:t>
            </a:r>
            <a:r>
              <a:rPr lang="en-US" altLang="zh-CN" sz="1200" dirty="0">
                <a:effectLst/>
                <a:latin typeface="Google Sans Text"/>
              </a:rPr>
              <a:t>8</a:t>
            </a:r>
            <a:r>
              <a:rPr lang="zh-CN" altLang="en-US" sz="1200" dirty="0">
                <a:effectLst/>
                <a:latin typeface="Google Sans Text"/>
              </a:rPr>
              <a:t>绑定物理引脚 </a:t>
            </a:r>
            <a:r>
              <a:rPr lang="en-US" altLang="zh-CN" sz="1200" dirty="0">
                <a:effectLst/>
                <a:latin typeface="Google Sans Text"/>
              </a:rPr>
              <a:t>PB0</a:t>
            </a:r>
            <a:r>
              <a:rPr lang="zh-CN" altLang="en-US" sz="1200" dirty="0">
                <a:effectLst/>
                <a:latin typeface="Google Sans Text"/>
              </a:rPr>
              <a:t>（电流采样引脚）上。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sz="1200" b="1" dirty="0">
                <a:effectLst/>
                <a:latin typeface="Google Sans Text"/>
              </a:rPr>
              <a:t>Injected Rank 1 -&gt; Sampling Time = 28 Cycles</a:t>
            </a:r>
            <a:endParaRPr lang="en-US" altLang="zh-CN" sz="1200" dirty="0">
              <a:effectLst/>
              <a:latin typeface="Google Sans Text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sz="1200" b="1" dirty="0">
                <a:effectLst/>
                <a:latin typeface="Google Sans Text"/>
              </a:rPr>
              <a:t>原因</a:t>
            </a:r>
            <a:r>
              <a:rPr lang="zh-CN" altLang="en-US" sz="1200" dirty="0">
                <a:effectLst/>
                <a:latin typeface="Google Sans Text"/>
              </a:rPr>
              <a:t>：</a:t>
            </a:r>
            <a:r>
              <a:rPr lang="zh-CN" altLang="en-US" sz="1200" b="1" dirty="0">
                <a:effectLst/>
                <a:latin typeface="Google Sans Text"/>
              </a:rPr>
              <a:t>物理采样保障</a:t>
            </a:r>
            <a:r>
              <a:rPr lang="zh-CN" altLang="en-US" sz="1200" dirty="0">
                <a:effectLst/>
                <a:latin typeface="Google Sans Text"/>
              </a:rPr>
              <a:t>。提供充足的充电时间约 </a:t>
            </a:r>
            <a:r>
              <a:rPr lang="en-US" altLang="zh-CN" sz="1200" dirty="0">
                <a:effectLst/>
                <a:latin typeface="Google Sans Text"/>
              </a:rPr>
              <a:t>1.33μS</a:t>
            </a:r>
            <a:r>
              <a:rPr lang="zh-CN" altLang="en-US" sz="1200" dirty="0">
                <a:effectLst/>
                <a:latin typeface="Google Sans Text"/>
              </a:rPr>
              <a:t>，消除采样阻抗引起的读数波动与偏差。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sz="1200" b="1" dirty="0">
                <a:effectLst/>
                <a:latin typeface="Google Sans Text"/>
              </a:rPr>
              <a:t>Injected Offset = 0</a:t>
            </a:r>
            <a:endParaRPr lang="en-US" altLang="zh-CN" sz="1200" dirty="0">
              <a:effectLst/>
              <a:latin typeface="Google Sans Text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sz="1200" b="1" dirty="0">
                <a:effectLst/>
                <a:latin typeface="Google Sans Text"/>
              </a:rPr>
              <a:t>原因</a:t>
            </a:r>
            <a:r>
              <a:rPr lang="zh-CN" altLang="en-US" sz="1200" dirty="0">
                <a:effectLst/>
                <a:latin typeface="Google Sans Text"/>
              </a:rPr>
              <a:t>：不需要硬件电平偏移转换。</a:t>
            </a:r>
          </a:p>
        </p:txBody>
      </p:sp>
    </p:spTree>
    <p:extLst>
      <p:ext uri="{BB962C8B-B14F-4D97-AF65-F5344CB8AC3E}">
        <p14:creationId xmlns:p14="http://schemas.microsoft.com/office/powerpoint/2010/main" val="24456092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F83FFB-346B-A128-7EC2-22E21DF6AF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D6812C31-0876-3C25-39AE-A5DCE7A0CF28}"/>
              </a:ext>
            </a:extLst>
          </p:cNvPr>
          <p:cNvSpPr/>
          <p:nvPr/>
        </p:nvSpPr>
        <p:spPr>
          <a:xfrm>
            <a:off x="2677211" y="0"/>
            <a:ext cx="6196553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altLang="zh-CN" sz="3200" b="1" i="0" u="none" strike="noStrike" dirty="0">
                <a:solidFill>
                  <a:srgbClr val="00838F"/>
                </a:solidFill>
                <a:latin typeface="Noto Sans SC"/>
                <a:ea typeface="Noto Sans SC"/>
                <a:cs typeface="Noto Sans SC"/>
                <a:sym typeface="Noto Sans SC"/>
              </a:rPr>
              <a:t>ADC</a:t>
            </a:r>
            <a:r>
              <a:rPr lang="zh-CN" altLang="en-US" sz="3200" b="1" i="0" u="none" strike="noStrike" dirty="0">
                <a:solidFill>
                  <a:srgbClr val="00838F"/>
                </a:solidFill>
                <a:latin typeface="Noto Sans SC"/>
                <a:ea typeface="Noto Sans SC"/>
                <a:cs typeface="Noto Sans SC"/>
                <a:sym typeface="Noto Sans SC"/>
              </a:rPr>
              <a:t>配置</a:t>
            </a:r>
            <a:endParaRPr lang="en-US" sz="1100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F28BEA3-17B5-6856-F8B5-4C2073311348}"/>
              </a:ext>
            </a:extLst>
          </p:cNvPr>
          <p:cNvSpPr txBox="1"/>
          <p:nvPr/>
        </p:nvSpPr>
        <p:spPr>
          <a:xfrm>
            <a:off x="475862" y="2644876"/>
            <a:ext cx="8605156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电流环 </a:t>
            </a:r>
            <a:r>
              <a:rPr lang="en-US" altLang="zh-CN" dirty="0"/>
              <a:t>PID </a:t>
            </a:r>
            <a:r>
              <a:rPr lang="zh-CN" altLang="en-US" dirty="0"/>
              <a:t>要写在注入通道的转换完成中断里，必须确保它的硬件中断总开关是打开的。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要去</a:t>
            </a:r>
            <a:r>
              <a:rPr lang="en-US" altLang="zh-CN" dirty="0"/>
              <a:t>NVIC</a:t>
            </a:r>
            <a:r>
              <a:rPr lang="zh-CN" altLang="en-US" dirty="0"/>
              <a:t>设置</a:t>
            </a:r>
            <a:r>
              <a:rPr lang="en-US" altLang="zh-CN" dirty="0"/>
              <a:t>ADC</a:t>
            </a:r>
            <a:r>
              <a:rPr lang="zh-CN" altLang="en-US" dirty="0"/>
              <a:t>的中断优先级。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A5D3F98C-5D54-16BC-B68F-C498DB8A54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9606" y="1127175"/>
            <a:ext cx="7648575" cy="1152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91793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D3AAFD-1CB3-0406-85D8-832B05A141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F687AB79-4E70-39DC-F500-52E74DC3A24A}"/>
              </a:ext>
            </a:extLst>
          </p:cNvPr>
          <p:cNvSpPr/>
          <p:nvPr/>
        </p:nvSpPr>
        <p:spPr>
          <a:xfrm>
            <a:off x="2677211" y="0"/>
            <a:ext cx="6196553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zh-CN" altLang="en-US" sz="3200" b="1" i="0" u="none" strike="noStrike" dirty="0">
                <a:solidFill>
                  <a:srgbClr val="00838F"/>
                </a:solidFill>
                <a:latin typeface="Noto Sans SC"/>
                <a:ea typeface="Noto Sans SC"/>
                <a:cs typeface="Noto Sans SC"/>
                <a:sym typeface="Noto Sans SC"/>
              </a:rPr>
              <a:t>其它配置</a:t>
            </a:r>
            <a:endParaRPr lang="en-US" sz="1100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76F5C44-3175-3FCD-F383-E9F53C4EC838}"/>
              </a:ext>
            </a:extLst>
          </p:cNvPr>
          <p:cNvSpPr txBox="1"/>
          <p:nvPr/>
        </p:nvSpPr>
        <p:spPr>
          <a:xfrm>
            <a:off x="268608" y="1148585"/>
            <a:ext cx="860515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dirty="0">
                <a:solidFill>
                  <a:srgbClr val="FF0000"/>
                </a:solidFill>
              </a:rPr>
              <a:t>GPIO</a:t>
            </a:r>
            <a:r>
              <a:rPr lang="zh-CN" altLang="en-US" sz="2000" b="1" dirty="0">
                <a:solidFill>
                  <a:srgbClr val="FF0000"/>
                </a:solidFill>
              </a:rPr>
              <a:t>配置</a:t>
            </a:r>
            <a:r>
              <a:rPr lang="en-US" altLang="zh-CN" dirty="0"/>
              <a:t>: PF10</a:t>
            </a:r>
            <a:r>
              <a:rPr lang="zh-CN" altLang="en-US" dirty="0"/>
              <a:t>，</a:t>
            </a:r>
            <a:r>
              <a:rPr lang="en-US" altLang="zh-CN" dirty="0"/>
              <a:t>PM1_CTRL_SD; LEDs</a:t>
            </a:r>
            <a:r>
              <a:rPr lang="zh-CN" altLang="en-US" dirty="0"/>
              <a:t>、</a:t>
            </a:r>
            <a:r>
              <a:rPr lang="en-US" altLang="zh-CN" dirty="0"/>
              <a:t>KEYs</a:t>
            </a:r>
            <a:r>
              <a:rPr lang="zh-CN" altLang="en-US" dirty="0"/>
              <a:t>等等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ADEC4427-84E8-EE8F-C240-C1E570F334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435" y="1648722"/>
            <a:ext cx="6942857" cy="2676190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9CAAE872-C99B-CF06-071F-4C04F831B3E0}"/>
              </a:ext>
            </a:extLst>
          </p:cNvPr>
          <p:cNvSpPr txBox="1"/>
          <p:nvPr/>
        </p:nvSpPr>
        <p:spPr>
          <a:xfrm>
            <a:off x="7953262" y="1148585"/>
            <a:ext cx="285328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dirty="0">
                <a:solidFill>
                  <a:srgbClr val="FF0000"/>
                </a:solidFill>
              </a:rPr>
              <a:t>FSMC</a:t>
            </a:r>
            <a:r>
              <a:rPr lang="zh-CN" altLang="en-US" sz="2000" b="1" dirty="0">
                <a:solidFill>
                  <a:srgbClr val="FF0000"/>
                </a:solidFill>
              </a:rPr>
              <a:t>配置</a:t>
            </a:r>
            <a:r>
              <a:rPr lang="en-US" altLang="zh-CN" dirty="0"/>
              <a:t>: </a:t>
            </a:r>
            <a:r>
              <a:rPr lang="zh-CN" altLang="en-US" dirty="0"/>
              <a:t>屏幕相关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FC8930ED-2224-4A36-8FC9-A1747DB5CC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31200" y="1648722"/>
            <a:ext cx="3722255" cy="5211158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49C083C0-9AF6-ECF3-0CE4-D930F6BD1BA3}"/>
              </a:ext>
            </a:extLst>
          </p:cNvPr>
          <p:cNvSpPr txBox="1"/>
          <p:nvPr/>
        </p:nvSpPr>
        <p:spPr>
          <a:xfrm>
            <a:off x="388435" y="5120221"/>
            <a:ext cx="430363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rgbClr val="FF0000"/>
                </a:solidFill>
              </a:rPr>
              <a:t>其它配置与前面章节的案例类似。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183985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838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1778000"/>
            <a:ext cx="12192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80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02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0" y="3556000"/>
            <a:ext cx="1219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zh-CN" altLang="en-US" sz="3600" b="0" i="0" u="none" strike="noStrike" dirty="0">
                <a:solidFill>
                  <a:srgbClr val="FFFFFF">
                    <a:alpha val="94902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关键代码与效果演示</a:t>
            </a:r>
            <a:endParaRPr lang="en-US" sz="1100" dirty="0"/>
          </a:p>
        </p:txBody>
      </p:sp>
      <p:sp>
        <p:nvSpPr>
          <p:cNvPr id="4" name="AutoShape 4"/>
          <p:cNvSpPr/>
          <p:nvPr/>
        </p:nvSpPr>
        <p:spPr>
          <a:xfrm>
            <a:off x="5588000" y="5207000"/>
            <a:ext cx="1016000" cy="50800"/>
          </a:xfrm>
          <a:prstGeom prst="roundRect">
            <a:avLst>
              <a:gd name="adj" fmla="val 0"/>
            </a:avLst>
          </a:prstGeom>
          <a:solidFill>
            <a:srgbClr val="FFFFFF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22960"/>
          </a:xfrm>
          <a:prstGeom prst="rect">
            <a:avLst/>
          </a:prstGeom>
          <a:solidFill>
            <a:srgbClr val="0083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Noto Sans SC"/>
              </a:defRPr>
            </a:pPr>
            <a:r>
              <a:t>系统初始化流程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CEEEE"/>
                </a:solidFill>
                <a:latin typeface="Noto Sans SC"/>
              </a:defRPr>
            </a:pPr>
            <a:r>
              <a:t>main.c 初始化代码详解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51560"/>
            <a:ext cx="6858000" cy="4572000"/>
          </a:xfrm>
          <a:prstGeom prst="rect">
            <a:avLst/>
          </a:prstGeom>
          <a:solidFill>
            <a:srgbClr val="282C34"/>
          </a:solidFill>
          <a:ln w="12700">
            <a:solidFill>
              <a:srgbClr val="3E4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1124712"/>
            <a:ext cx="6583680" cy="44256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250"/>
              </a:lnSpc>
              <a:spcBef>
                <a:spcPts val="0"/>
              </a:spcBef>
              <a:spcAft>
                <a:spcPts val="100"/>
              </a:spcAft>
              <a:defRPr sz="1000">
                <a:solidFill>
                  <a:srgbClr val="ABB2BF"/>
                </a:solidFill>
                <a:latin typeface="Consolas"/>
              </a:defRPr>
            </a:pPr>
            <a:r>
              <a:rPr dirty="0"/>
              <a:t>/* Step 1: 启动TIM1基础计数 → </a:t>
            </a:r>
            <a:r>
              <a:rPr dirty="0" err="1"/>
              <a:t>TRGO开始输出，触发ADC注入转换</a:t>
            </a:r>
            <a:r>
              <a:rPr dirty="0"/>
              <a:t> */</a:t>
            </a:r>
          </a:p>
          <a:p>
            <a:pPr>
              <a:lnSpc>
                <a:spcPts val="1250"/>
              </a:lnSpc>
              <a:spcBef>
                <a:spcPts val="0"/>
              </a:spcBef>
              <a:spcAft>
                <a:spcPts val="100"/>
              </a:spcAft>
              <a:defRPr sz="1000">
                <a:solidFill>
                  <a:srgbClr val="ABB2BF"/>
                </a:solidFill>
                <a:latin typeface="Consolas"/>
              </a:defRPr>
            </a:pPr>
            <a:r>
              <a:rPr dirty="0" err="1"/>
              <a:t>HAL_TIM_Base_Start</a:t>
            </a:r>
            <a:r>
              <a:rPr dirty="0"/>
              <a:t>(pm1_motor.htim);</a:t>
            </a:r>
          </a:p>
          <a:p>
            <a:pPr>
              <a:lnSpc>
                <a:spcPts val="1250"/>
              </a:lnSpc>
              <a:spcBef>
                <a:spcPts val="0"/>
              </a:spcBef>
              <a:spcAft>
                <a:spcPts val="100"/>
              </a:spcAft>
              <a:defRPr sz="1000">
                <a:solidFill>
                  <a:srgbClr val="ABB2BF"/>
                </a:solidFill>
                <a:latin typeface="Consolas"/>
              </a:defRPr>
            </a:pPr>
            <a:endParaRPr dirty="0"/>
          </a:p>
          <a:p>
            <a:pPr>
              <a:lnSpc>
                <a:spcPts val="1250"/>
              </a:lnSpc>
              <a:spcBef>
                <a:spcPts val="0"/>
              </a:spcBef>
              <a:spcAft>
                <a:spcPts val="100"/>
              </a:spcAft>
              <a:defRPr sz="1000">
                <a:solidFill>
                  <a:srgbClr val="ABB2BF"/>
                </a:solidFill>
                <a:latin typeface="Consolas"/>
              </a:defRPr>
            </a:pPr>
            <a:r>
              <a:rPr dirty="0"/>
              <a:t>/* Step 2: </a:t>
            </a:r>
            <a:r>
              <a:rPr dirty="0" err="1"/>
              <a:t>初始化电机模块（SD拉低、PWM完全停止</a:t>
            </a:r>
            <a:r>
              <a:rPr dirty="0"/>
              <a:t>） */</a:t>
            </a:r>
          </a:p>
          <a:p>
            <a:pPr>
              <a:lnSpc>
                <a:spcPts val="1250"/>
              </a:lnSpc>
              <a:spcBef>
                <a:spcPts val="0"/>
              </a:spcBef>
              <a:spcAft>
                <a:spcPts val="100"/>
              </a:spcAft>
              <a:defRPr sz="1000">
                <a:solidFill>
                  <a:srgbClr val="ABB2BF"/>
                </a:solidFill>
                <a:latin typeface="Consolas"/>
              </a:defRPr>
            </a:pPr>
            <a:r>
              <a:rPr dirty="0" err="1"/>
              <a:t>BrushMotor_Init</a:t>
            </a:r>
            <a:r>
              <a:rPr dirty="0"/>
              <a:t>(&amp;pm1_motor);</a:t>
            </a:r>
          </a:p>
          <a:p>
            <a:pPr>
              <a:lnSpc>
                <a:spcPts val="1250"/>
              </a:lnSpc>
              <a:spcBef>
                <a:spcPts val="0"/>
              </a:spcBef>
              <a:spcAft>
                <a:spcPts val="100"/>
              </a:spcAft>
              <a:defRPr sz="1000">
                <a:solidFill>
                  <a:srgbClr val="ABB2BF"/>
                </a:solidFill>
                <a:latin typeface="Consolas"/>
              </a:defRPr>
            </a:pPr>
            <a:endParaRPr dirty="0"/>
          </a:p>
          <a:p>
            <a:pPr>
              <a:lnSpc>
                <a:spcPts val="1250"/>
              </a:lnSpc>
              <a:spcBef>
                <a:spcPts val="0"/>
              </a:spcBef>
              <a:spcAft>
                <a:spcPts val="100"/>
              </a:spcAft>
              <a:defRPr sz="1000">
                <a:solidFill>
                  <a:srgbClr val="ABB2BF"/>
                </a:solidFill>
                <a:latin typeface="Consolas"/>
              </a:defRPr>
            </a:pPr>
            <a:r>
              <a:rPr dirty="0"/>
              <a:t>/* Step 3: </a:t>
            </a:r>
            <a:r>
              <a:rPr dirty="0" err="1"/>
              <a:t>设置正转方向</a:t>
            </a:r>
            <a:r>
              <a:rPr dirty="0"/>
              <a:t> + 0%占空比 → </a:t>
            </a:r>
            <a:r>
              <a:rPr dirty="0" err="1"/>
              <a:t>导通下桥臂</a:t>
            </a:r>
            <a:r>
              <a:rPr dirty="0"/>
              <a:t> → </a:t>
            </a:r>
            <a:r>
              <a:rPr dirty="0" err="1"/>
              <a:t>电流采样回路闭合</a:t>
            </a:r>
            <a:r>
              <a:rPr dirty="0"/>
              <a:t> */</a:t>
            </a:r>
          </a:p>
          <a:p>
            <a:pPr>
              <a:lnSpc>
                <a:spcPts val="1250"/>
              </a:lnSpc>
              <a:spcBef>
                <a:spcPts val="0"/>
              </a:spcBef>
              <a:spcAft>
                <a:spcPts val="100"/>
              </a:spcAft>
              <a:defRPr sz="1000">
                <a:solidFill>
                  <a:srgbClr val="ABB2BF"/>
                </a:solidFill>
                <a:latin typeface="Consolas"/>
              </a:defRPr>
            </a:pPr>
            <a:r>
              <a:rPr dirty="0" err="1"/>
              <a:t>BrushMotor_SetDirection</a:t>
            </a:r>
            <a:r>
              <a:rPr dirty="0"/>
              <a:t>(MOTOR_FORWARD);</a:t>
            </a:r>
          </a:p>
          <a:p>
            <a:pPr>
              <a:lnSpc>
                <a:spcPts val="1250"/>
              </a:lnSpc>
              <a:spcBef>
                <a:spcPts val="0"/>
              </a:spcBef>
              <a:spcAft>
                <a:spcPts val="100"/>
              </a:spcAft>
              <a:defRPr sz="1000">
                <a:solidFill>
                  <a:srgbClr val="ABB2BF"/>
                </a:solidFill>
                <a:latin typeface="Consolas"/>
              </a:defRPr>
            </a:pPr>
            <a:r>
              <a:rPr dirty="0" err="1"/>
              <a:t>BrushMotor_SetSpeed</a:t>
            </a:r>
            <a:r>
              <a:rPr dirty="0"/>
              <a:t>(0);</a:t>
            </a:r>
          </a:p>
          <a:p>
            <a:pPr>
              <a:lnSpc>
                <a:spcPts val="1250"/>
              </a:lnSpc>
              <a:spcBef>
                <a:spcPts val="0"/>
              </a:spcBef>
              <a:spcAft>
                <a:spcPts val="100"/>
              </a:spcAft>
              <a:defRPr sz="1000">
                <a:solidFill>
                  <a:srgbClr val="ABB2BF"/>
                </a:solidFill>
                <a:latin typeface="Consolas"/>
              </a:defRPr>
            </a:pPr>
            <a:r>
              <a:rPr dirty="0" err="1"/>
              <a:t>BrushMotor_Enable</a:t>
            </a:r>
            <a:r>
              <a:rPr dirty="0"/>
              <a:t>();                      // SD拉高，IR2104使能</a:t>
            </a:r>
          </a:p>
          <a:p>
            <a:pPr>
              <a:lnSpc>
                <a:spcPts val="1250"/>
              </a:lnSpc>
              <a:spcBef>
                <a:spcPts val="0"/>
              </a:spcBef>
              <a:spcAft>
                <a:spcPts val="100"/>
              </a:spcAft>
              <a:defRPr sz="1000">
                <a:solidFill>
                  <a:srgbClr val="ABB2BF"/>
                </a:solidFill>
                <a:latin typeface="Consolas"/>
              </a:defRPr>
            </a:pPr>
            <a:r>
              <a:rPr dirty="0" err="1"/>
              <a:t>HAL_Delay</a:t>
            </a:r>
            <a:r>
              <a:rPr dirty="0"/>
              <a:t>(500);                           // </a:t>
            </a:r>
            <a:r>
              <a:rPr dirty="0" err="1"/>
              <a:t>等待电路稳定</a:t>
            </a:r>
            <a:endParaRPr dirty="0"/>
          </a:p>
          <a:p>
            <a:pPr>
              <a:lnSpc>
                <a:spcPts val="1250"/>
              </a:lnSpc>
              <a:spcBef>
                <a:spcPts val="0"/>
              </a:spcBef>
              <a:spcAft>
                <a:spcPts val="100"/>
              </a:spcAft>
              <a:defRPr sz="1000">
                <a:solidFill>
                  <a:srgbClr val="ABB2BF"/>
                </a:solidFill>
                <a:latin typeface="Consolas"/>
              </a:defRPr>
            </a:pPr>
            <a:endParaRPr dirty="0"/>
          </a:p>
          <a:p>
            <a:pPr>
              <a:lnSpc>
                <a:spcPts val="1250"/>
              </a:lnSpc>
              <a:spcBef>
                <a:spcPts val="0"/>
              </a:spcBef>
              <a:spcAft>
                <a:spcPts val="100"/>
              </a:spcAft>
              <a:defRPr sz="1000">
                <a:solidFill>
                  <a:srgbClr val="ABB2BF"/>
                </a:solidFill>
                <a:latin typeface="Consolas"/>
              </a:defRPr>
            </a:pPr>
            <a:r>
              <a:rPr dirty="0"/>
              <a:t>/* Step 4: 校准电流传感器零漂（软件触发阻塞采集100次取平均） */</a:t>
            </a:r>
          </a:p>
          <a:p>
            <a:pPr>
              <a:lnSpc>
                <a:spcPts val="1250"/>
              </a:lnSpc>
              <a:spcBef>
                <a:spcPts val="0"/>
              </a:spcBef>
              <a:spcAft>
                <a:spcPts val="100"/>
              </a:spcAft>
              <a:defRPr sz="1000">
                <a:solidFill>
                  <a:srgbClr val="ABB2BF"/>
                </a:solidFill>
                <a:latin typeface="Consolas"/>
              </a:defRPr>
            </a:pPr>
            <a:r>
              <a:rPr dirty="0" err="1"/>
              <a:t>BSP_CurrentSensor_Init</a:t>
            </a:r>
            <a:r>
              <a:rPr dirty="0"/>
              <a:t>();                 // </a:t>
            </a:r>
            <a:r>
              <a:rPr dirty="0" err="1"/>
              <a:t>内部自动</a:t>
            </a:r>
            <a:r>
              <a:rPr dirty="0"/>
              <a:t> </a:t>
            </a:r>
            <a:r>
              <a:rPr dirty="0" err="1"/>
              <a:t>CalibrateOffset</a:t>
            </a:r>
            <a:endParaRPr dirty="0"/>
          </a:p>
          <a:p>
            <a:pPr>
              <a:lnSpc>
                <a:spcPts val="1250"/>
              </a:lnSpc>
              <a:spcBef>
                <a:spcPts val="0"/>
              </a:spcBef>
              <a:spcAft>
                <a:spcPts val="100"/>
              </a:spcAft>
              <a:defRPr sz="1000">
                <a:solidFill>
                  <a:srgbClr val="ABB2BF"/>
                </a:solidFill>
                <a:latin typeface="Consolas"/>
              </a:defRPr>
            </a:pPr>
            <a:endParaRPr dirty="0"/>
          </a:p>
          <a:p>
            <a:pPr>
              <a:lnSpc>
                <a:spcPts val="1250"/>
              </a:lnSpc>
              <a:spcBef>
                <a:spcPts val="0"/>
              </a:spcBef>
              <a:spcAft>
                <a:spcPts val="100"/>
              </a:spcAft>
              <a:defRPr sz="1000">
                <a:solidFill>
                  <a:srgbClr val="ABB2BF"/>
                </a:solidFill>
                <a:latin typeface="Consolas"/>
              </a:defRPr>
            </a:pPr>
            <a:r>
              <a:rPr dirty="0"/>
              <a:t>/* Step 5: </a:t>
            </a:r>
            <a:r>
              <a:rPr dirty="0" err="1"/>
              <a:t>校准完成，关闭电机，等待按键操作</a:t>
            </a:r>
            <a:r>
              <a:rPr dirty="0"/>
              <a:t> */</a:t>
            </a:r>
          </a:p>
          <a:p>
            <a:pPr>
              <a:lnSpc>
                <a:spcPts val="1250"/>
              </a:lnSpc>
              <a:spcBef>
                <a:spcPts val="0"/>
              </a:spcBef>
              <a:spcAft>
                <a:spcPts val="100"/>
              </a:spcAft>
              <a:defRPr sz="1000">
                <a:solidFill>
                  <a:srgbClr val="ABB2BF"/>
                </a:solidFill>
                <a:latin typeface="Consolas"/>
              </a:defRPr>
            </a:pPr>
            <a:r>
              <a:rPr dirty="0" err="1"/>
              <a:t>BrushMotor_Disable</a:t>
            </a:r>
            <a:r>
              <a:rPr dirty="0"/>
              <a:t>();                     // </a:t>
            </a:r>
            <a:r>
              <a:rPr dirty="0" err="1"/>
              <a:t>仅拉低SD+清零CCR，保留TRGO</a:t>
            </a:r>
            <a:endParaRPr dirty="0"/>
          </a:p>
        </p:txBody>
      </p:sp>
      <p:sp>
        <p:nvSpPr>
          <p:cNvPr id="7" name="TextBox 6"/>
          <p:cNvSpPr txBox="1"/>
          <p:nvPr/>
        </p:nvSpPr>
        <p:spPr>
          <a:xfrm>
            <a:off x="7589520" y="1051560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400"/>
              </a:spcAft>
              <a:defRPr sz="1100" b="1">
                <a:solidFill>
                  <a:srgbClr val="00838F"/>
                </a:solidFill>
                <a:latin typeface="Noto Sans SC"/>
              </a:defRPr>
            </a:pPr>
            <a:r>
              <a:t>① Base_Start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0" y="1252728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Aft>
                <a:spcPts val="400"/>
              </a:spcAft>
              <a:defRPr sz="900" b="0">
                <a:solidFill>
                  <a:srgbClr val="555555"/>
                </a:solidFill>
                <a:latin typeface="Noto Sans SC"/>
              </a:defRPr>
            </a:pPr>
            <a:r>
              <a:t>启动TIM1，TRGO (Update Event) 开始</a:t>
            </a:r>
            <a:br/>
            <a:r>
              <a:t>周期性输出触发脉冲到ADC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0" y="1920240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400"/>
              </a:spcAft>
              <a:defRPr sz="1100" b="1">
                <a:solidFill>
                  <a:srgbClr val="00838F"/>
                </a:solidFill>
                <a:latin typeface="Noto Sans SC"/>
              </a:defRPr>
            </a:pPr>
            <a:r>
              <a:t>② Init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0" y="2121408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Aft>
                <a:spcPts val="400"/>
              </a:spcAft>
              <a:defRPr sz="900" b="0">
                <a:solidFill>
                  <a:srgbClr val="555555"/>
                </a:solidFill>
                <a:latin typeface="Noto Sans SC"/>
              </a:defRPr>
            </a:pPr>
            <a:r>
              <a:t>保存配置结构体 pm1_motor，调 Stop 确保</a:t>
            </a:r>
            <a:br/>
            <a:r>
              <a:t>初始处于安全停止状态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0" y="2788920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400"/>
              </a:spcAft>
              <a:defRPr sz="1100" b="1">
                <a:solidFill>
                  <a:srgbClr val="00838F"/>
                </a:solidFill>
                <a:latin typeface="Noto Sans SC"/>
              </a:defRPr>
            </a:pPr>
            <a:r>
              <a:t>③ SetDirection + SetSpeed(0) + Enable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0" y="2990088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Aft>
                <a:spcPts val="400"/>
              </a:spcAft>
              <a:defRPr sz="900" b="0">
                <a:solidFill>
                  <a:srgbClr val="555555"/>
                </a:solidFill>
                <a:latin typeface="Noto Sans SC"/>
              </a:defRPr>
            </a:pPr>
            <a:r>
              <a:t>设置正转、0%占空比、拉高SD → 下桥臂</a:t>
            </a:r>
            <a:br/>
            <a:r>
              <a:t>导通 → R32 采样电阻回路闭合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20" y="3657600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400"/>
              </a:spcAft>
              <a:defRPr sz="1100" b="1">
                <a:solidFill>
                  <a:srgbClr val="00838F"/>
                </a:solidFill>
                <a:latin typeface="Noto Sans SC"/>
              </a:defRPr>
            </a:pPr>
            <a:r>
              <a:t>④ Delay(500) + Init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0" y="3858768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Aft>
                <a:spcPts val="400"/>
              </a:spcAft>
              <a:defRPr sz="900" b="0">
                <a:solidFill>
                  <a:srgbClr val="555555"/>
                </a:solidFill>
                <a:latin typeface="Noto Sans SC"/>
              </a:defRPr>
            </a:pPr>
            <a:r>
              <a:t>等待500ms电路稳定后，阻塞式采集</a:t>
            </a:r>
            <a:br/>
            <a:r>
              <a:t>100次取平均作为零漂值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89520" y="4526280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400"/>
              </a:spcAft>
              <a:defRPr sz="1100" b="1">
                <a:solidFill>
                  <a:srgbClr val="00838F"/>
                </a:solidFill>
                <a:latin typeface="Noto Sans SC"/>
              </a:defRPr>
            </a:pPr>
            <a:r>
              <a:t>⑤ Disable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89520" y="4727448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Aft>
                <a:spcPts val="400"/>
              </a:spcAft>
              <a:defRPr sz="900" b="0">
                <a:solidFill>
                  <a:srgbClr val="555555"/>
                </a:solidFill>
                <a:latin typeface="Noto Sans SC"/>
              </a:defRPr>
            </a:pPr>
            <a:r>
              <a:t>校准完毕，安全停止电机。Disable 不停 TIM，</a:t>
            </a:r>
            <a:br/>
            <a:r>
              <a:t>TRGO 继续触发 ADC，随时可恢复运行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5852160"/>
            <a:ext cx="11247120" cy="502920"/>
          </a:xfrm>
          <a:prstGeom prst="rect">
            <a:avLst/>
          </a:prstGeom>
          <a:solidFill>
            <a:srgbClr val="FFF3CD"/>
          </a:solidFill>
          <a:ln w="1905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94360" y="5925312"/>
            <a:ext cx="1097280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500"/>
              </a:lnSpc>
              <a:defRPr sz="1100">
                <a:solidFill>
                  <a:srgbClr val="856404"/>
                </a:solidFill>
                <a:latin typeface="Noto Sans SC"/>
              </a:defRPr>
            </a:pPr>
            <a:r>
              <a:rPr dirty="0"/>
              <a:t>⚠ </a:t>
            </a:r>
            <a:r>
              <a:rPr dirty="0" err="1"/>
              <a:t>关键：校准前必须</a:t>
            </a:r>
            <a:r>
              <a:rPr dirty="0"/>
              <a:t> Enable + </a:t>
            </a:r>
            <a:r>
              <a:rPr dirty="0" err="1"/>
              <a:t>SetSpeed</a:t>
            </a:r>
            <a:r>
              <a:rPr dirty="0"/>
              <a:t>(0) </a:t>
            </a:r>
            <a:r>
              <a:rPr dirty="0" err="1"/>
              <a:t>导通下桥臂，让</a:t>
            </a:r>
            <a:r>
              <a:rPr dirty="0"/>
              <a:t> R32 </a:t>
            </a:r>
            <a:r>
              <a:rPr dirty="0" err="1"/>
              <a:t>采样回路闭合，否则采集到的电压悬空无意义</a:t>
            </a:r>
            <a:endParaRPr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22960"/>
          </a:xfrm>
          <a:prstGeom prst="rect">
            <a:avLst/>
          </a:prstGeom>
          <a:solidFill>
            <a:srgbClr val="0083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Noto Sans SC"/>
              </a:defRPr>
            </a:pPr>
            <a:r>
              <a:t>全局变量与电机配置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CEEEE"/>
                </a:solidFill>
                <a:latin typeface="Noto Sans SC"/>
              </a:defRPr>
            </a:pPr>
            <a:r>
              <a:t>数据结构定义 (main.c / bsp_brush_motor.h)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515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Aft>
                <a:spcPts val="400"/>
              </a:spcAft>
              <a:defRPr sz="1600" b="1">
                <a:solidFill>
                  <a:srgbClr val="00838F"/>
                </a:solidFill>
                <a:latin typeface="Noto Sans SC"/>
              </a:defRPr>
            </a:pPr>
            <a:r>
              <a:t>电机配置结构体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63040"/>
            <a:ext cx="5303520" cy="3474720"/>
          </a:xfrm>
          <a:prstGeom prst="rect">
            <a:avLst/>
          </a:prstGeom>
          <a:solidFill>
            <a:srgbClr val="282C34"/>
          </a:solidFill>
          <a:ln w="12700">
            <a:solidFill>
              <a:srgbClr val="3E4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1536192"/>
            <a:ext cx="5029200" cy="33284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250"/>
              </a:lnSpc>
              <a:spcBef>
                <a:spcPts val="0"/>
              </a:spcBef>
              <a:spcAft>
                <a:spcPts val="100"/>
              </a:spcAft>
              <a:defRPr sz="1000">
                <a:solidFill>
                  <a:srgbClr val="ABB2BF"/>
                </a:solidFill>
                <a:latin typeface="Consolas"/>
              </a:defRPr>
            </a:pPr>
            <a:r>
              <a:rPr dirty="0"/>
              <a:t>typedef struct {</a:t>
            </a:r>
          </a:p>
          <a:p>
            <a:pPr>
              <a:lnSpc>
                <a:spcPts val="1250"/>
              </a:lnSpc>
              <a:spcBef>
                <a:spcPts val="0"/>
              </a:spcBef>
              <a:spcAft>
                <a:spcPts val="100"/>
              </a:spcAft>
              <a:defRPr sz="1000">
                <a:solidFill>
                  <a:srgbClr val="ABB2BF"/>
                </a:solidFill>
                <a:latin typeface="Consolas"/>
              </a:defRPr>
            </a:pPr>
            <a:r>
              <a:rPr dirty="0"/>
              <a:t>    </a:t>
            </a:r>
            <a:r>
              <a:rPr dirty="0" err="1"/>
              <a:t>TIM_HandleTypeDef</a:t>
            </a:r>
            <a:r>
              <a:rPr dirty="0"/>
              <a:t> *</a:t>
            </a:r>
            <a:r>
              <a:rPr dirty="0" err="1"/>
              <a:t>htim</a:t>
            </a:r>
            <a:r>
              <a:rPr dirty="0"/>
              <a:t>;        // &amp;htim1</a:t>
            </a:r>
          </a:p>
          <a:p>
            <a:pPr>
              <a:lnSpc>
                <a:spcPts val="1250"/>
              </a:lnSpc>
              <a:spcBef>
                <a:spcPts val="0"/>
              </a:spcBef>
              <a:spcAft>
                <a:spcPts val="100"/>
              </a:spcAft>
              <a:defRPr sz="1000">
                <a:solidFill>
                  <a:srgbClr val="ABB2BF"/>
                </a:solidFill>
                <a:latin typeface="Consolas"/>
              </a:defRPr>
            </a:pPr>
            <a:r>
              <a:rPr dirty="0"/>
              <a:t>    uint32_t  </a:t>
            </a:r>
            <a:r>
              <a:rPr dirty="0" err="1"/>
              <a:t>tim_channel</a:t>
            </a:r>
            <a:r>
              <a:rPr dirty="0"/>
              <a:t>;          // TIM_CHANNEL_1</a:t>
            </a:r>
          </a:p>
          <a:p>
            <a:pPr>
              <a:lnSpc>
                <a:spcPts val="1250"/>
              </a:lnSpc>
              <a:spcBef>
                <a:spcPts val="0"/>
              </a:spcBef>
              <a:spcAft>
                <a:spcPts val="100"/>
              </a:spcAft>
              <a:defRPr sz="1000">
                <a:solidFill>
                  <a:srgbClr val="ABB2BF"/>
                </a:solidFill>
                <a:latin typeface="Consolas"/>
              </a:defRPr>
            </a:pPr>
            <a:r>
              <a:rPr dirty="0"/>
              <a:t>    uint32_t  </a:t>
            </a:r>
            <a:r>
              <a:rPr dirty="0" err="1"/>
              <a:t>tim_arr</a:t>
            </a:r>
            <a:r>
              <a:rPr dirty="0"/>
              <a:t>;              // 8367 (Period+1)</a:t>
            </a:r>
          </a:p>
          <a:p>
            <a:pPr>
              <a:lnSpc>
                <a:spcPts val="1250"/>
              </a:lnSpc>
              <a:spcBef>
                <a:spcPts val="0"/>
              </a:spcBef>
              <a:spcAft>
                <a:spcPts val="100"/>
              </a:spcAft>
              <a:defRPr sz="1000">
                <a:solidFill>
                  <a:srgbClr val="ABB2BF"/>
                </a:solidFill>
                <a:latin typeface="Consolas"/>
              </a:defRPr>
            </a:pPr>
            <a:r>
              <a:rPr dirty="0"/>
              <a:t>    </a:t>
            </a:r>
            <a:r>
              <a:rPr dirty="0" err="1"/>
              <a:t>GPIO_TypeDef</a:t>
            </a:r>
            <a:r>
              <a:rPr dirty="0"/>
              <a:t> *</a:t>
            </a:r>
            <a:r>
              <a:rPr dirty="0" err="1"/>
              <a:t>sd_port</a:t>
            </a:r>
            <a:r>
              <a:rPr dirty="0"/>
              <a:t>;          // PF10端口</a:t>
            </a:r>
          </a:p>
          <a:p>
            <a:pPr>
              <a:lnSpc>
                <a:spcPts val="1250"/>
              </a:lnSpc>
              <a:spcBef>
                <a:spcPts val="0"/>
              </a:spcBef>
              <a:spcAft>
                <a:spcPts val="100"/>
              </a:spcAft>
              <a:defRPr sz="1000">
                <a:solidFill>
                  <a:srgbClr val="ABB2BF"/>
                </a:solidFill>
                <a:latin typeface="Consolas"/>
              </a:defRPr>
            </a:pPr>
            <a:r>
              <a:rPr dirty="0"/>
              <a:t>    uint16_t </a:t>
            </a:r>
            <a:r>
              <a:rPr dirty="0" err="1"/>
              <a:t>sd_pin</a:t>
            </a:r>
            <a:r>
              <a:rPr dirty="0"/>
              <a:t>;                // IR2104 </a:t>
            </a:r>
            <a:r>
              <a:rPr dirty="0" err="1"/>
              <a:t>SD使能</a:t>
            </a:r>
            <a:endParaRPr dirty="0"/>
          </a:p>
          <a:p>
            <a:pPr>
              <a:lnSpc>
                <a:spcPts val="1250"/>
              </a:lnSpc>
              <a:spcBef>
                <a:spcPts val="0"/>
              </a:spcBef>
              <a:spcAft>
                <a:spcPts val="100"/>
              </a:spcAft>
              <a:defRPr sz="1000">
                <a:solidFill>
                  <a:srgbClr val="ABB2BF"/>
                </a:solidFill>
                <a:latin typeface="Consolas"/>
              </a:defRPr>
            </a:pPr>
            <a:r>
              <a:rPr dirty="0"/>
              <a:t>} </a:t>
            </a:r>
            <a:r>
              <a:rPr dirty="0" err="1"/>
              <a:t>BrushMotorConfig</a:t>
            </a:r>
            <a:r>
              <a:rPr dirty="0"/>
              <a:t>;</a:t>
            </a:r>
          </a:p>
          <a:p>
            <a:pPr>
              <a:lnSpc>
                <a:spcPts val="1250"/>
              </a:lnSpc>
              <a:spcBef>
                <a:spcPts val="0"/>
              </a:spcBef>
              <a:spcAft>
                <a:spcPts val="100"/>
              </a:spcAft>
              <a:defRPr sz="1000">
                <a:solidFill>
                  <a:srgbClr val="ABB2BF"/>
                </a:solidFill>
                <a:latin typeface="Consolas"/>
              </a:defRPr>
            </a:pPr>
            <a:endParaRPr dirty="0"/>
          </a:p>
          <a:p>
            <a:pPr>
              <a:lnSpc>
                <a:spcPts val="1250"/>
              </a:lnSpc>
              <a:spcBef>
                <a:spcPts val="0"/>
              </a:spcBef>
              <a:spcAft>
                <a:spcPts val="100"/>
              </a:spcAft>
              <a:defRPr sz="1000">
                <a:solidFill>
                  <a:srgbClr val="ABB2BF"/>
                </a:solidFill>
                <a:latin typeface="Consolas"/>
              </a:defRPr>
            </a:pPr>
            <a:r>
              <a:rPr dirty="0" err="1"/>
              <a:t>BrushMotorConfig</a:t>
            </a:r>
            <a:r>
              <a:rPr dirty="0"/>
              <a:t> pm1_motor = {</a:t>
            </a:r>
          </a:p>
          <a:p>
            <a:pPr>
              <a:lnSpc>
                <a:spcPts val="1250"/>
              </a:lnSpc>
              <a:spcBef>
                <a:spcPts val="0"/>
              </a:spcBef>
              <a:spcAft>
                <a:spcPts val="100"/>
              </a:spcAft>
              <a:defRPr sz="1000">
                <a:solidFill>
                  <a:srgbClr val="ABB2BF"/>
                </a:solidFill>
                <a:latin typeface="Consolas"/>
              </a:defRPr>
            </a:pPr>
            <a:r>
              <a:rPr dirty="0"/>
              <a:t>    .</a:t>
            </a:r>
            <a:r>
              <a:rPr dirty="0" err="1"/>
              <a:t>htim</a:t>
            </a:r>
            <a:r>
              <a:rPr dirty="0"/>
              <a:t>         = &amp;htim1,</a:t>
            </a:r>
          </a:p>
          <a:p>
            <a:pPr>
              <a:lnSpc>
                <a:spcPts val="1250"/>
              </a:lnSpc>
              <a:spcBef>
                <a:spcPts val="0"/>
              </a:spcBef>
              <a:spcAft>
                <a:spcPts val="100"/>
              </a:spcAft>
              <a:defRPr sz="1000">
                <a:solidFill>
                  <a:srgbClr val="ABB2BF"/>
                </a:solidFill>
                <a:latin typeface="Consolas"/>
              </a:defRPr>
            </a:pPr>
            <a:r>
              <a:rPr dirty="0"/>
              <a:t>    .</a:t>
            </a:r>
            <a:r>
              <a:rPr dirty="0" err="1"/>
              <a:t>tim_channel</a:t>
            </a:r>
            <a:r>
              <a:rPr dirty="0"/>
              <a:t>  = TIM_CHANNEL_1,</a:t>
            </a:r>
          </a:p>
          <a:p>
            <a:pPr>
              <a:lnSpc>
                <a:spcPts val="1250"/>
              </a:lnSpc>
              <a:spcBef>
                <a:spcPts val="0"/>
              </a:spcBef>
              <a:spcAft>
                <a:spcPts val="100"/>
              </a:spcAft>
              <a:defRPr sz="1000">
                <a:solidFill>
                  <a:srgbClr val="ABB2BF"/>
                </a:solidFill>
                <a:latin typeface="Consolas"/>
              </a:defRPr>
            </a:pPr>
            <a:r>
              <a:rPr dirty="0"/>
              <a:t>    .</a:t>
            </a:r>
            <a:r>
              <a:rPr dirty="0" err="1"/>
              <a:t>tim_arr</a:t>
            </a:r>
            <a:r>
              <a:rPr dirty="0"/>
              <a:t>      = 8367,</a:t>
            </a:r>
          </a:p>
          <a:p>
            <a:pPr>
              <a:lnSpc>
                <a:spcPts val="1250"/>
              </a:lnSpc>
              <a:spcBef>
                <a:spcPts val="0"/>
              </a:spcBef>
              <a:spcAft>
                <a:spcPts val="100"/>
              </a:spcAft>
              <a:defRPr sz="1000">
                <a:solidFill>
                  <a:srgbClr val="ABB2BF"/>
                </a:solidFill>
                <a:latin typeface="Consolas"/>
              </a:defRPr>
            </a:pPr>
            <a:r>
              <a:rPr dirty="0"/>
              <a:t>    .</a:t>
            </a:r>
            <a:r>
              <a:rPr dirty="0" err="1"/>
              <a:t>sd_port</a:t>
            </a:r>
            <a:r>
              <a:rPr dirty="0"/>
              <a:t>      = PM1_CTRL_SD_GPIO_Port,</a:t>
            </a:r>
          </a:p>
          <a:p>
            <a:pPr>
              <a:lnSpc>
                <a:spcPts val="1250"/>
              </a:lnSpc>
              <a:spcBef>
                <a:spcPts val="0"/>
              </a:spcBef>
              <a:spcAft>
                <a:spcPts val="100"/>
              </a:spcAft>
              <a:defRPr sz="1000">
                <a:solidFill>
                  <a:srgbClr val="ABB2BF"/>
                </a:solidFill>
                <a:latin typeface="Consolas"/>
              </a:defRPr>
            </a:pPr>
            <a:r>
              <a:rPr dirty="0"/>
              <a:t>    .</a:t>
            </a:r>
            <a:r>
              <a:rPr dirty="0" err="1"/>
              <a:t>sd_pin</a:t>
            </a:r>
            <a:r>
              <a:rPr dirty="0"/>
              <a:t>       = PM1_CTRL_SD_Pin   // PF10</a:t>
            </a:r>
          </a:p>
          <a:p>
            <a:pPr>
              <a:lnSpc>
                <a:spcPts val="1250"/>
              </a:lnSpc>
              <a:spcBef>
                <a:spcPts val="0"/>
              </a:spcBef>
              <a:spcAft>
                <a:spcPts val="100"/>
              </a:spcAft>
              <a:defRPr sz="1000">
                <a:solidFill>
                  <a:srgbClr val="ABB2BF"/>
                </a:solidFill>
                <a:latin typeface="Consolas"/>
              </a:defRPr>
            </a:pPr>
            <a:r>
              <a:rPr dirty="0"/>
              <a:t>};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0515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Aft>
                <a:spcPts val="400"/>
              </a:spcAft>
              <a:defRPr sz="1600" b="1">
                <a:solidFill>
                  <a:srgbClr val="00838F"/>
                </a:solidFill>
                <a:latin typeface="Noto Sans SC"/>
              </a:defRPr>
            </a:pPr>
            <a:r>
              <a:t>全局状态变量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463040"/>
            <a:ext cx="5303520" cy="3200400"/>
          </a:xfrm>
          <a:prstGeom prst="rect">
            <a:avLst/>
          </a:prstGeom>
          <a:solidFill>
            <a:srgbClr val="282C34"/>
          </a:solidFill>
          <a:ln w="12700">
            <a:solidFill>
              <a:srgbClr val="3E4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355080" y="1536192"/>
            <a:ext cx="5029200" cy="3054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250"/>
              </a:lnSpc>
              <a:spcBef>
                <a:spcPts val="0"/>
              </a:spcBef>
              <a:spcAft>
                <a:spcPts val="100"/>
              </a:spcAft>
              <a:defRPr sz="1000">
                <a:solidFill>
                  <a:srgbClr val="ABB2BF"/>
                </a:solidFill>
                <a:latin typeface="Consolas"/>
              </a:defRPr>
            </a:pPr>
            <a:r>
              <a:rPr dirty="0"/>
              <a:t>int16_t </a:t>
            </a:r>
            <a:r>
              <a:rPr dirty="0" err="1"/>
              <a:t>duty_percent</a:t>
            </a:r>
            <a:r>
              <a:rPr dirty="0"/>
              <a:t>  = 0;</a:t>
            </a:r>
          </a:p>
          <a:p>
            <a:pPr>
              <a:lnSpc>
                <a:spcPts val="1250"/>
              </a:lnSpc>
              <a:spcBef>
                <a:spcPts val="0"/>
              </a:spcBef>
              <a:spcAft>
                <a:spcPts val="100"/>
              </a:spcAft>
              <a:defRPr sz="1000">
                <a:solidFill>
                  <a:srgbClr val="ABB2BF"/>
                </a:solidFill>
                <a:latin typeface="Consolas"/>
              </a:defRPr>
            </a:pPr>
            <a:r>
              <a:rPr dirty="0"/>
              <a:t>   // </a:t>
            </a:r>
            <a:r>
              <a:rPr dirty="0" err="1"/>
              <a:t>当前占空比</a:t>
            </a:r>
            <a:r>
              <a:rPr dirty="0"/>
              <a:t>: -100 ~ +100</a:t>
            </a:r>
          </a:p>
          <a:p>
            <a:pPr>
              <a:lnSpc>
                <a:spcPts val="1250"/>
              </a:lnSpc>
              <a:spcBef>
                <a:spcPts val="0"/>
              </a:spcBef>
              <a:spcAft>
                <a:spcPts val="100"/>
              </a:spcAft>
              <a:defRPr sz="1000">
                <a:solidFill>
                  <a:srgbClr val="ABB2BF"/>
                </a:solidFill>
                <a:latin typeface="Consolas"/>
              </a:defRPr>
            </a:pPr>
            <a:r>
              <a:rPr dirty="0"/>
              <a:t>   // </a:t>
            </a:r>
            <a:r>
              <a:rPr dirty="0" err="1"/>
              <a:t>正数</a:t>
            </a:r>
            <a:r>
              <a:rPr dirty="0"/>
              <a:t>=</a:t>
            </a:r>
            <a:r>
              <a:rPr dirty="0" err="1"/>
              <a:t>正转</a:t>
            </a:r>
            <a:r>
              <a:rPr dirty="0"/>
              <a:t>, </a:t>
            </a:r>
            <a:r>
              <a:rPr dirty="0" err="1"/>
              <a:t>负数</a:t>
            </a:r>
            <a:r>
              <a:rPr dirty="0"/>
              <a:t>=</a:t>
            </a:r>
            <a:r>
              <a:rPr dirty="0" err="1"/>
              <a:t>反转</a:t>
            </a:r>
            <a:r>
              <a:rPr dirty="0"/>
              <a:t>, 0=</a:t>
            </a:r>
            <a:r>
              <a:rPr dirty="0" err="1"/>
              <a:t>停止</a:t>
            </a:r>
            <a:endParaRPr dirty="0"/>
          </a:p>
          <a:p>
            <a:pPr>
              <a:lnSpc>
                <a:spcPts val="1250"/>
              </a:lnSpc>
              <a:spcBef>
                <a:spcPts val="0"/>
              </a:spcBef>
              <a:spcAft>
                <a:spcPts val="100"/>
              </a:spcAft>
              <a:defRPr sz="1000">
                <a:solidFill>
                  <a:srgbClr val="ABB2BF"/>
                </a:solidFill>
                <a:latin typeface="Consolas"/>
              </a:defRPr>
            </a:pPr>
            <a:endParaRPr dirty="0"/>
          </a:p>
          <a:p>
            <a:pPr>
              <a:lnSpc>
                <a:spcPts val="1250"/>
              </a:lnSpc>
              <a:spcBef>
                <a:spcPts val="0"/>
              </a:spcBef>
              <a:spcAft>
                <a:spcPts val="100"/>
              </a:spcAft>
              <a:defRPr sz="1000">
                <a:solidFill>
                  <a:srgbClr val="ABB2BF"/>
                </a:solidFill>
                <a:latin typeface="Consolas"/>
              </a:defRPr>
            </a:pPr>
            <a:r>
              <a:rPr dirty="0"/>
              <a:t>int8_t  </a:t>
            </a:r>
            <a:r>
              <a:rPr dirty="0" err="1"/>
              <a:t>duty_step</a:t>
            </a:r>
            <a:r>
              <a:rPr dirty="0"/>
              <a:t>     = 20;</a:t>
            </a:r>
          </a:p>
          <a:p>
            <a:pPr>
              <a:lnSpc>
                <a:spcPts val="1250"/>
              </a:lnSpc>
              <a:spcBef>
                <a:spcPts val="0"/>
              </a:spcBef>
              <a:spcAft>
                <a:spcPts val="100"/>
              </a:spcAft>
              <a:defRPr sz="1000">
                <a:solidFill>
                  <a:srgbClr val="ABB2BF"/>
                </a:solidFill>
                <a:latin typeface="Consolas"/>
              </a:defRPr>
            </a:pPr>
            <a:r>
              <a:rPr dirty="0"/>
              <a:t>   // </a:t>
            </a:r>
            <a:r>
              <a:rPr dirty="0" err="1"/>
              <a:t>每次按键的占空比步进值</a:t>
            </a:r>
            <a:endParaRPr dirty="0"/>
          </a:p>
          <a:p>
            <a:pPr>
              <a:lnSpc>
                <a:spcPts val="1250"/>
              </a:lnSpc>
              <a:spcBef>
                <a:spcPts val="0"/>
              </a:spcBef>
              <a:spcAft>
                <a:spcPts val="100"/>
              </a:spcAft>
              <a:defRPr sz="1000">
                <a:solidFill>
                  <a:srgbClr val="ABB2BF"/>
                </a:solidFill>
                <a:latin typeface="Consolas"/>
              </a:defRPr>
            </a:pPr>
            <a:endParaRPr dirty="0"/>
          </a:p>
          <a:p>
            <a:pPr>
              <a:lnSpc>
                <a:spcPts val="1250"/>
              </a:lnSpc>
              <a:spcBef>
                <a:spcPts val="0"/>
              </a:spcBef>
              <a:spcAft>
                <a:spcPts val="100"/>
              </a:spcAft>
              <a:defRPr sz="1000">
                <a:solidFill>
                  <a:srgbClr val="ABB2BF"/>
                </a:solidFill>
                <a:latin typeface="Consolas"/>
              </a:defRPr>
            </a:pPr>
            <a:r>
              <a:rPr dirty="0"/>
              <a:t>uint8_t </a:t>
            </a:r>
            <a:r>
              <a:rPr dirty="0" err="1"/>
              <a:t>motor_running</a:t>
            </a:r>
            <a:r>
              <a:rPr dirty="0"/>
              <a:t> = 0;</a:t>
            </a:r>
          </a:p>
          <a:p>
            <a:pPr>
              <a:lnSpc>
                <a:spcPts val="1250"/>
              </a:lnSpc>
              <a:spcBef>
                <a:spcPts val="0"/>
              </a:spcBef>
              <a:spcAft>
                <a:spcPts val="100"/>
              </a:spcAft>
              <a:defRPr sz="1000">
                <a:solidFill>
                  <a:srgbClr val="ABB2BF"/>
                </a:solidFill>
                <a:latin typeface="Consolas"/>
              </a:defRPr>
            </a:pPr>
            <a:r>
              <a:rPr dirty="0"/>
              <a:t>   // </a:t>
            </a:r>
            <a:r>
              <a:rPr dirty="0" err="1"/>
              <a:t>电机运行标志</a:t>
            </a:r>
            <a:r>
              <a:rPr dirty="0"/>
              <a:t> 0/1</a:t>
            </a:r>
          </a:p>
          <a:p>
            <a:pPr>
              <a:lnSpc>
                <a:spcPts val="1250"/>
              </a:lnSpc>
              <a:spcBef>
                <a:spcPts val="0"/>
              </a:spcBef>
              <a:spcAft>
                <a:spcPts val="100"/>
              </a:spcAft>
              <a:defRPr sz="1000">
                <a:solidFill>
                  <a:srgbClr val="ABB2BF"/>
                </a:solidFill>
                <a:latin typeface="Consolas"/>
              </a:defRPr>
            </a:pPr>
            <a:endParaRPr dirty="0"/>
          </a:p>
          <a:p>
            <a:pPr>
              <a:lnSpc>
                <a:spcPts val="1250"/>
              </a:lnSpc>
              <a:spcBef>
                <a:spcPts val="0"/>
              </a:spcBef>
              <a:spcAft>
                <a:spcPts val="100"/>
              </a:spcAft>
              <a:defRPr sz="1000">
                <a:solidFill>
                  <a:srgbClr val="ABB2BF"/>
                </a:solidFill>
                <a:latin typeface="Consolas"/>
              </a:defRPr>
            </a:pPr>
            <a:r>
              <a:rPr dirty="0"/>
              <a:t>extern uint32_t </a:t>
            </a:r>
            <a:r>
              <a:rPr dirty="0" err="1"/>
              <a:t>adc_injected_data</a:t>
            </a:r>
            <a:r>
              <a:rPr dirty="0"/>
              <a:t>;</a:t>
            </a:r>
          </a:p>
          <a:p>
            <a:pPr>
              <a:lnSpc>
                <a:spcPts val="1250"/>
              </a:lnSpc>
              <a:spcBef>
                <a:spcPts val="0"/>
              </a:spcBef>
              <a:spcAft>
                <a:spcPts val="100"/>
              </a:spcAft>
              <a:defRPr sz="1000">
                <a:solidFill>
                  <a:srgbClr val="ABB2BF"/>
                </a:solidFill>
                <a:latin typeface="Consolas"/>
              </a:defRPr>
            </a:pPr>
            <a:r>
              <a:rPr dirty="0"/>
              <a:t>   // </a:t>
            </a:r>
            <a:r>
              <a:rPr dirty="0" err="1"/>
              <a:t>adc.c</a:t>
            </a:r>
            <a:r>
              <a:rPr dirty="0"/>
              <a:t> </a:t>
            </a:r>
            <a:r>
              <a:rPr dirty="0" err="1"/>
              <a:t>中定义，注入通道转换结果</a:t>
            </a:r>
            <a:endParaRPr dirty="0"/>
          </a:p>
          <a:p>
            <a:pPr>
              <a:lnSpc>
                <a:spcPts val="1250"/>
              </a:lnSpc>
              <a:spcBef>
                <a:spcPts val="0"/>
              </a:spcBef>
              <a:spcAft>
                <a:spcPts val="100"/>
              </a:spcAft>
              <a:defRPr sz="1000">
                <a:solidFill>
                  <a:srgbClr val="ABB2BF"/>
                </a:solidFill>
                <a:latin typeface="Consolas"/>
              </a:defRPr>
            </a:pPr>
            <a:r>
              <a:rPr dirty="0"/>
              <a:t>   // main 和 </a:t>
            </a:r>
            <a:r>
              <a:rPr dirty="0" err="1"/>
              <a:t>current_sensor</a:t>
            </a:r>
            <a:r>
              <a:rPr dirty="0"/>
              <a:t> </a:t>
            </a:r>
            <a:r>
              <a:rPr dirty="0" err="1"/>
              <a:t>都读取</a:t>
            </a:r>
            <a:endParaRPr dirty="0"/>
          </a:p>
        </p:txBody>
      </p:sp>
      <p:sp>
        <p:nvSpPr>
          <p:cNvPr id="11" name="TextBox 10"/>
          <p:cNvSpPr txBox="1"/>
          <p:nvPr/>
        </p:nvSpPr>
        <p:spPr>
          <a:xfrm>
            <a:off x="457200" y="52120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400"/>
              </a:spcAft>
              <a:defRPr sz="1100" b="0">
                <a:solidFill>
                  <a:srgbClr val="555555"/>
                </a:solidFill>
                <a:latin typeface="Noto Sans SC"/>
              </a:defRPr>
            </a:pPr>
            <a:r>
              <a:t>注：tim_arr = 8367 = Period(8366) + 1，用于 SetSpeed 中 CCR = 占空比% × 8367 / 100 的计算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5778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400"/>
              </a:spcAft>
              <a:defRPr sz="1400" b="1">
                <a:solidFill>
                  <a:srgbClr val="00838F"/>
                </a:solidFill>
                <a:latin typeface="Noto Sans SC"/>
              </a:defRPr>
            </a:pPr>
            <a:r>
              <a:t>extern 数据共享模式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897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150"/>
              </a:lnSpc>
              <a:spcBef>
                <a:spcPts val="0"/>
              </a:spcBef>
              <a:spcAft>
                <a:spcPts val="100"/>
              </a:spcAft>
              <a:defRPr sz="1000">
                <a:solidFill>
                  <a:srgbClr val="333333"/>
                </a:solidFill>
                <a:latin typeface="Consolas"/>
              </a:defRPr>
            </a:pPr>
            <a:r>
              <a:t>adc.c → 定义 uint32_t adc_injected_data     (唯一写入者: InjectedConvCplt 中断回调)</a:t>
            </a:r>
          </a:p>
          <a:p>
            <a:pPr>
              <a:lnSpc>
                <a:spcPts val="1150"/>
              </a:lnSpc>
              <a:spcBef>
                <a:spcPts val="0"/>
              </a:spcBef>
              <a:spcAft>
                <a:spcPts val="100"/>
              </a:spcAft>
              <a:defRPr sz="1000">
                <a:solidFill>
                  <a:srgbClr val="333333"/>
                </a:solidFill>
                <a:latin typeface="Consolas"/>
              </a:defRPr>
            </a:pPr>
            <a:r>
              <a:t>main.c → extern uint32_t adc_injected_data   (读取者: LCD显示 + 串口发送)</a:t>
            </a:r>
          </a:p>
          <a:p>
            <a:pPr>
              <a:lnSpc>
                <a:spcPts val="1150"/>
              </a:lnSpc>
              <a:spcBef>
                <a:spcPts val="0"/>
              </a:spcBef>
              <a:spcAft>
                <a:spcPts val="100"/>
              </a:spcAft>
              <a:defRPr sz="1000">
                <a:solidFill>
                  <a:srgbClr val="333333"/>
                </a:solidFill>
                <a:latin typeface="Consolas"/>
              </a:defRPr>
            </a:pPr>
            <a:r>
              <a:t>bsp_current_sensor.c → extern uint32_t adc_injected_data  (读取者: Update 滤波)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22960"/>
          </a:xfrm>
          <a:prstGeom prst="rect">
            <a:avLst/>
          </a:prstGeom>
          <a:solidFill>
            <a:srgbClr val="0083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Noto Sans SC"/>
              </a:defRPr>
            </a:pPr>
            <a:r>
              <a:t>电流传感器：零漂校准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CEEEE"/>
                </a:solidFill>
                <a:latin typeface="Noto Sans SC"/>
              </a:defRPr>
            </a:pPr>
            <a:r>
              <a:t>CalibrateOffset() — bsp_current_sensor.c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5156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Aft>
                <a:spcPts val="400"/>
              </a:spcAft>
              <a:defRPr sz="1600" b="1">
                <a:solidFill>
                  <a:srgbClr val="00838F"/>
                </a:solidFill>
                <a:latin typeface="Noto Sans SC"/>
              </a:defRPr>
            </a:pPr>
            <a:r>
              <a:t>校准流程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08760"/>
            <a:ext cx="56692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17"/>
              </a:lnSpc>
              <a:spcBef>
                <a:spcPts val="0"/>
              </a:spcBef>
              <a:spcAft>
                <a:spcPts val="100"/>
              </a:spcAft>
              <a:defRPr sz="1050">
                <a:solidFill>
                  <a:srgbClr val="333333"/>
                </a:solidFill>
                <a:latin typeface="Noto Sans SC"/>
              </a:defRPr>
            </a:pPr>
            <a:r>
              <a:t>① 关闭注入中断，停硬件触发</a:t>
            </a:r>
          </a:p>
          <a:p>
            <a:pPr>
              <a:lnSpc>
                <a:spcPts val="1417"/>
              </a:lnSpc>
              <a:spcBef>
                <a:spcPts val="0"/>
              </a:spcBef>
              <a:spcAft>
                <a:spcPts val="100"/>
              </a:spcAft>
              <a:defRPr sz="1050">
                <a:solidFill>
                  <a:srgbClr val="333333"/>
                </a:solidFill>
                <a:latin typeface="Noto Sans SC"/>
              </a:defRPr>
            </a:pPr>
            <a:r>
              <a:t>   HAL_NVIC_DisableIRQ(ADC_IRQn)</a:t>
            </a:r>
          </a:p>
          <a:p>
            <a:pPr>
              <a:lnSpc>
                <a:spcPts val="1417"/>
              </a:lnSpc>
              <a:spcBef>
                <a:spcPts val="0"/>
              </a:spcBef>
              <a:spcAft>
                <a:spcPts val="100"/>
              </a:spcAft>
              <a:defRPr sz="1050">
                <a:solidFill>
                  <a:srgbClr val="333333"/>
                </a:solidFill>
                <a:latin typeface="Noto Sans SC"/>
              </a:defRPr>
            </a:pPr>
            <a:r>
              <a:t>   HAL_ADCEx_InjectedStop_IT(&amp;hadc1)</a:t>
            </a:r>
          </a:p>
          <a:p>
            <a:pPr>
              <a:lnSpc>
                <a:spcPts val="1417"/>
              </a:lnSpc>
              <a:spcBef>
                <a:spcPts val="0"/>
              </a:spcBef>
              <a:spcAft>
                <a:spcPts val="100"/>
              </a:spcAft>
              <a:defRPr sz="1050">
                <a:solidFill>
                  <a:srgbClr val="333333"/>
                </a:solidFill>
                <a:latin typeface="Noto Sans SC"/>
              </a:defRPr>
            </a:pPr>
            <a:endParaRPr/>
          </a:p>
          <a:p>
            <a:pPr>
              <a:lnSpc>
                <a:spcPts val="1417"/>
              </a:lnSpc>
              <a:spcBef>
                <a:spcPts val="0"/>
              </a:spcBef>
              <a:spcAft>
                <a:spcPts val="100"/>
              </a:spcAft>
              <a:defRPr sz="1050">
                <a:solidFill>
                  <a:srgbClr val="333333"/>
                </a:solidFill>
                <a:latin typeface="Noto Sans SC"/>
              </a:defRPr>
            </a:pPr>
            <a:r>
              <a:t>② 重配注入通道 → 软件触发模式</a:t>
            </a:r>
          </a:p>
          <a:p>
            <a:pPr>
              <a:lnSpc>
                <a:spcPts val="1417"/>
              </a:lnSpc>
              <a:spcBef>
                <a:spcPts val="0"/>
              </a:spcBef>
              <a:spcAft>
                <a:spcPts val="100"/>
              </a:spcAft>
              <a:defRPr sz="1050">
                <a:solidFill>
                  <a:srgbClr val="333333"/>
                </a:solidFill>
                <a:latin typeface="Noto Sans SC"/>
              </a:defRPr>
            </a:pPr>
            <a:r>
              <a:t>   Edge = ADC_EXTERNALTRIGINJECCONVEDGE_NONE</a:t>
            </a:r>
          </a:p>
          <a:p>
            <a:pPr>
              <a:lnSpc>
                <a:spcPts val="1417"/>
              </a:lnSpc>
              <a:spcBef>
                <a:spcPts val="0"/>
              </a:spcBef>
              <a:spcAft>
                <a:spcPts val="100"/>
              </a:spcAft>
              <a:defRPr sz="1050">
                <a:solidFill>
                  <a:srgbClr val="333333"/>
                </a:solidFill>
                <a:latin typeface="Noto Sans SC"/>
              </a:defRPr>
            </a:pPr>
            <a:r>
              <a:t>   SamplingTime = ADC_SAMPLETIME_56CYCLES</a:t>
            </a:r>
          </a:p>
          <a:p>
            <a:pPr>
              <a:lnSpc>
                <a:spcPts val="1417"/>
              </a:lnSpc>
              <a:spcBef>
                <a:spcPts val="0"/>
              </a:spcBef>
              <a:spcAft>
                <a:spcPts val="100"/>
              </a:spcAft>
              <a:defRPr sz="1050">
                <a:solidFill>
                  <a:srgbClr val="333333"/>
                </a:solidFill>
                <a:latin typeface="Noto Sans SC"/>
              </a:defRPr>
            </a:pPr>
            <a:endParaRPr/>
          </a:p>
          <a:p>
            <a:pPr>
              <a:lnSpc>
                <a:spcPts val="1417"/>
              </a:lnSpc>
              <a:spcBef>
                <a:spcPts val="0"/>
              </a:spcBef>
              <a:spcAft>
                <a:spcPts val="100"/>
              </a:spcAft>
              <a:defRPr sz="1050">
                <a:solidFill>
                  <a:srgbClr val="333333"/>
                </a:solidFill>
                <a:latin typeface="Noto Sans SC"/>
              </a:defRPr>
            </a:pPr>
            <a:r>
              <a:t>③ 阻塞采集 100 次，累加求平均</a:t>
            </a:r>
          </a:p>
          <a:p>
            <a:pPr>
              <a:lnSpc>
                <a:spcPts val="1417"/>
              </a:lnSpc>
              <a:spcBef>
                <a:spcPts val="0"/>
              </a:spcBef>
              <a:spcAft>
                <a:spcPts val="100"/>
              </a:spcAft>
              <a:defRPr sz="1050">
                <a:solidFill>
                  <a:srgbClr val="333333"/>
                </a:solidFill>
                <a:latin typeface="Noto Sans SC"/>
              </a:defRPr>
            </a:pPr>
            <a:r>
              <a:t>   while (calibrate_count &lt; 100) ...</a:t>
            </a:r>
          </a:p>
          <a:p>
            <a:pPr>
              <a:lnSpc>
                <a:spcPts val="1417"/>
              </a:lnSpc>
              <a:spcBef>
                <a:spcPts val="0"/>
              </a:spcBef>
              <a:spcAft>
                <a:spcPts val="100"/>
              </a:spcAft>
              <a:defRPr sz="1050">
                <a:solidFill>
                  <a:srgbClr val="333333"/>
                </a:solidFill>
                <a:latin typeface="Noto Sans SC"/>
              </a:defRPr>
            </a:pPr>
            <a:endParaRPr/>
          </a:p>
          <a:p>
            <a:pPr>
              <a:lnSpc>
                <a:spcPts val="1417"/>
              </a:lnSpc>
              <a:spcBef>
                <a:spcPts val="0"/>
              </a:spcBef>
              <a:spcAft>
                <a:spcPts val="100"/>
              </a:spcAft>
              <a:defRPr sz="1050">
                <a:solidFill>
                  <a:srgbClr val="333333"/>
                </a:solidFill>
                <a:latin typeface="Noto Sans SC"/>
              </a:defRPr>
            </a:pPr>
            <a:r>
              <a:t>④ current_offset_adc = sum_offset / 100</a:t>
            </a:r>
          </a:p>
          <a:p>
            <a:pPr>
              <a:lnSpc>
                <a:spcPts val="1417"/>
              </a:lnSpc>
              <a:spcBef>
                <a:spcPts val="0"/>
              </a:spcBef>
              <a:spcAft>
                <a:spcPts val="100"/>
              </a:spcAft>
              <a:defRPr sz="1050">
                <a:solidFill>
                  <a:srgbClr val="333333"/>
                </a:solidFill>
                <a:latin typeface="Noto Sans SC"/>
              </a:defRPr>
            </a:pPr>
            <a:endParaRPr/>
          </a:p>
          <a:p>
            <a:pPr>
              <a:lnSpc>
                <a:spcPts val="1417"/>
              </a:lnSpc>
              <a:spcBef>
                <a:spcPts val="0"/>
              </a:spcBef>
              <a:spcAft>
                <a:spcPts val="100"/>
              </a:spcAft>
              <a:defRPr sz="1050">
                <a:solidFill>
                  <a:srgbClr val="333333"/>
                </a:solidFill>
                <a:latin typeface="Noto Sans SC"/>
              </a:defRPr>
            </a:pPr>
            <a:r>
              <a:t>⑤ 恢复 T1_TRGO Rising 硬件触发</a:t>
            </a:r>
          </a:p>
          <a:p>
            <a:pPr>
              <a:lnSpc>
                <a:spcPts val="1417"/>
              </a:lnSpc>
              <a:spcBef>
                <a:spcPts val="0"/>
              </a:spcBef>
              <a:spcAft>
                <a:spcPts val="100"/>
              </a:spcAft>
              <a:defRPr sz="1050">
                <a:solidFill>
                  <a:srgbClr val="333333"/>
                </a:solidFill>
                <a:latin typeface="Noto Sans SC"/>
              </a:defRPr>
            </a:pPr>
            <a:r>
              <a:t>   重启注入中断 (InjectedStart_IT)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05156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Aft>
                <a:spcPts val="400"/>
              </a:spcAft>
              <a:defRPr sz="1600" b="1">
                <a:solidFill>
                  <a:srgbClr val="00838F"/>
                </a:solidFill>
                <a:latin typeface="Noto Sans SC"/>
              </a:defRPr>
            </a:pPr>
            <a:r>
              <a:t>核心循环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463040"/>
            <a:ext cx="5029200" cy="3200400"/>
          </a:xfrm>
          <a:prstGeom prst="rect">
            <a:avLst/>
          </a:prstGeom>
          <a:solidFill>
            <a:srgbClr val="282C34"/>
          </a:solidFill>
          <a:ln w="12700">
            <a:solidFill>
              <a:srgbClr val="3E4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355080" y="1536192"/>
            <a:ext cx="4754880" cy="3054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187"/>
              </a:lnSpc>
              <a:spcBef>
                <a:spcPts val="0"/>
              </a:spcBef>
              <a:spcAft>
                <a:spcPts val="100"/>
              </a:spcAft>
              <a:defRPr sz="950">
                <a:solidFill>
                  <a:srgbClr val="ABB2BF"/>
                </a:solidFill>
                <a:latin typeface="Consolas"/>
              </a:defRPr>
            </a:pPr>
            <a:r>
              <a:t>while (calibrate_count &lt; 100)</a:t>
            </a:r>
          </a:p>
          <a:p>
            <a:pPr>
              <a:lnSpc>
                <a:spcPts val="1187"/>
              </a:lnSpc>
              <a:spcBef>
                <a:spcPts val="0"/>
              </a:spcBef>
              <a:spcAft>
                <a:spcPts val="100"/>
              </a:spcAft>
              <a:defRPr sz="950">
                <a:solidFill>
                  <a:srgbClr val="ABB2BF"/>
                </a:solidFill>
                <a:latin typeface="Consolas"/>
              </a:defRPr>
            </a:pPr>
            <a:r>
              <a:t>{</a:t>
            </a:r>
          </a:p>
          <a:p>
            <a:pPr>
              <a:lnSpc>
                <a:spcPts val="1187"/>
              </a:lnSpc>
              <a:spcBef>
                <a:spcPts val="0"/>
              </a:spcBef>
              <a:spcAft>
                <a:spcPts val="100"/>
              </a:spcAft>
              <a:defRPr sz="950">
                <a:solidFill>
                  <a:srgbClr val="ABB2BF"/>
                </a:solidFill>
                <a:latin typeface="Consolas"/>
              </a:defRPr>
            </a:pPr>
            <a:r>
              <a:t>    HAL_ADCEx_InjectedStart(&amp;hadc1);</a:t>
            </a:r>
          </a:p>
          <a:p>
            <a:pPr>
              <a:lnSpc>
                <a:spcPts val="1187"/>
              </a:lnSpc>
              <a:spcBef>
                <a:spcPts val="0"/>
              </a:spcBef>
              <a:spcAft>
                <a:spcPts val="100"/>
              </a:spcAft>
              <a:defRPr sz="950">
                <a:solidFill>
                  <a:srgbClr val="ABB2BF"/>
                </a:solidFill>
                <a:latin typeface="Consolas"/>
              </a:defRPr>
            </a:pPr>
            <a:r>
              <a:t>    if (HAL_ADCEx_InjectedPollForConversion(</a:t>
            </a:r>
          </a:p>
          <a:p>
            <a:pPr>
              <a:lnSpc>
                <a:spcPts val="1187"/>
              </a:lnSpc>
              <a:spcBef>
                <a:spcPts val="0"/>
              </a:spcBef>
              <a:spcAft>
                <a:spcPts val="100"/>
              </a:spcAft>
              <a:defRPr sz="950">
                <a:solidFill>
                  <a:srgbClr val="ABB2BF"/>
                </a:solidFill>
                <a:latin typeface="Consolas"/>
              </a:defRPr>
            </a:pPr>
            <a:r>
              <a:t>            &amp;hadc1, 10) == HAL_OK)</a:t>
            </a:r>
          </a:p>
          <a:p>
            <a:pPr>
              <a:lnSpc>
                <a:spcPts val="1187"/>
              </a:lnSpc>
              <a:spcBef>
                <a:spcPts val="0"/>
              </a:spcBef>
              <a:spcAft>
                <a:spcPts val="100"/>
              </a:spcAft>
              <a:defRPr sz="950">
                <a:solidFill>
                  <a:srgbClr val="ABB2BF"/>
                </a:solidFill>
                <a:latin typeface="Consolas"/>
              </a:defRPr>
            </a:pPr>
            <a:r>
              <a:t>    {</a:t>
            </a:r>
          </a:p>
          <a:p>
            <a:pPr>
              <a:lnSpc>
                <a:spcPts val="1187"/>
              </a:lnSpc>
              <a:spcBef>
                <a:spcPts val="0"/>
              </a:spcBef>
              <a:spcAft>
                <a:spcPts val="100"/>
              </a:spcAft>
              <a:defRPr sz="950">
                <a:solidFill>
                  <a:srgbClr val="ABB2BF"/>
                </a:solidFill>
                <a:latin typeface="Consolas"/>
              </a:defRPr>
            </a:pPr>
            <a:r>
              <a:t>        sum_offset += (float)</a:t>
            </a:r>
          </a:p>
          <a:p>
            <a:pPr>
              <a:lnSpc>
                <a:spcPts val="1187"/>
              </a:lnSpc>
              <a:spcBef>
                <a:spcPts val="0"/>
              </a:spcBef>
              <a:spcAft>
                <a:spcPts val="100"/>
              </a:spcAft>
              <a:defRPr sz="950">
                <a:solidFill>
                  <a:srgbClr val="ABB2BF"/>
                </a:solidFill>
                <a:latin typeface="Consolas"/>
              </a:defRPr>
            </a:pPr>
            <a:r>
              <a:t>            HAL_ADCEx_InjectedGetValue(</a:t>
            </a:r>
          </a:p>
          <a:p>
            <a:pPr>
              <a:lnSpc>
                <a:spcPts val="1187"/>
              </a:lnSpc>
              <a:spcBef>
                <a:spcPts val="0"/>
              </a:spcBef>
              <a:spcAft>
                <a:spcPts val="100"/>
              </a:spcAft>
              <a:defRPr sz="950">
                <a:solidFill>
                  <a:srgbClr val="ABB2BF"/>
                </a:solidFill>
                <a:latin typeface="Consolas"/>
              </a:defRPr>
            </a:pPr>
            <a:r>
              <a:t>                &amp;hadc1, ADC_INJECTED_RANK_1);</a:t>
            </a:r>
          </a:p>
          <a:p>
            <a:pPr>
              <a:lnSpc>
                <a:spcPts val="1187"/>
              </a:lnSpc>
              <a:spcBef>
                <a:spcPts val="0"/>
              </a:spcBef>
              <a:spcAft>
                <a:spcPts val="100"/>
              </a:spcAft>
              <a:defRPr sz="950">
                <a:solidFill>
                  <a:srgbClr val="ABB2BF"/>
                </a:solidFill>
                <a:latin typeface="Consolas"/>
              </a:defRPr>
            </a:pPr>
            <a:r>
              <a:t>        calibrate_count++;</a:t>
            </a:r>
          </a:p>
          <a:p>
            <a:pPr>
              <a:lnSpc>
                <a:spcPts val="1187"/>
              </a:lnSpc>
              <a:spcBef>
                <a:spcPts val="0"/>
              </a:spcBef>
              <a:spcAft>
                <a:spcPts val="100"/>
              </a:spcAft>
              <a:defRPr sz="950">
                <a:solidFill>
                  <a:srgbClr val="ABB2BF"/>
                </a:solidFill>
                <a:latin typeface="Consolas"/>
              </a:defRPr>
            </a:pPr>
            <a:r>
              <a:t>    }</a:t>
            </a:r>
          </a:p>
          <a:p>
            <a:pPr>
              <a:lnSpc>
                <a:spcPts val="1187"/>
              </a:lnSpc>
              <a:spcBef>
                <a:spcPts val="0"/>
              </a:spcBef>
              <a:spcAft>
                <a:spcPts val="100"/>
              </a:spcAft>
              <a:defRPr sz="950">
                <a:solidFill>
                  <a:srgbClr val="ABB2BF"/>
                </a:solidFill>
                <a:latin typeface="Consolas"/>
              </a:defRPr>
            </a:pPr>
            <a:r>
              <a:t>    HAL_ADCEx_InjectedStop(&amp;hadc1);</a:t>
            </a:r>
          </a:p>
          <a:p>
            <a:pPr>
              <a:lnSpc>
                <a:spcPts val="1187"/>
              </a:lnSpc>
              <a:spcBef>
                <a:spcPts val="0"/>
              </a:spcBef>
              <a:spcAft>
                <a:spcPts val="100"/>
              </a:spcAft>
              <a:defRPr sz="950">
                <a:solidFill>
                  <a:srgbClr val="ABB2BF"/>
                </a:solidFill>
                <a:latin typeface="Consolas"/>
              </a:defRPr>
            </a:pPr>
            <a:r>
              <a:t>}</a:t>
            </a:r>
          </a:p>
          <a:p>
            <a:pPr>
              <a:lnSpc>
                <a:spcPts val="1187"/>
              </a:lnSpc>
              <a:spcBef>
                <a:spcPts val="0"/>
              </a:spcBef>
              <a:spcAft>
                <a:spcPts val="100"/>
              </a:spcAft>
              <a:defRPr sz="950">
                <a:solidFill>
                  <a:srgbClr val="ABB2BF"/>
                </a:solidFill>
                <a:latin typeface="Consolas"/>
              </a:defRPr>
            </a:pPr>
            <a:r>
              <a:t>current_offset_adc = sum_offset / 100;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1206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400"/>
              </a:spcAft>
              <a:defRPr sz="1400" b="1">
                <a:solidFill>
                  <a:srgbClr val="00838F"/>
                </a:solidFill>
                <a:latin typeface="Noto Sans SC"/>
              </a:defRPr>
            </a:pPr>
            <a:r>
              <a:t>三种校准时机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457200" y="5486400"/>
          <a:ext cx="1124712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00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Noto Sans SC"/>
                        </a:defRPr>
                      </a:pPr>
                      <a:r>
                        <a:t>时机</a:t>
                      </a:r>
                    </a:p>
                  </a:txBody>
                  <a:tcPr>
                    <a:solidFill>
                      <a:srgbClr val="00838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Noto Sans SC"/>
                        </a:defRPr>
                      </a:pPr>
                      <a:r>
                        <a:t>触发方式</a:t>
                      </a:r>
                    </a:p>
                  </a:txBody>
                  <a:tcPr>
                    <a:solidFill>
                      <a:srgbClr val="00838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Noto Sans SC"/>
                        </a:defRPr>
                      </a:pPr>
                      <a:r>
                        <a:t>说明</a:t>
                      </a:r>
                    </a:p>
                  </a:txBody>
                  <a:tcPr>
                    <a:solidFill>
                      <a:srgbClr val="00838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Noto Sans SC"/>
                        </a:defRPr>
                      </a:pPr>
                      <a:r>
                        <a:t>上电自动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Noto Sans SC"/>
                        </a:defRPr>
                      </a:pPr>
                      <a:r>
                        <a:t>Init() 内调用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Noto Sans SC"/>
                        </a:defRPr>
                      </a:pPr>
                      <a:r>
                        <a:t>main.c: BSP_CurrentSensor_Init() 内部自动校准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Noto Sans SC"/>
                        </a:defRPr>
                      </a:pPr>
                      <a:r>
                        <a:t>KEY1 停机校准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Noto Sans SC"/>
                        </a:defRPr>
                      </a:pPr>
                      <a:r>
                        <a:t>按键回调中调用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Noto Sans SC"/>
                        </a:defRPr>
                      </a:pPr>
                      <a:r>
                        <a:t>电机停转→SetSpeed(0)+Enable→校准→Disable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Noto Sans SC"/>
                        </a:defRPr>
                      </a:pPr>
                      <a:r>
                        <a:t>KEY2 在线校准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Noto Sans SC"/>
                        </a:defRPr>
                      </a:pPr>
                      <a:r>
                        <a:rPr dirty="0" err="1"/>
                        <a:t>按键回调中调用</a:t>
                      </a:r>
                      <a:endParaRPr dirty="0"/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Noto Sans SC"/>
                        </a:defRPr>
                      </a:pPr>
                      <a:r>
                        <a:rPr dirty="0" err="1"/>
                        <a:t>临时SetSpeed</a:t>
                      </a:r>
                      <a:r>
                        <a:rPr dirty="0"/>
                        <a:t>(0)+</a:t>
                      </a:r>
                      <a:r>
                        <a:rPr dirty="0" err="1"/>
                        <a:t>Enable→校准→恢复原状态</a:t>
                      </a:r>
                      <a:endParaRPr dirty="0"/>
                    </a:p>
                  </a:txBody>
                  <a:tcPr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22960"/>
          </a:xfrm>
          <a:prstGeom prst="rect">
            <a:avLst/>
          </a:prstGeom>
          <a:solidFill>
            <a:srgbClr val="0083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Noto Sans SC"/>
              </a:defRPr>
            </a:pPr>
            <a:r>
              <a:t>电流计算 · 滤波 · 方向符号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CEEEE"/>
                </a:solidFill>
                <a:latin typeface="Noto Sans SC"/>
              </a:defRPr>
            </a:pPr>
            <a:r>
              <a:t>Update() + GetCurrent() — bsp_current_sensor.c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5156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400"/>
              </a:spcAft>
              <a:defRPr sz="1400" b="1">
                <a:solidFill>
                  <a:srgbClr val="00838F"/>
                </a:solidFill>
                <a:latin typeface="Noto Sans SC"/>
              </a:defRPr>
            </a:pPr>
            <a:r>
              <a:t>Update() — 中断回调中调用 (~10kHz)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63040"/>
            <a:ext cx="5303520" cy="2926080"/>
          </a:xfrm>
          <a:prstGeom prst="rect">
            <a:avLst/>
          </a:prstGeom>
          <a:solidFill>
            <a:srgbClr val="282C34"/>
          </a:solidFill>
          <a:ln w="12700">
            <a:solidFill>
              <a:srgbClr val="3E4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1536192"/>
            <a:ext cx="5029200" cy="2779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250"/>
              </a:lnSpc>
              <a:spcBef>
                <a:spcPts val="0"/>
              </a:spcBef>
              <a:spcAft>
                <a:spcPts val="100"/>
              </a:spcAft>
              <a:defRPr sz="1000">
                <a:solidFill>
                  <a:srgbClr val="ABB2BF"/>
                </a:solidFill>
                <a:latin typeface="Consolas"/>
              </a:defRPr>
            </a:pPr>
            <a:r>
              <a:rPr dirty="0"/>
              <a:t>void </a:t>
            </a:r>
            <a:r>
              <a:rPr dirty="0" err="1"/>
              <a:t>BSP_CurrentSensor_Update</a:t>
            </a:r>
            <a:r>
              <a:rPr dirty="0"/>
              <a:t>(void)</a:t>
            </a:r>
          </a:p>
          <a:p>
            <a:pPr>
              <a:lnSpc>
                <a:spcPts val="1250"/>
              </a:lnSpc>
              <a:spcBef>
                <a:spcPts val="0"/>
              </a:spcBef>
              <a:spcAft>
                <a:spcPts val="100"/>
              </a:spcAft>
              <a:defRPr sz="1000">
                <a:solidFill>
                  <a:srgbClr val="ABB2BF"/>
                </a:solidFill>
                <a:latin typeface="Consolas"/>
              </a:defRPr>
            </a:pPr>
            <a:r>
              <a:rPr dirty="0"/>
              <a:t>{</a:t>
            </a:r>
          </a:p>
          <a:p>
            <a:pPr>
              <a:lnSpc>
                <a:spcPts val="1250"/>
              </a:lnSpc>
              <a:spcBef>
                <a:spcPts val="0"/>
              </a:spcBef>
              <a:spcAft>
                <a:spcPts val="100"/>
              </a:spcAft>
              <a:defRPr sz="1000">
                <a:solidFill>
                  <a:srgbClr val="ABB2BF"/>
                </a:solidFill>
                <a:latin typeface="Consolas"/>
              </a:defRPr>
            </a:pPr>
            <a:r>
              <a:rPr dirty="0"/>
              <a:t>    // ① </a:t>
            </a:r>
            <a:r>
              <a:rPr dirty="0" err="1"/>
              <a:t>减去零漂，得到带符号ADC偏差</a:t>
            </a:r>
            <a:endParaRPr dirty="0"/>
          </a:p>
          <a:p>
            <a:pPr>
              <a:lnSpc>
                <a:spcPts val="1250"/>
              </a:lnSpc>
              <a:spcBef>
                <a:spcPts val="0"/>
              </a:spcBef>
              <a:spcAft>
                <a:spcPts val="100"/>
              </a:spcAft>
              <a:defRPr sz="1000">
                <a:solidFill>
                  <a:srgbClr val="ABB2BF"/>
                </a:solidFill>
                <a:latin typeface="Consolas"/>
              </a:defRPr>
            </a:pPr>
            <a:r>
              <a:rPr dirty="0"/>
              <a:t>    </a:t>
            </a:r>
            <a:r>
              <a:rPr dirty="0" err="1"/>
              <a:t>adc_raw</a:t>
            </a:r>
            <a:r>
              <a:rPr dirty="0"/>
              <a:t> = (float)</a:t>
            </a:r>
            <a:r>
              <a:rPr dirty="0" err="1"/>
              <a:t>adc_injected_data</a:t>
            </a:r>
            <a:endParaRPr dirty="0"/>
          </a:p>
          <a:p>
            <a:pPr>
              <a:lnSpc>
                <a:spcPts val="1250"/>
              </a:lnSpc>
              <a:spcBef>
                <a:spcPts val="0"/>
              </a:spcBef>
              <a:spcAft>
                <a:spcPts val="100"/>
              </a:spcAft>
              <a:defRPr sz="1000">
                <a:solidFill>
                  <a:srgbClr val="ABB2BF"/>
                </a:solidFill>
                <a:latin typeface="Consolas"/>
              </a:defRPr>
            </a:pPr>
            <a:r>
              <a:rPr dirty="0"/>
              <a:t>            - </a:t>
            </a:r>
            <a:r>
              <a:rPr dirty="0" err="1"/>
              <a:t>current_offset_adc</a:t>
            </a:r>
            <a:r>
              <a:rPr dirty="0"/>
              <a:t>;</a:t>
            </a:r>
          </a:p>
          <a:p>
            <a:pPr>
              <a:lnSpc>
                <a:spcPts val="1250"/>
              </a:lnSpc>
              <a:spcBef>
                <a:spcPts val="0"/>
              </a:spcBef>
              <a:spcAft>
                <a:spcPts val="100"/>
              </a:spcAft>
              <a:defRPr sz="1000">
                <a:solidFill>
                  <a:srgbClr val="ABB2BF"/>
                </a:solidFill>
                <a:latin typeface="Consolas"/>
              </a:defRPr>
            </a:pPr>
            <a:endParaRPr dirty="0"/>
          </a:p>
          <a:p>
            <a:pPr>
              <a:lnSpc>
                <a:spcPts val="1250"/>
              </a:lnSpc>
              <a:spcBef>
                <a:spcPts val="0"/>
              </a:spcBef>
              <a:spcAft>
                <a:spcPts val="100"/>
              </a:spcAft>
              <a:defRPr sz="1000">
                <a:solidFill>
                  <a:srgbClr val="ABB2BF"/>
                </a:solidFill>
                <a:latin typeface="Consolas"/>
              </a:defRPr>
            </a:pPr>
            <a:r>
              <a:rPr dirty="0"/>
              <a:t>    // ② </a:t>
            </a:r>
            <a:r>
              <a:rPr dirty="0" err="1"/>
              <a:t>转为电流值</a:t>
            </a:r>
            <a:r>
              <a:rPr dirty="0"/>
              <a:t> (mA)</a:t>
            </a:r>
          </a:p>
          <a:p>
            <a:pPr>
              <a:lnSpc>
                <a:spcPts val="1250"/>
              </a:lnSpc>
              <a:spcBef>
                <a:spcPts val="0"/>
              </a:spcBef>
              <a:spcAft>
                <a:spcPts val="100"/>
              </a:spcAft>
              <a:defRPr sz="1000">
                <a:solidFill>
                  <a:srgbClr val="ABB2BF"/>
                </a:solidFill>
                <a:latin typeface="Consolas"/>
              </a:defRPr>
            </a:pPr>
            <a:r>
              <a:rPr dirty="0"/>
              <a:t>    </a:t>
            </a:r>
            <a:r>
              <a:rPr dirty="0" err="1"/>
              <a:t>current_mA_temp</a:t>
            </a:r>
            <a:r>
              <a:rPr dirty="0"/>
              <a:t> = </a:t>
            </a:r>
            <a:r>
              <a:rPr dirty="0" err="1"/>
              <a:t>adc_raw</a:t>
            </a:r>
            <a:endParaRPr dirty="0"/>
          </a:p>
          <a:p>
            <a:pPr>
              <a:lnSpc>
                <a:spcPts val="1250"/>
              </a:lnSpc>
              <a:spcBef>
                <a:spcPts val="0"/>
              </a:spcBef>
              <a:spcAft>
                <a:spcPts val="100"/>
              </a:spcAft>
              <a:defRPr sz="1000">
                <a:solidFill>
                  <a:srgbClr val="ABB2BF"/>
                </a:solidFill>
                <a:latin typeface="Consolas"/>
              </a:defRPr>
            </a:pPr>
            <a:r>
              <a:rPr dirty="0"/>
              <a:t>                    * ADC_TO_MA_FACTOR;</a:t>
            </a:r>
          </a:p>
          <a:p>
            <a:pPr>
              <a:lnSpc>
                <a:spcPts val="1250"/>
              </a:lnSpc>
              <a:spcBef>
                <a:spcPts val="0"/>
              </a:spcBef>
              <a:spcAft>
                <a:spcPts val="100"/>
              </a:spcAft>
              <a:defRPr sz="1000">
                <a:solidFill>
                  <a:srgbClr val="ABB2BF"/>
                </a:solidFill>
                <a:latin typeface="Consolas"/>
              </a:defRPr>
            </a:pPr>
            <a:endParaRPr dirty="0"/>
          </a:p>
          <a:p>
            <a:pPr>
              <a:lnSpc>
                <a:spcPts val="1250"/>
              </a:lnSpc>
              <a:spcBef>
                <a:spcPts val="0"/>
              </a:spcBef>
              <a:spcAft>
                <a:spcPts val="100"/>
              </a:spcAft>
              <a:defRPr sz="1000">
                <a:solidFill>
                  <a:srgbClr val="ABB2BF"/>
                </a:solidFill>
                <a:latin typeface="Consolas"/>
              </a:defRPr>
            </a:pPr>
            <a:r>
              <a:rPr dirty="0"/>
              <a:t>    // ③ </a:t>
            </a:r>
            <a:r>
              <a:rPr dirty="0" err="1"/>
              <a:t>一阶低通滤波</a:t>
            </a:r>
            <a:r>
              <a:rPr dirty="0"/>
              <a:t> (α = 0.1)</a:t>
            </a:r>
          </a:p>
          <a:p>
            <a:pPr>
              <a:lnSpc>
                <a:spcPts val="1250"/>
              </a:lnSpc>
              <a:spcBef>
                <a:spcPts val="0"/>
              </a:spcBef>
              <a:spcAft>
                <a:spcPts val="100"/>
              </a:spcAft>
              <a:defRPr sz="1000">
                <a:solidFill>
                  <a:srgbClr val="ABB2BF"/>
                </a:solidFill>
                <a:latin typeface="Consolas"/>
              </a:defRPr>
            </a:pPr>
            <a:r>
              <a:rPr dirty="0"/>
              <a:t>    </a:t>
            </a:r>
            <a:r>
              <a:rPr dirty="0" err="1"/>
              <a:t>current_mA</a:t>
            </a:r>
            <a:r>
              <a:rPr dirty="0"/>
              <a:t> = 0.1f * </a:t>
            </a:r>
            <a:r>
              <a:rPr dirty="0" err="1"/>
              <a:t>current_mA_temp</a:t>
            </a:r>
            <a:endParaRPr dirty="0"/>
          </a:p>
          <a:p>
            <a:pPr>
              <a:lnSpc>
                <a:spcPts val="1250"/>
              </a:lnSpc>
              <a:spcBef>
                <a:spcPts val="0"/>
              </a:spcBef>
              <a:spcAft>
                <a:spcPts val="100"/>
              </a:spcAft>
              <a:defRPr sz="1000">
                <a:solidFill>
                  <a:srgbClr val="ABB2BF"/>
                </a:solidFill>
                <a:latin typeface="Consolas"/>
              </a:defRPr>
            </a:pPr>
            <a:r>
              <a:rPr dirty="0"/>
              <a:t>               + 0.9f * </a:t>
            </a:r>
            <a:r>
              <a:rPr dirty="0" err="1"/>
              <a:t>current_mA_prev</a:t>
            </a:r>
            <a:r>
              <a:rPr dirty="0"/>
              <a:t>;</a:t>
            </a:r>
          </a:p>
          <a:p>
            <a:pPr>
              <a:lnSpc>
                <a:spcPts val="1250"/>
              </a:lnSpc>
              <a:spcBef>
                <a:spcPts val="0"/>
              </a:spcBef>
              <a:spcAft>
                <a:spcPts val="100"/>
              </a:spcAft>
              <a:defRPr sz="1000">
                <a:solidFill>
                  <a:srgbClr val="ABB2BF"/>
                </a:solidFill>
                <a:latin typeface="Consolas"/>
              </a:defRPr>
            </a:pPr>
            <a:r>
              <a:rPr dirty="0"/>
              <a:t>    </a:t>
            </a:r>
            <a:r>
              <a:rPr dirty="0" err="1"/>
              <a:t>current_mA_prev</a:t>
            </a:r>
            <a:r>
              <a:rPr dirty="0"/>
              <a:t> = </a:t>
            </a:r>
            <a:r>
              <a:rPr dirty="0" err="1"/>
              <a:t>current_mA</a:t>
            </a:r>
            <a:r>
              <a:rPr dirty="0"/>
              <a:t>;</a:t>
            </a:r>
          </a:p>
          <a:p>
            <a:pPr>
              <a:lnSpc>
                <a:spcPts val="1250"/>
              </a:lnSpc>
              <a:spcBef>
                <a:spcPts val="0"/>
              </a:spcBef>
              <a:spcAft>
                <a:spcPts val="100"/>
              </a:spcAft>
              <a:defRPr sz="1000">
                <a:solidFill>
                  <a:srgbClr val="ABB2BF"/>
                </a:solidFill>
                <a:latin typeface="Consolas"/>
              </a:defRPr>
            </a:pPr>
            <a:r>
              <a:rPr dirty="0"/>
              <a:t>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05156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400"/>
              </a:spcAft>
              <a:defRPr sz="1400" b="1">
                <a:solidFill>
                  <a:srgbClr val="00838F"/>
                </a:solidFill>
                <a:latin typeface="Noto Sans SC"/>
              </a:defRPr>
            </a:pPr>
            <a:r>
              <a:t>GetCurrent() — 带方向输出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463040"/>
            <a:ext cx="5029200" cy="1645920"/>
          </a:xfrm>
          <a:prstGeom prst="rect">
            <a:avLst/>
          </a:prstGeom>
          <a:solidFill>
            <a:srgbClr val="282C34"/>
          </a:solidFill>
          <a:ln w="12700">
            <a:solidFill>
              <a:srgbClr val="3E4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355080" y="1536192"/>
            <a:ext cx="4754880" cy="1499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250"/>
              </a:lnSpc>
              <a:spcBef>
                <a:spcPts val="0"/>
              </a:spcBef>
              <a:spcAft>
                <a:spcPts val="100"/>
              </a:spcAft>
              <a:defRPr sz="1000">
                <a:solidFill>
                  <a:srgbClr val="ABB2BF"/>
                </a:solidFill>
                <a:latin typeface="Consolas"/>
              </a:defRPr>
            </a:pPr>
            <a:r>
              <a:rPr dirty="0"/>
              <a:t>float </a:t>
            </a:r>
            <a:r>
              <a:rPr dirty="0" err="1"/>
              <a:t>BSP_CurrentSensor_GetCurrent</a:t>
            </a:r>
            <a:r>
              <a:rPr dirty="0"/>
              <a:t>(void)</a:t>
            </a:r>
          </a:p>
          <a:p>
            <a:pPr>
              <a:lnSpc>
                <a:spcPts val="1250"/>
              </a:lnSpc>
              <a:spcBef>
                <a:spcPts val="0"/>
              </a:spcBef>
              <a:spcAft>
                <a:spcPts val="100"/>
              </a:spcAft>
              <a:defRPr sz="1000">
                <a:solidFill>
                  <a:srgbClr val="ABB2BF"/>
                </a:solidFill>
                <a:latin typeface="Consolas"/>
              </a:defRPr>
            </a:pPr>
            <a:r>
              <a:rPr dirty="0"/>
              <a:t>{</a:t>
            </a:r>
          </a:p>
          <a:p>
            <a:pPr>
              <a:lnSpc>
                <a:spcPts val="1250"/>
              </a:lnSpc>
              <a:spcBef>
                <a:spcPts val="0"/>
              </a:spcBef>
              <a:spcAft>
                <a:spcPts val="100"/>
              </a:spcAft>
              <a:defRPr sz="1000">
                <a:solidFill>
                  <a:srgbClr val="ABB2BF"/>
                </a:solidFill>
                <a:latin typeface="Consolas"/>
              </a:defRPr>
            </a:pPr>
            <a:r>
              <a:rPr dirty="0"/>
              <a:t>    extern int8_t </a:t>
            </a:r>
            <a:r>
              <a:rPr dirty="0" err="1"/>
              <a:t>g_motor_current_direction</a:t>
            </a:r>
            <a:r>
              <a:rPr dirty="0"/>
              <a:t>;</a:t>
            </a:r>
          </a:p>
          <a:p>
            <a:pPr>
              <a:lnSpc>
                <a:spcPts val="1250"/>
              </a:lnSpc>
              <a:spcBef>
                <a:spcPts val="0"/>
              </a:spcBef>
              <a:spcAft>
                <a:spcPts val="100"/>
              </a:spcAft>
              <a:defRPr sz="1000">
                <a:solidFill>
                  <a:srgbClr val="ABB2BF"/>
                </a:solidFill>
                <a:latin typeface="Consolas"/>
              </a:defRPr>
            </a:pPr>
            <a:r>
              <a:rPr dirty="0"/>
              <a:t>    //  ±1，由 </a:t>
            </a:r>
            <a:r>
              <a:rPr dirty="0" err="1"/>
              <a:t>bsp_brush_motor</a:t>
            </a:r>
            <a:r>
              <a:rPr dirty="0"/>
              <a:t> </a:t>
            </a:r>
            <a:r>
              <a:rPr dirty="0" err="1"/>
              <a:t>维护</a:t>
            </a:r>
            <a:endParaRPr dirty="0"/>
          </a:p>
          <a:p>
            <a:pPr>
              <a:lnSpc>
                <a:spcPts val="1250"/>
              </a:lnSpc>
              <a:spcBef>
                <a:spcPts val="0"/>
              </a:spcBef>
              <a:spcAft>
                <a:spcPts val="100"/>
              </a:spcAft>
              <a:defRPr sz="1000">
                <a:solidFill>
                  <a:srgbClr val="ABB2BF"/>
                </a:solidFill>
                <a:latin typeface="Consolas"/>
              </a:defRPr>
            </a:pPr>
            <a:r>
              <a:rPr dirty="0"/>
              <a:t>    return </a:t>
            </a:r>
            <a:r>
              <a:rPr dirty="0" err="1"/>
              <a:t>current_mA</a:t>
            </a:r>
            <a:endParaRPr dirty="0"/>
          </a:p>
          <a:p>
            <a:pPr>
              <a:lnSpc>
                <a:spcPts val="1250"/>
              </a:lnSpc>
              <a:spcBef>
                <a:spcPts val="0"/>
              </a:spcBef>
              <a:spcAft>
                <a:spcPts val="100"/>
              </a:spcAft>
              <a:defRPr sz="1000">
                <a:solidFill>
                  <a:srgbClr val="ABB2BF"/>
                </a:solidFill>
                <a:latin typeface="Consolas"/>
              </a:defRPr>
            </a:pPr>
            <a:r>
              <a:rPr dirty="0"/>
              <a:t>         * </a:t>
            </a:r>
            <a:r>
              <a:rPr dirty="0" err="1"/>
              <a:t>g_motor_current_direction</a:t>
            </a:r>
            <a:r>
              <a:rPr dirty="0"/>
              <a:t>;</a:t>
            </a:r>
          </a:p>
          <a:p>
            <a:pPr>
              <a:lnSpc>
                <a:spcPts val="1250"/>
              </a:lnSpc>
              <a:spcBef>
                <a:spcPts val="0"/>
              </a:spcBef>
              <a:spcAft>
                <a:spcPts val="100"/>
              </a:spcAft>
              <a:defRPr sz="1000">
                <a:solidFill>
                  <a:srgbClr val="ABB2BF"/>
                </a:solidFill>
                <a:latin typeface="Consolas"/>
              </a:defRPr>
            </a:pPr>
            <a:r>
              <a:rPr dirty="0"/>
              <a:t>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80760" y="3363665"/>
            <a:ext cx="2887749" cy="298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400"/>
              </a:spcAft>
              <a:defRPr sz="1400" b="1">
                <a:solidFill>
                  <a:srgbClr val="00838F"/>
                </a:solidFill>
                <a:latin typeface="Noto Sans SC"/>
              </a:defRPr>
            </a:pPr>
            <a:r>
              <a:rPr dirty="0" err="1"/>
              <a:t>关键常量</a:t>
            </a:r>
            <a:endParaRPr dirty="0"/>
          </a:p>
        </p:txBody>
      </p:sp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2629377"/>
              </p:ext>
            </p:extLst>
          </p:nvPr>
        </p:nvGraphicFramePr>
        <p:xfrm>
          <a:off x="6134797" y="3703320"/>
          <a:ext cx="3517203" cy="1752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199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Noto Sans SC"/>
                        </a:defRPr>
                      </a:pPr>
                      <a:r>
                        <a:t>常量</a:t>
                      </a:r>
                    </a:p>
                  </a:txBody>
                  <a:tcPr>
                    <a:solidFill>
                      <a:srgbClr val="00838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Noto Sans SC"/>
                        </a:defRPr>
                      </a:pPr>
                      <a:r>
                        <a:t>值 / 公式</a:t>
                      </a:r>
                    </a:p>
                  </a:txBody>
                  <a:tcPr>
                    <a:solidFill>
                      <a:srgbClr val="00838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Noto Sans SC"/>
                        </a:defRPr>
                      </a:pPr>
                      <a:r>
                        <a:t>ADC_TO_MA_FACTOR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Noto Sans SC"/>
                        </a:defRPr>
                      </a:pPr>
                      <a:endParaRPr dirty="0"/>
                    </a:p>
                  </a:txBody>
                  <a:tcPr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Noto Sans SC"/>
                        </a:defRPr>
                      </a:pPr>
                      <a:r>
                        <a:t>CURRENT_LOWPASS_ALPHA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Noto Sans SC"/>
                        </a:defRPr>
                      </a:pPr>
                      <a:r>
                        <a:rPr dirty="0"/>
                        <a:t>0.1 (α, </a:t>
                      </a:r>
                      <a:r>
                        <a:rPr dirty="0" err="1"/>
                        <a:t>越小滤波越强</a:t>
                      </a:r>
                      <a:r>
                        <a:rPr dirty="0"/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Noto Sans SC"/>
                        </a:defRPr>
                      </a:pPr>
                      <a:r>
                        <a:t>滤波截止频率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Noto Sans SC"/>
                        </a:defRPr>
                      </a:pPr>
                      <a:r>
                        <a:t>α×fs/2π ≈ 159 Hz (fs=10kHz)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Noto Sans SC"/>
                        </a:defRPr>
                      </a:pPr>
                      <a:r>
                        <a:t>滤波公式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Noto Sans SC"/>
                        </a:defRPr>
                      </a:pPr>
                      <a:r>
                        <a:rPr dirty="0"/>
                        <a:t>I = 0.1·I_new + 0.9·I_old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457200" y="46634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400"/>
              </a:spcAft>
              <a:defRPr sz="1400" b="1">
                <a:solidFill>
                  <a:srgbClr val="00838F"/>
                </a:solidFill>
                <a:latin typeface="Noto Sans SC"/>
              </a:defRPr>
            </a:pPr>
            <a:r>
              <a:t>数据流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" y="4983480"/>
            <a:ext cx="5997637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150"/>
              </a:lnSpc>
              <a:spcBef>
                <a:spcPts val="0"/>
              </a:spcBef>
              <a:spcAft>
                <a:spcPts val="100"/>
              </a:spcAft>
              <a:defRPr sz="1000">
                <a:solidFill>
                  <a:srgbClr val="333333"/>
                </a:solidFill>
                <a:latin typeface="Noto Sans SC"/>
              </a:defRPr>
            </a:pPr>
            <a:r>
              <a:rPr dirty="0" err="1"/>
              <a:t>adc_injected_data</a:t>
            </a:r>
            <a:r>
              <a:rPr dirty="0"/>
              <a:t> → </a:t>
            </a:r>
            <a:r>
              <a:rPr dirty="0" err="1"/>
              <a:t>减零漂</a:t>
            </a:r>
            <a:r>
              <a:rPr dirty="0"/>
              <a:t>(offset) → ×6.714(</a:t>
            </a:r>
            <a:r>
              <a:rPr dirty="0" err="1"/>
              <a:t>转mA</a:t>
            </a:r>
            <a:r>
              <a:rPr dirty="0"/>
              <a:t>) → </a:t>
            </a:r>
            <a:r>
              <a:rPr dirty="0" err="1"/>
              <a:t>一阶滤波</a:t>
            </a:r>
            <a:r>
              <a:rPr dirty="0"/>
              <a:t>(α=0.1) → ×</a:t>
            </a:r>
            <a:r>
              <a:rPr dirty="0" err="1"/>
              <a:t>方向</a:t>
            </a:r>
            <a:r>
              <a:rPr dirty="0"/>
              <a:t>(±1) → </a:t>
            </a:r>
            <a:r>
              <a:rPr dirty="0" err="1"/>
              <a:t>返回值</a:t>
            </a:r>
            <a:r>
              <a:rPr dirty="0"/>
              <a:t>(mA)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4406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400"/>
              </a:spcAft>
              <a:defRPr sz="1400" b="1">
                <a:solidFill>
                  <a:srgbClr val="00838F"/>
                </a:solidFill>
                <a:latin typeface="Noto Sans SC"/>
              </a:defRPr>
            </a:pPr>
            <a:r>
              <a:t>方向符号处理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457200" y="5760720"/>
          <a:ext cx="11247120" cy="9601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46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0039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Noto Sans SC"/>
                        </a:defRPr>
                      </a:pPr>
                      <a:r>
                        <a:t>变量</a:t>
                      </a:r>
                    </a:p>
                  </a:txBody>
                  <a:tcPr>
                    <a:solidFill>
                      <a:srgbClr val="00838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Noto Sans SC"/>
                        </a:defRPr>
                      </a:pPr>
                      <a:r>
                        <a:t>写入者</a:t>
                      </a:r>
                    </a:p>
                  </a:txBody>
                  <a:tcPr>
                    <a:solidFill>
                      <a:srgbClr val="00838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Noto Sans SC"/>
                        </a:defRPr>
                      </a:pPr>
                      <a:r>
                        <a:t>读取者</a:t>
                      </a:r>
                    </a:p>
                  </a:txBody>
                  <a:tcPr>
                    <a:solidFill>
                      <a:srgbClr val="00838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39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Noto Sans SC"/>
                        </a:defRPr>
                      </a:pPr>
                      <a:r>
                        <a:t>g_motor_current_direction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Noto Sans SC"/>
                        </a:defRPr>
                      </a:pPr>
                      <a:r>
                        <a:t>bsp_brush_motor.c SetDirection()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Noto Sans SC"/>
                        </a:defRPr>
                      </a:pPr>
                      <a:r>
                        <a:t>bsp_current_sensor.c GetCurrent()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1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Noto Sans SC"/>
                        </a:defRPr>
                      </a:pPr>
                      <a:r>
                        <a:t>adc_injected_data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Noto Sans SC"/>
                        </a:defRPr>
                      </a:pPr>
                      <a:r>
                        <a:t>adc.c InjectedConvCplt 中断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Noto Sans SC"/>
                        </a:defRPr>
                      </a:pPr>
                      <a:r>
                        <a:rPr dirty="0" err="1"/>
                        <a:t>main.c</a:t>
                      </a:r>
                      <a:r>
                        <a:rPr dirty="0"/>
                        <a:t> + </a:t>
                      </a:r>
                      <a:r>
                        <a:rPr dirty="0" err="1"/>
                        <a:t>bsp_current_sensor.c</a:t>
                      </a: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8" name="文本框 17">
            <a:extLst>
              <a:ext uri="{FF2B5EF4-FFF2-40B4-BE49-F238E27FC236}">
                <a16:creationId xmlns:a16="http://schemas.microsoft.com/office/drawing/2014/main" id="{7AB13501-A53A-59FF-AD5C-C2613010313A}"/>
              </a:ext>
            </a:extLst>
          </p:cNvPr>
          <p:cNvSpPr txBox="1"/>
          <p:nvPr/>
        </p:nvSpPr>
        <p:spPr>
          <a:xfrm>
            <a:off x="9578109" y="3855694"/>
            <a:ext cx="264299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dirty="0"/>
              <a:t>本次采样：权重 0.1</a:t>
            </a:r>
          </a:p>
          <a:p>
            <a:r>
              <a:rPr lang="zh-CN" altLang="en-US" sz="1200" dirty="0"/>
              <a:t>上次采样：权重 0.1 × 0.9 = 0.09</a:t>
            </a:r>
          </a:p>
          <a:p>
            <a:r>
              <a:rPr lang="zh-CN" altLang="en-US" sz="1200" dirty="0"/>
              <a:t>再上次：  权重 0.1 × 0.9² = 0.081</a:t>
            </a:r>
          </a:p>
          <a:p>
            <a:r>
              <a:rPr lang="zh-CN" altLang="en-US" sz="1200" dirty="0"/>
              <a:t>再往前：  权重 0.1 × 0.9³ = 0.073</a:t>
            </a:r>
          </a:p>
          <a:p>
            <a:r>
              <a:rPr lang="zh-CN" altLang="en-US" sz="1200" dirty="0"/>
              <a:t>...</a:t>
            </a:r>
          </a:p>
          <a:p>
            <a:r>
              <a:rPr lang="zh-CN" altLang="en-US" sz="1200" dirty="0"/>
              <a:t>10次前：  权重不到 0.04，几乎遗忘</a:t>
            </a:r>
          </a:p>
        </p:txBody>
      </p:sp>
      <p:sp>
        <p:nvSpPr>
          <p:cNvPr id="19" name="TextBox 10">
            <a:extLst>
              <a:ext uri="{FF2B5EF4-FFF2-40B4-BE49-F238E27FC236}">
                <a16:creationId xmlns:a16="http://schemas.microsoft.com/office/drawing/2014/main" id="{A8E86281-E738-12EB-5307-44A5314AA214}"/>
              </a:ext>
            </a:extLst>
          </p:cNvPr>
          <p:cNvSpPr txBox="1"/>
          <p:nvPr/>
        </p:nvSpPr>
        <p:spPr>
          <a:xfrm>
            <a:off x="9665860" y="3514985"/>
            <a:ext cx="2319713" cy="298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400"/>
              </a:spcAft>
              <a:defRPr sz="1400" b="1">
                <a:solidFill>
                  <a:srgbClr val="00838F"/>
                </a:solidFill>
                <a:latin typeface="Noto Sans SC"/>
              </a:defRPr>
            </a:pPr>
            <a:r>
              <a:rPr lang="zh-CN" altLang="en-US" dirty="0"/>
              <a:t>一阶低通滤波</a:t>
            </a:r>
            <a:endParaRPr dirty="0"/>
          </a:p>
        </p:txBody>
      </p:sp>
      <p:pic>
        <p:nvPicPr>
          <p:cNvPr id="21" name="图片 20">
            <a:extLst>
              <a:ext uri="{FF2B5EF4-FFF2-40B4-BE49-F238E27FC236}">
                <a16:creationId xmlns:a16="http://schemas.microsoft.com/office/drawing/2014/main" id="{E354712F-2B48-1153-5C84-0634210A10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0545" y="4056756"/>
            <a:ext cx="2392218" cy="30019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22960"/>
          </a:xfrm>
          <a:prstGeom prst="rect">
            <a:avLst/>
          </a:prstGeom>
          <a:solidFill>
            <a:srgbClr val="0083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Noto Sans SC"/>
              </a:defRPr>
            </a:pPr>
            <a:r>
              <a:t>电机控制模块 API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CEEEE"/>
                </a:solidFill>
                <a:latin typeface="Noto Sans SC"/>
              </a:defRPr>
            </a:pPr>
            <a:r>
              <a:t>bsp_brush_motor.c — 6个接口函数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097280"/>
          <a:ext cx="11247120" cy="22402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23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0039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Noto Sans SC"/>
                        </a:defRPr>
                      </a:pPr>
                      <a:r>
                        <a:t>函数</a:t>
                      </a:r>
                    </a:p>
                  </a:txBody>
                  <a:tcPr>
                    <a:solidFill>
                      <a:srgbClr val="00838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Noto Sans SC"/>
                        </a:defRPr>
                      </a:pPr>
                      <a:r>
                        <a:t>核心操作</a:t>
                      </a:r>
                    </a:p>
                  </a:txBody>
                  <a:tcPr>
                    <a:solidFill>
                      <a:srgbClr val="00838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Noto Sans SC"/>
                        </a:defRPr>
                      </a:pPr>
                      <a:r>
                        <a:t>PWM状态</a:t>
                      </a:r>
                    </a:p>
                  </a:txBody>
                  <a:tcPr>
                    <a:solidFill>
                      <a:srgbClr val="00838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Noto Sans SC"/>
                        </a:defRPr>
                      </a:pPr>
                      <a:r>
                        <a:t>适用场景</a:t>
                      </a:r>
                    </a:p>
                  </a:txBody>
                  <a:tcPr>
                    <a:solidFill>
                      <a:srgbClr val="00838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39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Noto Sans SC"/>
                        </a:defRPr>
                      </a:pPr>
                      <a:r>
                        <a:t>Init(config)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Noto Sans SC"/>
                        </a:defRPr>
                      </a:pPr>
                      <a:r>
                        <a:t>保存配置 + Stop()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Noto Sans SC"/>
                        </a:defRPr>
                      </a:pPr>
                      <a:r>
                        <a:t>完全停止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Noto Sans SC"/>
                        </a:defRPr>
                      </a:pPr>
                      <a:r>
                        <a:t>上电初始化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39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Noto Sans SC"/>
                        </a:defRPr>
                      </a:pPr>
                      <a:r>
                        <a:t>Enable()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Noto Sans SC"/>
                        </a:defRPr>
                      </a:pPr>
                      <a:r>
                        <a:t>SD = 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Noto Sans SC"/>
                        </a:defRPr>
                      </a:pPr>
                      <a:r>
                        <a:t>不变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Noto Sans SC"/>
                        </a:defRPr>
                      </a:pPr>
                      <a:r>
                        <a:t>使能IR2104驱动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39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Noto Sans SC"/>
                        </a:defRPr>
                      </a:pPr>
                      <a:r>
                        <a:t>Disable()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Noto Sans SC"/>
                        </a:defRPr>
                      </a:pPr>
                      <a:r>
                        <a:t>SD = LOW, CCR = 0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Noto Sans SC"/>
                        </a:defRPr>
                      </a:pPr>
                      <a:r>
                        <a:t>保持运行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Noto Sans SC"/>
                        </a:defRPr>
                      </a:pPr>
                      <a:r>
                        <a:t>运行中临时停机(保留TRGO→ADC)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39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Noto Sans SC"/>
                        </a:defRPr>
                      </a:pPr>
                      <a:r>
                        <a:t>Stop()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Noto Sans SC"/>
                        </a:defRPr>
                      </a:pPr>
                      <a:r>
                        <a:t>SD = LOW + PWM_Stop×2 + CCR=0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Noto Sans SC"/>
                        </a:defRPr>
                      </a:pPr>
                      <a:r>
                        <a:t>完全停止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Noto Sans SC"/>
                        </a:defRPr>
                      </a:pPr>
                      <a:r>
                        <a:t>仅初始化/紧急停止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039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Noto Sans SC"/>
                        </a:defRPr>
                      </a:pPr>
                      <a:r>
                        <a:t>SetSpeed(s%)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Noto Sans SC"/>
                        </a:defRPr>
                      </a:pPr>
                      <a:r>
                        <a:t>CCR = s × 8367 / 100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Noto Sans SC"/>
                        </a:defRPr>
                      </a:pPr>
                      <a:r>
                        <a:t>不变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Noto Sans SC"/>
                        </a:defRPr>
                      </a:pPr>
                      <a:r>
                        <a:t>调速 0~100%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0045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Noto Sans SC"/>
                        </a:defRPr>
                      </a:pPr>
                      <a:r>
                        <a:t>SetDirection(dir)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Noto Sans SC"/>
                        </a:defRPr>
                      </a:pPr>
                      <a:r>
                        <a:t>三步法切换方向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Noto Sans SC"/>
                        </a:defRPr>
                      </a:pPr>
                      <a:r>
                        <a:t>按需启停通道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Noto Sans SC"/>
                        </a:defRPr>
                      </a:pPr>
                      <a:r>
                        <a:t>正转/反转切换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32461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400"/>
              </a:spcAft>
              <a:defRPr sz="1400" b="1">
                <a:solidFill>
                  <a:srgbClr val="E84D3D"/>
                </a:solidFill>
                <a:latin typeface="Noto Sans SC"/>
              </a:defRPr>
            </a:pPr>
            <a:r>
              <a:t>Disable vs Stop 关键区别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566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150"/>
              </a:lnSpc>
              <a:spcBef>
                <a:spcPts val="0"/>
              </a:spcBef>
              <a:spcAft>
                <a:spcPts val="100"/>
              </a:spcAft>
              <a:defRPr sz="1000">
                <a:solidFill>
                  <a:srgbClr val="333333"/>
                </a:solidFill>
                <a:latin typeface="Noto Sans SC"/>
              </a:defRPr>
            </a:pPr>
            <a:r>
              <a:t>Disable(): 只拉低SD + 清零CCR，不停定时器 → TRGO 继续触发 ADC，随时可 Enable 恢复</a:t>
            </a:r>
          </a:p>
          <a:p>
            <a:pPr>
              <a:lnSpc>
                <a:spcPts val="1150"/>
              </a:lnSpc>
              <a:spcBef>
                <a:spcPts val="0"/>
              </a:spcBef>
              <a:spcAft>
                <a:spcPts val="100"/>
              </a:spcAft>
              <a:defRPr sz="1000">
                <a:solidFill>
                  <a:srgbClr val="333333"/>
                </a:solidFill>
                <a:latin typeface="Noto Sans SC"/>
              </a:defRPr>
            </a:pPr>
            <a:r>
              <a:t>Stop():   拉低SD + HAL_TIM_PWM_Stop + HAL_TIMEx_PWMN_Stop → 定时器完全停止，TRGO 中断</a:t>
            </a:r>
          </a:p>
          <a:p>
            <a:pPr>
              <a:lnSpc>
                <a:spcPts val="1150"/>
              </a:lnSpc>
              <a:spcBef>
                <a:spcPts val="0"/>
              </a:spcBef>
              <a:spcAft>
                <a:spcPts val="100"/>
              </a:spcAft>
              <a:defRPr sz="1000">
                <a:solidFill>
                  <a:srgbClr val="333333"/>
                </a:solidFill>
                <a:latin typeface="Noto Sans SC"/>
              </a:defRPr>
            </a:pPr>
            <a:r>
              <a:t>⚠ 运行中暂停请用 Disable()！注释原文："保留TIM运行以保证TRGO→ADC注入触发链不间断"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2976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400"/>
              </a:spcAft>
              <a:defRPr sz="1400" b="1">
                <a:solidFill>
                  <a:srgbClr val="00838F"/>
                </a:solidFill>
                <a:latin typeface="Noto Sans SC"/>
              </a:defRPr>
            </a:pPr>
            <a:r>
              <a:t>方向切换三步法 (SetDirection)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4663440"/>
            <a:ext cx="10972800" cy="1645920"/>
          </a:xfrm>
          <a:prstGeom prst="rect">
            <a:avLst/>
          </a:prstGeom>
          <a:solidFill>
            <a:srgbClr val="282C34"/>
          </a:solidFill>
          <a:ln w="12700">
            <a:solidFill>
              <a:srgbClr val="3E4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94360" y="4736592"/>
            <a:ext cx="10698480" cy="1499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250"/>
              </a:lnSpc>
              <a:spcBef>
                <a:spcPts val="0"/>
              </a:spcBef>
              <a:spcAft>
                <a:spcPts val="100"/>
              </a:spcAft>
              <a:defRPr sz="1000">
                <a:solidFill>
                  <a:srgbClr val="ABB2BF"/>
                </a:solidFill>
                <a:latin typeface="Consolas"/>
              </a:defRPr>
            </a:pPr>
            <a:r>
              <a:t>① HAL_GPIO_WritePin(SD, RESET)    // 拉低SD，安全过渡</a:t>
            </a:r>
          </a:p>
          <a:p>
            <a:pPr>
              <a:lnSpc>
                <a:spcPts val="1250"/>
              </a:lnSpc>
              <a:spcBef>
                <a:spcPts val="0"/>
              </a:spcBef>
              <a:spcAft>
                <a:spcPts val="100"/>
              </a:spcAft>
              <a:defRPr sz="1000">
                <a:solidFill>
                  <a:srgbClr val="ABB2BF"/>
                </a:solidFill>
                <a:latin typeface="Consolas"/>
              </a:defRPr>
            </a:pPr>
            <a:r>
              <a:t>② HAL_TIM_PWM_Stop(CH1)           // 同时停止两路</a:t>
            </a:r>
          </a:p>
          <a:p>
            <a:pPr>
              <a:lnSpc>
                <a:spcPts val="1250"/>
              </a:lnSpc>
              <a:spcBef>
                <a:spcPts val="0"/>
              </a:spcBef>
              <a:spcAft>
                <a:spcPts val="100"/>
              </a:spcAft>
              <a:defRPr sz="1000">
                <a:solidFill>
                  <a:srgbClr val="ABB2BF"/>
                </a:solidFill>
                <a:latin typeface="Consolas"/>
              </a:defRPr>
            </a:pPr>
            <a:r>
              <a:t>   HAL_TIMEx_PWMN_Stop(CH1)       // HAL状态机复位READY</a:t>
            </a:r>
          </a:p>
          <a:p>
            <a:pPr>
              <a:lnSpc>
                <a:spcPts val="1250"/>
              </a:lnSpc>
              <a:spcBef>
                <a:spcPts val="0"/>
              </a:spcBef>
              <a:spcAft>
                <a:spcPts val="100"/>
              </a:spcAft>
              <a:defRPr sz="1000">
                <a:solidFill>
                  <a:srgbClr val="ABB2BF"/>
                </a:solidFill>
                <a:latin typeface="Consolas"/>
              </a:defRPr>
            </a:pPr>
            <a:r>
              <a:t>③ Forward: PWM_Start(CH1)         // 正转→仅CH1输出</a:t>
            </a:r>
          </a:p>
          <a:p>
            <a:pPr>
              <a:lnSpc>
                <a:spcPts val="1250"/>
              </a:lnSpc>
              <a:spcBef>
                <a:spcPts val="0"/>
              </a:spcBef>
              <a:spcAft>
                <a:spcPts val="100"/>
              </a:spcAft>
              <a:defRPr sz="1000">
                <a:solidFill>
                  <a:srgbClr val="ABB2BF"/>
                </a:solidFill>
                <a:latin typeface="Consolas"/>
              </a:defRPr>
            </a:pPr>
            <a:r>
              <a:t>   Reverse: PWMN_Start(CH1N)      // 反转→仅CH1N输出</a:t>
            </a:r>
          </a:p>
          <a:p>
            <a:pPr>
              <a:lnSpc>
                <a:spcPts val="1250"/>
              </a:lnSpc>
              <a:spcBef>
                <a:spcPts val="0"/>
              </a:spcBef>
              <a:spcAft>
                <a:spcPts val="100"/>
              </a:spcAft>
              <a:defRPr sz="1000">
                <a:solidFill>
                  <a:srgbClr val="ABB2BF"/>
                </a:solidFill>
                <a:latin typeface="Consolas"/>
              </a:defRPr>
            </a:pPr>
            <a:r>
              <a:t>   g_motor_current_direction = ±1 // 同步更新方向变量</a:t>
            </a:r>
          </a:p>
          <a:p>
            <a:pPr>
              <a:lnSpc>
                <a:spcPts val="1250"/>
              </a:lnSpc>
              <a:spcBef>
                <a:spcPts val="0"/>
              </a:spcBef>
              <a:spcAft>
                <a:spcPts val="100"/>
              </a:spcAft>
              <a:defRPr sz="1000">
                <a:solidFill>
                  <a:srgbClr val="ABB2BF"/>
                </a:solidFill>
                <a:latin typeface="Consolas"/>
              </a:defRPr>
            </a:pPr>
            <a:r>
              <a:t>   最后: HAL_GPIO_WritePin(SD, SET)  // 拉高SD使能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6400800"/>
            <a:ext cx="11247120" cy="320040"/>
          </a:xfrm>
          <a:prstGeom prst="rect">
            <a:avLst/>
          </a:prstGeom>
          <a:solidFill>
            <a:srgbClr val="FFF3CD"/>
          </a:solidFill>
          <a:ln w="1905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94360" y="6473952"/>
            <a:ext cx="10972800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500"/>
              </a:lnSpc>
              <a:defRPr sz="1100">
                <a:solidFill>
                  <a:srgbClr val="856404"/>
                </a:solidFill>
                <a:latin typeface="Noto Sans SC"/>
              </a:defRPr>
            </a:pPr>
            <a:r>
              <a:rPr dirty="0"/>
              <a:t>⚠ main.</a:t>
            </a:r>
            <a:r>
              <a:rPr dirty="0" err="1"/>
              <a:t>c注释原文</a:t>
            </a:r>
            <a:r>
              <a:rPr dirty="0"/>
              <a:t>："</a:t>
            </a:r>
            <a:r>
              <a:rPr dirty="0" err="1"/>
              <a:t>先设方向（内部Stop→Stop→Start</a:t>
            </a:r>
            <a:r>
              <a:rPr dirty="0"/>
              <a:t>），</a:t>
            </a:r>
            <a:r>
              <a:rPr dirty="0" err="1"/>
              <a:t>再设速度。如果先SetSpeed再SetDirection，SetDirection内部会把CCR清零</a:t>
            </a:r>
            <a:r>
              <a:rPr dirty="0"/>
              <a:t>。"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22960"/>
          </a:xfrm>
          <a:prstGeom prst="rect">
            <a:avLst/>
          </a:prstGeom>
          <a:solidFill>
            <a:srgbClr val="0083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Noto Sans SC"/>
              </a:defRPr>
            </a:pPr>
            <a:r>
              <a:t>主程序控制逻辑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CEEEE"/>
                </a:solidFill>
                <a:latin typeface="Noto Sans SC"/>
              </a:defRPr>
            </a:pPr>
            <a:r>
              <a:t>按键状态机 + main循环 (main.c)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515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Aft>
                <a:spcPts val="400"/>
              </a:spcAft>
              <a:defRPr sz="1600" b="1">
                <a:solidFill>
                  <a:srgbClr val="00838F"/>
                </a:solidFill>
                <a:latin typeface="Noto Sans SC"/>
              </a:defRPr>
            </a:pPr>
            <a:r>
              <a:t>三个按键功能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400"/>
              </a:spcAft>
              <a:defRPr sz="1200" b="1">
                <a:solidFill>
                  <a:srgbClr val="E84D3D"/>
                </a:solidFill>
                <a:latin typeface="Noto Sans SC"/>
              </a:defRPr>
            </a:pPr>
            <a:r>
              <a:t>KEY0 — 启动/调速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737360"/>
            <a:ext cx="3474720" cy="1371600"/>
          </a:xfrm>
          <a:prstGeom prst="rect">
            <a:avLst/>
          </a:prstGeom>
          <a:solidFill>
            <a:srgbClr val="282C34"/>
          </a:solidFill>
          <a:ln w="12700">
            <a:solidFill>
              <a:srgbClr val="3E4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" y="1810512"/>
            <a:ext cx="3200400" cy="1225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187"/>
              </a:lnSpc>
              <a:spcBef>
                <a:spcPts val="0"/>
              </a:spcBef>
              <a:spcAft>
                <a:spcPts val="100"/>
              </a:spcAft>
              <a:defRPr sz="950">
                <a:solidFill>
                  <a:srgbClr val="ABB2BF"/>
                </a:solidFill>
                <a:latin typeface="Consolas"/>
              </a:defRPr>
            </a:pPr>
            <a:r>
              <a:t>duty_percent += duty_step;     // 每次 ±20</a:t>
            </a:r>
          </a:p>
          <a:p>
            <a:pPr>
              <a:lnSpc>
                <a:spcPts val="1187"/>
              </a:lnSpc>
              <a:spcBef>
                <a:spcPts val="0"/>
              </a:spcBef>
              <a:spcAft>
                <a:spcPts val="100"/>
              </a:spcAft>
              <a:defRPr sz="950">
                <a:solidFill>
                  <a:srgbClr val="ABB2BF"/>
                </a:solidFill>
                <a:latin typeface="Consolas"/>
              </a:defRPr>
            </a:pPr>
            <a:r>
              <a:t>if (&gt;= 100) { duty_percent = 100;</a:t>
            </a:r>
          </a:p>
          <a:p>
            <a:pPr>
              <a:lnSpc>
                <a:spcPts val="1187"/>
              </a:lnSpc>
              <a:spcBef>
                <a:spcPts val="0"/>
              </a:spcBef>
              <a:spcAft>
                <a:spcPts val="100"/>
              </a:spcAft>
              <a:defRPr sz="950">
                <a:solidFill>
                  <a:srgbClr val="ABB2BF"/>
                </a:solidFill>
                <a:latin typeface="Consolas"/>
              </a:defRPr>
            </a:pPr>
            <a:r>
              <a:t>              duty_step = -20; }   // 回头</a:t>
            </a:r>
          </a:p>
          <a:p>
            <a:pPr>
              <a:lnSpc>
                <a:spcPts val="1187"/>
              </a:lnSpc>
              <a:spcBef>
                <a:spcPts val="0"/>
              </a:spcBef>
              <a:spcAft>
                <a:spcPts val="100"/>
              </a:spcAft>
              <a:defRPr sz="950">
                <a:solidFill>
                  <a:srgbClr val="ABB2BF"/>
                </a:solidFill>
                <a:latin typeface="Consolas"/>
              </a:defRPr>
            </a:pPr>
            <a:r>
              <a:t>if (&lt;= -100) { duty_percent = -100;</a:t>
            </a:r>
          </a:p>
          <a:p>
            <a:pPr>
              <a:lnSpc>
                <a:spcPts val="1187"/>
              </a:lnSpc>
              <a:spcBef>
                <a:spcPts val="0"/>
              </a:spcBef>
              <a:spcAft>
                <a:spcPts val="100"/>
              </a:spcAft>
              <a:defRPr sz="950">
                <a:solidFill>
                  <a:srgbClr val="ABB2BF"/>
                </a:solidFill>
                <a:latin typeface="Consolas"/>
              </a:defRPr>
            </a:pPr>
            <a:r>
              <a:t>               duty_step = 20; 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6240" y="1463040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400"/>
              </a:spcAft>
              <a:defRPr sz="1200" b="1">
                <a:solidFill>
                  <a:srgbClr val="E84D3D"/>
                </a:solidFill>
                <a:latin typeface="Noto Sans SC"/>
              </a:defRPr>
            </a:pPr>
            <a:r>
              <a:t>KEY1 — 停机+校准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06240" y="1737360"/>
            <a:ext cx="3474720" cy="1371600"/>
          </a:xfrm>
          <a:prstGeom prst="rect">
            <a:avLst/>
          </a:prstGeom>
          <a:solidFill>
            <a:srgbClr val="282C34"/>
          </a:solidFill>
          <a:ln w="12700">
            <a:solidFill>
              <a:srgbClr val="3E4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343400" y="1810512"/>
            <a:ext cx="3200400" cy="1225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187"/>
              </a:lnSpc>
              <a:spcBef>
                <a:spcPts val="0"/>
              </a:spcBef>
              <a:spcAft>
                <a:spcPts val="100"/>
              </a:spcAft>
              <a:defRPr sz="950">
                <a:solidFill>
                  <a:srgbClr val="ABB2BF"/>
                </a:solidFill>
                <a:latin typeface="Consolas"/>
              </a:defRPr>
            </a:pPr>
            <a:r>
              <a:t>duty_percent = 0;</a:t>
            </a:r>
          </a:p>
          <a:p>
            <a:pPr>
              <a:lnSpc>
                <a:spcPts val="1187"/>
              </a:lnSpc>
              <a:spcBef>
                <a:spcPts val="0"/>
              </a:spcBef>
              <a:spcAft>
                <a:spcPts val="100"/>
              </a:spcAft>
              <a:defRPr sz="950">
                <a:solidFill>
                  <a:srgbClr val="ABB2BF"/>
                </a:solidFill>
                <a:latin typeface="Consolas"/>
              </a:defRPr>
            </a:pPr>
            <a:r>
              <a:t>motor_running = 0;</a:t>
            </a:r>
          </a:p>
          <a:p>
            <a:pPr>
              <a:lnSpc>
                <a:spcPts val="1187"/>
              </a:lnSpc>
              <a:spcBef>
                <a:spcPts val="0"/>
              </a:spcBef>
              <a:spcAft>
                <a:spcPts val="100"/>
              </a:spcAft>
              <a:defRPr sz="950">
                <a:solidFill>
                  <a:srgbClr val="ABB2BF"/>
                </a:solidFill>
                <a:latin typeface="Consolas"/>
              </a:defRPr>
            </a:pPr>
            <a:r>
              <a:t>BrushMotor_SetSpeed(0);</a:t>
            </a:r>
          </a:p>
          <a:p>
            <a:pPr>
              <a:lnSpc>
                <a:spcPts val="1187"/>
              </a:lnSpc>
              <a:spcBef>
                <a:spcPts val="0"/>
              </a:spcBef>
              <a:spcAft>
                <a:spcPts val="100"/>
              </a:spcAft>
              <a:defRPr sz="950">
                <a:solidFill>
                  <a:srgbClr val="ABB2BF"/>
                </a:solidFill>
                <a:latin typeface="Consolas"/>
              </a:defRPr>
            </a:pPr>
            <a:r>
              <a:t>BrushMotor_Enable();      // 导通回路</a:t>
            </a:r>
          </a:p>
          <a:p>
            <a:pPr>
              <a:lnSpc>
                <a:spcPts val="1187"/>
              </a:lnSpc>
              <a:spcBef>
                <a:spcPts val="0"/>
              </a:spcBef>
              <a:spcAft>
                <a:spcPts val="100"/>
              </a:spcAft>
              <a:defRPr sz="950">
                <a:solidFill>
                  <a:srgbClr val="ABB2BF"/>
                </a:solidFill>
                <a:latin typeface="Consolas"/>
              </a:defRPr>
            </a:pPr>
            <a:r>
              <a:t>HAL_Delay(10);</a:t>
            </a:r>
          </a:p>
          <a:p>
            <a:pPr>
              <a:lnSpc>
                <a:spcPts val="1187"/>
              </a:lnSpc>
              <a:spcBef>
                <a:spcPts val="0"/>
              </a:spcBef>
              <a:spcAft>
                <a:spcPts val="100"/>
              </a:spcAft>
              <a:defRPr sz="950">
                <a:solidFill>
                  <a:srgbClr val="ABB2BF"/>
                </a:solidFill>
                <a:latin typeface="Consolas"/>
              </a:defRPr>
            </a:pPr>
            <a:r>
              <a:t>CalibrateOffset();        // 校准</a:t>
            </a:r>
          </a:p>
          <a:p>
            <a:pPr>
              <a:lnSpc>
                <a:spcPts val="1187"/>
              </a:lnSpc>
              <a:spcBef>
                <a:spcPts val="0"/>
              </a:spcBef>
              <a:spcAft>
                <a:spcPts val="100"/>
              </a:spcAft>
              <a:defRPr sz="950">
                <a:solidFill>
                  <a:srgbClr val="ABB2BF"/>
                </a:solidFill>
                <a:latin typeface="Consolas"/>
              </a:defRPr>
            </a:pPr>
            <a:r>
              <a:t>BrushMotor_Disable();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79" y="1463040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400"/>
              </a:spcAft>
              <a:defRPr sz="1200" b="1">
                <a:solidFill>
                  <a:srgbClr val="E84D3D"/>
                </a:solidFill>
                <a:latin typeface="Noto Sans SC"/>
              </a:defRPr>
            </a:pPr>
            <a:r>
              <a:t>KEY2 — 在线校准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55279" y="1737360"/>
            <a:ext cx="3474720" cy="1371600"/>
          </a:xfrm>
          <a:prstGeom prst="rect">
            <a:avLst/>
          </a:prstGeom>
          <a:solidFill>
            <a:srgbClr val="282C34"/>
          </a:solidFill>
          <a:ln w="12700">
            <a:solidFill>
              <a:srgbClr val="3E4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092439" y="1810512"/>
            <a:ext cx="3200400" cy="1225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187"/>
              </a:lnSpc>
              <a:spcBef>
                <a:spcPts val="0"/>
              </a:spcBef>
              <a:spcAft>
                <a:spcPts val="100"/>
              </a:spcAft>
              <a:defRPr sz="950">
                <a:solidFill>
                  <a:srgbClr val="ABB2BF"/>
                </a:solidFill>
                <a:latin typeface="Consolas"/>
              </a:defRPr>
            </a:pPr>
            <a:r>
              <a:t>BrushMotor_SetSpeed(0);</a:t>
            </a:r>
          </a:p>
          <a:p>
            <a:pPr>
              <a:lnSpc>
                <a:spcPts val="1187"/>
              </a:lnSpc>
              <a:spcBef>
                <a:spcPts val="0"/>
              </a:spcBef>
              <a:spcAft>
                <a:spcPts val="100"/>
              </a:spcAft>
              <a:defRPr sz="950">
                <a:solidFill>
                  <a:srgbClr val="ABB2BF"/>
                </a:solidFill>
                <a:latin typeface="Consolas"/>
              </a:defRPr>
            </a:pPr>
            <a:r>
              <a:t>BrushMotor_Enable();      // ← 导通回路</a:t>
            </a:r>
          </a:p>
          <a:p>
            <a:pPr>
              <a:lnSpc>
                <a:spcPts val="1187"/>
              </a:lnSpc>
              <a:spcBef>
                <a:spcPts val="0"/>
              </a:spcBef>
              <a:spcAft>
                <a:spcPts val="100"/>
              </a:spcAft>
              <a:defRPr sz="950">
                <a:solidFill>
                  <a:srgbClr val="ABB2BF"/>
                </a:solidFill>
                <a:latin typeface="Consolas"/>
              </a:defRPr>
            </a:pPr>
            <a:r>
              <a:t>HAL_Delay(10);</a:t>
            </a:r>
          </a:p>
          <a:p>
            <a:pPr>
              <a:lnSpc>
                <a:spcPts val="1187"/>
              </a:lnSpc>
              <a:spcBef>
                <a:spcPts val="0"/>
              </a:spcBef>
              <a:spcAft>
                <a:spcPts val="100"/>
              </a:spcAft>
              <a:defRPr sz="950">
                <a:solidFill>
                  <a:srgbClr val="ABB2BF"/>
                </a:solidFill>
                <a:latin typeface="Consolas"/>
              </a:defRPr>
            </a:pPr>
            <a:r>
              <a:t>CalibrateOffset();</a:t>
            </a:r>
          </a:p>
          <a:p>
            <a:pPr>
              <a:lnSpc>
                <a:spcPts val="1187"/>
              </a:lnSpc>
              <a:spcBef>
                <a:spcPts val="0"/>
              </a:spcBef>
              <a:spcAft>
                <a:spcPts val="100"/>
              </a:spcAft>
              <a:defRPr sz="950">
                <a:solidFill>
                  <a:srgbClr val="ABB2BF"/>
                </a:solidFill>
                <a:latin typeface="Consolas"/>
              </a:defRPr>
            </a:pPr>
            <a:r>
              <a:t>if (!motor_running)       // 原本就停</a:t>
            </a:r>
          </a:p>
          <a:p>
            <a:pPr>
              <a:lnSpc>
                <a:spcPts val="1187"/>
              </a:lnSpc>
              <a:spcBef>
                <a:spcPts val="0"/>
              </a:spcBef>
              <a:spcAft>
                <a:spcPts val="100"/>
              </a:spcAft>
              <a:defRPr sz="950">
                <a:solidFill>
                  <a:srgbClr val="ABB2BF"/>
                </a:solidFill>
                <a:latin typeface="Consolas"/>
              </a:defRPr>
            </a:pPr>
            <a:r>
              <a:t>    Disable();             // 才Disable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3832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400"/>
              </a:spcAft>
              <a:defRPr sz="1400" b="1">
                <a:solidFill>
                  <a:srgbClr val="00838F"/>
                </a:solidFill>
                <a:latin typeface="Noto Sans SC"/>
              </a:defRPr>
            </a:pPr>
            <a:r>
              <a:t>主循环状态机 (50ms周期)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703320"/>
            <a:ext cx="6400800" cy="2377440"/>
          </a:xfrm>
          <a:prstGeom prst="rect">
            <a:avLst/>
          </a:prstGeom>
          <a:solidFill>
            <a:srgbClr val="282C34"/>
          </a:solidFill>
          <a:ln w="12700">
            <a:solidFill>
              <a:srgbClr val="3E4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94360" y="3776472"/>
            <a:ext cx="6126480" cy="2231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250"/>
              </a:lnSpc>
              <a:spcBef>
                <a:spcPts val="0"/>
              </a:spcBef>
              <a:spcAft>
                <a:spcPts val="100"/>
              </a:spcAft>
              <a:defRPr sz="1000">
                <a:solidFill>
                  <a:srgbClr val="ABB2BF"/>
                </a:solidFill>
                <a:latin typeface="Consolas"/>
              </a:defRPr>
            </a:pPr>
            <a:r>
              <a:t>if (motor_running &amp;&amp; duty_percent != 0)</a:t>
            </a:r>
          </a:p>
          <a:p>
            <a:pPr>
              <a:lnSpc>
                <a:spcPts val="1250"/>
              </a:lnSpc>
              <a:spcBef>
                <a:spcPts val="0"/>
              </a:spcBef>
              <a:spcAft>
                <a:spcPts val="100"/>
              </a:spcAft>
              <a:defRPr sz="1000">
                <a:solidFill>
                  <a:srgbClr val="ABB2BF"/>
                </a:solidFill>
                <a:latin typeface="Consolas"/>
              </a:defRPr>
            </a:pPr>
            <a:r>
              <a:t>{</a:t>
            </a:r>
          </a:p>
          <a:p>
            <a:pPr>
              <a:lnSpc>
                <a:spcPts val="1250"/>
              </a:lnSpc>
              <a:spcBef>
                <a:spcPts val="0"/>
              </a:spcBef>
              <a:spcAft>
                <a:spcPts val="100"/>
              </a:spcAft>
              <a:defRPr sz="1000">
                <a:solidFill>
                  <a:srgbClr val="ABB2BF"/>
                </a:solidFill>
                <a:latin typeface="Consolas"/>
              </a:defRPr>
            </a:pPr>
            <a:r>
              <a:t>    // 仅在状态变化时执行HAL，防止每50ms重复调用</a:t>
            </a:r>
          </a:p>
          <a:p>
            <a:pPr>
              <a:lnSpc>
                <a:spcPts val="1250"/>
              </a:lnSpc>
              <a:spcBef>
                <a:spcPts val="0"/>
              </a:spcBef>
              <a:spcAft>
                <a:spcPts val="100"/>
              </a:spcAft>
              <a:defRPr sz="1000">
                <a:solidFill>
                  <a:srgbClr val="ABB2BF"/>
                </a:solidFill>
                <a:latin typeface="Consolas"/>
              </a:defRPr>
            </a:pPr>
            <a:r>
              <a:t>    if (!prev_running || prev_duty != duty_percent)</a:t>
            </a:r>
          </a:p>
          <a:p>
            <a:pPr>
              <a:lnSpc>
                <a:spcPts val="1250"/>
              </a:lnSpc>
              <a:spcBef>
                <a:spcPts val="0"/>
              </a:spcBef>
              <a:spcAft>
                <a:spcPts val="100"/>
              </a:spcAft>
              <a:defRPr sz="1000">
                <a:solidFill>
                  <a:srgbClr val="ABB2BF"/>
                </a:solidFill>
                <a:latin typeface="Consolas"/>
              </a:defRPr>
            </a:pPr>
            <a:r>
              <a:t>    {</a:t>
            </a:r>
          </a:p>
          <a:p>
            <a:pPr>
              <a:lnSpc>
                <a:spcPts val="1250"/>
              </a:lnSpc>
              <a:spcBef>
                <a:spcPts val="0"/>
              </a:spcBef>
              <a:spcAft>
                <a:spcPts val="100"/>
              </a:spcAft>
              <a:defRPr sz="1000">
                <a:solidFill>
                  <a:srgbClr val="ABB2BF"/>
                </a:solidFill>
                <a:latin typeface="Consolas"/>
              </a:defRPr>
            </a:pPr>
            <a:r>
              <a:t>        // ① 先方向 (Stop→Stop→Start)</a:t>
            </a:r>
          </a:p>
          <a:p>
            <a:pPr>
              <a:lnSpc>
                <a:spcPts val="1250"/>
              </a:lnSpc>
              <a:spcBef>
                <a:spcPts val="0"/>
              </a:spcBef>
              <a:spcAft>
                <a:spcPts val="100"/>
              </a:spcAft>
              <a:defRPr sz="1000">
                <a:solidFill>
                  <a:srgbClr val="ABB2BF"/>
                </a:solidFill>
                <a:latin typeface="Consolas"/>
              </a:defRPr>
            </a:pPr>
            <a:r>
              <a:t>        BrushMotor_SetDirection(FWD or REV);</a:t>
            </a:r>
          </a:p>
          <a:p>
            <a:pPr>
              <a:lnSpc>
                <a:spcPts val="1250"/>
              </a:lnSpc>
              <a:spcBef>
                <a:spcPts val="0"/>
              </a:spcBef>
              <a:spcAft>
                <a:spcPts val="100"/>
              </a:spcAft>
              <a:defRPr sz="1000">
                <a:solidFill>
                  <a:srgbClr val="ABB2BF"/>
                </a:solidFill>
                <a:latin typeface="Consolas"/>
              </a:defRPr>
            </a:pPr>
            <a:r>
              <a:t>        // ② 后速度 (CCR = abs(duty%) × 8367 / 100)</a:t>
            </a:r>
          </a:p>
          <a:p>
            <a:pPr>
              <a:lnSpc>
                <a:spcPts val="1250"/>
              </a:lnSpc>
              <a:spcBef>
                <a:spcPts val="0"/>
              </a:spcBef>
              <a:spcAft>
                <a:spcPts val="100"/>
              </a:spcAft>
              <a:defRPr sz="1000">
                <a:solidFill>
                  <a:srgbClr val="ABB2BF"/>
                </a:solidFill>
                <a:latin typeface="Consolas"/>
              </a:defRPr>
            </a:pPr>
            <a:r>
              <a:t>        BrushMotor_SetSpeed(abs(duty_percent));</a:t>
            </a:r>
          </a:p>
          <a:p>
            <a:pPr>
              <a:lnSpc>
                <a:spcPts val="1250"/>
              </a:lnSpc>
              <a:spcBef>
                <a:spcPts val="0"/>
              </a:spcBef>
              <a:spcAft>
                <a:spcPts val="100"/>
              </a:spcAft>
              <a:defRPr sz="1000">
                <a:solidFill>
                  <a:srgbClr val="ABB2BF"/>
                </a:solidFill>
                <a:latin typeface="Consolas"/>
              </a:defRPr>
            </a:pPr>
            <a:r>
              <a:t>        // ③ 使能</a:t>
            </a:r>
          </a:p>
          <a:p>
            <a:pPr>
              <a:lnSpc>
                <a:spcPts val="1250"/>
              </a:lnSpc>
              <a:spcBef>
                <a:spcPts val="0"/>
              </a:spcBef>
              <a:spcAft>
                <a:spcPts val="100"/>
              </a:spcAft>
              <a:defRPr sz="1000">
                <a:solidFill>
                  <a:srgbClr val="ABB2BF"/>
                </a:solidFill>
                <a:latin typeface="Consolas"/>
              </a:defRPr>
            </a:pPr>
            <a:r>
              <a:t>        BrushMotor_Enable();</a:t>
            </a:r>
          </a:p>
          <a:p>
            <a:pPr>
              <a:lnSpc>
                <a:spcPts val="1250"/>
              </a:lnSpc>
              <a:spcBef>
                <a:spcPts val="0"/>
              </a:spcBef>
              <a:spcAft>
                <a:spcPts val="100"/>
              </a:spcAft>
              <a:defRPr sz="1000">
                <a:solidFill>
                  <a:srgbClr val="ABB2BF"/>
                </a:solidFill>
                <a:latin typeface="Consolas"/>
              </a:defRPr>
            </a:pPr>
            <a:r>
              <a:t>    }</a:t>
            </a:r>
          </a:p>
          <a:p>
            <a:pPr>
              <a:lnSpc>
                <a:spcPts val="1250"/>
              </a:lnSpc>
              <a:spcBef>
                <a:spcPts val="0"/>
              </a:spcBef>
              <a:spcAft>
                <a:spcPts val="100"/>
              </a:spcAft>
              <a:defRPr sz="1000">
                <a:solidFill>
                  <a:srgbClr val="ABB2BF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0" y="338328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400"/>
              </a:spcAft>
              <a:defRPr sz="1300" b="1">
                <a:solidFill>
                  <a:srgbClr val="00838F"/>
                </a:solidFill>
                <a:latin typeface="Noto Sans SC"/>
              </a:defRPr>
            </a:pPr>
            <a:r>
              <a:t>LCD 显示 (50ms)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0" y="3703320"/>
            <a:ext cx="4114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207"/>
              </a:lnSpc>
              <a:spcBef>
                <a:spcPts val="0"/>
              </a:spcBef>
              <a:spcAft>
                <a:spcPts val="100"/>
              </a:spcAft>
              <a:defRPr sz="1050">
                <a:solidFill>
                  <a:srgbClr val="2B579A"/>
                </a:solidFill>
                <a:latin typeface="Consolas"/>
              </a:defRPr>
            </a:pPr>
            <a:r>
              <a:t>Duty: 60%              </a:t>
            </a:r>
          </a:p>
          <a:p>
            <a:pPr>
              <a:lnSpc>
                <a:spcPts val="1207"/>
              </a:lnSpc>
              <a:spcBef>
                <a:spcPts val="0"/>
              </a:spcBef>
              <a:spcAft>
                <a:spcPts val="100"/>
              </a:spcAft>
              <a:defRPr sz="1050">
                <a:solidFill>
                  <a:srgbClr val="2B579A"/>
                </a:solidFill>
                <a:latin typeface="Consolas"/>
              </a:defRPr>
            </a:pPr>
            <a:r>
              <a:t>Offset: 1576.3         </a:t>
            </a:r>
          </a:p>
          <a:p>
            <a:pPr>
              <a:lnSpc>
                <a:spcPts val="1207"/>
              </a:lnSpc>
              <a:spcBef>
                <a:spcPts val="0"/>
              </a:spcBef>
              <a:spcAft>
                <a:spcPts val="100"/>
              </a:spcAft>
              <a:defRPr sz="1050">
                <a:solidFill>
                  <a:srgbClr val="2B579A"/>
                </a:solidFill>
                <a:latin typeface="Consolas"/>
              </a:defRPr>
            </a:pPr>
            <a:r>
              <a:t>Current: 125.6 mA      </a:t>
            </a:r>
          </a:p>
          <a:p>
            <a:pPr>
              <a:lnSpc>
                <a:spcPts val="1207"/>
              </a:lnSpc>
              <a:spcBef>
                <a:spcPts val="0"/>
              </a:spcBef>
              <a:spcAft>
                <a:spcPts val="100"/>
              </a:spcAft>
              <a:defRPr sz="1050">
                <a:solidFill>
                  <a:srgbClr val="2B579A"/>
                </a:solidFill>
                <a:latin typeface="Consolas"/>
              </a:defRPr>
            </a:pPr>
            <a:r>
              <a:t>ADC Raw: 2087          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0" y="470916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400"/>
              </a:spcAft>
              <a:defRPr sz="1300" b="1">
                <a:solidFill>
                  <a:srgbClr val="00838F"/>
                </a:solidFill>
                <a:latin typeface="Noto Sans SC"/>
              </a:defRPr>
            </a:pPr>
            <a:r>
              <a:t>串口输出 (500ms)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0" y="5029200"/>
            <a:ext cx="4114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092"/>
              </a:lnSpc>
              <a:spcBef>
                <a:spcPts val="0"/>
              </a:spcBef>
              <a:spcAft>
                <a:spcPts val="100"/>
              </a:spcAft>
              <a:defRPr sz="950">
                <a:solidFill>
                  <a:srgbClr val="2B579A"/>
                </a:solidFill>
                <a:latin typeface="Consolas"/>
              </a:defRPr>
            </a:pPr>
            <a:r>
              <a:t>if (++send_cnt &gt;= 10) {</a:t>
            </a:r>
          </a:p>
          <a:p>
            <a:pPr>
              <a:lnSpc>
                <a:spcPts val="1092"/>
              </a:lnSpc>
              <a:spcBef>
                <a:spcPts val="0"/>
              </a:spcBef>
              <a:spcAft>
                <a:spcPts val="100"/>
              </a:spcAft>
              <a:defRPr sz="950">
                <a:solidFill>
                  <a:srgbClr val="2B579A"/>
                </a:solidFill>
                <a:latin typeface="Consolas"/>
              </a:defRPr>
            </a:pPr>
            <a:r>
              <a:t>  sprintf("Duty:%d%%,</a:t>
            </a:r>
          </a:p>
          <a:p>
            <a:pPr>
              <a:lnSpc>
                <a:spcPts val="1092"/>
              </a:lnSpc>
              <a:spcBef>
                <a:spcPts val="0"/>
              </a:spcBef>
              <a:spcAft>
                <a:spcPts val="100"/>
              </a:spcAft>
              <a:defRPr sz="950">
                <a:solidFill>
                  <a:srgbClr val="2B579A"/>
                </a:solidFill>
                <a:latin typeface="Consolas"/>
              </a:defRPr>
            </a:pPr>
            <a:r>
              <a:t>    Current:%.1f mA")</a:t>
            </a:r>
          </a:p>
          <a:p>
            <a:pPr>
              <a:lnSpc>
                <a:spcPts val="1092"/>
              </a:lnSpc>
              <a:spcBef>
                <a:spcPts val="0"/>
              </a:spcBef>
              <a:spcAft>
                <a:spcPts val="100"/>
              </a:spcAft>
              <a:defRPr sz="950">
                <a:solidFill>
                  <a:srgbClr val="2B579A"/>
                </a:solidFill>
                <a:latin typeface="Consolas"/>
              </a:defRPr>
            </a:pPr>
            <a:r>
              <a:t>  USART_SendString();</a:t>
            </a:r>
          </a:p>
          <a:p>
            <a:pPr>
              <a:lnSpc>
                <a:spcPts val="1092"/>
              </a:lnSpc>
              <a:spcBef>
                <a:spcPts val="0"/>
              </a:spcBef>
              <a:spcAft>
                <a:spcPts val="100"/>
              </a:spcAft>
              <a:defRPr sz="950">
                <a:solidFill>
                  <a:srgbClr val="2B579A"/>
                </a:solidFill>
                <a:latin typeface="Consolas"/>
              </a:defRPr>
            </a:pPr>
            <a:r>
              <a:t>}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22960"/>
          </a:xfrm>
          <a:prstGeom prst="rect">
            <a:avLst/>
          </a:prstGeom>
          <a:solidFill>
            <a:srgbClr val="0083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Noto Sans SC"/>
              </a:defRPr>
            </a:pPr>
            <a:r>
              <a:t>ADC 中断回调 &amp; 数据流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CEEEE"/>
                </a:solidFill>
                <a:latin typeface="Noto Sans SC"/>
              </a:defRPr>
            </a:pPr>
            <a:r>
              <a:t>InjectedConvCplt + 静态变量 (adc.c / bsp_current_sensor.c)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5156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400"/>
              </a:spcAft>
              <a:defRPr sz="1400" b="1">
                <a:solidFill>
                  <a:srgbClr val="00838F"/>
                </a:solidFill>
                <a:latin typeface="Noto Sans SC"/>
              </a:defRPr>
            </a:pPr>
            <a:r>
              <a:t>注入转换完成回调 (adc.c)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63040"/>
            <a:ext cx="5029200" cy="3200400"/>
          </a:xfrm>
          <a:prstGeom prst="rect">
            <a:avLst/>
          </a:prstGeom>
          <a:solidFill>
            <a:srgbClr val="282C34"/>
          </a:solidFill>
          <a:ln w="12700">
            <a:solidFill>
              <a:srgbClr val="3E4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1536192"/>
            <a:ext cx="4754880" cy="3054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250"/>
              </a:lnSpc>
              <a:spcBef>
                <a:spcPts val="0"/>
              </a:spcBef>
              <a:spcAft>
                <a:spcPts val="100"/>
              </a:spcAft>
              <a:defRPr sz="1000">
                <a:solidFill>
                  <a:srgbClr val="ABB2BF"/>
                </a:solidFill>
                <a:latin typeface="Consolas"/>
              </a:defRPr>
            </a:pPr>
            <a:r>
              <a:t>// 由 TIM1 TRGO 硬件触发，~10kHz 频率</a:t>
            </a:r>
          </a:p>
          <a:p>
            <a:pPr>
              <a:lnSpc>
                <a:spcPts val="1250"/>
              </a:lnSpc>
              <a:spcBef>
                <a:spcPts val="0"/>
              </a:spcBef>
              <a:spcAft>
                <a:spcPts val="100"/>
              </a:spcAft>
              <a:defRPr sz="1000">
                <a:solidFill>
                  <a:srgbClr val="ABB2BF"/>
                </a:solidFill>
                <a:latin typeface="Consolas"/>
              </a:defRPr>
            </a:pPr>
            <a:r>
              <a:t>void HAL_ADCEx_InjectedConvCpltCallback(</a:t>
            </a:r>
          </a:p>
          <a:p>
            <a:pPr>
              <a:lnSpc>
                <a:spcPts val="1250"/>
              </a:lnSpc>
              <a:spcBef>
                <a:spcPts val="0"/>
              </a:spcBef>
              <a:spcAft>
                <a:spcPts val="100"/>
              </a:spcAft>
              <a:defRPr sz="1000">
                <a:solidFill>
                  <a:srgbClr val="ABB2BF"/>
                </a:solidFill>
                <a:latin typeface="Consolas"/>
              </a:defRPr>
            </a:pPr>
            <a:r>
              <a:t>    ADC_HandleTypeDef *hadc)</a:t>
            </a:r>
          </a:p>
          <a:p>
            <a:pPr>
              <a:lnSpc>
                <a:spcPts val="1250"/>
              </a:lnSpc>
              <a:spcBef>
                <a:spcPts val="0"/>
              </a:spcBef>
              <a:spcAft>
                <a:spcPts val="100"/>
              </a:spcAft>
              <a:defRPr sz="1000">
                <a:solidFill>
                  <a:srgbClr val="ABB2BF"/>
                </a:solidFill>
                <a:latin typeface="Consolas"/>
              </a:defRPr>
            </a:pPr>
            <a:r>
              <a:t>{</a:t>
            </a:r>
          </a:p>
          <a:p>
            <a:pPr>
              <a:lnSpc>
                <a:spcPts val="1250"/>
              </a:lnSpc>
              <a:spcBef>
                <a:spcPts val="0"/>
              </a:spcBef>
              <a:spcAft>
                <a:spcPts val="100"/>
              </a:spcAft>
              <a:defRPr sz="1000">
                <a:solidFill>
                  <a:srgbClr val="ABB2BF"/>
                </a:solidFill>
                <a:latin typeface="Consolas"/>
              </a:defRPr>
            </a:pPr>
            <a:r>
              <a:t>    if (hadc-&gt;Instance == ADC1)</a:t>
            </a:r>
          </a:p>
          <a:p>
            <a:pPr>
              <a:lnSpc>
                <a:spcPts val="1250"/>
              </a:lnSpc>
              <a:spcBef>
                <a:spcPts val="0"/>
              </a:spcBef>
              <a:spcAft>
                <a:spcPts val="100"/>
              </a:spcAft>
              <a:defRPr sz="1000">
                <a:solidFill>
                  <a:srgbClr val="ABB2BF"/>
                </a:solidFill>
                <a:latin typeface="Consolas"/>
              </a:defRPr>
            </a:pPr>
            <a:r>
              <a:t>    {</a:t>
            </a:r>
          </a:p>
          <a:p>
            <a:pPr>
              <a:lnSpc>
                <a:spcPts val="1250"/>
              </a:lnSpc>
              <a:spcBef>
                <a:spcPts val="0"/>
              </a:spcBef>
              <a:spcAft>
                <a:spcPts val="100"/>
              </a:spcAft>
              <a:defRPr sz="1000">
                <a:solidFill>
                  <a:srgbClr val="ABB2BF"/>
                </a:solidFill>
                <a:latin typeface="Consolas"/>
              </a:defRPr>
            </a:pPr>
            <a:r>
              <a:t>        // 读取注入通道结果</a:t>
            </a:r>
          </a:p>
          <a:p>
            <a:pPr>
              <a:lnSpc>
                <a:spcPts val="1250"/>
              </a:lnSpc>
              <a:spcBef>
                <a:spcPts val="0"/>
              </a:spcBef>
              <a:spcAft>
                <a:spcPts val="100"/>
              </a:spcAft>
              <a:defRPr sz="1000">
                <a:solidFill>
                  <a:srgbClr val="ABB2BF"/>
                </a:solidFill>
                <a:latin typeface="Consolas"/>
              </a:defRPr>
            </a:pPr>
            <a:r>
              <a:t>        adc_injected_data =</a:t>
            </a:r>
          </a:p>
          <a:p>
            <a:pPr>
              <a:lnSpc>
                <a:spcPts val="1250"/>
              </a:lnSpc>
              <a:spcBef>
                <a:spcPts val="0"/>
              </a:spcBef>
              <a:spcAft>
                <a:spcPts val="100"/>
              </a:spcAft>
              <a:defRPr sz="1000">
                <a:solidFill>
                  <a:srgbClr val="ABB2BF"/>
                </a:solidFill>
                <a:latin typeface="Consolas"/>
              </a:defRPr>
            </a:pPr>
            <a:r>
              <a:t>            HAL_ADCEx_InjectedGetValue(</a:t>
            </a:r>
          </a:p>
          <a:p>
            <a:pPr>
              <a:lnSpc>
                <a:spcPts val="1250"/>
              </a:lnSpc>
              <a:spcBef>
                <a:spcPts val="0"/>
              </a:spcBef>
              <a:spcAft>
                <a:spcPts val="100"/>
              </a:spcAft>
              <a:defRPr sz="1000">
                <a:solidFill>
                  <a:srgbClr val="ABB2BF"/>
                </a:solidFill>
                <a:latin typeface="Consolas"/>
              </a:defRPr>
            </a:pPr>
            <a:r>
              <a:t>                hadc, ADC_INJECTED_RANK_1);</a:t>
            </a:r>
          </a:p>
          <a:p>
            <a:pPr>
              <a:lnSpc>
                <a:spcPts val="1250"/>
              </a:lnSpc>
              <a:spcBef>
                <a:spcPts val="0"/>
              </a:spcBef>
              <a:spcAft>
                <a:spcPts val="100"/>
              </a:spcAft>
              <a:defRPr sz="1000">
                <a:solidFill>
                  <a:srgbClr val="ABB2BF"/>
                </a:solidFill>
                <a:latin typeface="Consolas"/>
              </a:defRPr>
            </a:pPr>
            <a:endParaRPr/>
          </a:p>
          <a:p>
            <a:pPr>
              <a:lnSpc>
                <a:spcPts val="1250"/>
              </a:lnSpc>
              <a:spcBef>
                <a:spcPts val="0"/>
              </a:spcBef>
              <a:spcAft>
                <a:spcPts val="100"/>
              </a:spcAft>
              <a:defRPr sz="1000">
                <a:solidFill>
                  <a:srgbClr val="ABB2BF"/>
                </a:solidFill>
                <a:latin typeface="Consolas"/>
              </a:defRPr>
            </a:pPr>
            <a:r>
              <a:t>        // 更新电流计算（滤波）</a:t>
            </a:r>
          </a:p>
          <a:p>
            <a:pPr>
              <a:lnSpc>
                <a:spcPts val="1250"/>
              </a:lnSpc>
              <a:spcBef>
                <a:spcPts val="0"/>
              </a:spcBef>
              <a:spcAft>
                <a:spcPts val="100"/>
              </a:spcAft>
              <a:defRPr sz="1000">
                <a:solidFill>
                  <a:srgbClr val="ABB2BF"/>
                </a:solidFill>
                <a:latin typeface="Consolas"/>
              </a:defRPr>
            </a:pPr>
            <a:r>
              <a:t>        BSP_CurrentSensor_Update();</a:t>
            </a:r>
          </a:p>
          <a:p>
            <a:pPr>
              <a:lnSpc>
                <a:spcPts val="1250"/>
              </a:lnSpc>
              <a:spcBef>
                <a:spcPts val="0"/>
              </a:spcBef>
              <a:spcAft>
                <a:spcPts val="100"/>
              </a:spcAft>
              <a:defRPr sz="1000">
                <a:solidFill>
                  <a:srgbClr val="ABB2BF"/>
                </a:solidFill>
                <a:latin typeface="Consolas"/>
              </a:defRPr>
            </a:pPr>
            <a:endParaRPr/>
          </a:p>
          <a:p>
            <a:pPr>
              <a:lnSpc>
                <a:spcPts val="1250"/>
              </a:lnSpc>
              <a:spcBef>
                <a:spcPts val="0"/>
              </a:spcBef>
              <a:spcAft>
                <a:spcPts val="100"/>
              </a:spcAft>
              <a:defRPr sz="1000">
                <a:solidFill>
                  <a:srgbClr val="ABB2BF"/>
                </a:solidFill>
                <a:latin typeface="Consolas"/>
              </a:defRPr>
            </a:pPr>
            <a:r>
              <a:t>        // 不做任何电机控制！</a:t>
            </a:r>
          </a:p>
          <a:p>
            <a:pPr>
              <a:lnSpc>
                <a:spcPts val="1250"/>
              </a:lnSpc>
              <a:spcBef>
                <a:spcPts val="0"/>
              </a:spcBef>
              <a:spcAft>
                <a:spcPts val="100"/>
              </a:spcAft>
              <a:defRPr sz="1000">
                <a:solidFill>
                  <a:srgbClr val="ABB2BF"/>
                </a:solidFill>
                <a:latin typeface="Consolas"/>
              </a:defRPr>
            </a:pPr>
            <a:r>
              <a:t>        // 控制由main循环统一处理</a:t>
            </a:r>
          </a:p>
          <a:p>
            <a:pPr>
              <a:lnSpc>
                <a:spcPts val="1250"/>
              </a:lnSpc>
              <a:spcBef>
                <a:spcPts val="0"/>
              </a:spcBef>
              <a:spcAft>
                <a:spcPts val="100"/>
              </a:spcAft>
              <a:defRPr sz="1000">
                <a:solidFill>
                  <a:srgbClr val="ABB2BF"/>
                </a:solidFill>
                <a:latin typeface="Consolas"/>
              </a:defRPr>
            </a:pPr>
            <a:r>
              <a:t>    }</a:t>
            </a:r>
          </a:p>
          <a:p>
            <a:pPr>
              <a:lnSpc>
                <a:spcPts val="1250"/>
              </a:lnSpc>
              <a:spcBef>
                <a:spcPts val="0"/>
              </a:spcBef>
              <a:spcAft>
                <a:spcPts val="100"/>
              </a:spcAft>
              <a:defRPr sz="1000">
                <a:solidFill>
                  <a:srgbClr val="ABB2BF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105156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400"/>
              </a:spcAft>
              <a:defRPr sz="1400" b="1">
                <a:solidFill>
                  <a:srgbClr val="00838F"/>
                </a:solidFill>
                <a:latin typeface="Noto Sans SC"/>
              </a:defRPr>
            </a:pPr>
            <a:r>
              <a:t>电流传感器静态变量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0" y="1463040"/>
            <a:ext cx="5029200" cy="1828800"/>
          </a:xfrm>
          <a:prstGeom prst="rect">
            <a:avLst/>
          </a:prstGeom>
          <a:solidFill>
            <a:srgbClr val="282C34"/>
          </a:solidFill>
          <a:ln w="12700">
            <a:solidFill>
              <a:srgbClr val="3E4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080760" y="1536192"/>
            <a:ext cx="4754880" cy="1682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250"/>
              </a:lnSpc>
              <a:spcBef>
                <a:spcPts val="0"/>
              </a:spcBef>
              <a:spcAft>
                <a:spcPts val="100"/>
              </a:spcAft>
              <a:defRPr sz="1000">
                <a:solidFill>
                  <a:srgbClr val="ABB2BF"/>
                </a:solidFill>
                <a:latin typeface="Consolas"/>
              </a:defRPr>
            </a:pPr>
            <a:r>
              <a:t>static float current_offset_adc = 0;</a:t>
            </a:r>
          </a:p>
          <a:p>
            <a:pPr>
              <a:lnSpc>
                <a:spcPts val="1250"/>
              </a:lnSpc>
              <a:spcBef>
                <a:spcPts val="0"/>
              </a:spcBef>
              <a:spcAft>
                <a:spcPts val="100"/>
              </a:spcAft>
              <a:defRPr sz="1000">
                <a:solidFill>
                  <a:srgbClr val="ABB2BF"/>
                </a:solidFill>
                <a:latin typeface="Consolas"/>
              </a:defRPr>
            </a:pPr>
            <a:r>
              <a:t>   // 零漂偏移（ADC阶数）</a:t>
            </a:r>
          </a:p>
          <a:p>
            <a:pPr>
              <a:lnSpc>
                <a:spcPts val="1250"/>
              </a:lnSpc>
              <a:spcBef>
                <a:spcPts val="0"/>
              </a:spcBef>
              <a:spcAft>
                <a:spcPts val="100"/>
              </a:spcAft>
              <a:defRPr sz="1000">
                <a:solidFill>
                  <a:srgbClr val="ABB2BF"/>
                </a:solidFill>
                <a:latin typeface="Consolas"/>
              </a:defRPr>
            </a:pPr>
            <a:endParaRPr/>
          </a:p>
          <a:p>
            <a:pPr>
              <a:lnSpc>
                <a:spcPts val="1250"/>
              </a:lnSpc>
              <a:spcBef>
                <a:spcPts val="0"/>
              </a:spcBef>
              <a:spcAft>
                <a:spcPts val="100"/>
              </a:spcAft>
              <a:defRPr sz="1000">
                <a:solidFill>
                  <a:srgbClr val="ABB2BF"/>
                </a:solidFill>
                <a:latin typeface="Consolas"/>
              </a:defRPr>
            </a:pPr>
            <a:r>
              <a:t>static float current_mA = 0;</a:t>
            </a:r>
          </a:p>
          <a:p>
            <a:pPr>
              <a:lnSpc>
                <a:spcPts val="1250"/>
              </a:lnSpc>
              <a:spcBef>
                <a:spcPts val="0"/>
              </a:spcBef>
              <a:spcAft>
                <a:spcPts val="100"/>
              </a:spcAft>
              <a:defRPr sz="1000">
                <a:solidFill>
                  <a:srgbClr val="ABB2BF"/>
                </a:solidFill>
                <a:latin typeface="Consolas"/>
              </a:defRPr>
            </a:pPr>
            <a:r>
              <a:t>   // 当前滤波后电流（mA）</a:t>
            </a:r>
          </a:p>
          <a:p>
            <a:pPr>
              <a:lnSpc>
                <a:spcPts val="1250"/>
              </a:lnSpc>
              <a:spcBef>
                <a:spcPts val="0"/>
              </a:spcBef>
              <a:spcAft>
                <a:spcPts val="100"/>
              </a:spcAft>
              <a:defRPr sz="1000">
                <a:solidFill>
                  <a:srgbClr val="ABB2BF"/>
                </a:solidFill>
                <a:latin typeface="Consolas"/>
              </a:defRPr>
            </a:pPr>
            <a:endParaRPr/>
          </a:p>
          <a:p>
            <a:pPr>
              <a:lnSpc>
                <a:spcPts val="1250"/>
              </a:lnSpc>
              <a:spcBef>
                <a:spcPts val="0"/>
              </a:spcBef>
              <a:spcAft>
                <a:spcPts val="100"/>
              </a:spcAft>
              <a:defRPr sz="1000">
                <a:solidFill>
                  <a:srgbClr val="ABB2BF"/>
                </a:solidFill>
                <a:latin typeface="Consolas"/>
              </a:defRPr>
            </a:pPr>
            <a:r>
              <a:t>static float current_mA_prev = 0;</a:t>
            </a:r>
          </a:p>
          <a:p>
            <a:pPr>
              <a:lnSpc>
                <a:spcPts val="1250"/>
              </a:lnSpc>
              <a:spcBef>
                <a:spcPts val="0"/>
              </a:spcBef>
              <a:spcAft>
                <a:spcPts val="100"/>
              </a:spcAft>
              <a:defRPr sz="1000">
                <a:solidFill>
                  <a:srgbClr val="ABB2BF"/>
                </a:solidFill>
                <a:latin typeface="Consolas"/>
              </a:defRPr>
            </a:pPr>
            <a:r>
              <a:t>   // 上一次电流值（滤波用）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356616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400"/>
              </a:spcAft>
              <a:defRPr sz="1400" b="1">
                <a:solidFill>
                  <a:srgbClr val="00838F"/>
                </a:solidFill>
                <a:latin typeface="Noto Sans SC"/>
              </a:defRPr>
            </a:pPr>
            <a:r>
              <a:t>设计要点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5943600" y="3886200"/>
          <a:ext cx="5029200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66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Noto Sans SC"/>
                        </a:defRPr>
                      </a:pPr>
                      <a:r>
                        <a:t>原则</a:t>
                      </a:r>
                    </a:p>
                  </a:txBody>
                  <a:tcPr>
                    <a:solidFill>
                      <a:srgbClr val="00838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Noto Sans SC"/>
                        </a:defRPr>
                      </a:pPr>
                      <a:r>
                        <a:t>说明</a:t>
                      </a:r>
                    </a:p>
                  </a:txBody>
                  <a:tcPr>
                    <a:solidFill>
                      <a:srgbClr val="00838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Noto Sans SC"/>
                        </a:defRPr>
                      </a:pPr>
                      <a:r>
                        <a:t>中断只采样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Noto Sans SC"/>
                        </a:defRPr>
                      </a:pPr>
                      <a:r>
                        <a:t>不调电机控制函数，控制全在main循环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Noto Sans SC"/>
                        </a:defRPr>
                      </a:pPr>
                      <a:r>
                        <a:t>频率解耦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Noto Sans SC"/>
                        </a:defRPr>
                      </a:pPr>
                      <a:r>
                        <a:t>中断10kHz ≠ 控制20Hz，各跑各的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Noto Sans SC"/>
                        </a:defRPr>
                      </a:pPr>
                      <a:r>
                        <a:t>原子读写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Noto Sans SC"/>
                        </a:defRPr>
                      </a:pPr>
                      <a:r>
                        <a:t>adc_injected_data是32位对齐，main读取无需关中断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Noto Sans SC"/>
                        </a:defRPr>
                      </a:pPr>
                      <a:r>
                        <a:t>优先级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Noto Sans SC"/>
                        </a:defRPr>
                      </a:pPr>
                      <a:r>
                        <a:t>ADC_IRQn 优先级 1,0，高于EXTI按键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457200" y="49377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400"/>
              </a:spcAft>
              <a:defRPr sz="1400" b="1">
                <a:solidFill>
                  <a:srgbClr val="00838F"/>
                </a:solidFill>
                <a:latin typeface="Noto Sans SC"/>
              </a:defRPr>
            </a:pPr>
            <a:r>
              <a:t>完整数据流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30352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140"/>
              </a:lnSpc>
              <a:spcBef>
                <a:spcPts val="0"/>
              </a:spcBef>
              <a:spcAft>
                <a:spcPts val="100"/>
              </a:spcAft>
              <a:defRPr sz="950">
                <a:solidFill>
                  <a:srgbClr val="333333"/>
                </a:solidFill>
                <a:latin typeface="Consolas"/>
              </a:defRPr>
            </a:pPr>
            <a:r>
              <a:t>┌─────────────────────────────────────────────────────────────────────┐</a:t>
            </a:r>
          </a:p>
          <a:p>
            <a:pPr>
              <a:lnSpc>
                <a:spcPts val="1140"/>
              </a:lnSpc>
              <a:spcBef>
                <a:spcPts val="0"/>
              </a:spcBef>
              <a:spcAft>
                <a:spcPts val="100"/>
              </a:spcAft>
              <a:defRPr sz="950">
                <a:solidFill>
                  <a:srgbClr val="333333"/>
                </a:solidFill>
                <a:latin typeface="Consolas"/>
              </a:defRPr>
            </a:pPr>
            <a:r>
              <a:t>│  TIM1 CNT=0  →  TRGO脉冲  →  ADC硬件触发  →  InjectedConvCplt中断  │</a:t>
            </a:r>
          </a:p>
          <a:p>
            <a:pPr>
              <a:lnSpc>
                <a:spcPts val="1140"/>
              </a:lnSpc>
              <a:spcBef>
                <a:spcPts val="0"/>
              </a:spcBef>
              <a:spcAft>
                <a:spcPts val="100"/>
              </a:spcAft>
              <a:defRPr sz="950">
                <a:solidFill>
                  <a:srgbClr val="333333"/>
                </a:solidFill>
                <a:latin typeface="Consolas"/>
              </a:defRPr>
            </a:pPr>
            <a:r>
              <a:t>│                                            (~10kHz)                 │</a:t>
            </a:r>
          </a:p>
          <a:p>
            <a:pPr>
              <a:lnSpc>
                <a:spcPts val="1140"/>
              </a:lnSpc>
              <a:spcBef>
                <a:spcPts val="0"/>
              </a:spcBef>
              <a:spcAft>
                <a:spcPts val="100"/>
              </a:spcAft>
              <a:defRPr sz="950">
                <a:solidFill>
                  <a:srgbClr val="333333"/>
                </a:solidFill>
                <a:latin typeface="Consolas"/>
              </a:defRPr>
            </a:pPr>
            <a:r>
              <a:t>│                                                ↓                    │</a:t>
            </a:r>
          </a:p>
          <a:p>
            <a:pPr>
              <a:lnSpc>
                <a:spcPts val="1140"/>
              </a:lnSpc>
              <a:spcBef>
                <a:spcPts val="0"/>
              </a:spcBef>
              <a:spcAft>
                <a:spcPts val="100"/>
              </a:spcAft>
              <a:defRPr sz="950">
                <a:solidFill>
                  <a:srgbClr val="333333"/>
                </a:solidFill>
                <a:latin typeface="Consolas"/>
              </a:defRPr>
            </a:pPr>
            <a:r>
              <a:t>│  读取ADC值 → adc_injected_data → Update() → 减零漂×6.714 → 滤波    │</a:t>
            </a:r>
          </a:p>
          <a:p>
            <a:pPr>
              <a:lnSpc>
                <a:spcPts val="1140"/>
              </a:lnSpc>
              <a:spcBef>
                <a:spcPts val="0"/>
              </a:spcBef>
              <a:spcAft>
                <a:spcPts val="100"/>
              </a:spcAft>
              <a:defRPr sz="950">
                <a:solidFill>
                  <a:srgbClr val="333333"/>
                </a:solidFill>
                <a:latin typeface="Consolas"/>
              </a:defRPr>
            </a:pPr>
            <a:r>
              <a:t>│                                                ↓                    │</a:t>
            </a:r>
          </a:p>
          <a:p>
            <a:pPr>
              <a:lnSpc>
                <a:spcPts val="1140"/>
              </a:lnSpc>
              <a:spcBef>
                <a:spcPts val="0"/>
              </a:spcBef>
              <a:spcAft>
                <a:spcPts val="100"/>
              </a:spcAft>
              <a:defRPr sz="950">
                <a:solidFill>
                  <a:srgbClr val="333333"/>
                </a:solidFill>
                <a:latin typeface="Consolas"/>
              </a:defRPr>
            </a:pPr>
            <a:r>
              <a:t>│  main循环 (50ms, ~20Hz)  →  GetCurrent()  →  ×方向(±1)  → 显示    │</a:t>
            </a:r>
          </a:p>
          <a:p>
            <a:pPr>
              <a:lnSpc>
                <a:spcPts val="1140"/>
              </a:lnSpc>
              <a:spcBef>
                <a:spcPts val="0"/>
              </a:spcBef>
              <a:spcAft>
                <a:spcPts val="100"/>
              </a:spcAft>
              <a:defRPr sz="950">
                <a:solidFill>
                  <a:srgbClr val="333333"/>
                </a:solidFill>
                <a:latin typeface="Consolas"/>
              </a:defRPr>
            </a:pPr>
            <a:r>
              <a:t>└─────────────────────────────────────────────────────────────────────┘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029200" cy="822960"/>
          </a:xfrm>
          <a:prstGeom prst="rect">
            <a:avLst/>
          </a:prstGeom>
          <a:solidFill>
            <a:srgbClr val="0083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Noto Sans SC"/>
              </a:defRPr>
            </a:pPr>
            <a:r>
              <a:t>实测效果演示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CEEEE"/>
                </a:solidFill>
                <a:latin typeface="Noto Sans SC"/>
              </a:defRPr>
            </a:pPr>
            <a:r>
              <a:t>演示步骤 + LCD 显示界面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400"/>
              </a:spcAft>
              <a:defRPr sz="1400" b="1">
                <a:solidFill>
                  <a:srgbClr val="00838F"/>
                </a:solidFill>
                <a:latin typeface="Noto Sans SC"/>
              </a:defRPr>
            </a:pPr>
            <a:r>
              <a:t>LCD 实际显示界面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554480"/>
            <a:ext cx="4114800" cy="3383280"/>
          </a:xfrm>
          <a:prstGeom prst="rect">
            <a:avLst/>
          </a:prstGeom>
          <a:solidFill>
            <a:srgbClr val="001F3F"/>
          </a:solidFill>
          <a:ln w="25400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3749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400"/>
              </a:spcAft>
              <a:defRPr sz="1300" b="0">
                <a:solidFill>
                  <a:srgbClr val="00FF88"/>
                </a:solidFill>
                <a:latin typeface="Consolas"/>
              </a:defRPr>
            </a:pPr>
            <a:r>
              <a:t>Dr.GAO-Motor-1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39112"/>
            <a:ext cx="3749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400"/>
              </a:spcAft>
              <a:defRPr sz="1300" b="0">
                <a:solidFill>
                  <a:srgbClr val="00FF88"/>
                </a:solidFill>
                <a:latin typeface="Consolas"/>
              </a:defRPr>
            </a:pPr>
            <a:r>
              <a:t>Chap11: Open-Loop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386584"/>
            <a:ext cx="3749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400"/>
              </a:spcAft>
              <a:defRPr sz="1300" b="0">
                <a:solidFill>
                  <a:srgbClr val="000000"/>
                </a:solidFill>
                <a:latin typeface="Noto Sans SC"/>
              </a:defRPr>
            </a:pPr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2734056"/>
            <a:ext cx="3749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400"/>
              </a:spcAft>
              <a:defRPr sz="1300" b="0">
                <a:solidFill>
                  <a:srgbClr val="00FF88"/>
                </a:solidFill>
                <a:latin typeface="Consolas"/>
              </a:defRPr>
            </a:pPr>
            <a:r>
              <a:t>KEY0: Forward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081528"/>
            <a:ext cx="3749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400"/>
              </a:spcAft>
              <a:defRPr sz="1300" b="0">
                <a:solidFill>
                  <a:srgbClr val="00FF88"/>
                </a:solidFill>
                <a:latin typeface="Consolas"/>
              </a:defRPr>
            </a:pPr>
            <a:r>
              <a:t>Duty: 60%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429000"/>
            <a:ext cx="3749039" cy="2891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400"/>
              </a:spcAft>
              <a:defRPr sz="1300" b="0">
                <a:solidFill>
                  <a:srgbClr val="00FF88"/>
                </a:solidFill>
                <a:latin typeface="Consolas"/>
              </a:defRPr>
            </a:pPr>
            <a:r>
              <a:rPr dirty="0"/>
              <a:t>Offset: </a:t>
            </a:r>
            <a:r>
              <a:rPr lang="en-US" dirty="0"/>
              <a:t>1587.5</a:t>
            </a:r>
            <a:endParaRPr dirty="0"/>
          </a:p>
        </p:txBody>
      </p:sp>
      <p:sp>
        <p:nvSpPr>
          <p:cNvPr id="13" name="TextBox 12"/>
          <p:cNvSpPr txBox="1"/>
          <p:nvPr/>
        </p:nvSpPr>
        <p:spPr>
          <a:xfrm>
            <a:off x="640080" y="3776472"/>
            <a:ext cx="3749039" cy="2891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400"/>
              </a:spcAft>
              <a:defRPr sz="1300" b="0">
                <a:solidFill>
                  <a:srgbClr val="00FF88"/>
                </a:solidFill>
                <a:latin typeface="Consolas"/>
              </a:defRPr>
            </a:pPr>
            <a:r>
              <a:rPr dirty="0"/>
              <a:t>Current: </a:t>
            </a:r>
            <a:r>
              <a:rPr lang="en-US" dirty="0"/>
              <a:t>90</a:t>
            </a:r>
            <a:r>
              <a:rPr dirty="0"/>
              <a:t>.6 mA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123944"/>
            <a:ext cx="3749039" cy="2891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400"/>
              </a:spcAft>
              <a:defRPr sz="1300" b="0">
                <a:solidFill>
                  <a:srgbClr val="00FF88"/>
                </a:solidFill>
                <a:latin typeface="Consolas"/>
              </a:defRPr>
            </a:pPr>
            <a:r>
              <a:rPr dirty="0"/>
              <a:t>ADC Raw: </a:t>
            </a:r>
            <a:r>
              <a:rPr lang="en-US" dirty="0"/>
              <a:t>1611</a:t>
            </a:r>
            <a:endParaRPr dirty="0"/>
          </a:p>
        </p:txBody>
      </p:sp>
      <p:sp>
        <p:nvSpPr>
          <p:cNvPr id="15" name="TextBox 14"/>
          <p:cNvSpPr txBox="1"/>
          <p:nvPr/>
        </p:nvSpPr>
        <p:spPr>
          <a:xfrm>
            <a:off x="5303520" y="15083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400"/>
              </a:spcAft>
              <a:defRPr sz="1400" b="1">
                <a:solidFill>
                  <a:srgbClr val="00838F"/>
                </a:solidFill>
                <a:latin typeface="Noto Sans SC"/>
              </a:defRPr>
            </a:pPr>
            <a:r>
              <a:t>演示操作流程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0" y="516590"/>
            <a:ext cx="6400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400"/>
              </a:spcAft>
              <a:defRPr sz="1100" b="1">
                <a:solidFill>
                  <a:srgbClr val="00838F"/>
                </a:solidFill>
                <a:latin typeface="Noto Sans SC"/>
              </a:defRPr>
            </a:pPr>
            <a:r>
              <a:t>① 上电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0" y="717758"/>
            <a:ext cx="6400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40"/>
              </a:lnSpc>
              <a:spcAft>
                <a:spcPts val="400"/>
              </a:spcAft>
              <a:defRPr sz="950" b="0">
                <a:solidFill>
                  <a:srgbClr val="333333"/>
                </a:solidFill>
                <a:latin typeface="Noto Sans SC"/>
              </a:defRPr>
            </a:pPr>
            <a:r>
              <a:t>屏幕显示 "Calibrating zero offset..." (红字)</a:t>
            </a:r>
            <a:br/>
            <a:r>
              <a:t>校准100次完成 → 变绿 → 等待按键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03520" y="1357838"/>
            <a:ext cx="6400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400"/>
              </a:spcAft>
              <a:defRPr sz="1100" b="1">
                <a:solidFill>
                  <a:srgbClr val="00838F"/>
                </a:solidFill>
                <a:latin typeface="Noto Sans SC"/>
              </a:defRPr>
            </a:pPr>
            <a:r>
              <a:t>② KEY0调速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0" y="1559006"/>
            <a:ext cx="6400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40"/>
              </a:lnSpc>
              <a:spcAft>
                <a:spcPts val="400"/>
              </a:spcAft>
              <a:defRPr sz="950" b="0">
                <a:solidFill>
                  <a:srgbClr val="333333"/>
                </a:solidFill>
                <a:latin typeface="Noto Sans SC"/>
              </a:defRPr>
            </a:pPr>
            <a:r>
              <a:t>每按一次 duty_percent ±20</a:t>
            </a:r>
            <a:br/>
            <a:r>
              <a:t>20→40→60→80→100% 占空比递增</a:t>
            </a:r>
            <a:br/>
            <a:r>
              <a:t>电流随占空比线性增长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03520" y="2199086"/>
            <a:ext cx="6400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400"/>
              </a:spcAft>
              <a:defRPr sz="1100" b="1">
                <a:solidFill>
                  <a:srgbClr val="00838F"/>
                </a:solidFill>
                <a:latin typeface="Noto Sans SC"/>
              </a:defRPr>
            </a:pPr>
            <a:r>
              <a:t>③ 自动反转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03520" y="2400254"/>
            <a:ext cx="6400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40"/>
              </a:lnSpc>
              <a:spcAft>
                <a:spcPts val="400"/>
              </a:spcAft>
              <a:defRPr sz="950" b="0">
                <a:solidFill>
                  <a:srgbClr val="333333"/>
                </a:solidFill>
                <a:latin typeface="Noto Sans SC"/>
              </a:defRPr>
            </a:pPr>
            <a:r>
              <a:t>到100%后 duty_step 变 -20</a:t>
            </a:r>
            <a:br/>
            <a:r>
              <a:t>占空比 100→80→...→-100%</a:t>
            </a:r>
            <a:br/>
            <a:r>
              <a:t>LCD 显示 KEY0: Reverse</a:t>
            </a:r>
            <a:br/>
            <a:r>
              <a:t>Current 由正变负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03520" y="3040334"/>
            <a:ext cx="6400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400"/>
              </a:spcAft>
              <a:defRPr sz="1100" b="1">
                <a:solidFill>
                  <a:srgbClr val="00838F"/>
                </a:solidFill>
                <a:latin typeface="Noto Sans SC"/>
              </a:defRPr>
            </a:pPr>
            <a:r>
              <a:t>④ KEY1停机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0" y="3241502"/>
            <a:ext cx="6400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40"/>
              </a:lnSpc>
              <a:spcAft>
                <a:spcPts val="400"/>
              </a:spcAft>
              <a:defRPr sz="950" b="0">
                <a:solidFill>
                  <a:srgbClr val="333333"/>
                </a:solidFill>
                <a:latin typeface="Noto Sans SC"/>
              </a:defRPr>
            </a:pPr>
            <a:r>
              <a:t>占空比清0 → Enable→校准→Disable</a:t>
            </a:r>
            <a:br/>
            <a:r>
              <a:t>LCD 显示 "KEY1: Motor Stop"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03520" y="3881582"/>
            <a:ext cx="6400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Aft>
                <a:spcPts val="400"/>
              </a:spcAft>
              <a:defRPr sz="1100" b="1">
                <a:solidFill>
                  <a:srgbClr val="00838F"/>
                </a:solidFill>
                <a:latin typeface="Noto Sans SC"/>
              </a:defRPr>
            </a:pPr>
            <a:r>
              <a:t>⑤ KEY2在线校准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4082750"/>
            <a:ext cx="6400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40"/>
              </a:lnSpc>
              <a:spcAft>
                <a:spcPts val="400"/>
              </a:spcAft>
              <a:defRPr sz="950" b="0">
                <a:solidFill>
                  <a:srgbClr val="333333"/>
                </a:solidFill>
                <a:latin typeface="Noto Sans SC"/>
              </a:defRPr>
            </a:pPr>
            <a:r>
              <a:t>电机不停！临时 SetSpeed(0) → 校准</a:t>
            </a:r>
            <a:br/>
            <a:r>
              <a:t>校准完恢复原方向+速度</a:t>
            </a:r>
            <a:br/>
            <a:r>
              <a:t>LCD 显示 "KEY2: CalibrateOffset"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5212080"/>
            <a:ext cx="1325418" cy="298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400"/>
              </a:spcAft>
              <a:defRPr sz="1400" b="1">
                <a:solidFill>
                  <a:srgbClr val="00838F"/>
                </a:solidFill>
                <a:latin typeface="Noto Sans SC"/>
              </a:defRPr>
            </a:pPr>
            <a:r>
              <a:rPr dirty="0" err="1"/>
              <a:t>关键验证点</a:t>
            </a:r>
            <a:endParaRPr dirty="0"/>
          </a:p>
        </p:txBody>
      </p:sp>
      <p:graphicFrame>
        <p:nvGraphicFramePr>
          <p:cNvPr id="27" name="Table 2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4443566"/>
              </p:ext>
            </p:extLst>
          </p:nvPr>
        </p:nvGraphicFramePr>
        <p:xfrm>
          <a:off x="2041236" y="5001491"/>
          <a:ext cx="10023303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72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670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189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Noto Sans SC"/>
                        </a:defRPr>
                      </a:pPr>
                      <a:r>
                        <a:t>验证项</a:t>
                      </a:r>
                    </a:p>
                  </a:txBody>
                  <a:tcPr>
                    <a:solidFill>
                      <a:srgbClr val="00838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Noto Sans SC"/>
                        </a:defRPr>
                      </a:pPr>
                      <a:r>
                        <a:t>预期结果</a:t>
                      </a:r>
                    </a:p>
                  </a:txBody>
                  <a:tcPr>
                    <a:solidFill>
                      <a:srgbClr val="00838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Noto Sans SC"/>
                        </a:defRPr>
                      </a:pPr>
                      <a:r>
                        <a:t>原因</a:t>
                      </a:r>
                    </a:p>
                  </a:txBody>
                  <a:tcPr>
                    <a:solidFill>
                      <a:srgbClr val="00838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Noto Sans SC"/>
                        </a:defRPr>
                      </a:pPr>
                      <a:r>
                        <a:t>零漂值 Offset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Noto Sans SC"/>
                        </a:defRPr>
                      </a:pPr>
                      <a:r>
                        <a:rPr dirty="0"/>
                        <a:t>~1576 (</a:t>
                      </a:r>
                      <a:r>
                        <a:rPr dirty="0" err="1"/>
                        <a:t>ADC阶数</a:t>
                      </a:r>
                      <a:r>
                        <a:rPr dirty="0"/>
                        <a:t>)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Noto Sans SC"/>
                        </a:defRPr>
                      </a:pPr>
                      <a:r>
                        <a:rPr dirty="0"/>
                        <a:t>1.27V偏置 / 3.3V × 4096 ≈ 1576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Noto Sans SC"/>
                        </a:defRPr>
                      </a:pPr>
                      <a:r>
                        <a:t>电流线性度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Noto Sans SC"/>
                        </a:defRPr>
                      </a:pPr>
                      <a:r>
                        <a:t>电流 ∝ 占空比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Noto Sans SC"/>
                        </a:defRPr>
                      </a:pPr>
                      <a:r>
                        <a:t>空载电流 = 几十到几百mA，随电压线性变化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Noto Sans SC"/>
                        </a:defRPr>
                      </a:pPr>
                      <a:r>
                        <a:t>反转符号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Noto Sans SC"/>
                        </a:defRPr>
                      </a:pPr>
                      <a:r>
                        <a:t>Current 显示负值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Noto Sans SC"/>
                        </a:defRPr>
                      </a:pPr>
                      <a:r>
                        <a:t>g_motor_current_direction = -1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Noto Sans SC"/>
                        </a:defRPr>
                      </a:pPr>
                      <a:r>
                        <a:t>串口输出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Noto Sans SC"/>
                        </a:defRPr>
                      </a:pPr>
                      <a:r>
                        <a:t>"Duty:60%, Current:125.6 mA"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Noto Sans SC"/>
                        </a:defRPr>
                      </a:pPr>
                      <a:r>
                        <a:rPr dirty="0"/>
                        <a:t>每500ms发送一次（send_cnt≥10）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22960"/>
          </a:xfrm>
          <a:prstGeom prst="rect">
            <a:avLst/>
          </a:prstGeom>
          <a:solidFill>
            <a:srgbClr val="0083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Noto Sans SC"/>
              </a:defRPr>
            </a:pPr>
            <a:r>
              <a:t>调试要点与注意事项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CEEEE"/>
                </a:solidFill>
                <a:latin typeface="Noto Sans SC"/>
              </a:defRPr>
            </a:pPr>
            <a:r>
              <a:t>基于代码实际逻辑的四个关键点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515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400"/>
              </a:spcAft>
              <a:defRPr sz="1300" b="0">
                <a:solidFill>
                  <a:srgbClr val="555555"/>
                </a:solidFill>
                <a:latin typeface="Noto Sans SC"/>
              </a:defRPr>
            </a:pPr>
            <a:r>
              <a:t>以下四个要点全部来自代码注释和实际逻辑，是学生最常踩的坑：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554480"/>
            <a:ext cx="5303520" cy="22860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83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16459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400"/>
              </a:spcAft>
              <a:defRPr sz="1300" b="1">
                <a:solidFill>
                  <a:srgbClr val="00838F"/>
                </a:solidFill>
                <a:latin typeface="Noto Sans SC"/>
              </a:defRPr>
            </a:pPr>
            <a:r>
              <a:t>① 校准前必须导通下桥臂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965960"/>
            <a:ext cx="502920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Aft>
                <a:spcPts val="400"/>
              </a:spcAft>
              <a:defRPr sz="900" b="0">
                <a:solidFill>
                  <a:srgbClr val="333333"/>
                </a:solidFill>
                <a:latin typeface="Noto Sans SC"/>
              </a:defRPr>
            </a:pPr>
            <a:r>
              <a:t>main.c 第94-96行：SetSpeed(0) + Enable + Delay(500) 之后才调 Init</a:t>
            </a:r>
            <a:br/>
            <a:br/>
            <a:r>
              <a:t>原因：R32 采样电阻在 H 桥低侧公共回路，需要下桥臂导通才能形成电流回路。</a:t>
            </a:r>
            <a:br/>
            <a:r>
              <a:t>不然 ADC 采样到的是悬空电压，校准出的零漂完全错误。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6126480" y="1554480"/>
            <a:ext cx="5303520" cy="2286000"/>
          </a:xfrm>
          <a:prstGeom prst="rect">
            <a:avLst/>
          </a:prstGeom>
          <a:solidFill>
            <a:srgbClr val="FFFFFF"/>
          </a:solidFill>
          <a:ln w="19050">
            <a:solidFill>
              <a:srgbClr val="E84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263640" y="16459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400"/>
              </a:spcAft>
              <a:defRPr sz="1300" b="1">
                <a:solidFill>
                  <a:srgbClr val="E84D3D"/>
                </a:solidFill>
                <a:latin typeface="Noto Sans SC"/>
              </a:defRPr>
            </a:pPr>
            <a:r>
              <a:t>② 先 SetDirection 再 SetSpeed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3640" y="1965960"/>
            <a:ext cx="502920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Aft>
                <a:spcPts val="400"/>
              </a:spcAft>
              <a:defRPr sz="900" b="0">
                <a:solidFill>
                  <a:srgbClr val="333333"/>
                </a:solidFill>
                <a:latin typeface="Noto Sans SC"/>
              </a:defRPr>
            </a:pPr>
            <a:r>
              <a:t>main.c 第101行注释原文："先设方向（内部Stop→Stop→Start），再设速度。</a:t>
            </a:r>
            <a:br/>
            <a:r>
              <a:t>如果先SetSpeed再SetDirection，SetDirection内部会把CCR清零。"</a:t>
            </a:r>
            <a:br/>
            <a:br/>
            <a:r>
              <a:t>SetDirection 三步法中调了 PWM_Stop，会顺便清零 CCR。</a:t>
            </a:r>
            <a:br/>
            <a:r>
              <a:t>所以顺序反了 = 占空比永远为0 = 电机不转。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4114800"/>
            <a:ext cx="5303520" cy="2286000"/>
          </a:xfrm>
          <a:prstGeom prst="rect">
            <a:avLst/>
          </a:prstGeom>
          <a:solidFill>
            <a:srgbClr val="FFFFFF"/>
          </a:solidFill>
          <a:ln w="19050">
            <a:solidFill>
              <a:srgbClr val="D48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94360" y="42062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400"/>
              </a:spcAft>
              <a:defRPr sz="1300" b="1">
                <a:solidFill>
                  <a:srgbClr val="D48B00"/>
                </a:solidFill>
                <a:latin typeface="Noto Sans SC"/>
              </a:defRPr>
            </a:pPr>
            <a:r>
              <a:t>③ Disable ≠ Stop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4526280"/>
            <a:ext cx="502920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Aft>
                <a:spcPts val="400"/>
              </a:spcAft>
              <a:defRPr sz="900" b="0">
                <a:solidFill>
                  <a:srgbClr val="333333"/>
                </a:solidFill>
                <a:latin typeface="Noto Sans SC"/>
              </a:defRPr>
            </a:pPr>
            <a:r>
              <a:t>bsp_brush_motor.c 第75行注释："不调 HAL_TIM_PWM_Stop，保留TIM运行</a:t>
            </a:r>
            <a:br/>
            <a:r>
              <a:t>以保证 TRGO → ADC 注入触发链不间断。"</a:t>
            </a:r>
            <a:br/>
            <a:br/>
            <a:r>
              <a:t>Stop → 定时器完全停止 → TRGO 停了 → ADC 中断停了 → 电流不更新了</a:t>
            </a:r>
            <a:br/>
            <a:r>
              <a:t>Disable → 只拉 SD + 清 CCR → 定时器还在跑 → TRGO 继续触发 ADC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26480" y="4114800"/>
            <a:ext cx="5303520" cy="2286000"/>
          </a:xfrm>
          <a:prstGeom prst="rect">
            <a:avLst/>
          </a:prstGeom>
          <a:solidFill>
            <a:srgbClr val="FFFFFF"/>
          </a:solidFill>
          <a:ln w="19050">
            <a:solidFill>
              <a:srgbClr val="6A1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263640" y="42062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400"/>
              </a:spcAft>
              <a:defRPr sz="1300" b="1">
                <a:solidFill>
                  <a:srgbClr val="6A1B9A"/>
                </a:solidFill>
                <a:latin typeface="Noto Sans SC"/>
              </a:defRPr>
            </a:pPr>
            <a:r>
              <a:t>④ 中断只采样，不控制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4526280"/>
            <a:ext cx="502920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Aft>
                <a:spcPts val="400"/>
              </a:spcAft>
              <a:defRPr sz="900" b="0">
                <a:solidFill>
                  <a:srgbClr val="333333"/>
                </a:solidFill>
                <a:latin typeface="Noto Sans SC"/>
              </a:defRPr>
            </a:pPr>
            <a:r>
              <a:t>adc.c 第86行注释："仅采样+更新电流，不做任何电机控制。</a:t>
            </a:r>
            <a:br/>
            <a:r>
              <a:t>电机控制由 main 循环统一处理。"</a:t>
            </a:r>
            <a:br/>
            <a:br/>
            <a:r>
              <a:t>设计原理：中断频率 10kHz ≠ 控制频率 20Hz</a:t>
            </a:r>
            <a:br/>
            <a:r>
              <a:t>中断里只读ADC+Update滤波，main循环里做SetDirection+SetSpeed+Enable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566928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400"/>
              </a:spcAft>
              <a:defRPr sz="1300" b="1">
                <a:solidFill>
                  <a:srgbClr val="E84D3D"/>
                </a:solidFill>
                <a:latin typeface="Noto Sans SC"/>
              </a:defRPr>
            </a:pPr>
            <a:r>
              <a:rPr dirty="0" err="1"/>
              <a:t>额外发现：代码注释未完全同步</a:t>
            </a:r>
            <a:endParaRPr dirty="0"/>
          </a:p>
        </p:txBody>
      </p:sp>
      <p:sp>
        <p:nvSpPr>
          <p:cNvPr id="19" name="TextBox 18"/>
          <p:cNvSpPr txBox="1"/>
          <p:nvPr/>
        </p:nvSpPr>
        <p:spPr>
          <a:xfrm>
            <a:off x="457200" y="5989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150"/>
              </a:lnSpc>
              <a:spcBef>
                <a:spcPts val="0"/>
              </a:spcBef>
              <a:spcAft>
                <a:spcPts val="100"/>
              </a:spcAft>
              <a:defRPr sz="1000">
                <a:solidFill>
                  <a:srgbClr val="555555"/>
                </a:solidFill>
                <a:latin typeface="Consolas"/>
              </a:defRPr>
            </a:pPr>
            <a:r>
              <a:t>• bsp_current_sensor.h 头注释仍写 "ADC1 IN12 (PC2)、TIM8 CH4 CC4触发"，实际已是 IN8 (PB0)、T1_TRGO</a:t>
            </a:r>
          </a:p>
          <a:p>
            <a:pPr>
              <a:lnSpc>
                <a:spcPts val="1150"/>
              </a:lnSpc>
              <a:spcBef>
                <a:spcPts val="0"/>
              </a:spcBef>
              <a:spcAft>
                <a:spcPts val="100"/>
              </a:spcAft>
              <a:defRPr sz="1000">
                <a:solidFill>
                  <a:srgbClr val="555555"/>
                </a:solidFill>
                <a:latin typeface="Consolas"/>
              </a:defRPr>
            </a:pPr>
            <a:r>
              <a:t>• bsp_brush_motor.c 头注释仍写 "TIM8 CH1 (PI5) + CH1N (PH13)"，实际已是 TIM1 PA8/PB13</a:t>
            </a:r>
          </a:p>
          <a:p>
            <a:pPr>
              <a:lnSpc>
                <a:spcPts val="1150"/>
              </a:lnSpc>
              <a:spcBef>
                <a:spcPts val="0"/>
              </a:spcBef>
              <a:spcAft>
                <a:spcPts val="100"/>
              </a:spcAft>
              <a:defRPr sz="1000">
                <a:solidFill>
                  <a:srgbClr val="555555"/>
                </a:solidFill>
                <a:latin typeface="Consolas"/>
              </a:defRPr>
            </a:pPr>
            <a:r>
              <a:t>• 建议：维护代码时同步更新文件头注释，避免误导后续维护者。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83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6240"/>
              </a:lnSpc>
              <a:spcAft>
                <a:spcPts val="400"/>
              </a:spcAft>
              <a:defRPr sz="5200" b="1">
                <a:solidFill>
                  <a:srgbClr val="FFFFFF"/>
                </a:solidFill>
                <a:latin typeface="Noto Sans SC"/>
              </a:defRPr>
            </a:pPr>
            <a:r>
              <a:t>感谢观看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918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640"/>
              </a:lnSpc>
              <a:spcAft>
                <a:spcPts val="400"/>
              </a:spcAft>
              <a:defRPr sz="2200" b="0">
                <a:solidFill>
                  <a:srgbClr val="CCEEEE"/>
                </a:solidFill>
                <a:latin typeface="Noto Sans SC"/>
              </a:defRPr>
            </a:pPr>
            <a:r>
              <a:t>淘宝店铺：GenBotter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0233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160"/>
              </a:lnSpc>
              <a:spcAft>
                <a:spcPts val="400"/>
              </a:spcAft>
              <a:defRPr sz="1800" b="0">
                <a:solidFill>
                  <a:srgbClr val="CCEEEE"/>
                </a:solidFill>
                <a:latin typeface="Noto Sans SC"/>
              </a:defRPr>
            </a:pPr>
            <a:r>
              <a:t>Bilibili账号：高博士_嵌入式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9377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Aft>
                <a:spcPts val="400"/>
              </a:spcAft>
              <a:defRPr sz="1600" b="0">
                <a:solidFill>
                  <a:srgbClr val="99CCCC"/>
                </a:solidFill>
                <a:latin typeface="Noto Sans SC"/>
              </a:defRPr>
            </a:pPr>
            <a:r>
              <a:t>2026.06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1069</TotalTime>
  <Words>3956</Words>
  <Application>Microsoft Office PowerPoint</Application>
  <PresentationFormat>宽屏</PresentationFormat>
  <Paragraphs>500</Paragraphs>
  <Slides>21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21</vt:i4>
      </vt:variant>
    </vt:vector>
  </HeadingPairs>
  <TitlesOfParts>
    <vt:vector size="28" baseType="lpstr">
      <vt:lpstr>Google Sans</vt:lpstr>
      <vt:lpstr>Google Sans Text</vt:lpstr>
      <vt:lpstr>Noto Sans SC</vt:lpstr>
      <vt:lpstr>Arial</vt:lpstr>
      <vt:lpstr>Courier New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延增 高</cp:lastModifiedBy>
  <cp:revision>58</cp:revision>
  <dcterms:modified xsi:type="dcterms:W3CDTF">2026-06-15T04:22:27Z</dcterms:modified>
</cp:coreProperties>
</file>