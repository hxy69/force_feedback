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3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609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-91440" y="2539901"/>
            <a:ext cx="93268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2400" dirty="0" err="1">
                <a:solidFill>
                  <a:srgbClr val="333333"/>
                </a:solidFill>
                <a:latin typeface="Arial"/>
              </a:rPr>
              <a:t>位置式</a:t>
            </a:r>
            <a:r>
              <a:rPr sz="2400" dirty="0">
                <a:solidFill>
                  <a:srgbClr val="333333"/>
                </a:solidFill>
                <a:latin typeface="Arial"/>
              </a:rPr>
              <a:t> PID </a:t>
            </a:r>
            <a:r>
              <a:rPr sz="2400" dirty="0" err="1">
                <a:solidFill>
                  <a:srgbClr val="333333"/>
                </a:solidFill>
                <a:latin typeface="Arial"/>
              </a:rPr>
              <a:t>电流环实现演示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064050" y="3225701"/>
            <a:ext cx="1015901" cy="50750"/>
          </a:xfrm>
          <a:prstGeom prst="roundRect">
            <a:avLst>
              <a:gd name="adj" fmla="val 50049"/>
            </a:avLst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000" y="3530501"/>
            <a:ext cx="8401050" cy="882551"/>
          </a:xfrm>
          <a:prstGeom prst="roundRect">
            <a:avLst>
              <a:gd name="adj" fmla="val 11512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>
            <a:outerShdw blurRad="177800" dist="76200" dir="5400000" algn="bl" rotWithShape="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3867001"/>
            <a:ext cx="360035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600">
                <a:solidFill>
                  <a:srgbClr val="555555"/>
                </a:solidFill>
                <a:latin typeface="Arial"/>
              </a:rPr>
              <a:t>主讲人：高博士 | 淘宝店铺：GenBotter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47533" y="3867001"/>
            <a:ext cx="7491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600">
                <a:solidFill>
                  <a:srgbClr val="555555"/>
                </a:solidFill>
                <a:latin typeface="Arial"/>
              </a:rPr>
              <a:t>2026.06</a:t>
            </a:r>
            <a:endParaRPr lang="en-US" sz="1600" dirty="0"/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0F123BEE-73DB-36EF-5DA5-8D022C6202B7}"/>
              </a:ext>
            </a:extLst>
          </p:cNvPr>
          <p:cNvSpPr/>
          <p:nvPr/>
        </p:nvSpPr>
        <p:spPr>
          <a:xfrm>
            <a:off x="-1" y="1038374"/>
            <a:ext cx="9144001" cy="101902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ts val="5000"/>
              </a:lnSpc>
              <a:buNone/>
              <a:defRPr/>
            </a:pPr>
            <a:r>
              <a:rPr sz="4000" b="1" i="0" u="none" dirty="0">
                <a:solidFill>
                  <a:srgbClr val="00838F"/>
                </a:solidFill>
                <a:latin typeface="Noto Sans SC"/>
              </a:rPr>
              <a:t>11-04 </a:t>
            </a:r>
            <a:r>
              <a:rPr sz="4000" b="1" i="0" u="none" dirty="0" err="1">
                <a:solidFill>
                  <a:srgbClr val="00838F"/>
                </a:solidFill>
                <a:latin typeface="Noto Sans SC"/>
              </a:rPr>
              <a:t>电流环控制案例（三</a:t>
            </a:r>
            <a:r>
              <a:rPr sz="4000" b="1" i="0" u="none" dirty="0">
                <a:solidFill>
                  <a:srgbClr val="00838F"/>
                </a:solidFill>
                <a:latin typeface="Noto Sans SC"/>
              </a:rPr>
              <a:t>）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76200"/>
            <a:ext cx="9144000" cy="1050875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304800"/>
            <a:ext cx="82906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100">
                <a:solidFill>
                  <a:srgbClr val="FFFFFF"/>
                </a:solidFill>
                <a:latin typeface="Arial"/>
              </a:rPr>
              <a:t>11-04 PID 电流环控制案例解析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54605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sz="2400" b="1">
                <a:solidFill>
                  <a:srgbClr val="FFFFFF"/>
                </a:solidFill>
                <a:latin typeface="Arial"/>
              </a:rPr>
              <a:t>CONTENTS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5401" y="1508075"/>
            <a:ext cx="210735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3200" b="1">
                <a:solidFill>
                  <a:srgbClr val="4472C4"/>
                </a:solidFill>
                <a:latin typeface="Arial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5401" y="2076301"/>
            <a:ext cx="210735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1800" b="1">
                <a:solidFill>
                  <a:srgbClr val="2D3748"/>
                </a:solidFill>
                <a:latin typeface="Arial"/>
              </a:rPr>
              <a:t>系统架构总览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5401" y="2422327"/>
            <a:ext cx="210735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200">
                <a:solidFill>
                  <a:srgbClr val="5A6A7E"/>
                </a:solidFill>
                <a:latin typeface="Arial"/>
              </a:rPr>
              <a:t>电流环硬件链路与软件分层结构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8883" y="1508075"/>
            <a:ext cx="12650" cy="1373237"/>
          </a:xfrm>
          <a:prstGeom prst="rect">
            <a:avLst/>
          </a:prstGeom>
          <a:solidFill>
            <a:srgbClr val="D0D8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38984" y="1508075"/>
            <a:ext cx="210735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3200" b="1">
                <a:solidFill>
                  <a:srgbClr val="4472C4"/>
                </a:solidFill>
                <a:latin typeface="Arial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38984" y="2076301"/>
            <a:ext cx="210735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1800" b="1">
                <a:solidFill>
                  <a:srgbClr val="2D3748"/>
                </a:solidFill>
                <a:latin typeface="Arial"/>
              </a:rPr>
              <a:t>位置式 PID 原理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38984" y="2422327"/>
            <a:ext cx="210735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200">
                <a:solidFill>
                  <a:srgbClr val="5A6A7E"/>
                </a:solidFill>
                <a:latin typeface="Arial"/>
              </a:rPr>
              <a:t>公式推导与增量式/位置式对比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22466" y="1508075"/>
            <a:ext cx="12650" cy="1373237"/>
          </a:xfrm>
          <a:prstGeom prst="rect">
            <a:avLst/>
          </a:prstGeom>
          <a:solidFill>
            <a:srgbClr val="D0D8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52567" y="1508075"/>
            <a:ext cx="210735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3200" b="1">
                <a:solidFill>
                  <a:srgbClr val="4472C4"/>
                </a:solidFill>
                <a:latin typeface="Arial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52567" y="2076301"/>
            <a:ext cx="210735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1800" b="1">
                <a:solidFill>
                  <a:srgbClr val="2D3748"/>
                </a:solidFill>
                <a:latin typeface="Arial"/>
              </a:rPr>
              <a:t>代码结构解析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52567" y="2422327"/>
            <a:ext cx="210735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200">
                <a:solidFill>
                  <a:srgbClr val="5A6A7E"/>
                </a:solidFill>
                <a:latin typeface="Arial"/>
              </a:rPr>
              <a:t>user_config / pid / current_loop 三层设计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401" y="3389263"/>
            <a:ext cx="210735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3200" b="1">
                <a:solidFill>
                  <a:srgbClr val="4472C4"/>
                </a:solidFill>
                <a:latin typeface="Arial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25401" y="3957489"/>
            <a:ext cx="210735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1800" b="1">
                <a:solidFill>
                  <a:srgbClr val="2D3748"/>
                </a:solidFill>
                <a:latin typeface="Arial"/>
              </a:rPr>
              <a:t>main.c 详解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5401" y="4303514"/>
            <a:ext cx="210735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200">
                <a:solidFill>
                  <a:srgbClr val="5A6A7E"/>
                </a:solidFill>
                <a:latin typeface="Arial"/>
              </a:rPr>
              <a:t>初始化流程与主循环调度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8883" y="3389263"/>
            <a:ext cx="12650" cy="1373237"/>
          </a:xfrm>
          <a:prstGeom prst="rect">
            <a:avLst/>
          </a:prstGeom>
          <a:solidFill>
            <a:srgbClr val="D0D8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538984" y="3389263"/>
            <a:ext cx="210735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3200" b="1">
                <a:solidFill>
                  <a:srgbClr val="4472C4"/>
                </a:solidFill>
                <a:latin typeface="Arial"/>
              </a:rPr>
              <a:t>05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538984" y="3957489"/>
            <a:ext cx="210735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1800" b="1">
                <a:solidFill>
                  <a:srgbClr val="2D3748"/>
                </a:solidFill>
                <a:latin typeface="Arial"/>
              </a:rPr>
              <a:t>PID 代码解析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538984" y="4303514"/>
            <a:ext cx="210735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200">
                <a:solidFill>
                  <a:srgbClr val="5A6A7E"/>
                </a:solidFill>
                <a:latin typeface="Arial"/>
              </a:rPr>
              <a:t>位置式PID代码逐行解析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22466" y="3389263"/>
            <a:ext cx="12650" cy="1373237"/>
          </a:xfrm>
          <a:prstGeom prst="rect">
            <a:avLst/>
          </a:prstGeom>
          <a:solidFill>
            <a:srgbClr val="D0D8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52567" y="3389263"/>
            <a:ext cx="210735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3200" b="1">
                <a:solidFill>
                  <a:srgbClr val="4472C4"/>
                </a:solidFill>
                <a:latin typeface="Arial"/>
              </a:rPr>
              <a:t>06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252567" y="3957489"/>
            <a:ext cx="210735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1800" b="1">
                <a:solidFill>
                  <a:srgbClr val="2D3748"/>
                </a:solidFill>
                <a:latin typeface="Arial"/>
              </a:rPr>
              <a:t>触发链详解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52567" y="4303514"/>
            <a:ext cx="210735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200">
                <a:solidFill>
                  <a:srgbClr val="5A6A7E"/>
                </a:solidFill>
                <a:latin typeface="Arial"/>
              </a:rPr>
              <a:t>触发链与滤波详解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84027"/>
            <a:ext cx="9144000" cy="0"/>
          </a:xfrm>
          <a:prstGeom prst="line">
            <a:avLst/>
          </a:prstGeom>
          <a:noFill/>
          <a:ln w="19050">
            <a:solidFill>
              <a:srgbClr val="E7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7950" y="203150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000">
                <a:solidFill>
                  <a:srgbClr val="4472C4"/>
                </a:solidFill>
                <a:latin typeface="Arial"/>
              </a:rPr>
              <a:t>11-04 · 系统架构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7950" y="390376"/>
            <a:ext cx="829066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000" b="1">
                <a:solidFill>
                  <a:srgbClr val="2D3748"/>
                </a:solidFill>
                <a:latin typeface="Arial"/>
              </a:rPr>
              <a:t>电流环系统架构总览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55550" y="895052"/>
            <a:ext cx="33759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1000" b="1">
                <a:solidFill>
                  <a:srgbClr val="4472C4"/>
                </a:solidFill>
                <a:latin typeface="Arial"/>
              </a:rPr>
              <a:t>软件分层架构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5550" y="1107728"/>
            <a:ext cx="3309789" cy="1971377"/>
          </a:xfrm>
          <a:prstGeom prst="roundRect">
            <a:avLst>
              <a:gd name="adj" fmla="val 2577"/>
            </a:avLst>
          </a:prstGeom>
          <a:noFill/>
          <a:ln w="9525">
            <a:solidFill>
              <a:srgbClr val="D0D8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5075" y="1117253"/>
            <a:ext cx="3290739" cy="416868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65075" y="1529358"/>
            <a:ext cx="3290739" cy="0"/>
          </a:xfrm>
          <a:prstGeom prst="line">
            <a:avLst/>
          </a:prstGeom>
          <a:noFill/>
          <a:ln w="9525">
            <a:solidFill>
              <a:srgbClr val="E7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92026" y="1180654"/>
            <a:ext cx="3097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900" b="1" dirty="0">
                <a:latin typeface="Arial"/>
              </a:rPr>
              <a:t>USER </a:t>
            </a:r>
            <a:r>
              <a:rPr sz="900" b="1" dirty="0" err="1">
                <a:latin typeface="Arial"/>
              </a:rPr>
              <a:t>应用层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2026" y="1345704"/>
            <a:ext cx="3097575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100"/>
              </a:spcBef>
              <a:buNone/>
            </a:pPr>
            <a:r>
              <a:rPr sz="700" dirty="0" err="1">
                <a:latin typeface="Arial"/>
              </a:rPr>
              <a:t>main.c</a:t>
            </a:r>
            <a:r>
              <a:rPr sz="700" dirty="0">
                <a:latin typeface="Arial"/>
              </a:rPr>
              <a:t> — </a:t>
            </a:r>
            <a:r>
              <a:rPr sz="700" dirty="0" err="1">
                <a:latin typeface="Arial"/>
              </a:rPr>
              <a:t>按键、模式切换、LCD</a:t>
            </a:r>
            <a:r>
              <a:rPr sz="700" dirty="0">
                <a:latin typeface="Arial"/>
              </a:rPr>
              <a:t> </a:t>
            </a:r>
            <a:r>
              <a:rPr sz="700" dirty="0" err="1">
                <a:latin typeface="Arial"/>
              </a:rPr>
              <a:t>显示、串口输出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65075" y="1534120"/>
            <a:ext cx="3290739" cy="564059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65075" y="2093416"/>
            <a:ext cx="3290739" cy="0"/>
          </a:xfrm>
          <a:prstGeom prst="line">
            <a:avLst/>
          </a:prstGeom>
          <a:noFill/>
          <a:ln w="9525">
            <a:solidFill>
              <a:srgbClr val="E7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92026" y="1597521"/>
            <a:ext cx="3097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900" b="1" dirty="0">
                <a:latin typeface="Arial"/>
              </a:rPr>
              <a:t>CONTROL </a:t>
            </a:r>
            <a:r>
              <a:rPr sz="900" b="1" dirty="0" err="1">
                <a:latin typeface="Arial"/>
              </a:rPr>
              <a:t>控制层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2026" y="1762571"/>
            <a:ext cx="309757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100"/>
              </a:spcBef>
              <a:buNone/>
            </a:pPr>
            <a:r>
              <a:rPr sz="700">
                <a:latin typeface="Arial"/>
              </a:rPr>
              <a:t>current_loop.c 在 ADC ISR 内 1000Hz 读电流 → PID → 写 PWM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92026" y="1900238"/>
            <a:ext cx="309757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100"/>
              </a:spcBef>
              <a:buNone/>
            </a:pPr>
            <a:r>
              <a:rPr sz="700" dirty="0" err="1">
                <a:latin typeface="Arial"/>
              </a:rPr>
              <a:t>pid.c</a:t>
            </a:r>
            <a:r>
              <a:rPr sz="700" dirty="0">
                <a:latin typeface="Arial"/>
              </a:rPr>
              <a:t> </a:t>
            </a:r>
            <a:r>
              <a:rPr sz="700" dirty="0" err="1">
                <a:latin typeface="Arial"/>
              </a:rPr>
              <a:t>位置式</a:t>
            </a:r>
            <a:r>
              <a:rPr sz="700" dirty="0">
                <a:latin typeface="Arial"/>
              </a:rPr>
              <a:t> </a:t>
            </a:r>
            <a:r>
              <a:rPr sz="700" dirty="0" err="1">
                <a:latin typeface="Arial"/>
              </a:rPr>
              <a:t>PID：output</a:t>
            </a:r>
            <a:r>
              <a:rPr sz="700" dirty="0">
                <a:latin typeface="Arial"/>
              </a:rPr>
              <a:t> = </a:t>
            </a:r>
            <a:r>
              <a:rPr sz="700" dirty="0" err="1">
                <a:latin typeface="Arial"/>
              </a:rPr>
              <a:t>Kp·e</a:t>
            </a:r>
            <a:r>
              <a:rPr sz="700" dirty="0">
                <a:latin typeface="Arial"/>
              </a:rPr>
              <a:t> + </a:t>
            </a:r>
            <a:r>
              <a:rPr sz="700" dirty="0" err="1">
                <a:latin typeface="Arial"/>
              </a:rPr>
              <a:t>Ki·Σe</a:t>
            </a:r>
            <a:r>
              <a:rPr sz="700" dirty="0">
                <a:latin typeface="Arial"/>
              </a:rPr>
              <a:t> + </a:t>
            </a:r>
            <a:r>
              <a:rPr sz="700" dirty="0" err="1">
                <a:latin typeface="Arial"/>
              </a:rPr>
              <a:t>Kd·Δe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5075" y="2098179"/>
            <a:ext cx="3290739" cy="564059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65075" y="2657475"/>
            <a:ext cx="3290739" cy="0"/>
          </a:xfrm>
          <a:prstGeom prst="line">
            <a:avLst/>
          </a:prstGeom>
          <a:noFill/>
          <a:ln w="9525">
            <a:solidFill>
              <a:srgbClr val="E7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92026" y="2161580"/>
            <a:ext cx="3097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900" b="1">
                <a:latin typeface="Arial"/>
              </a:rPr>
              <a:t>BSP 板级支持层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2026" y="2326630"/>
            <a:ext cx="309757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100"/>
              </a:spcBef>
              <a:buNone/>
            </a:pPr>
            <a:r>
              <a:rPr sz="700" dirty="0" err="1">
                <a:latin typeface="Arial"/>
              </a:rPr>
              <a:t>bsp_brush_motor.c</a:t>
            </a:r>
            <a:r>
              <a:rPr sz="700" dirty="0">
                <a:latin typeface="Arial"/>
              </a:rPr>
              <a:t> IR2104 </a:t>
            </a:r>
            <a:r>
              <a:rPr sz="700" dirty="0" err="1">
                <a:latin typeface="Arial"/>
              </a:rPr>
              <a:t>半桥驱动</a:t>
            </a:r>
            <a:r>
              <a:rPr sz="700" dirty="0">
                <a:latin typeface="Arial"/>
              </a:rPr>
              <a:t> · </a:t>
            </a:r>
            <a:r>
              <a:rPr sz="700" dirty="0" err="1">
                <a:latin typeface="Arial"/>
              </a:rPr>
              <a:t>正反转</a:t>
            </a:r>
            <a:r>
              <a:rPr sz="700" dirty="0">
                <a:latin typeface="Arial"/>
              </a:rPr>
              <a:t> · PWM </a:t>
            </a:r>
            <a:r>
              <a:rPr sz="700" dirty="0" err="1">
                <a:latin typeface="Arial"/>
              </a:rPr>
              <a:t>输出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92026" y="2464296"/>
            <a:ext cx="309757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100"/>
              </a:spcBef>
              <a:buNone/>
            </a:pPr>
            <a:r>
              <a:rPr sz="700">
                <a:latin typeface="Arial"/>
              </a:rPr>
              <a:t>bsp_current_sensor.c 零漂校准 · 低通滤波 · mA 转换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65075" y="2662238"/>
            <a:ext cx="3290739" cy="407343"/>
          </a:xfrm>
          <a:prstGeom prst="rect">
            <a:avLst/>
          </a:prstGeom>
          <a:solidFill>
            <a:srgbClr val="F8FA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2026" y="2725638"/>
            <a:ext cx="3097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900" b="1" dirty="0">
                <a:latin typeface="Arial"/>
              </a:rPr>
              <a:t>HAL </a:t>
            </a:r>
            <a:r>
              <a:rPr sz="900" b="1" dirty="0" err="1">
                <a:latin typeface="Arial"/>
              </a:rPr>
              <a:t>硬件抽象层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2026" y="2890689"/>
            <a:ext cx="3097575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100"/>
              </a:spcBef>
              <a:buNone/>
            </a:pPr>
            <a:r>
              <a:rPr sz="700" dirty="0">
                <a:latin typeface="Arial"/>
              </a:rPr>
              <a:t>TIM1(PWM+TRGO) · ADC1(</a:t>
            </a:r>
            <a:r>
              <a:rPr sz="700" dirty="0" err="1">
                <a:latin typeface="Arial"/>
              </a:rPr>
              <a:t>注入</a:t>
            </a:r>
            <a:r>
              <a:rPr sz="700" dirty="0">
                <a:latin typeface="Arial"/>
              </a:rPr>
              <a:t>) · FSMC(LCD) · USART1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55550" y="3142506"/>
            <a:ext cx="3309789" cy="395734"/>
          </a:xfrm>
          <a:prstGeom prst="rect">
            <a:avLst/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74600" y="3142506"/>
            <a:ext cx="0" cy="395734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82501" y="3218557"/>
            <a:ext cx="31558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700" b="1">
                <a:solidFill>
                  <a:srgbClr val="5D4037"/>
                </a:solidFill>
                <a:latin typeface="Arial"/>
              </a:rPr>
              <a:t>数据流向：USER(目标) → CONTROL(PID,ISR) → BSP(PWM) → 电机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82501" y="3346698"/>
            <a:ext cx="31558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700" b="1">
                <a:solidFill>
                  <a:srgbClr val="5D4037"/>
                </a:solidFill>
                <a:latin typeface="Arial"/>
              </a:rPr>
              <a:t>反馈回路：ADC(采样) → ISR(滤波+PID) → PWM下周期生效 → USER(显示)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843040" y="895052"/>
            <a:ext cx="50443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1000" b="1">
                <a:solidFill>
                  <a:srgbClr val="4472C4"/>
                </a:solidFill>
                <a:latin typeface="Arial"/>
              </a:rPr>
              <a:t>闭环控制框图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3040" y="1107728"/>
            <a:ext cx="4945410" cy="1113830"/>
          </a:xfrm>
          <a:prstGeom prst="roundRect">
            <a:avLst>
              <a:gd name="adj" fmla="val 4561"/>
            </a:avLst>
          </a:prstGeom>
          <a:solidFill>
            <a:srgbClr val="F8FAFB"/>
          </a:solidFill>
          <a:ln w="9525">
            <a:solidFill>
              <a:srgbClr val="D0D8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954066" y="1228279"/>
            <a:ext cx="939552" cy="330101"/>
          </a:xfrm>
          <a:prstGeom prst="roundRect">
            <a:avLst>
              <a:gd name="adj" fmla="val 11542"/>
            </a:avLst>
          </a:prstGeom>
          <a:solidFill>
            <a:srgbClr val="4472C4"/>
          </a:solidFill>
          <a:ln w="19050">
            <a:solidFill>
              <a:srgbClr val="2A5DB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067632" y="1298079"/>
            <a:ext cx="712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700" b="1" dirty="0" err="1">
                <a:solidFill>
                  <a:srgbClr val="FFFFFF"/>
                </a:solidFill>
                <a:latin typeface="Arial"/>
              </a:rPr>
              <a:t>I_ref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067632" y="1393329"/>
            <a:ext cx="712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700" dirty="0">
                <a:solidFill>
                  <a:srgbClr val="FFFFFF"/>
                </a:solidFill>
                <a:latin typeface="Arial"/>
              </a:rPr>
              <a:t>100mA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944368" y="1321891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000">
                <a:solidFill>
                  <a:srgbClr val="A5A5A5"/>
                </a:solidFill>
                <a:latin typeface="Arial"/>
              </a:rPr>
              <a:t>→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22218" y="1259979"/>
            <a:ext cx="266700" cy="26670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9050">
            <a:solidFill>
              <a:srgbClr val="44546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222081" y="1326654"/>
            <a:ext cx="68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900" b="1">
                <a:solidFill>
                  <a:srgbClr val="2D3748"/>
                </a:solidFill>
                <a:latin typeface="Arial"/>
              </a:rPr>
              <a:t>+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39668" y="1321891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000">
                <a:solidFill>
                  <a:srgbClr val="A5A5A5"/>
                </a:solidFill>
                <a:latin typeface="Arial"/>
              </a:rPr>
              <a:t>→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17518" y="1275904"/>
            <a:ext cx="723602" cy="234851"/>
          </a:xfrm>
          <a:prstGeom prst="roundRect">
            <a:avLst>
              <a:gd name="adj" fmla="val 16223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733243" y="1345704"/>
            <a:ext cx="4921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700" b="1">
                <a:solidFill>
                  <a:srgbClr val="E65100"/>
                </a:solidFill>
                <a:latin typeface="Arial"/>
              </a:rPr>
              <a:t>e(k)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391870" y="1321891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000">
                <a:solidFill>
                  <a:srgbClr val="A5A5A5"/>
                </a:solidFill>
                <a:latin typeface="Arial"/>
              </a:rPr>
              <a:t>→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69720" y="1218754"/>
            <a:ext cx="876002" cy="349151"/>
          </a:xfrm>
          <a:prstGeom prst="roundRect">
            <a:avLst>
              <a:gd name="adj" fmla="val 10912"/>
            </a:avLst>
          </a:prstGeom>
          <a:solidFill>
            <a:srgbClr val="E8F5E9"/>
          </a:solidFill>
          <a:ln w="19050">
            <a:solidFill>
              <a:srgbClr val="70AD4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683922" y="1288554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700" b="1">
                <a:solidFill>
                  <a:srgbClr val="2E7D32"/>
                </a:solidFill>
                <a:latin typeface="Arial"/>
              </a:rPr>
              <a:t>PID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683922" y="1383804"/>
            <a:ext cx="6475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700">
                <a:solidFill>
                  <a:srgbClr val="2E7D32"/>
                </a:solidFill>
                <a:latin typeface="Arial"/>
              </a:rPr>
              <a:t>位置式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496473" y="1321891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000">
                <a:solidFill>
                  <a:srgbClr val="A5A5A5"/>
                </a:solidFill>
                <a:latin typeface="Arial"/>
              </a:rPr>
              <a:t>→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674322" y="1228279"/>
            <a:ext cx="1003102" cy="330101"/>
          </a:xfrm>
          <a:prstGeom prst="roundRect">
            <a:avLst>
              <a:gd name="adj" fmla="val 11542"/>
            </a:avLst>
          </a:prstGeom>
          <a:solidFill>
            <a:srgbClr val="FFF3E0"/>
          </a:solidFill>
          <a:ln w="19050">
            <a:solidFill>
              <a:srgbClr val="ED7D3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787253" y="1298079"/>
            <a:ext cx="7772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700" b="1">
                <a:solidFill>
                  <a:srgbClr val="E65100"/>
                </a:solidFill>
                <a:latin typeface="Arial"/>
              </a:rPr>
              <a:t>Duty%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787253" y="1393329"/>
            <a:ext cx="7772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700" dirty="0">
                <a:solidFill>
                  <a:srgbClr val="E65100"/>
                </a:solidFill>
                <a:latin typeface="Arial"/>
              </a:rPr>
              <a:t>PWM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283970" y="1593205"/>
            <a:ext cx="648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000">
                <a:solidFill>
                  <a:srgbClr val="A5A5A5"/>
                </a:solidFill>
                <a:latin typeface="Arial"/>
              </a:rPr>
              <a:t>↓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645968" y="1761381"/>
            <a:ext cx="1003102" cy="349151"/>
          </a:xfrm>
          <a:prstGeom prst="roundRect">
            <a:avLst>
              <a:gd name="adj" fmla="val 10912"/>
            </a:avLst>
          </a:prstGeom>
          <a:solidFill>
            <a:srgbClr val="FFF3E0"/>
          </a:solidFill>
          <a:ln w="19050">
            <a:solidFill>
              <a:srgbClr val="ED7D3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758898" y="1831181"/>
            <a:ext cx="7772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700" b="1" dirty="0">
                <a:solidFill>
                  <a:srgbClr val="E65100"/>
                </a:solidFill>
                <a:latin typeface="Arial"/>
              </a:rPr>
              <a:t>IR2104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758898" y="1926431"/>
            <a:ext cx="7772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700">
                <a:solidFill>
                  <a:srgbClr val="E65100"/>
                </a:solidFill>
                <a:latin typeface="Arial"/>
              </a:rPr>
              <a:t>+有刷电机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699820" y="1864519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000">
                <a:solidFill>
                  <a:srgbClr val="A5A5A5"/>
                </a:solidFill>
                <a:latin typeface="Arial"/>
              </a:rPr>
              <a:t>→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877669" y="1761381"/>
            <a:ext cx="939552" cy="349151"/>
          </a:xfrm>
          <a:prstGeom prst="roundRect">
            <a:avLst>
              <a:gd name="adj" fmla="val 10912"/>
            </a:avLst>
          </a:prstGeom>
          <a:solidFill>
            <a:srgbClr val="F3E5F5"/>
          </a:solidFill>
          <a:ln w="19050">
            <a:solidFill>
              <a:srgbClr val="9C27B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991235" y="1831181"/>
            <a:ext cx="712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700" b="1">
                <a:solidFill>
                  <a:srgbClr val="7B1FA2"/>
                </a:solidFill>
                <a:latin typeface="Arial"/>
              </a:rPr>
              <a:t>ADC IN8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991235" y="1926431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700">
                <a:solidFill>
                  <a:srgbClr val="7B1FA2"/>
                </a:solidFill>
                <a:latin typeface="Arial"/>
              </a:rPr>
              <a:t>采样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867971" y="1864519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000">
                <a:solidFill>
                  <a:srgbClr val="A5A5A5"/>
                </a:solidFill>
                <a:latin typeface="Arial"/>
              </a:rPr>
              <a:t>→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045821" y="1761381"/>
            <a:ext cx="939552" cy="349151"/>
          </a:xfrm>
          <a:prstGeom prst="roundRect">
            <a:avLst>
              <a:gd name="adj" fmla="val 10912"/>
            </a:avLst>
          </a:prstGeom>
          <a:solidFill>
            <a:srgbClr val="F3E5F5"/>
          </a:solidFill>
          <a:ln w="19050">
            <a:solidFill>
              <a:srgbClr val="9C27B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7159387" y="1831181"/>
            <a:ext cx="712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700" b="1" dirty="0">
                <a:solidFill>
                  <a:srgbClr val="7B1FA2"/>
                </a:solidFill>
                <a:latin typeface="Arial"/>
              </a:rPr>
              <a:t>LPF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7159387" y="1926431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700" dirty="0" err="1">
                <a:solidFill>
                  <a:srgbClr val="7B1FA2"/>
                </a:solidFill>
                <a:latin typeface="Arial"/>
              </a:rPr>
              <a:t>滤波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884539" y="2259657"/>
            <a:ext cx="2862411" cy="183952"/>
          </a:xfrm>
          <a:prstGeom prst="roundRect">
            <a:avLst>
              <a:gd name="adj" fmla="val 20712"/>
            </a:avLst>
          </a:prstGeom>
          <a:solidFill>
            <a:srgbClr val="FFF3E0"/>
          </a:solidFill>
          <a:ln w="9525">
            <a:solidFill>
              <a:srgbClr val="ED7D3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943354" y="2294483"/>
            <a:ext cx="27447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700">
                <a:solidFill>
                  <a:srgbClr val="E65100"/>
                </a:solidFill>
                <a:latin typeface="Arial"/>
              </a:rPr>
              <a:t>I_fb (实测电流) ←—— 负反馈至求和点 —— 与 I_ref 比较求误差 e(k)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843040" y="2507010"/>
            <a:ext cx="948482" cy="428476"/>
          </a:xfrm>
          <a:prstGeom prst="roundRect">
            <a:avLst>
              <a:gd name="adj" fmla="val 889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3885320" y="2557760"/>
            <a:ext cx="8639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400" b="1">
                <a:solidFill>
                  <a:srgbClr val="4472C4"/>
                </a:solidFill>
                <a:latin typeface="Arial"/>
              </a:rPr>
              <a:t>1ms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3885320" y="2779961"/>
            <a:ext cx="8639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sz="650">
                <a:solidFill>
                  <a:srgbClr val="5A6A7E"/>
                </a:solidFill>
                <a:latin typeface="Arial"/>
              </a:rPr>
              <a:t>控制周期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4842272" y="2507010"/>
            <a:ext cx="948482" cy="428476"/>
          </a:xfrm>
          <a:prstGeom prst="roundRect">
            <a:avLst>
              <a:gd name="adj" fmla="val 889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4884552" y="2557760"/>
            <a:ext cx="8639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400" b="1" dirty="0">
                <a:solidFill>
                  <a:srgbClr val="4472C4"/>
                </a:solidFill>
                <a:latin typeface="Arial"/>
              </a:rPr>
              <a:t>16k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4884552" y="2779961"/>
            <a:ext cx="8639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sz="650" dirty="0">
                <a:solidFill>
                  <a:srgbClr val="5A6A7E"/>
                </a:solidFill>
                <a:latin typeface="Arial"/>
              </a:rPr>
              <a:t>PWM Hz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5841504" y="2507010"/>
            <a:ext cx="948482" cy="428476"/>
          </a:xfrm>
          <a:prstGeom prst="roundRect">
            <a:avLst>
              <a:gd name="adj" fmla="val 889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5883784" y="2557760"/>
            <a:ext cx="8639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400" b="1" dirty="0">
                <a:solidFill>
                  <a:srgbClr val="4472C4"/>
                </a:solidFill>
                <a:latin typeface="Arial"/>
              </a:rPr>
              <a:t>1000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5883784" y="2779961"/>
            <a:ext cx="8639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sz="650">
                <a:solidFill>
                  <a:srgbClr val="5A6A7E"/>
                </a:solidFill>
                <a:latin typeface="Arial"/>
              </a:rPr>
              <a:t>闭环 Hz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6840736" y="2507010"/>
            <a:ext cx="948482" cy="428476"/>
          </a:xfrm>
          <a:prstGeom prst="roundRect">
            <a:avLst>
              <a:gd name="adj" fmla="val 889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6883017" y="2557760"/>
            <a:ext cx="8639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400" b="1">
                <a:solidFill>
                  <a:srgbClr val="4472C4"/>
                </a:solidFill>
                <a:latin typeface="Arial"/>
              </a:rPr>
              <a:t>12b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6883017" y="2779961"/>
            <a:ext cx="8639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sz="650">
                <a:solidFill>
                  <a:srgbClr val="5A6A7E"/>
                </a:solidFill>
                <a:latin typeface="Arial"/>
              </a:rPr>
              <a:t>ADC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7839968" y="2507010"/>
            <a:ext cx="948482" cy="428476"/>
          </a:xfrm>
          <a:prstGeom prst="roundRect">
            <a:avLst>
              <a:gd name="adj" fmla="val 889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7882249" y="2557760"/>
            <a:ext cx="8639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400" b="1">
                <a:solidFill>
                  <a:srgbClr val="4472C4"/>
                </a:solidFill>
                <a:latin typeface="Arial"/>
              </a:rPr>
              <a:t>168M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7882249" y="2779961"/>
            <a:ext cx="8639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sz="650">
                <a:solidFill>
                  <a:srgbClr val="5A6A7E"/>
                </a:solidFill>
                <a:latin typeface="Arial"/>
              </a:rPr>
              <a:t>主频</a:t>
            </a:r>
            <a:endParaRPr lang="en-US" sz="650" dirty="0"/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FD9F6832-D679-DF36-7443-0B3001CACEE7}"/>
              </a:ext>
            </a:extLst>
          </p:cNvPr>
          <p:cNvCxnSpPr/>
          <p:nvPr/>
        </p:nvCxnSpPr>
        <p:spPr>
          <a:xfrm flipH="1" flipV="1">
            <a:off x="5388918" y="1529358"/>
            <a:ext cx="494866" cy="233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 64">
            <a:extLst>
              <a:ext uri="{FF2B5EF4-FFF2-40B4-BE49-F238E27FC236}">
                <a16:creationId xmlns:a16="http://schemas.microsoft.com/office/drawing/2014/main" id="{0B3B8475-3054-BC1D-6223-72FFA5992DF1}"/>
              </a:ext>
            </a:extLst>
          </p:cNvPr>
          <p:cNvSpPr/>
          <p:nvPr/>
        </p:nvSpPr>
        <p:spPr>
          <a:xfrm>
            <a:off x="4060189" y="3602789"/>
            <a:ext cx="39251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zh-CN" sz="1400" b="1" dirty="0">
                <a:solidFill>
                  <a:srgbClr val="4472C4"/>
                </a:solidFill>
                <a:latin typeface="Arial"/>
              </a:rPr>
              <a:t>α*current+(1-α)*</a:t>
            </a:r>
            <a:r>
              <a:rPr lang="en-US" altLang="zh-CN" sz="1400" b="1" dirty="0" err="1">
                <a:solidFill>
                  <a:srgbClr val="4472C4"/>
                </a:solidFill>
                <a:latin typeface="Arial"/>
              </a:rPr>
              <a:t>prev_current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77652"/>
            <a:ext cx="9144000" cy="0"/>
          </a:xfrm>
          <a:prstGeom prst="line">
            <a:avLst/>
          </a:prstGeom>
          <a:noFill/>
          <a:ln w="19050">
            <a:solidFill>
              <a:srgbClr val="E7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7950" y="253901"/>
            <a:ext cx="82906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100">
                <a:solidFill>
                  <a:srgbClr val="4472C4"/>
                </a:solidFill>
                <a:latin typeface="Arial"/>
              </a:rPr>
              <a:t>11-04 · PID 算法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49515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sz="2200" b="1">
                <a:solidFill>
                  <a:srgbClr val="2D3748"/>
                </a:solidFill>
                <a:latin typeface="Arial"/>
              </a:rPr>
              <a:t>位置式 PID 控制算法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190327"/>
            <a:ext cx="4025950" cy="1729085"/>
          </a:xfrm>
          <a:prstGeom prst="roundRect">
            <a:avLst>
              <a:gd name="adj" fmla="val 4407"/>
            </a:avLst>
          </a:prstGeom>
          <a:solidFill>
            <a:srgbClr val="F8FAFB"/>
          </a:solidFill>
          <a:ln w="19050">
            <a:solidFill>
              <a:srgbClr val="4472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8650" y="1361777"/>
            <a:ext cx="375671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sz="1300" b="1">
                <a:solidFill>
                  <a:srgbClr val="2E7D32"/>
                </a:solidFill>
                <a:latin typeface="Arial"/>
              </a:rPr>
              <a:t>位置式 PID 公式（本项目采用）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8650" y="1657052"/>
            <a:ext cx="3683050" cy="1090910"/>
          </a:xfrm>
          <a:prstGeom prst="roundRect">
            <a:avLst>
              <a:gd name="adj" fmla="val 465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0151" y="1783854"/>
            <a:ext cx="354964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000" b="1" dirty="0">
                <a:solidFill>
                  <a:srgbClr val="ED7D31"/>
                </a:solidFill>
                <a:latin typeface="Courier New"/>
              </a:rPr>
              <a:t>output = </a:t>
            </a:r>
            <a:r>
              <a:rPr sz="1000" b="1" dirty="0" err="1">
                <a:solidFill>
                  <a:srgbClr val="ED7D31"/>
                </a:solidFill>
                <a:latin typeface="Courier New"/>
              </a:rPr>
              <a:t>Kp·e</a:t>
            </a:r>
            <a:r>
              <a:rPr sz="1000" b="1" dirty="0">
                <a:solidFill>
                  <a:srgbClr val="ED7D31"/>
                </a:solidFill>
                <a:latin typeface="Courier New"/>
              </a:rPr>
              <a:t>(k)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0151" y="1999506"/>
            <a:ext cx="354964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000" dirty="0">
                <a:solidFill>
                  <a:srgbClr val="2D3748"/>
                </a:solidFill>
                <a:latin typeface="Courier New"/>
              </a:rPr>
              <a:t>+ </a:t>
            </a:r>
            <a:r>
              <a:rPr sz="1000" dirty="0" err="1">
                <a:solidFill>
                  <a:srgbClr val="2D3748"/>
                </a:solidFill>
                <a:latin typeface="Courier New"/>
              </a:rPr>
              <a:t>Ki·Σe</a:t>
            </a:r>
            <a:r>
              <a:rPr sz="1000" dirty="0">
                <a:solidFill>
                  <a:srgbClr val="2D3748"/>
                </a:solidFill>
                <a:latin typeface="Courier New"/>
              </a:rPr>
              <a:t>(k)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0151" y="2215158"/>
            <a:ext cx="354964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000" dirty="0">
                <a:solidFill>
                  <a:srgbClr val="2D3748"/>
                </a:solidFill>
                <a:latin typeface="Courier New"/>
              </a:rPr>
              <a:t>+ </a:t>
            </a:r>
            <a:r>
              <a:rPr sz="1000" dirty="0" err="1">
                <a:solidFill>
                  <a:srgbClr val="2D3748"/>
                </a:solidFill>
                <a:latin typeface="Courier New"/>
              </a:rPr>
              <a:t>Kd</a:t>
            </a:r>
            <a:r>
              <a:rPr sz="1000" dirty="0">
                <a:solidFill>
                  <a:srgbClr val="2D3748"/>
                </a:solidFill>
                <a:latin typeface="Courier New"/>
              </a:rPr>
              <a:t>·[e(k)-e(k-1)]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0151" y="2430810"/>
            <a:ext cx="354964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000" b="1" dirty="0">
                <a:solidFill>
                  <a:srgbClr val="ED7D31"/>
                </a:solidFill>
                <a:latin typeface="Courier New"/>
              </a:rPr>
              <a:t>e(k) = target - actual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04636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4914" y="3046363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7301" y="3071664"/>
            <a:ext cx="224328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000" dirty="0" err="1">
                <a:solidFill>
                  <a:srgbClr val="2D3748"/>
                </a:solidFill>
                <a:latin typeface="Arial"/>
              </a:rPr>
              <a:t>计算误差</a:t>
            </a:r>
            <a:r>
              <a:rPr sz="1000" dirty="0">
                <a:solidFill>
                  <a:srgbClr val="2D3748"/>
                </a:solidFill>
                <a:latin typeface="Arial"/>
              </a:rPr>
              <a:t> e(k) = target - actual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35116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4914" y="3351163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7301" y="3376464"/>
            <a:ext cx="189998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000" dirty="0" err="1">
                <a:solidFill>
                  <a:srgbClr val="2D3748"/>
                </a:solidFill>
                <a:latin typeface="Arial"/>
              </a:rPr>
              <a:t>累加积分</a:t>
            </a:r>
            <a:r>
              <a:rPr sz="1000" dirty="0">
                <a:solidFill>
                  <a:srgbClr val="2D3748"/>
                </a:solidFill>
                <a:latin typeface="Arial"/>
              </a:rPr>
              <a:t> </a:t>
            </a:r>
            <a:r>
              <a:rPr sz="1000" dirty="0" err="1">
                <a:solidFill>
                  <a:srgbClr val="2D3748"/>
                </a:solidFill>
                <a:latin typeface="Arial"/>
              </a:rPr>
              <a:t>Σe</a:t>
            </a:r>
            <a:r>
              <a:rPr sz="1000" dirty="0">
                <a:solidFill>
                  <a:srgbClr val="2D3748"/>
                </a:solidFill>
                <a:latin typeface="Arial"/>
              </a:rPr>
              <a:t> = </a:t>
            </a:r>
            <a:r>
              <a:rPr sz="1000" dirty="0" err="1">
                <a:solidFill>
                  <a:srgbClr val="2D3748"/>
                </a:solidFill>
                <a:latin typeface="Arial"/>
              </a:rPr>
              <a:t>Σe</a:t>
            </a:r>
            <a:r>
              <a:rPr sz="1000" dirty="0">
                <a:solidFill>
                  <a:srgbClr val="2D3748"/>
                </a:solidFill>
                <a:latin typeface="Arial"/>
              </a:rPr>
              <a:t> + e(k)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65596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4914" y="3655963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7300" y="3681264"/>
            <a:ext cx="209305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000">
                <a:solidFill>
                  <a:srgbClr val="2D3748"/>
                </a:solidFill>
                <a:latin typeface="Arial"/>
              </a:rPr>
              <a:t>计算比例项 Kp·e + 积分项 Ki·Σe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96076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4914" y="3960763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7301" y="3986064"/>
            <a:ext cx="242492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000" dirty="0" err="1">
                <a:solidFill>
                  <a:srgbClr val="2D3748"/>
                </a:solidFill>
                <a:latin typeface="Arial"/>
              </a:rPr>
              <a:t>输出钳位</a:t>
            </a:r>
            <a:r>
              <a:rPr sz="1000" dirty="0">
                <a:solidFill>
                  <a:srgbClr val="2D3748"/>
                </a:solidFill>
                <a:latin typeface="Arial"/>
              </a:rPr>
              <a:t> [-90, 90] </a:t>
            </a:r>
            <a:r>
              <a:rPr sz="1000" dirty="0" err="1">
                <a:solidFill>
                  <a:srgbClr val="2D3748"/>
                </a:solidFill>
                <a:latin typeface="Arial"/>
              </a:rPr>
              <a:t>并限制积分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26556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4914" y="4265563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7301" y="4290864"/>
            <a:ext cx="242492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000">
                <a:solidFill>
                  <a:srgbClr val="2D3748"/>
                </a:solidFill>
                <a:latin typeface="Arial"/>
              </a:rPr>
              <a:t>保存 error_prev = e(k) 用于微分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0850" y="752726"/>
            <a:ext cx="410646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sz="1300" b="1">
                <a:solidFill>
                  <a:srgbClr val="2D3748"/>
                </a:solidFill>
                <a:latin typeface="Arial"/>
              </a:rPr>
              <a:t>优点对比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60850" y="1073302"/>
            <a:ext cx="4025950" cy="1180505"/>
          </a:xfrm>
          <a:prstGeom prst="roundRect">
            <a:avLst>
              <a:gd name="adj" fmla="val 5379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79900" y="1073302"/>
            <a:ext cx="0" cy="1180505"/>
          </a:xfrm>
          <a:prstGeom prst="line">
            <a:avLst/>
          </a:prstGeom>
          <a:noFill/>
          <a:ln w="38100">
            <a:solidFill>
              <a:srgbClr val="70AD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800451" y="1174803"/>
            <a:ext cx="38605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1100" b="1">
                <a:solidFill>
                  <a:srgbClr val="2E7D32"/>
                </a:solidFill>
                <a:latin typeface="Arial"/>
              </a:rPr>
              <a:t>位置式 PID（本项目采用）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451" y="1416053"/>
            <a:ext cx="3784848" cy="68550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82880" indent="-91440" algn="l">
              <a:spcAft>
                <a:spcPts val="200"/>
              </a:spcAft>
              <a:buSzPct val="100000"/>
              <a:buChar char="•"/>
            </a:pPr>
            <a:r>
              <a:rPr sz="900" dirty="0" err="1">
                <a:solidFill>
                  <a:srgbClr val="5A6A7E"/>
                </a:solidFill>
                <a:latin typeface="Arial"/>
              </a:rPr>
              <a:t>P项直接与误差成正比，响应快</a:t>
            </a:r>
            <a:endParaRPr lang="en-US" sz="900" dirty="0"/>
          </a:p>
          <a:p>
            <a:pPr marL="182880" indent="-91440" algn="l">
              <a:spcAft>
                <a:spcPts val="200"/>
              </a:spcAft>
              <a:buChar char="•"/>
            </a:pPr>
            <a:r>
              <a:rPr sz="900" dirty="0" err="1">
                <a:solidFill>
                  <a:srgbClr val="5A6A7E"/>
                </a:solidFill>
                <a:latin typeface="Arial"/>
              </a:rPr>
              <a:t>积分项累积误差，消除稳态误差</a:t>
            </a:r>
            <a:endParaRPr sz="900" dirty="0">
              <a:solidFill>
                <a:srgbClr val="5A6A7E"/>
              </a:solidFill>
              <a:latin typeface="Arial"/>
            </a:endParaRPr>
          </a:p>
          <a:p>
            <a:pPr marL="182880" indent="-91440" algn="l">
              <a:spcAft>
                <a:spcPts val="200"/>
              </a:spcAft>
              <a:buChar char="•"/>
            </a:pPr>
            <a:r>
              <a:rPr sz="900" dirty="0" err="1">
                <a:solidFill>
                  <a:srgbClr val="5A6A7E"/>
                </a:solidFill>
                <a:latin typeface="Arial"/>
              </a:rPr>
              <a:t>需输出</a:t>
            </a:r>
            <a:r>
              <a:rPr sz="900" dirty="0">
                <a:solidFill>
                  <a:srgbClr val="5A6A7E"/>
                </a:solidFill>
                <a:latin typeface="Arial"/>
              </a:rPr>
              <a:t>/</a:t>
            </a:r>
            <a:r>
              <a:rPr sz="900" dirty="0" err="1">
                <a:solidFill>
                  <a:srgbClr val="5A6A7E"/>
                </a:solidFill>
                <a:latin typeface="Arial"/>
              </a:rPr>
              <a:t>积分双重限幅防饱和</a:t>
            </a:r>
            <a:endParaRPr sz="900" dirty="0">
              <a:solidFill>
                <a:srgbClr val="5A6A7E"/>
              </a:solidFill>
              <a:latin typeface="Arial"/>
            </a:endParaRPr>
          </a:p>
          <a:p>
            <a:pPr marL="182880" indent="-91440" algn="l">
              <a:spcAft>
                <a:spcPts val="200"/>
              </a:spcAft>
              <a:buChar char="•"/>
            </a:pPr>
            <a:r>
              <a:rPr sz="900" dirty="0" err="1">
                <a:solidFill>
                  <a:srgbClr val="5A6A7E"/>
                </a:solidFill>
                <a:latin typeface="Arial"/>
              </a:rPr>
              <a:t>稳定误差时P项持续出力</a:t>
            </a:r>
            <a:endParaRPr sz="900" dirty="0">
              <a:solidFill>
                <a:srgbClr val="5A6A7E"/>
              </a:solidFill>
              <a:latin typeface="Arial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660850" y="2431508"/>
            <a:ext cx="4025950" cy="1180505"/>
          </a:xfrm>
          <a:prstGeom prst="roundRect">
            <a:avLst>
              <a:gd name="adj" fmla="val 5379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679900" y="2431508"/>
            <a:ext cx="0" cy="1180505"/>
          </a:xfrm>
          <a:prstGeom prst="line">
            <a:avLst/>
          </a:prstGeom>
          <a:noFill/>
          <a:ln w="38100">
            <a:solidFill>
              <a:srgbClr val="ED7D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4800451" y="2533008"/>
            <a:ext cx="38605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1100" b="1">
                <a:solidFill>
                  <a:srgbClr val="E65100"/>
                </a:solidFill>
                <a:latin typeface="Arial"/>
              </a:rPr>
              <a:t>增量式 PID（对比参考）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0451" y="2774259"/>
            <a:ext cx="3784848" cy="68550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82880" indent="-91440" algn="l">
              <a:spcAft>
                <a:spcPts val="200"/>
              </a:spcAft>
              <a:buSzPct val="100000"/>
              <a:buChar char="•"/>
            </a:pPr>
            <a:r>
              <a:rPr sz="900">
                <a:solidFill>
                  <a:srgbClr val="5A6A7E"/>
                </a:solidFill>
                <a:latin typeface="Arial"/>
              </a:rPr>
              <a:t>Δu = Kp·Δe + Ki·e + Kd·ΔΔe</a:t>
            </a:r>
            <a:endParaRPr lang="en-US" sz="900" dirty="0"/>
          </a:p>
          <a:p>
            <a:pPr marL="182880" indent="-91440" algn="l">
              <a:spcAft>
                <a:spcPts val="200"/>
              </a:spcAft>
              <a:buChar char="•"/>
            </a:pPr>
            <a:r>
              <a:rPr sz="900">
                <a:solidFill>
                  <a:srgbClr val="5A6A7E"/>
                </a:solidFill>
                <a:latin typeface="Arial"/>
              </a:rPr>
              <a:t>P项=Kp×[e(k)-e(k-1)]，稳态无力</a:t>
            </a:r>
          </a:p>
          <a:p>
            <a:pPr marL="182880" indent="-91440" algn="l">
              <a:spcAft>
                <a:spcPts val="200"/>
              </a:spcAft>
              <a:buChar char="•"/>
            </a:pPr>
            <a:r>
              <a:rPr sz="900">
                <a:solidFill>
                  <a:srgbClr val="5A6A7E"/>
                </a:solidFill>
                <a:latin typeface="Arial"/>
              </a:rPr>
              <a:t>天然抗积分饱和（不累加积分）</a:t>
            </a:r>
          </a:p>
          <a:p>
            <a:pPr marL="182880" indent="-91440" algn="l">
              <a:spcAft>
                <a:spcPts val="200"/>
              </a:spcAft>
              <a:buChar char="•"/>
            </a:pPr>
            <a:r>
              <a:rPr sz="900">
                <a:solidFill>
                  <a:srgbClr val="5A6A7E"/>
                </a:solidFill>
                <a:latin typeface="Arial"/>
              </a:rPr>
              <a:t>适合位置控制/步进类场景</a:t>
            </a:r>
          </a:p>
        </p:txBody>
      </p:sp>
      <p:sp>
        <p:nvSpPr>
          <p:cNvPr id="37" name="Text 35"/>
          <p:cNvSpPr/>
          <p:nvPr/>
        </p:nvSpPr>
        <p:spPr>
          <a:xfrm>
            <a:off x="4660850" y="3713513"/>
            <a:ext cx="4025950" cy="364927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684663" y="3713513"/>
            <a:ext cx="0" cy="364927"/>
          </a:xfrm>
          <a:prstGeom prst="line">
            <a:avLst/>
          </a:prstGeom>
          <a:noFill/>
          <a:ln w="47625">
            <a:solidFill>
              <a:srgbClr val="4472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4800451" y="3815014"/>
            <a:ext cx="38074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900" b="1" dirty="0" err="1">
                <a:solidFill>
                  <a:srgbClr val="2D3748"/>
                </a:solidFill>
                <a:latin typeface="Arial"/>
              </a:rPr>
              <a:t>关键特性：输出限幅</a:t>
            </a:r>
            <a:r>
              <a:rPr sz="900" b="1" dirty="0">
                <a:solidFill>
                  <a:srgbClr val="2D3748"/>
                </a:solidFill>
                <a:latin typeface="Arial"/>
              </a:rPr>
              <a:t>[-90,90] + 积分限幅1500双重保护，双向正反转可控</a:t>
            </a:r>
            <a:endParaRPr lang="en-US" sz="9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7D55BD2-6788-4E56-2043-A4AFA6C4F0F3}"/>
              </a:ext>
            </a:extLst>
          </p:cNvPr>
          <p:cNvSpPr txBox="1"/>
          <p:nvPr/>
        </p:nvSpPr>
        <p:spPr>
          <a:xfrm>
            <a:off x="4572000" y="4143886"/>
            <a:ext cx="457853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050" b="0" i="0" dirty="0">
                <a:solidFill>
                  <a:srgbClr val="1A1D23"/>
                </a:solidFill>
                <a:effectLst/>
                <a:latin typeface="-apple-system"/>
              </a:rPr>
              <a:t>PWM 占空比理论上可以到 100%，但留 10% 余量</a:t>
            </a:r>
            <a:r>
              <a:rPr lang="zh-CN" altLang="en-US" sz="1050" b="0" i="0" dirty="0">
                <a:solidFill>
                  <a:srgbClr val="1A1D23"/>
                </a:solidFill>
                <a:effectLst/>
                <a:latin typeface="-apple-system"/>
              </a:rPr>
              <a:t>，每个 </a:t>
            </a:r>
            <a:r>
              <a:rPr lang="en-US" altLang="zh-CN" sz="1050" b="0" i="0" dirty="0">
                <a:solidFill>
                  <a:srgbClr val="1A1D23"/>
                </a:solidFill>
                <a:effectLst/>
                <a:latin typeface="-apple-system"/>
              </a:rPr>
              <a:t>PWM </a:t>
            </a:r>
            <a:r>
              <a:rPr lang="zh-CN" altLang="en-US" sz="1050" b="0" i="0" dirty="0">
                <a:solidFill>
                  <a:srgbClr val="1A1D23"/>
                </a:solidFill>
                <a:effectLst/>
                <a:latin typeface="-apple-system"/>
              </a:rPr>
              <a:t>周期至少预留</a:t>
            </a:r>
            <a:r>
              <a:rPr lang="en-US" altLang="zh-CN" sz="1050" b="0" i="0" dirty="0">
                <a:solidFill>
                  <a:srgbClr val="1A1D23"/>
                </a:solidFill>
                <a:effectLst/>
                <a:latin typeface="-apple-system"/>
              </a:rPr>
              <a:t>10%</a:t>
            </a:r>
            <a:r>
              <a:rPr lang="zh-CN" altLang="en-US" sz="1050" b="0" i="0" dirty="0">
                <a:solidFill>
                  <a:srgbClr val="1A1D23"/>
                </a:solidFill>
                <a:effectLst/>
                <a:latin typeface="-apple-system"/>
              </a:rPr>
              <a:t>时间。</a:t>
            </a:r>
            <a:endParaRPr lang="zh-CN" altLang="en-US" sz="105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6A24E32-C9D6-A868-3EAF-C4B11577CF10}"/>
              </a:ext>
            </a:extLst>
          </p:cNvPr>
          <p:cNvSpPr txBox="1"/>
          <p:nvPr/>
        </p:nvSpPr>
        <p:spPr>
          <a:xfrm>
            <a:off x="4565470" y="4531536"/>
            <a:ext cx="457853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1050" b="0" i="0">
                <a:solidFill>
                  <a:srgbClr val="1A1D23"/>
                </a:solidFill>
                <a:effectLst/>
                <a:latin typeface="-apple-system"/>
              </a:defRPr>
            </a:lvl1pPr>
          </a:lstStyle>
          <a:p>
            <a:r>
              <a:rPr lang="zh-CN" altLang="zh-CN" dirty="0"/>
              <a:t>积分限幅：防止误差持续存在时积分项无限累积，避免方向切换或堵转解除后的大幅过冲和长时间失控。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77652"/>
            <a:ext cx="9144000" cy="0"/>
          </a:xfrm>
          <a:prstGeom prst="line">
            <a:avLst/>
          </a:prstGeom>
          <a:noFill/>
          <a:ln w="19050">
            <a:solidFill>
              <a:srgbClr val="E7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7950" y="253901"/>
            <a:ext cx="82906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100">
                <a:solidFill>
                  <a:srgbClr val="4472C4"/>
                </a:solidFill>
                <a:latin typeface="Arial"/>
              </a:rPr>
              <a:t>11-04 · 代码结构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49515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sz="2200" b="1">
                <a:solidFill>
                  <a:srgbClr val="2D3748"/>
                </a:solidFill>
                <a:latin typeface="Arial"/>
              </a:rPr>
              <a:t>电流环代码结构解析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06301" y="1164878"/>
            <a:ext cx="417128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sz="1300" b="1">
                <a:solidFill>
                  <a:srgbClr val="4472C4"/>
                </a:solidFill>
                <a:latin typeface="Arial"/>
              </a:rPr>
              <a:t>文件结构（Drivers/Control/）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460153"/>
            <a:ext cx="4089499" cy="2464445"/>
          </a:xfrm>
          <a:prstGeom prst="roundRect">
            <a:avLst>
              <a:gd name="adj" fmla="val 3092"/>
            </a:avLst>
          </a:prstGeom>
          <a:solidFill>
            <a:srgbClr val="1E2A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251" y="1599754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6A9955"/>
                </a:solidFill>
                <a:latin typeface="Courier New"/>
              </a:rPr>
              <a:t>// user_config.h - 参数配置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3251" y="1768822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5B9BD5"/>
                </a:solidFill>
                <a:latin typeface="Courier New"/>
              </a:rPr>
              <a:t>#define PID_KP 0.4f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33251" y="1937891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5B9BD5"/>
                </a:solidFill>
                <a:latin typeface="Courier New"/>
              </a:rPr>
              <a:t>#define PID_KI 0.08f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3251" y="2106960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5B9BD5"/>
                </a:solidFill>
                <a:latin typeface="Courier New"/>
              </a:rPr>
              <a:t>#define PID_KD 0.0f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33251" y="2276029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6A9955"/>
                </a:solidFill>
                <a:latin typeface="Courier New"/>
              </a:rPr>
              <a:t>// Step 4: 电流更新→立即PID（ISR内）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3251" y="2445097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5B9BD5"/>
                </a:solidFill>
                <a:latin typeface="Courier New"/>
              </a:rPr>
              <a:t>#define CURRENT_OVERSAMPLE_COUNT 16u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3251" y="2614166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5B9BD5"/>
                </a:solidFill>
                <a:latin typeface="Courier New"/>
              </a:rPr>
              <a:t>#define OUTPUT_MAX 90.0f   /* MIN=-90 */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3251" y="2783235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6A9955"/>
                </a:solidFill>
                <a:latin typeface="Courier New"/>
              </a:rPr>
              <a:t>/* 方向死区 1% */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3251" y="2952304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5B9BD5"/>
                </a:solidFill>
                <a:latin typeface="Courier New"/>
              </a:rPr>
              <a:t>typedef struct {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3251" y="3121372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5B9BD5"/>
                </a:solidFill>
                <a:latin typeface="Courier New"/>
              </a:rPr>
              <a:t>float Kp, Ki, Kd;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3251" y="3290441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5B9BD5"/>
                </a:solidFill>
                <a:latin typeface="Courier New"/>
              </a:rPr>
              <a:t>float error[3], output;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3251" y="3459510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5B9BD5"/>
                </a:solidFill>
                <a:latin typeface="Courier New"/>
              </a:rPr>
              <a:t>float integral_limit;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3251" y="3628579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E0E0E0"/>
                </a:solidFill>
                <a:latin typeface="Courier New"/>
              </a:rPr>
              <a:t>} PID_Controller;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48200" y="1045585"/>
            <a:ext cx="417128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sz="1300" b="1" dirty="0" err="1">
                <a:solidFill>
                  <a:srgbClr val="4472C4"/>
                </a:solidFill>
                <a:latin typeface="Arial"/>
              </a:rPr>
              <a:t>核心调用链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48200" y="1276088"/>
            <a:ext cx="4089499" cy="2787255"/>
          </a:xfrm>
          <a:prstGeom prst="roundRect">
            <a:avLst>
              <a:gd name="adj" fmla="val 2893"/>
            </a:avLst>
          </a:prstGeom>
          <a:solidFill>
            <a:srgbClr val="1E2A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75150" y="1399431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 dirty="0">
                <a:solidFill>
                  <a:srgbClr val="6A9955"/>
                </a:solidFill>
                <a:latin typeface="Courier New"/>
              </a:rPr>
              <a:t>// </a:t>
            </a:r>
            <a:r>
              <a:rPr sz="850" dirty="0" err="1">
                <a:solidFill>
                  <a:srgbClr val="6A9955"/>
                </a:solidFill>
                <a:latin typeface="Courier New"/>
              </a:rPr>
              <a:t>bsp_current_sensor.c</a:t>
            </a:r>
            <a:r>
              <a:rPr sz="850" dirty="0">
                <a:solidFill>
                  <a:srgbClr val="6A9955"/>
                </a:solidFill>
                <a:latin typeface="Courier New"/>
              </a:rPr>
              <a:t> ADC ISR 内调用（1000Hz）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75150" y="1574248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 dirty="0">
                <a:solidFill>
                  <a:srgbClr val="5B9BD5"/>
                </a:solidFill>
                <a:latin typeface="Courier New"/>
              </a:rPr>
              <a:t>void </a:t>
            </a:r>
            <a:r>
              <a:rPr sz="850" dirty="0" err="1">
                <a:solidFill>
                  <a:srgbClr val="5B9BD5"/>
                </a:solidFill>
                <a:latin typeface="Courier New"/>
              </a:rPr>
              <a:t>BSP_CurrentSensor_Update</a:t>
            </a:r>
            <a:r>
              <a:rPr sz="850" dirty="0">
                <a:solidFill>
                  <a:srgbClr val="5B9BD5"/>
                </a:solidFill>
                <a:latin typeface="Courier New"/>
              </a:rPr>
              <a:t>(void) {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75150" y="1781473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 dirty="0">
                <a:solidFill>
                  <a:srgbClr val="6A9955"/>
                </a:solidFill>
                <a:latin typeface="Courier New"/>
              </a:rPr>
              <a:t>// Step 1-3: 过采样16× + </a:t>
            </a:r>
            <a:r>
              <a:rPr sz="850" dirty="0" err="1">
                <a:solidFill>
                  <a:srgbClr val="6A9955"/>
                </a:solidFill>
                <a:latin typeface="Courier New"/>
              </a:rPr>
              <a:t>低通滤波</a:t>
            </a:r>
            <a:r>
              <a:rPr sz="850" dirty="0">
                <a:solidFill>
                  <a:srgbClr val="6A9955"/>
                </a:solidFill>
                <a:latin typeface="Courier New"/>
              </a:rPr>
              <a:t> | </a:t>
            </a:r>
            <a:r>
              <a:rPr sz="850" dirty="0" err="1">
                <a:solidFill>
                  <a:srgbClr val="6A9955"/>
                </a:solidFill>
                <a:latin typeface="Courier New"/>
              </a:rPr>
              <a:t>SetDirection三态：SD低→Stop双通道→Start单通道→SD高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75150" y="2106960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 dirty="0">
                <a:solidFill>
                  <a:srgbClr val="E0E0E0"/>
                </a:solidFill>
                <a:latin typeface="Courier New"/>
              </a:rPr>
              <a:t>if (</a:t>
            </a:r>
            <a:r>
              <a:rPr sz="850" dirty="0" err="1">
                <a:solidFill>
                  <a:srgbClr val="E0E0E0"/>
                </a:solidFill>
                <a:latin typeface="Courier New"/>
              </a:rPr>
              <a:t>oversample_cnt</a:t>
            </a:r>
            <a:r>
              <a:rPr sz="850" dirty="0">
                <a:solidFill>
                  <a:srgbClr val="E0E0E0"/>
                </a:solidFill>
                <a:latin typeface="Courier New"/>
              </a:rPr>
              <a:t> &gt;= 16) { avg + IIR; }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75150" y="2276029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5B9BD5"/>
                </a:solidFill>
                <a:latin typeface="Courier New"/>
              </a:rPr>
              <a:t>#define INTEGRAL_LIMIT 1500.0f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75150" y="2445097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E0E0E0"/>
                </a:solidFill>
                <a:latin typeface="Courier New"/>
              </a:rPr>
              <a:t>output = PID_Compute(&amp;pid, target, current);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75150" y="2614166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5B9BD5"/>
                </a:solidFill>
                <a:latin typeface="Courier New"/>
              </a:rPr>
              <a:t>#define CURRENT_LOWPASS_ALPHA 0.05f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75150" y="2783235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5B9BD5"/>
                </a:solidFill>
                <a:latin typeface="Courier New"/>
              </a:rPr>
              <a:t>if (output &gt; +1) forward(duty);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75150" y="2952304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5B9BD5"/>
                </a:solidFill>
                <a:latin typeface="Courier New"/>
              </a:rPr>
              <a:t>else if (output &lt; -1) reverse(duty);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75150" y="3121372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5B9BD5"/>
                </a:solidFill>
                <a:latin typeface="Courier New"/>
              </a:rPr>
              <a:t>else stop();   /* 双侧输出 ±90 */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75150" y="3290441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FFC000"/>
                </a:solidFill>
                <a:latin typeface="Courier New"/>
              </a:rPr>
              <a:t>BrushMotor_SetDirection(dir);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75150" y="3459510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FFC000"/>
                </a:solidFill>
                <a:latin typeface="Courier New"/>
              </a:rPr>
              <a:t>BrushMotor_SetSpeed(duty);   // 下周期生效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75150" y="3628579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FFC000"/>
                </a:solidFill>
                <a:latin typeface="Courier New"/>
              </a:rPr>
              <a:t>BrushMotor_SetSpeed(duty);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75150" y="3797647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E0E0E0"/>
                </a:solidFill>
                <a:latin typeface="Courier New"/>
              </a:rPr>
              <a:t>}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48200" y="4169865"/>
            <a:ext cx="4089499" cy="91811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93040" indent="-96520" algn="l">
              <a:spcAft>
                <a:spcPts val="200"/>
              </a:spcAft>
              <a:buSzPct val="100000"/>
              <a:buChar char="•"/>
            </a:pPr>
            <a:r>
              <a:rPr sz="950" dirty="0">
                <a:solidFill>
                  <a:srgbClr val="2D3748"/>
                </a:solidFill>
                <a:latin typeface="Arial"/>
              </a:rPr>
              <a:t>PID 在 ADC ISR 内运行（1000Hz），</a:t>
            </a:r>
            <a:r>
              <a:rPr sz="950" dirty="0" err="1">
                <a:solidFill>
                  <a:srgbClr val="2D3748"/>
                </a:solidFill>
                <a:latin typeface="Arial"/>
              </a:rPr>
              <a:t>零延迟闭环</a:t>
            </a:r>
            <a:r>
              <a:rPr sz="950" dirty="0">
                <a:solidFill>
                  <a:srgbClr val="2D3748"/>
                </a:solidFill>
                <a:latin typeface="Arial"/>
              </a:rPr>
              <a:t>
 </a:t>
            </a:r>
            <a:r>
              <a:rPr sz="950" dirty="0" err="1">
                <a:solidFill>
                  <a:srgbClr val="2D3748"/>
                </a:solidFill>
                <a:latin typeface="Arial"/>
              </a:rPr>
              <a:t>方向变化检测：仅在方向改变时调SetDirection，避免每周期SD翻转</a:t>
            </a:r>
            <a:endParaRPr lang="en-US" sz="950" dirty="0"/>
          </a:p>
          <a:p>
            <a:pPr marL="193040" indent="-96520" algn="l">
              <a:spcAft>
                <a:spcPts val="200"/>
              </a:spcAft>
              <a:buChar char="•"/>
            </a:pPr>
            <a:r>
              <a:rPr sz="950" dirty="0" err="1">
                <a:solidFill>
                  <a:srgbClr val="2D3748"/>
                </a:solidFill>
                <a:latin typeface="Arial"/>
              </a:rPr>
              <a:t>PWM中心对齐，CCR影寄存器下周期生效</a:t>
            </a:r>
            <a:endParaRPr sz="950" dirty="0">
              <a:solidFill>
                <a:srgbClr val="2D3748"/>
              </a:solidFill>
              <a:latin typeface="Arial"/>
            </a:endParaRPr>
          </a:p>
          <a:p>
            <a:pPr marL="193040" indent="-96520" algn="l">
              <a:spcAft>
                <a:spcPts val="200"/>
              </a:spcAft>
              <a:buChar char="•"/>
            </a:pPr>
            <a:r>
              <a:rPr sz="950" dirty="0">
                <a:solidFill>
                  <a:srgbClr val="2D3748"/>
                </a:solidFill>
                <a:latin typeface="Arial"/>
              </a:rPr>
              <a:t>过采样16× + α=0.05低通，噪声抑制与响应平衡 | </a:t>
            </a:r>
            <a:r>
              <a:rPr sz="950" dirty="0" err="1">
                <a:solidFill>
                  <a:srgbClr val="2D3748"/>
                </a:solidFill>
                <a:latin typeface="Arial"/>
              </a:rPr>
              <a:t>SetDirection三态：SD低→Stop双通道→Start单通道→SD高</a:t>
            </a:r>
            <a:endParaRPr sz="950" dirty="0">
              <a:solidFill>
                <a:srgbClr val="2D374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77652"/>
            <a:ext cx="9144000" cy="0"/>
          </a:xfrm>
          <a:prstGeom prst="line">
            <a:avLst/>
          </a:prstGeom>
          <a:noFill/>
          <a:ln w="19050">
            <a:solidFill>
              <a:srgbClr val="E7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7950" y="253901"/>
            <a:ext cx="82906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100">
                <a:solidFill>
                  <a:srgbClr val="4472C4"/>
                </a:solidFill>
                <a:latin typeface="Arial"/>
              </a:rPr>
              <a:t>11-04 · 硬件接口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49515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sz="2200" b="1">
                <a:solidFill>
                  <a:srgbClr val="2D3748"/>
                </a:solidFill>
                <a:latin typeface="Arial"/>
              </a:rPr>
              <a:t>软硬件接口设计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164878"/>
            <a:ext cx="4025950" cy="1791295"/>
          </a:xfrm>
          <a:prstGeom prst="roundRect">
            <a:avLst>
              <a:gd name="adj" fmla="val 4254"/>
            </a:avLst>
          </a:prstGeom>
          <a:solidFill>
            <a:srgbClr val="F8FAFB"/>
          </a:solidFill>
          <a:ln w="9525">
            <a:solidFill>
              <a:srgbClr val="E0E4E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301353"/>
            <a:ext cx="37761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sz="1200" b="1">
                <a:solidFill>
                  <a:srgbClr val="4472C4"/>
                </a:solidFill>
                <a:latin typeface="Arial"/>
              </a:rPr>
              <a:t>硬件引脚映射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9125" y="1577578"/>
            <a:ext cx="518109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sz="950" b="1">
                <a:solidFill>
                  <a:srgbClr val="2D3748"/>
                </a:solidFill>
                <a:latin typeface="Arial"/>
              </a:rPr>
              <a:t>PA8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03275" y="1577578"/>
            <a:ext cx="1790384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sz="950">
                <a:solidFill>
                  <a:srgbClr val="2D3748"/>
                </a:solidFill>
                <a:latin typeface="Arial"/>
              </a:rPr>
              <a:t>TIM1 CH1 PWM 主输出（正转）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19125" y="1784598"/>
            <a:ext cx="518109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sz="950" b="1">
                <a:solidFill>
                  <a:srgbClr val="2D3748"/>
                </a:solidFill>
                <a:latin typeface="Arial"/>
              </a:rPr>
              <a:t>PB13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03275" y="1784598"/>
            <a:ext cx="166742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sz="950">
                <a:solidFill>
                  <a:srgbClr val="2D3748"/>
                </a:solidFill>
                <a:latin typeface="Arial"/>
              </a:rPr>
              <a:t>TIM1 CH1N 互补输出（反转）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9125" y="1991618"/>
            <a:ext cx="518109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sz="950" b="1">
                <a:solidFill>
                  <a:srgbClr val="2D3748"/>
                </a:solidFill>
                <a:latin typeface="Arial"/>
              </a:rPr>
              <a:t>PF10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03274" y="1991618"/>
            <a:ext cx="3279875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sz="950" dirty="0">
                <a:solidFill>
                  <a:srgbClr val="2D3748"/>
                </a:solidFill>
                <a:latin typeface="Arial"/>
              </a:rPr>
              <a:t>IR2104 SD </a:t>
            </a:r>
            <a:r>
              <a:rPr sz="950" dirty="0" err="1">
                <a:solidFill>
                  <a:srgbClr val="2D3748"/>
                </a:solidFill>
                <a:latin typeface="Arial"/>
              </a:rPr>
              <a:t>使能（高有效</a:t>
            </a:r>
            <a:r>
              <a:rPr sz="950" dirty="0">
                <a:solidFill>
                  <a:srgbClr val="2D3748"/>
                </a:solidFill>
                <a:latin typeface="Arial"/>
              </a:rPr>
              <a:t>）</a:t>
            </a:r>
            <a:r>
              <a:rPr lang="zh-CN" altLang="en-US" sz="950" dirty="0">
                <a:solidFill>
                  <a:srgbClr val="2D3748"/>
                </a:solidFill>
                <a:latin typeface="Arial"/>
              </a:rPr>
              <a:t>，</a:t>
            </a:r>
            <a:r>
              <a:rPr lang="en-US" altLang="zh-CN" sz="950" dirty="0">
                <a:solidFill>
                  <a:srgbClr val="2D3748"/>
                </a:solidFill>
                <a:latin typeface="Arial"/>
              </a:rPr>
              <a:t>PM1_CTRL_SD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19125" y="2198638"/>
            <a:ext cx="518109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sz="950" b="1">
                <a:solidFill>
                  <a:srgbClr val="2D3748"/>
                </a:solidFill>
                <a:latin typeface="Arial"/>
              </a:rPr>
              <a:t>PB0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03275" y="2198638"/>
            <a:ext cx="1448976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sz="950">
                <a:solidFill>
                  <a:srgbClr val="2D3748"/>
                </a:solidFill>
                <a:latin typeface="Arial"/>
              </a:rPr>
              <a:t>ADC1 IN8 电流传感器采样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19125" y="2405658"/>
            <a:ext cx="518109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sz="950" b="1">
                <a:solidFill>
                  <a:srgbClr val="2D3748"/>
                </a:solidFill>
                <a:latin typeface="Arial"/>
              </a:rPr>
              <a:t>PE2-4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203275" y="2405658"/>
            <a:ext cx="1538085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sz="950">
                <a:solidFill>
                  <a:srgbClr val="2D3748"/>
                </a:solidFill>
                <a:latin typeface="Arial"/>
              </a:rPr>
              <a:t>KEY0/KEY1/KEY2 按键输入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9125" y="2612678"/>
            <a:ext cx="518109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sz="950" b="1">
                <a:solidFill>
                  <a:srgbClr val="2D3748"/>
                </a:solidFill>
                <a:latin typeface="Arial"/>
              </a:rPr>
              <a:t>PE0-1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03275" y="2612678"/>
            <a:ext cx="1175727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sz="950">
                <a:solidFill>
                  <a:srgbClr val="2D3748"/>
                </a:solidFill>
                <a:latin typeface="Arial"/>
              </a:rPr>
              <a:t>LED1/LED2 状态指示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057674"/>
            <a:ext cx="4025950" cy="1377255"/>
          </a:xfrm>
          <a:prstGeom prst="roundRect">
            <a:avLst>
              <a:gd name="adj" fmla="val 5533"/>
            </a:avLst>
          </a:prstGeom>
          <a:solidFill>
            <a:srgbClr val="F8FAFB"/>
          </a:solidFill>
          <a:ln w="9525">
            <a:solidFill>
              <a:srgbClr val="E0E4E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9125" y="3194149"/>
            <a:ext cx="37761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sz="1200" b="1">
                <a:solidFill>
                  <a:srgbClr val="4472C4"/>
                </a:solidFill>
                <a:latin typeface="Arial"/>
              </a:rPr>
              <a:t>传感器参数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9125" y="3470374"/>
            <a:ext cx="518109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sz="950" b="1">
                <a:solidFill>
                  <a:srgbClr val="2D3748"/>
                </a:solidFill>
                <a:latin typeface="Arial"/>
              </a:rPr>
              <a:t>灵敏度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203275" y="3470374"/>
            <a:ext cx="1456111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sz="950">
                <a:solidFill>
                  <a:srgbClr val="2D3748"/>
                </a:solidFill>
                <a:latin typeface="Arial"/>
              </a:rPr>
              <a:t>0.12 V/A（ACS712 量程）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9125" y="3677394"/>
            <a:ext cx="518109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sz="950" b="1">
                <a:solidFill>
                  <a:srgbClr val="2D3748"/>
                </a:solidFill>
                <a:latin typeface="Arial"/>
              </a:rPr>
              <a:t>转换因子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203275" y="3677394"/>
            <a:ext cx="943466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sz="950">
                <a:solidFill>
                  <a:srgbClr val="2D3748"/>
                </a:solidFill>
                <a:latin typeface="Arial"/>
              </a:rPr>
              <a:t>6.714 mA/ADC阶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9125" y="3884414"/>
            <a:ext cx="518109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sz="950" b="1">
                <a:solidFill>
                  <a:srgbClr val="2D3748"/>
                </a:solidFill>
                <a:latin typeface="Arial"/>
              </a:rPr>
              <a:t>偏置电压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203275" y="3884414"/>
            <a:ext cx="1254362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sz="950">
                <a:solidFill>
                  <a:srgbClr val="2D3748"/>
                </a:solidFill>
                <a:latin typeface="Arial"/>
              </a:rPr>
              <a:t>~1.27V（零电流对应）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9125" y="4091434"/>
            <a:ext cx="518109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sz="950" b="1">
                <a:solidFill>
                  <a:srgbClr val="2D3748"/>
                </a:solidFill>
                <a:latin typeface="Arial"/>
              </a:rPr>
              <a:t>校准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203274" y="4091434"/>
            <a:ext cx="3298925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sz="950" dirty="0" err="1">
                <a:solidFill>
                  <a:srgbClr val="2D3748"/>
                </a:solidFill>
                <a:latin typeface="Arial"/>
              </a:rPr>
              <a:t>上电</a:t>
            </a:r>
            <a:r>
              <a:rPr sz="950" dirty="0">
                <a:solidFill>
                  <a:srgbClr val="2D3748"/>
                </a:solidFill>
                <a:latin typeface="Arial"/>
              </a:rPr>
              <a:t> 100 </a:t>
            </a:r>
            <a:r>
              <a:rPr sz="950" dirty="0" err="1">
                <a:solidFill>
                  <a:srgbClr val="2D3748"/>
                </a:solidFill>
                <a:latin typeface="Arial"/>
              </a:rPr>
              <a:t>次取平均零漂</a:t>
            </a:r>
            <a:r>
              <a:rPr sz="950" dirty="0">
                <a:solidFill>
                  <a:srgbClr val="2D3748"/>
                </a:solidFill>
                <a:latin typeface="Arial"/>
              </a:rPr>
              <a:t> | </a:t>
            </a:r>
            <a:r>
              <a:rPr sz="950" dirty="0" err="1">
                <a:solidFill>
                  <a:srgbClr val="2D3748"/>
                </a:solidFill>
                <a:latin typeface="Arial"/>
              </a:rPr>
              <a:t>ADC仅测|I|幅值,方向由软件符号补充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60850" y="1241078"/>
            <a:ext cx="4025950" cy="2425601"/>
          </a:xfrm>
          <a:prstGeom prst="roundRect">
            <a:avLst>
              <a:gd name="adj" fmla="val 3141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50080" y="1406128"/>
            <a:ext cx="38474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sz="1100" b="1" dirty="0">
                <a:solidFill>
                  <a:srgbClr val="2D3748"/>
                </a:solidFill>
                <a:latin typeface="Arial"/>
              </a:rPr>
              <a:t>信号链路：TIM1 → ADC → MCU → TIM1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0080" y="1653778"/>
            <a:ext cx="3847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sz="900">
                <a:solidFill>
                  <a:srgbClr val="5A6A7E"/>
                </a:solidFill>
                <a:latin typeface="Arial"/>
              </a:rPr>
              <a:t>TIM1 TRGO (Update Event, 16kHz 中心对齐)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0080" y="1863328"/>
            <a:ext cx="3847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sz="900">
                <a:solidFill>
                  <a:srgbClr val="4472C4"/>
                </a:solidFill>
                <a:latin typeface="Arial"/>
              </a:rPr>
              <a:t>↓ 硬件触发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0080" y="2072878"/>
            <a:ext cx="3847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sz="900">
                <a:solidFill>
                  <a:srgbClr val="5A6A7E"/>
                </a:solidFill>
                <a:latin typeface="Arial"/>
              </a:rPr>
              <a:t>ADC1 注入通道 IN8 转换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0080" y="2282428"/>
            <a:ext cx="3847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sz="900" dirty="0">
                <a:solidFill>
                  <a:srgbClr val="4472C4"/>
                </a:solidFill>
                <a:latin typeface="Arial"/>
              </a:rPr>
              <a:t>↓ </a:t>
            </a:r>
            <a:r>
              <a:rPr sz="900" dirty="0" err="1">
                <a:solidFill>
                  <a:srgbClr val="4472C4"/>
                </a:solidFill>
                <a:latin typeface="Arial"/>
              </a:rPr>
              <a:t>↓ 注入中断回调（以下全在ISR内）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0850" y="2491978"/>
            <a:ext cx="4025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sz="900" dirty="0">
                <a:solidFill>
                  <a:srgbClr val="5A6A7E"/>
                </a:solidFill>
                <a:latin typeface="Arial"/>
              </a:rPr>
              <a:t>① </a:t>
            </a:r>
            <a:r>
              <a:rPr sz="900" dirty="0" err="1">
                <a:solidFill>
                  <a:srgbClr val="5A6A7E"/>
                </a:solidFill>
                <a:latin typeface="Arial"/>
              </a:rPr>
              <a:t>adc_data读取</a:t>
            </a:r>
            <a:r>
              <a:rPr sz="900" dirty="0">
                <a:solidFill>
                  <a:srgbClr val="5A6A7E"/>
                </a:solidFill>
                <a:latin typeface="Arial"/>
              </a:rPr>
              <a:t> → ② 16×过采样累加 → ③ 满16次后平均+IIR滤波(α=0.05)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0080" y="2701528"/>
            <a:ext cx="3847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sz="900" dirty="0">
                <a:solidFill>
                  <a:srgbClr val="4472C4"/>
                </a:solidFill>
                <a:latin typeface="Arial"/>
              </a:rPr>
              <a:t>↓ 过采样满后立即执行（1000Hz）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0080" y="2911078"/>
            <a:ext cx="3847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sz="900">
                <a:solidFill>
                  <a:srgbClr val="5A6A7E"/>
                </a:solidFill>
                <a:latin typeface="Arial"/>
              </a:rPr>
              <a:t>④ PID_Compute() → ⑤ 方向/占空比分离 → ⑥ CCR写入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0080" y="3120628"/>
            <a:ext cx="3847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sz="900">
                <a:solidFill>
                  <a:srgbClr val="4472C4"/>
                </a:solidFill>
                <a:latin typeface="Arial"/>
              </a:rPr>
              <a:t>↓ 下个PWM周期生效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0080" y="3330178"/>
            <a:ext cx="3847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sz="900">
                <a:solidFill>
                  <a:srgbClr val="5A6A7E"/>
                </a:solidFill>
                <a:latin typeface="Arial"/>
              </a:rPr>
              <a:t>TIM1 CH1/CH1N → IR2104 → 电机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60850" y="3768179"/>
            <a:ext cx="4025950" cy="583704"/>
          </a:xfrm>
          <a:prstGeom prst="rect">
            <a:avLst/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679900" y="3768179"/>
            <a:ext cx="0" cy="583704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825901" y="3894981"/>
            <a:ext cx="380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900" b="1">
                <a:solidFill>
                  <a:srgbClr val="5D4037"/>
                </a:solidFill>
                <a:latin typeface="Arial"/>
              </a:rPr>
              <a:t>零漂校准：必须电机停止时进行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25901" y="4072682"/>
            <a:ext cx="380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900">
                <a:solidFill>
                  <a:srgbClr val="5D4037"/>
                </a:solidFill>
                <a:latin typeface="Arial"/>
              </a:rPr>
              <a:t>SD 拉高让下桥臂导通，采样电阻回路闭合后校准</a:t>
            </a:r>
            <a:endParaRPr lang="en-US" sz="9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7338258-A219-BF9B-C75A-FE6F0C70E6A2}"/>
              </a:ext>
            </a:extLst>
          </p:cNvPr>
          <p:cNvSpPr txBox="1"/>
          <p:nvPr/>
        </p:nvSpPr>
        <p:spPr>
          <a:xfrm>
            <a:off x="4206240" y="285929"/>
            <a:ext cx="4648200" cy="6001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100" dirty="0"/>
              <a:t>定时器时钟 = 168MHz ÷ (PSC + 1) = 168MHz ÷ 2 = 84MHz</a:t>
            </a:r>
            <a:endParaRPr lang="en-US" altLang="zh-CN" sz="1100" dirty="0"/>
          </a:p>
          <a:p>
            <a:r>
              <a:rPr lang="zh-CN" altLang="en-US" sz="1100" dirty="0"/>
              <a:t>中央对齐模式的</a:t>
            </a:r>
            <a:r>
              <a:rPr lang="en-US" altLang="zh-CN" sz="1100" dirty="0"/>
              <a:t>PWM</a:t>
            </a:r>
            <a:r>
              <a:rPr lang="zh-CN" altLang="en-US" sz="1100" dirty="0"/>
              <a:t>，</a:t>
            </a:r>
            <a:r>
              <a:rPr lang="en-US" altLang="zh-CN" sz="1100" dirty="0"/>
              <a:t>ARR</a:t>
            </a:r>
            <a:r>
              <a:rPr lang="zh-CN" altLang="en-US" sz="1100" dirty="0"/>
              <a:t>要数两遍才有完整一个</a:t>
            </a:r>
            <a:r>
              <a:rPr lang="en-US" altLang="zh-CN" sz="1100" dirty="0"/>
              <a:t>PWM</a:t>
            </a:r>
            <a:r>
              <a:rPr lang="zh-CN" altLang="en-US" sz="1100" dirty="0"/>
              <a:t>周期</a:t>
            </a:r>
            <a:endParaRPr lang="en-US" altLang="zh-CN" sz="1100" dirty="0"/>
          </a:p>
          <a:p>
            <a:r>
              <a:rPr lang="zh-CN" altLang="en-US" sz="1100" dirty="0"/>
              <a:t>所以，一个</a:t>
            </a:r>
            <a:r>
              <a:rPr lang="en-US" altLang="zh-CN" sz="1100" dirty="0"/>
              <a:t>ADC</a:t>
            </a:r>
            <a:r>
              <a:rPr lang="zh-CN" altLang="en-US" sz="1100" dirty="0"/>
              <a:t>周期为（</a:t>
            </a:r>
            <a:r>
              <a:rPr lang="en-US" altLang="zh-CN" sz="1100" dirty="0"/>
              <a:t>2625*2</a:t>
            </a:r>
            <a:r>
              <a:rPr lang="zh-CN" altLang="en-US" sz="1100" dirty="0"/>
              <a:t>）</a:t>
            </a:r>
            <a:r>
              <a:rPr lang="en-US" altLang="zh-CN" sz="1100" dirty="0"/>
              <a:t>/84000=0.0625mS</a:t>
            </a:r>
            <a:r>
              <a:rPr lang="zh-CN" altLang="en-US" sz="1100" dirty="0"/>
              <a:t>，即：每</a:t>
            </a:r>
            <a:r>
              <a:rPr lang="en-US" altLang="zh-CN" sz="1100" dirty="0"/>
              <a:t>mS</a:t>
            </a:r>
            <a:r>
              <a:rPr lang="zh-CN" altLang="en-US" sz="1100" dirty="0"/>
              <a:t>采样</a:t>
            </a:r>
            <a:r>
              <a:rPr lang="en-US" altLang="zh-CN" sz="1100" dirty="0"/>
              <a:t>16</a:t>
            </a:r>
            <a:r>
              <a:rPr lang="zh-CN" altLang="en-US" sz="1100" dirty="0"/>
              <a:t>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34926"/>
            <a:ext cx="9144000" cy="0"/>
          </a:xfrm>
          <a:prstGeom prst="line">
            <a:avLst/>
          </a:prstGeom>
          <a:noFill/>
          <a:ln w="19050">
            <a:solidFill>
              <a:srgbClr val="E7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7950" y="228600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000">
                <a:solidFill>
                  <a:srgbClr val="4472C4"/>
                </a:solidFill>
                <a:latin typeface="Arial"/>
              </a:rPr>
              <a:t>11-04 · 演示操作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7950" y="415826"/>
            <a:ext cx="829066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sz="2000" b="1">
                <a:solidFill>
                  <a:srgbClr val="2D3748"/>
                </a:solidFill>
                <a:latin typeface="Arial"/>
              </a:rPr>
              <a:t>双模式对比演示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55550" y="945952"/>
            <a:ext cx="4140250" cy="1030486"/>
          </a:xfrm>
          <a:prstGeom prst="roundRect">
            <a:avLst>
              <a:gd name="adj" fmla="val 6162"/>
            </a:avLst>
          </a:prstGeom>
          <a:solidFill>
            <a:srgbClr val="E3F2FD"/>
          </a:solidFill>
          <a:ln w="19050">
            <a:solidFill>
              <a:srgbClr val="4472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1551" y="1041202"/>
            <a:ext cx="39252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sz="1100" b="1">
                <a:solidFill>
                  <a:srgbClr val="1565C0"/>
                </a:solidFill>
                <a:latin typeface="Arial"/>
              </a:rPr>
              <a:t>闭环模式（默认）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1551" y="1269802"/>
            <a:ext cx="392521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 dirty="0">
                <a:solidFill>
                  <a:srgbClr val="1A237E"/>
                </a:solidFill>
                <a:latin typeface="Arial"/>
              </a:rPr>
              <a:t>KEY0: 启停闭环 +100→0→-100循环 | LED1: 亮灭翻转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1551" y="1575495"/>
            <a:ext cx="392521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 dirty="0">
                <a:solidFill>
                  <a:srgbClr val="1A237E"/>
                </a:solidFill>
                <a:latin typeface="Arial"/>
              </a:rPr>
              <a:t>KEY2: 失能 PM1_CTRL_SD 引脚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6116" y="1728341"/>
            <a:ext cx="411952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000" dirty="0" err="1"/>
              <a:t>加负载</a:t>
            </a:r>
            <a:r>
              <a:rPr sz="1000" dirty="0"/>
              <a:t> → </a:t>
            </a:r>
            <a:r>
              <a:rPr lang="zh-CN" altLang="en-US" sz="1000" dirty="0"/>
              <a:t>转速变慢</a:t>
            </a:r>
            <a:r>
              <a:rPr sz="1000" dirty="0"/>
              <a:t> → </a:t>
            </a:r>
            <a:r>
              <a:rPr sz="1000" dirty="0" err="1"/>
              <a:t>电流</a:t>
            </a:r>
            <a:r>
              <a:rPr lang="zh-CN" altLang="en-US" sz="1000" dirty="0"/>
              <a:t>不变</a:t>
            </a:r>
            <a:r>
              <a:rPr sz="1000" dirty="0"/>
              <a:t>（</a:t>
            </a:r>
            <a:r>
              <a:rPr sz="1000" dirty="0" err="1"/>
              <a:t>PID调节</a:t>
            </a:r>
            <a:r>
              <a:rPr lang="zh-CN" altLang="en-US" sz="1000" dirty="0"/>
              <a:t>，堵转不容易烧电机</a:t>
            </a:r>
            <a:r>
              <a:rPr sz="1000" dirty="0"/>
              <a:t>）</a:t>
            </a:r>
          </a:p>
        </p:txBody>
      </p:sp>
      <p:sp>
        <p:nvSpPr>
          <p:cNvPr id="12" name="Text 10"/>
          <p:cNvSpPr/>
          <p:nvPr/>
        </p:nvSpPr>
        <p:spPr>
          <a:xfrm>
            <a:off x="355550" y="2027188"/>
            <a:ext cx="4140250" cy="1030486"/>
          </a:xfrm>
          <a:prstGeom prst="roundRect">
            <a:avLst>
              <a:gd name="adj" fmla="val 6162"/>
            </a:avLst>
          </a:prstGeom>
          <a:solidFill>
            <a:srgbClr val="FFF3E0"/>
          </a:solidFill>
          <a:ln w="19050">
            <a:solidFill>
              <a:srgbClr val="ED7D3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1551" y="2122438"/>
            <a:ext cx="39252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sz="1100" b="1">
                <a:solidFill>
                  <a:srgbClr val="E65100"/>
                </a:solidFill>
                <a:latin typeface="Arial"/>
              </a:rPr>
              <a:t>开环模式（对比）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1551" y="2503884"/>
            <a:ext cx="392521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 dirty="0">
                <a:solidFill>
                  <a:srgbClr val="BF360C"/>
                </a:solidFill>
                <a:latin typeface="Arial"/>
              </a:rPr>
              <a:t>KEY1: </a:t>
            </a:r>
            <a:r>
              <a:rPr sz="850" dirty="0" err="1">
                <a:solidFill>
                  <a:srgbClr val="BF360C"/>
                </a:solidFill>
                <a:latin typeface="Arial"/>
              </a:rPr>
              <a:t>开环占空比</a:t>
            </a:r>
            <a:r>
              <a:rPr sz="850" dirty="0">
                <a:solidFill>
                  <a:srgbClr val="BF360C"/>
                </a:solidFill>
                <a:latin typeface="Arial"/>
              </a:rPr>
              <a:t> ±20%步进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1551" y="2656731"/>
            <a:ext cx="392521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BF360C"/>
                </a:solidFill>
                <a:latin typeface="Arial"/>
              </a:rPr>
              <a:t>KEY2: 失能 PM1_CTRL_SD 引脚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6116" y="2809577"/>
            <a:ext cx="411952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000" dirty="0" err="1"/>
              <a:t>加负载</a:t>
            </a:r>
            <a:r>
              <a:rPr sz="1000" dirty="0"/>
              <a:t> → </a:t>
            </a:r>
            <a:r>
              <a:rPr lang="zh-CN" altLang="en-US" sz="1000" dirty="0"/>
              <a:t>转速不变</a:t>
            </a:r>
            <a:r>
              <a:rPr sz="1000" dirty="0"/>
              <a:t> → </a:t>
            </a:r>
            <a:r>
              <a:rPr lang="zh-CN" altLang="en-US" sz="1000" dirty="0"/>
              <a:t>电流增加</a:t>
            </a:r>
            <a:r>
              <a:rPr sz="1000" dirty="0"/>
              <a:t>（</a:t>
            </a:r>
            <a:r>
              <a:rPr sz="1000" dirty="0" err="1"/>
              <a:t>无PID调节</a:t>
            </a:r>
            <a:r>
              <a:rPr lang="zh-CN" altLang="en-US" sz="1000" dirty="0"/>
              <a:t>，堵转容易烧电机</a:t>
            </a:r>
            <a:r>
              <a:rPr sz="1000" dirty="0"/>
              <a:t>）</a:t>
            </a:r>
          </a:p>
        </p:txBody>
      </p:sp>
      <p:sp>
        <p:nvSpPr>
          <p:cNvPr id="18" name="Text 16"/>
          <p:cNvSpPr/>
          <p:nvPr/>
        </p:nvSpPr>
        <p:spPr>
          <a:xfrm>
            <a:off x="355550" y="3108424"/>
            <a:ext cx="42230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900" b="1" dirty="0" err="1">
                <a:solidFill>
                  <a:srgbClr val="2D3748"/>
                </a:solidFill>
                <a:latin typeface="Arial"/>
              </a:rPr>
              <a:t>按键分配总览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48200" y="945952"/>
            <a:ext cx="42230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LCD 显示布局（闭环模式）</a:t>
            </a:r>
          </a:p>
        </p:txBody>
      </p:sp>
      <p:sp>
        <p:nvSpPr>
          <p:cNvPr id="20" name="Text 18"/>
          <p:cNvSpPr/>
          <p:nvPr/>
        </p:nvSpPr>
        <p:spPr>
          <a:xfrm>
            <a:off x="4658361" y="1457028"/>
            <a:ext cx="4140250" cy="1601167"/>
          </a:xfrm>
          <a:prstGeom prst="roundRect">
            <a:avLst>
              <a:gd name="adj" fmla="val 7145"/>
            </a:avLst>
          </a:prstGeom>
          <a:solidFill>
            <a:schemeClr val="bg1">
              <a:lumMod val="8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49701" y="1542068"/>
            <a:ext cx="4015993" cy="186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"/>
              </a:spcAft>
              <a:buNone/>
            </a:pPr>
            <a:r>
              <a:rPr sz="1400" dirty="0">
                <a:solidFill>
                  <a:schemeClr val="accent2"/>
                </a:solidFill>
                <a:latin typeface="Courier New"/>
              </a:rPr>
              <a:t>Dr.GAO-Motor-1 </a:t>
            </a:r>
            <a:endParaRPr lang="en-US" sz="1400" dirty="0">
              <a:solidFill>
                <a:schemeClr val="accent2"/>
              </a:solidFill>
              <a:latin typeface="Courier New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749701" y="1852992"/>
            <a:ext cx="4015993" cy="269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"/>
              </a:spcAft>
            </a:pPr>
            <a:r>
              <a:rPr lang="en-US" altLang="zh-CN" sz="1000" dirty="0">
                <a:solidFill>
                  <a:schemeClr val="accent1"/>
                </a:solidFill>
                <a:latin typeface="Courier New"/>
              </a:rPr>
              <a:t>Chap11: Current-Loop PID</a:t>
            </a:r>
            <a:endParaRPr lang="en-US" altLang="zh-CN" sz="1000" dirty="0">
              <a:solidFill>
                <a:schemeClr val="accent1"/>
              </a:solidFill>
            </a:endParaRPr>
          </a:p>
          <a:p>
            <a:pPr marL="0" indent="0" algn="l">
              <a:spcAft>
                <a:spcPts val="100"/>
              </a:spcAft>
              <a:buNone/>
            </a:pPr>
            <a:r>
              <a:rPr sz="1000" dirty="0">
                <a:solidFill>
                  <a:srgbClr val="70AD47"/>
                </a:solidFill>
                <a:latin typeface="Courier New"/>
              </a:rPr>
              <a:t>Mode: CLOSED-LOOP [RUN]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49701" y="2177120"/>
            <a:ext cx="4015993" cy="612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000" dirty="0">
                <a:solidFill>
                  <a:schemeClr val="accent1"/>
                </a:solidFill>
              </a:rPr>
              <a:t>Target: 100 mA   </a:t>
            </a:r>
            <a:endParaRPr lang="en-US" sz="1000" dirty="0">
              <a:solidFill>
                <a:schemeClr val="accent1"/>
              </a:solidFill>
            </a:endParaRPr>
          </a:p>
          <a:p>
            <a:r>
              <a:rPr sz="1000" dirty="0">
                <a:solidFill>
                  <a:schemeClr val="accent1"/>
                </a:solidFill>
              </a:rPr>
              <a:t>Current:100 mA   Duty:68%</a:t>
            </a:r>
            <a:endParaRPr lang="en-US" sz="1000" dirty="0">
              <a:solidFill>
                <a:schemeClr val="accent1"/>
              </a:solidFill>
            </a:endParaRPr>
          </a:p>
          <a:p>
            <a:r>
              <a:rPr lang="nn-NO" altLang="zh-CN" sz="1000" dirty="0">
                <a:solidFill>
                  <a:schemeClr val="accent1"/>
                </a:solidFill>
              </a:rPr>
              <a:t>Error: +0 mA    </a:t>
            </a:r>
          </a:p>
          <a:p>
            <a:r>
              <a:rPr lang="nn-NO" altLang="zh-CN" sz="1000" dirty="0">
                <a:solidFill>
                  <a:schemeClr val="accent1"/>
                </a:solidFill>
              </a:rPr>
              <a:t>Offset:2047.3   ADC:2150</a:t>
            </a:r>
            <a:endParaRPr sz="1000" dirty="0">
              <a:solidFill>
                <a:schemeClr val="accent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61891" y="2814960"/>
            <a:ext cx="4015993" cy="310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658361" y="3390996"/>
            <a:ext cx="42230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000" b="1">
                <a:solidFill>
                  <a:srgbClr val="2D3748"/>
                </a:solidFill>
                <a:latin typeface="Arial"/>
              </a:rPr>
              <a:t>演示要点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15793" y="3742300"/>
            <a:ext cx="4508187" cy="71065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r>
              <a:rPr sz="1400" dirty="0" err="1"/>
              <a:t>设定</a:t>
            </a:r>
            <a:r>
              <a:rPr sz="1400" dirty="0"/>
              <a:t> 100mA </a:t>
            </a:r>
            <a:r>
              <a:rPr sz="1400" dirty="0" err="1"/>
              <a:t>目标</a:t>
            </a:r>
            <a:r>
              <a:rPr sz="1400" dirty="0"/>
              <a:t> → PID </a:t>
            </a:r>
            <a:r>
              <a:rPr sz="1400" dirty="0" err="1"/>
              <a:t>自动调节</a:t>
            </a:r>
            <a:r>
              <a:rPr sz="1400" dirty="0"/>
              <a:t> → </a:t>
            </a:r>
            <a:r>
              <a:rPr sz="1400" dirty="0" err="1"/>
              <a:t>电流稳定在</a:t>
            </a:r>
            <a:r>
              <a:rPr sz="1400" dirty="0"/>
              <a:t> ~100mA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9476"/>
            <a:ext cx="9144000" cy="0"/>
          </a:xfrm>
          <a:prstGeom prst="line">
            <a:avLst/>
          </a:prstGeom>
          <a:noFill/>
          <a:ln w="19050">
            <a:solidFill>
              <a:srgbClr val="E7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7950" y="203150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000">
                <a:solidFill>
                  <a:srgbClr val="4472C4"/>
                </a:solidFill>
                <a:latin typeface="Arial"/>
              </a:rPr>
              <a:t>11-04 · 参数整定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7950" y="390376"/>
            <a:ext cx="829066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sz="2000" b="1">
                <a:solidFill>
                  <a:srgbClr val="2D3748"/>
                </a:solidFill>
                <a:latin typeface="Arial"/>
              </a:rPr>
              <a:t>PID 参数整定与调试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81000" y="920502"/>
            <a:ext cx="41970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1100" b="1">
                <a:solidFill>
                  <a:srgbClr val="2D3748"/>
                </a:solidFill>
                <a:latin typeface="Arial"/>
              </a:rPr>
              <a:t>整定步骤（4步法）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1000" y="1161752"/>
            <a:ext cx="4114800" cy="492472"/>
          </a:xfrm>
          <a:prstGeom prst="roundRect">
            <a:avLst>
              <a:gd name="adj" fmla="val 1289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7950" y="1237952"/>
            <a:ext cx="39381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000" b="1" dirty="0">
                <a:solidFill>
                  <a:srgbClr val="4472C4"/>
                </a:solidFill>
                <a:latin typeface="Arial"/>
              </a:rPr>
              <a:t>Step 1：纯比例控制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1425178"/>
            <a:ext cx="3938117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2D3748"/>
                </a:solidFill>
                <a:latin typeface="Arial"/>
              </a:rPr>
              <a:t>设 Ki=0, Kd=0。逐步增大 Kp，直到系统出现轻微振荡，取当前 Kp 的 50%~70%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1000" y="1704975"/>
            <a:ext cx="4114800" cy="632668"/>
          </a:xfrm>
          <a:prstGeom prst="roundRect">
            <a:avLst>
              <a:gd name="adj" fmla="val 10037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7950" y="1781175"/>
            <a:ext cx="39381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000" b="1">
                <a:solidFill>
                  <a:srgbClr val="4472C4"/>
                </a:solidFill>
                <a:latin typeface="Arial"/>
              </a:rPr>
              <a:t>Step 2：加入积分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1968401"/>
            <a:ext cx="3938117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2D3748"/>
                </a:solidFill>
                <a:latin typeface="Arial"/>
              </a:rPr>
              <a:t>从 Ki=0.01 开始逐步增大，消除稳态误差。每增加一点观察 2~3 秒响应。Ki 过大可引起低频振荡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1000" y="2388394"/>
            <a:ext cx="4114800" cy="632668"/>
          </a:xfrm>
          <a:prstGeom prst="roundRect">
            <a:avLst>
              <a:gd name="adj" fmla="val 10037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7950" y="2464594"/>
            <a:ext cx="39381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000" b="1">
                <a:solidFill>
                  <a:srgbClr val="4472C4"/>
                </a:solidFill>
                <a:latin typeface="Arial"/>
              </a:rPr>
              <a:t>Step 3：加入微分（可选）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950" y="2651820"/>
            <a:ext cx="3938117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2D3748"/>
                </a:solidFill>
                <a:latin typeface="Arial"/>
              </a:rPr>
              <a:t>电流环噪声较大，Kd 通常设为 0。若有过冲，从 Kd=0.01 试起。注意 Kd 对噪声敏感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1000" y="3071813"/>
            <a:ext cx="4114800" cy="492472"/>
          </a:xfrm>
          <a:prstGeom prst="roundRect">
            <a:avLst>
              <a:gd name="adj" fmla="val 1289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7950" y="3148013"/>
            <a:ext cx="39381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000" b="1">
                <a:solidFill>
                  <a:srgbClr val="4472C4"/>
                </a:solidFill>
                <a:latin typeface="Arial"/>
              </a:rPr>
              <a:t>Step 4：极限测试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950" y="3335238"/>
            <a:ext cx="3938117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50">
                <a:solidFill>
                  <a:srgbClr val="2D3748"/>
                </a:solidFill>
                <a:latin typeface="Arial"/>
              </a:rPr>
              <a:t>突加/卸载负载，观察恢复时间和超调量。微调参数直到满意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48200" y="920502"/>
            <a:ext cx="41970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1100" b="1">
                <a:solidFill>
                  <a:srgbClr val="2D3748"/>
                </a:solidFill>
                <a:latin typeface="Arial"/>
              </a:rPr>
              <a:t>默认参数（调试后最优值）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48200" y="1176040"/>
            <a:ext cx="362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850" b="1">
                <a:solidFill>
                  <a:srgbClr val="2D3748"/>
                </a:solidFill>
                <a:latin typeface="Arial"/>
              </a:rPr>
              <a:t>Kp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79950" y="1161752"/>
            <a:ext cx="9053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850" dirty="0">
                <a:solidFill>
                  <a:srgbClr val="2D3748"/>
                </a:solidFill>
                <a:latin typeface="Arial"/>
              </a:rPr>
              <a:t>0.40 （</a:t>
            </a:r>
            <a:r>
              <a:rPr sz="850" dirty="0" err="1">
                <a:solidFill>
                  <a:srgbClr val="2D3748"/>
                </a:solidFill>
                <a:latin typeface="Arial"/>
              </a:rPr>
              <a:t>比例系数</a:t>
            </a:r>
            <a:r>
              <a:rPr sz="850" dirty="0">
                <a:solidFill>
                  <a:srgbClr val="2D3748"/>
                </a:solidFill>
                <a:latin typeface="Arial"/>
              </a:rPr>
              <a:t>）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48200" y="1357015"/>
            <a:ext cx="362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850" b="1">
                <a:solidFill>
                  <a:srgbClr val="2D3748"/>
                </a:solidFill>
                <a:latin typeface="Arial"/>
              </a:rPr>
              <a:t>Ki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79950" y="1342727"/>
            <a:ext cx="9053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850">
                <a:solidFill>
                  <a:srgbClr val="2D3748"/>
                </a:solidFill>
                <a:latin typeface="Arial"/>
              </a:rPr>
              <a:t>0.08 （积分系数）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48200" y="1537990"/>
            <a:ext cx="362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850" b="1">
                <a:solidFill>
                  <a:srgbClr val="2D3748"/>
                </a:solidFill>
                <a:latin typeface="Arial"/>
              </a:rPr>
              <a:t>Kd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79950" y="1523702"/>
            <a:ext cx="9053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850" dirty="0">
                <a:solidFill>
                  <a:srgbClr val="2D3748"/>
                </a:solidFill>
                <a:latin typeface="Arial"/>
              </a:rPr>
              <a:t>0.00 （</a:t>
            </a:r>
            <a:r>
              <a:rPr sz="850" dirty="0" err="1">
                <a:solidFill>
                  <a:srgbClr val="2D3748"/>
                </a:solidFill>
                <a:latin typeface="Arial"/>
              </a:rPr>
              <a:t>微分系数</a:t>
            </a:r>
            <a:r>
              <a:rPr sz="850" dirty="0">
                <a:solidFill>
                  <a:srgbClr val="2D3748"/>
                </a:solidFill>
                <a:latin typeface="Arial"/>
              </a:rPr>
              <a:t>）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48200" y="1704677"/>
            <a:ext cx="362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850" b="1">
                <a:solidFill>
                  <a:srgbClr val="2D3748"/>
                </a:solidFill>
                <a:latin typeface="Arial"/>
              </a:rPr>
              <a:t>周期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79950" y="1704677"/>
            <a:ext cx="2032776" cy="155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850">
                <a:solidFill>
                  <a:srgbClr val="2D3748"/>
                </a:solidFill>
                <a:latin typeface="Arial"/>
              </a:rPr>
              <a:t>1 ms （控制频率 1000Hz ISR）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48200" y="1885652"/>
            <a:ext cx="362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850" b="1">
                <a:solidFill>
                  <a:srgbClr val="2D3748"/>
                </a:solidFill>
                <a:latin typeface="Arial"/>
              </a:rPr>
              <a:t>上限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79950" y="1885652"/>
            <a:ext cx="12110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850">
                <a:solidFill>
                  <a:srgbClr val="2D3748"/>
                </a:solidFill>
                <a:latin typeface="Arial"/>
              </a:rPr>
              <a:t>90% （PWM 最大输出）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48200" y="2066627"/>
            <a:ext cx="362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850" b="1">
                <a:solidFill>
                  <a:srgbClr val="2D3748"/>
                </a:solidFill>
                <a:latin typeface="Arial"/>
              </a:rPr>
              <a:t>积限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79950" y="2066627"/>
            <a:ext cx="15625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850" dirty="0">
                <a:solidFill>
                  <a:srgbClr val="2D3748"/>
                </a:solidFill>
                <a:latin typeface="Arial"/>
              </a:rPr>
              <a:t>1500 （</a:t>
            </a:r>
            <a:r>
              <a:rPr sz="850" dirty="0" err="1">
                <a:solidFill>
                  <a:srgbClr val="2D3748"/>
                </a:solidFill>
                <a:latin typeface="Arial"/>
              </a:rPr>
              <a:t>积分限幅</a:t>
            </a:r>
            <a:r>
              <a:rPr sz="850" dirty="0">
                <a:solidFill>
                  <a:srgbClr val="2D3748"/>
                </a:solidFill>
                <a:latin typeface="Arial"/>
              </a:rPr>
              <a:t>）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48200" y="2247602"/>
            <a:ext cx="362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850" b="1">
                <a:solidFill>
                  <a:srgbClr val="2D3748"/>
                </a:solidFill>
                <a:latin typeface="Arial"/>
              </a:rPr>
              <a:t>死区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79950" y="2247602"/>
            <a:ext cx="1070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850">
                <a:solidFill>
                  <a:srgbClr val="2D3748"/>
                </a:solidFill>
                <a:latin typeface="Arial"/>
              </a:rPr>
              <a:t>1% （方向切换死区）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48200" y="2428577"/>
            <a:ext cx="362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850" b="1">
                <a:solidFill>
                  <a:srgbClr val="2D3748"/>
                </a:solidFill>
                <a:latin typeface="Arial"/>
              </a:rPr>
              <a:t>滤波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79950" y="2428577"/>
            <a:ext cx="9720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850">
                <a:solidFill>
                  <a:srgbClr val="2D3748"/>
                </a:solidFill>
                <a:latin typeface="Arial"/>
              </a:rPr>
              <a:t>α=0.05 + 16×过采样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48200" y="2647652"/>
            <a:ext cx="41970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sz="1000" b="1">
                <a:solidFill>
                  <a:srgbClr val="2D3748"/>
                </a:solidFill>
                <a:latin typeface="Arial"/>
              </a:rPr>
              <a:t>常见问题排查（实际调试经验）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48200" y="2847677"/>
            <a:ext cx="4114800" cy="285452"/>
          </a:xfrm>
          <a:prstGeom prst="rect">
            <a:avLst/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667250" y="2847677"/>
            <a:ext cx="0" cy="285452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4787801" y="2923729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750" b="1" dirty="0" err="1">
                <a:solidFill>
                  <a:srgbClr val="E65100"/>
                </a:solidFill>
                <a:latin typeface="Arial"/>
              </a:rPr>
              <a:t>振荡：Kp过大</a:t>
            </a:r>
            <a:r>
              <a:rPr sz="750" b="1" dirty="0">
                <a:solidFill>
                  <a:srgbClr val="E65100"/>
                </a:solidFill>
                <a:latin typeface="Arial"/>
              </a:rPr>
              <a:t>/Ki过大→先减Kp至0.25，再调Ki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648200" y="3158430"/>
            <a:ext cx="4114800" cy="285452"/>
          </a:xfrm>
          <a:prstGeom prst="rect">
            <a:avLst/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667250" y="3158430"/>
            <a:ext cx="0" cy="285452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4787801" y="3234482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750" b="1" dirty="0" err="1">
                <a:solidFill>
                  <a:srgbClr val="E65100"/>
                </a:solidFill>
                <a:latin typeface="Arial"/>
              </a:rPr>
              <a:t>响应慢：Kp</a:t>
            </a:r>
            <a:r>
              <a:rPr sz="750" b="1" dirty="0">
                <a:solidFill>
                  <a:srgbClr val="E65100"/>
                </a:solidFill>
                <a:latin typeface="Arial"/>
              </a:rPr>
              <a:t> </a:t>
            </a:r>
            <a:r>
              <a:rPr sz="750" b="1" dirty="0" err="1">
                <a:solidFill>
                  <a:srgbClr val="E65100"/>
                </a:solidFill>
                <a:latin typeface="Arial"/>
              </a:rPr>
              <a:t>过小</a:t>
            </a:r>
            <a:r>
              <a:rPr sz="750" b="1" dirty="0">
                <a:solidFill>
                  <a:srgbClr val="E65100"/>
                </a:solidFill>
                <a:latin typeface="Arial"/>
              </a:rPr>
              <a:t> → </a:t>
            </a:r>
            <a:r>
              <a:rPr sz="750" b="1" dirty="0" err="1">
                <a:solidFill>
                  <a:srgbClr val="E65100"/>
                </a:solidFill>
                <a:latin typeface="Arial"/>
              </a:rPr>
              <a:t>逐步增大</a:t>
            </a:r>
            <a:r>
              <a:rPr sz="750" b="1" dirty="0">
                <a:solidFill>
                  <a:srgbClr val="E65100"/>
                </a:solidFill>
                <a:latin typeface="Arial"/>
              </a:rPr>
              <a:t> </a:t>
            </a:r>
            <a:r>
              <a:rPr sz="750" b="1" dirty="0" err="1">
                <a:solidFill>
                  <a:srgbClr val="E65100"/>
                </a:solidFill>
                <a:latin typeface="Arial"/>
              </a:rPr>
              <a:t>Kp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648200" y="3469184"/>
            <a:ext cx="4114800" cy="285452"/>
          </a:xfrm>
          <a:prstGeom prst="rect">
            <a:avLst/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667250" y="3469184"/>
            <a:ext cx="0" cy="285452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4787801" y="3545235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750" b="1" dirty="0" err="1">
                <a:solidFill>
                  <a:srgbClr val="E65100"/>
                </a:solidFill>
                <a:latin typeface="Arial"/>
              </a:rPr>
              <a:t>稳态误差大：Ki</a:t>
            </a:r>
            <a:r>
              <a:rPr sz="750" b="1" dirty="0">
                <a:solidFill>
                  <a:srgbClr val="E65100"/>
                </a:solidFill>
                <a:latin typeface="Arial"/>
              </a:rPr>
              <a:t> </a:t>
            </a:r>
            <a:r>
              <a:rPr sz="750" b="1" dirty="0" err="1">
                <a:solidFill>
                  <a:srgbClr val="E65100"/>
                </a:solidFill>
                <a:latin typeface="Arial"/>
              </a:rPr>
              <a:t>过小</a:t>
            </a:r>
            <a:r>
              <a:rPr sz="750" b="1" dirty="0">
                <a:solidFill>
                  <a:srgbClr val="E65100"/>
                </a:solidFill>
                <a:latin typeface="Arial"/>
              </a:rPr>
              <a:t> → </a:t>
            </a:r>
            <a:r>
              <a:rPr sz="750" b="1" dirty="0" err="1">
                <a:solidFill>
                  <a:srgbClr val="E65100"/>
                </a:solidFill>
                <a:latin typeface="Arial"/>
              </a:rPr>
              <a:t>增大</a:t>
            </a:r>
            <a:r>
              <a:rPr sz="750" b="1" dirty="0">
                <a:solidFill>
                  <a:srgbClr val="E65100"/>
                </a:solidFill>
                <a:latin typeface="Arial"/>
              </a:rPr>
              <a:t> Ki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648200" y="3779937"/>
            <a:ext cx="4114800" cy="285452"/>
          </a:xfrm>
          <a:prstGeom prst="rect">
            <a:avLst/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667250" y="3779937"/>
            <a:ext cx="0" cy="285452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4787801" y="3855988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750" b="1">
                <a:solidFill>
                  <a:srgbClr val="E65100"/>
                </a:solidFill>
                <a:latin typeface="Arial"/>
              </a:rPr>
              <a:t>负方向无输出：OUTPUT_MIN=0截断负值→改-90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648200" y="4090690"/>
            <a:ext cx="4114800" cy="285452"/>
          </a:xfrm>
          <a:prstGeom prst="rect">
            <a:avLst/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4667250" y="4090690"/>
            <a:ext cx="0" cy="285452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4787801" y="4166741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750" b="1">
                <a:solidFill>
                  <a:srgbClr val="E65100"/>
                </a:solidFill>
                <a:latin typeface="Arial"/>
              </a:rPr>
              <a:t>电流不到目标：Ki太小/积分限幅不够→加大Ki和limit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77652"/>
            <a:ext cx="9144000" cy="0"/>
          </a:xfrm>
          <a:prstGeom prst="line">
            <a:avLst/>
          </a:prstGeom>
          <a:noFill/>
          <a:ln w="19050">
            <a:solidFill>
              <a:srgbClr val="E7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7950" y="253901"/>
            <a:ext cx="82906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000">
                <a:solidFill>
                  <a:srgbClr val="4472C4"/>
                </a:solidFill>
                <a:latin typeface="Arial"/>
              </a:rPr>
              <a:t>HAL_TIM_Base_Start(pm1_motor.htim);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49515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000" b="1">
                <a:solidFill>
                  <a:srgbClr val="2D3748"/>
                </a:solidFill>
                <a:latin typeface="Arial"/>
              </a:rPr>
              <a:t>BrushMotor_Init(&amp;pm1_motor);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06301" y="1164878"/>
            <a:ext cx="417128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1000" b="1">
                <a:solidFill>
                  <a:srgbClr val="4472C4"/>
                </a:solidFill>
                <a:latin typeface="Arial"/>
              </a:rPr>
              <a:t>BrushMotor_SetDirection(MOTOR_FORWARD);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460153"/>
            <a:ext cx="4089499" cy="2464445"/>
          </a:xfrm>
          <a:prstGeom prst="roundRect">
            <a:avLst>
              <a:gd name="adj" fmla="val 3092"/>
            </a:avLst>
          </a:prstGeom>
          <a:solidFill>
            <a:srgbClr val="1E2A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251" y="1599754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6A9955"/>
                </a:solidFill>
                <a:latin typeface="Courier New"/>
              </a:rPr>
              <a:t>HAL_Delay(500);  // 等待电流稳定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3251" y="1768822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E0E0E0"/>
                </a:solidFill>
                <a:latin typeface="Courier New"/>
              </a:rPr>
              <a:t>BSP_CurrentSensor_Init();  // 校准+开中断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33251" y="1937891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E0E0E0"/>
                </a:solidFill>
                <a:latin typeface="Courier New"/>
              </a:rPr>
              <a:t>BrushMotor_Disable();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3251" y="2106960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6A9955"/>
                </a:solidFill>
                <a:latin typeface="Courier New"/>
              </a:rPr>
              <a:t>CurrentLoop_Init(&amp;current_loop, &amp;pm1_motor);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33251" y="2276029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3251" y="2445097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5B9BD5"/>
                </a:solidFill>
                <a:latin typeface="Courier New"/>
              </a:rPr>
              <a:t>// ======== 主循环 (仅处理按键/LCD/串口) ========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3251" y="2614166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E0E0E0"/>
                </a:solidFill>
                <a:latin typeface="Courier New"/>
              </a:rPr>
              <a:t>while (1) {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3251" y="2783235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6A9955"/>
                </a:solidFill>
                <a:latin typeface="Courier New"/>
              </a:rPr>
              <a:t>  key = Key_Scan();  // 无按键立即返回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3251" y="2952304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6A9955"/>
                </a:solidFill>
                <a:latin typeface="Courier New"/>
              </a:rPr>
              <a:t>  if (key == KEY0) Key0_ClosedLoop();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3251" y="3121372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5B9BD5"/>
                </a:solidFill>
                <a:latin typeface="Courier New"/>
              </a:rPr>
              <a:t>  else if (key == KEY1) Key1_OpenLoop();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3251" y="3290441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E0E0E0"/>
                </a:solidFill>
                <a:latin typeface="Courier New"/>
              </a:rPr>
              <a:t>  else if (key == KEY2) Key2_EmergencyStop();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3251" y="3459510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E0E0E0"/>
                </a:solidFill>
                <a:latin typeface="Courier New"/>
              </a:rPr>
              <a:t>  if (!closed_loop_active) OpenLoop_ApplyDuty();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3251" y="3628579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6A9955"/>
                </a:solidFill>
                <a:latin typeface="Courier New"/>
              </a:rPr>
              <a:t>  Sys_LCD_Update(0);    // 每~100ms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48200" y="1164878"/>
            <a:ext cx="417128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1000" b="1">
                <a:solidFill>
                  <a:srgbClr val="4472C4"/>
                </a:solidFill>
                <a:latin typeface="Arial"/>
              </a:rPr>
              <a:t>初始化要点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48200" y="1460153"/>
            <a:ext cx="4089499" cy="2633514"/>
          </a:xfrm>
          <a:prstGeom prst="roundRect">
            <a:avLst>
              <a:gd name="adj" fmla="val 2893"/>
            </a:avLst>
          </a:prstGeom>
          <a:solidFill>
            <a:srgbClr val="1E2A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75150" y="1599754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5B9BD5"/>
                </a:solidFill>
                <a:latin typeface="Courier New"/>
              </a:rPr>
              <a:t>② BootstrapCharge → 50%PWM充电Cboot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75150" y="1768822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5B9BD5"/>
                </a:solidFill>
                <a:latin typeface="Courier New"/>
              </a:rPr>
              <a:t>③ SD拉高+下桥臂导通 → 采样回路闭合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75150" y="1937891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E0E0E0"/>
                </a:solidFill>
                <a:latin typeface="Courier New"/>
              </a:rPr>
              <a:t>④ BSP_CurrentSensor_Init → 零漂校准+开中断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75150" y="2106960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E0E0E0"/>
                </a:solidFill>
                <a:latin typeface="Courier New"/>
              </a:rPr>
              <a:t>⑤ CurrentLoop_Init → PID初始化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75150" y="2276029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75150" y="2445097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5B9BD5"/>
                </a:solidFill>
                <a:latin typeface="Courier New"/>
              </a:rPr>
              <a:t>主循环要点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75150" y="2614166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E0E0E0"/>
                </a:solidFill>
                <a:latin typeface="Courier New"/>
              </a:rPr>
              <a:t>Key_Scan() 非阻塞，无按键立即返回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75150" y="2783235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E0E0E0"/>
                </a:solidFill>
                <a:latin typeface="Courier New"/>
              </a:rPr>
              <a:t>0、100、-100mA循环启停闭环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75150" y="2952304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E0E0E0"/>
                </a:solidFill>
                <a:latin typeface="Courier New"/>
              </a:rPr>
              <a:t>±20%占空比步进开环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75150" y="3121372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E0E0E0"/>
                </a:solidFill>
                <a:latin typeface="Courier New"/>
              </a:rPr>
              <a:t>紧急失能，SD拉低全停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75150" y="3290441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E0E0E0"/>
                </a:solidFill>
                <a:latin typeface="Courier New"/>
              </a:rPr>
              <a:t>开环占空比应用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75150" y="3459510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E0E0E0"/>
                </a:solidFill>
                <a:latin typeface="Courier New"/>
              </a:rPr>
              <a:t>LCD刷新 ~100ms，串口~500ms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75150" y="3628579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5B9BD5"/>
                </a:solidFill>
                <a:latin typeface="Courier New"/>
              </a:rPr>
              <a:t>主循环~1ms，PID在ISR 1000Hz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75150" y="3797647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5B9BD5"/>
                </a:solidFill>
                <a:latin typeface="Courier New"/>
              </a:rPr>
              <a:t>已从main移除“电流环调用”代码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075612" y="4169865"/>
            <a:ext cx="4662088" cy="617669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42240" indent="-71120" algn="l">
              <a:spcAft>
                <a:spcPts val="200"/>
              </a:spcAft>
              <a:buSzPct val="100000"/>
              <a:buChar char="•"/>
            </a:pPr>
            <a:r>
              <a:rPr sz="800" dirty="0" err="1">
                <a:solidFill>
                  <a:srgbClr val="2D3748"/>
                </a:solidFill>
                <a:latin typeface="Arial"/>
              </a:rPr>
              <a:t>初始化时</a:t>
            </a:r>
            <a:r>
              <a:rPr sz="800" dirty="0">
                <a:solidFill>
                  <a:srgbClr val="2D3748"/>
                </a:solidFill>
                <a:latin typeface="Arial"/>
              </a:rPr>
              <a:t> SD </a:t>
            </a:r>
            <a:r>
              <a:rPr sz="800" dirty="0" err="1">
                <a:solidFill>
                  <a:srgbClr val="2D3748"/>
                </a:solidFill>
                <a:latin typeface="Arial"/>
              </a:rPr>
              <a:t>拉高+下桥臂导通，电流采样回路闭合才能校准零漂</a:t>
            </a:r>
            <a:endParaRPr lang="en-US" sz="950" dirty="0"/>
          </a:p>
          <a:p>
            <a:pPr marL="142240" indent="-71120" algn="l">
              <a:spcAft>
                <a:spcPts val="200"/>
              </a:spcAft>
              <a:buChar char="•"/>
            </a:pPr>
            <a:r>
              <a:rPr sz="800" dirty="0" err="1">
                <a:solidFill>
                  <a:srgbClr val="2D3748"/>
                </a:solidFill>
                <a:latin typeface="Arial"/>
              </a:rPr>
              <a:t>自举电容预充电</a:t>
            </a:r>
            <a:r>
              <a:rPr sz="800" dirty="0">
                <a:solidFill>
                  <a:srgbClr val="2D3748"/>
                </a:solidFill>
                <a:latin typeface="Arial"/>
              </a:rPr>
              <a:t>(</a:t>
            </a:r>
            <a:r>
              <a:rPr sz="800" dirty="0" err="1">
                <a:solidFill>
                  <a:srgbClr val="2D3748"/>
                </a:solidFill>
                <a:latin typeface="Arial"/>
              </a:rPr>
              <a:t>BootstrapCharge</a:t>
            </a:r>
            <a:r>
              <a:rPr sz="800" dirty="0">
                <a:solidFill>
                  <a:srgbClr val="2D3748"/>
                </a:solidFill>
                <a:latin typeface="Arial"/>
              </a:rPr>
              <a:t>)：50%互补PWM短暂运行，双半桥等位不转，Cboot充满（防UVLO冷启动·高端锁死）</a:t>
            </a:r>
          </a:p>
          <a:p>
            <a:pPr marL="142240" indent="-71120" algn="l">
              <a:spcAft>
                <a:spcPts val="200"/>
              </a:spcAft>
              <a:buChar char="•"/>
            </a:pPr>
            <a:r>
              <a:rPr sz="800" dirty="0" err="1">
                <a:solidFill>
                  <a:srgbClr val="2D3748"/>
                </a:solidFill>
                <a:latin typeface="Arial"/>
              </a:rPr>
              <a:t>主循环仅负责按键</a:t>
            </a:r>
            <a:r>
              <a:rPr sz="800" dirty="0">
                <a:solidFill>
                  <a:srgbClr val="2D3748"/>
                </a:solidFill>
                <a:latin typeface="Arial"/>
              </a:rPr>
              <a:t>/LCD/</a:t>
            </a:r>
            <a:r>
              <a:rPr sz="800" dirty="0" err="1">
                <a:solidFill>
                  <a:srgbClr val="2D3748"/>
                </a:solidFill>
                <a:latin typeface="Arial"/>
              </a:rPr>
              <a:t>串口，PID</a:t>
            </a:r>
            <a:r>
              <a:rPr sz="800" dirty="0">
                <a:solidFill>
                  <a:srgbClr val="2D3748"/>
                </a:solidFill>
                <a:latin typeface="Arial"/>
              </a:rPr>
              <a:t> </a:t>
            </a:r>
            <a:r>
              <a:rPr sz="800" dirty="0" err="1">
                <a:solidFill>
                  <a:srgbClr val="2D3748"/>
                </a:solidFill>
                <a:latin typeface="Arial"/>
              </a:rPr>
              <a:t>已迁移至</a:t>
            </a:r>
            <a:r>
              <a:rPr sz="800" dirty="0">
                <a:solidFill>
                  <a:srgbClr val="2D3748"/>
                </a:solidFill>
                <a:latin typeface="Arial"/>
              </a:rPr>
              <a:t> ADC ISR </a:t>
            </a:r>
            <a:r>
              <a:rPr sz="800" dirty="0" err="1">
                <a:solidFill>
                  <a:srgbClr val="2D3748"/>
                </a:solidFill>
                <a:latin typeface="Arial"/>
              </a:rPr>
              <a:t>内运行</a:t>
            </a:r>
            <a:r>
              <a:rPr sz="800" dirty="0">
                <a:solidFill>
                  <a:srgbClr val="2D3748"/>
                </a:solidFill>
                <a:latin typeface="Arial"/>
              </a:rPr>
              <a:t> (1000Hz)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06301" y="1345853"/>
            <a:ext cx="4089499" cy="2578745"/>
          </a:xfrm>
          <a:prstGeom prst="roundRect">
            <a:avLst>
              <a:gd name="adj" fmla="val 3092"/>
            </a:avLst>
          </a:prstGeom>
          <a:solidFill>
            <a:srgbClr val="1E2A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77652"/>
            <a:ext cx="9144000" cy="0"/>
          </a:xfrm>
          <a:prstGeom prst="line">
            <a:avLst/>
          </a:prstGeom>
          <a:noFill/>
          <a:ln w="19050">
            <a:solidFill>
              <a:srgbClr val="E7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7950" y="253901"/>
            <a:ext cx="82906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437" y="537865"/>
            <a:ext cx="862226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2D3748"/>
                </a:solidFill>
                <a:latin typeface="Arial"/>
              </a:rPr>
              <a:t>float </a:t>
            </a:r>
            <a:r>
              <a:rPr lang="en-US" b="1" dirty="0" err="1">
                <a:solidFill>
                  <a:srgbClr val="2D3748"/>
                </a:solidFill>
                <a:latin typeface="Arial"/>
              </a:rPr>
              <a:t>PID_Compute</a:t>
            </a:r>
            <a:r>
              <a:rPr lang="en-US" b="1" dirty="0">
                <a:solidFill>
                  <a:srgbClr val="2D3748"/>
                </a:solidFill>
                <a:latin typeface="Arial"/>
              </a:rPr>
              <a:t>(</a:t>
            </a:r>
            <a:r>
              <a:rPr lang="en-US" b="1" dirty="0" err="1">
                <a:solidFill>
                  <a:srgbClr val="2D3748"/>
                </a:solidFill>
                <a:latin typeface="Arial"/>
              </a:rPr>
              <a:t>PID_Controller</a:t>
            </a:r>
            <a:r>
              <a:rPr lang="en-US" b="1" dirty="0">
                <a:solidFill>
                  <a:srgbClr val="2D3748"/>
                </a:solidFill>
                <a:latin typeface="Arial"/>
              </a:rPr>
              <a:t> *</a:t>
            </a:r>
            <a:r>
              <a:rPr lang="en-US" b="1" dirty="0" err="1">
                <a:solidFill>
                  <a:srgbClr val="2D3748"/>
                </a:solidFill>
                <a:latin typeface="Arial"/>
              </a:rPr>
              <a:t>pid</a:t>
            </a:r>
            <a:r>
              <a:rPr lang="en-US" b="1" dirty="0">
                <a:solidFill>
                  <a:srgbClr val="2D3748"/>
                </a:solidFill>
                <a:latin typeface="Arial"/>
              </a:rPr>
              <a:t>, </a:t>
            </a:r>
            <a:r>
              <a:rPr b="1" dirty="0">
                <a:solidFill>
                  <a:srgbClr val="2D3748"/>
                </a:solidFill>
                <a:latin typeface="Arial"/>
              </a:rPr>
              <a:t>float target, float actual)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0386" y="1391840"/>
            <a:ext cx="417128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1000" b="1" dirty="0">
                <a:solidFill>
                  <a:srgbClr val="4472C4"/>
                </a:solidFill>
                <a:latin typeface="Arial"/>
              </a:rPr>
              <a:t>  float error = target - actual;  // e(k)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3251" y="1599754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5B9BD5"/>
                </a:solidFill>
                <a:latin typeface="Courier New"/>
              </a:rPr>
              <a:t>  pid-&gt;integral += error;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3251" y="1768822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6A9955"/>
                </a:solidFill>
                <a:latin typeface="Courier New"/>
              </a:rPr>
              <a:t>  LIMIT(pid-&gt;integral, ±integral_limit);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33251" y="1937891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E0E0E0"/>
                </a:solidFill>
                <a:latin typeface="Courier New"/>
              </a:rPr>
              <a:t>  // Step 3: P/I/D 三项计算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3251" y="2106960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6A9955"/>
                </a:solidFill>
                <a:latin typeface="Courier New"/>
              </a:rPr>
              <a:t>  float p_term = pid-&gt;Kp * error;       // P项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33251" y="2276029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FFC000"/>
                </a:solidFill>
                <a:latin typeface="Courier New"/>
              </a:rPr>
              <a:t>  float i_term = pid-&gt;Ki * pid-&gt;integral; // I项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3251" y="2445097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FFC000"/>
                </a:solidFill>
                <a:latin typeface="Courier New"/>
              </a:rPr>
              <a:t>  float d_term = pid-&gt;Kd * (error-prev);  // D项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3251" y="2614166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FFC000"/>
                </a:solidFill>
                <a:latin typeface="Courier New"/>
              </a:rPr>
              <a:t>  // Step 4: 合成输出 + 限幅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3251" y="2783235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E0E0E0"/>
                </a:solidFill>
                <a:latin typeface="Courier New"/>
              </a:rPr>
              <a:t>  float output = p_term + i_term + d_term;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3251" y="2952304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6A9955"/>
                </a:solidFill>
                <a:latin typeface="Courier New"/>
              </a:rPr>
              <a:t>  LIMIT(output, OUTPUT_MIN, OUTPUT_MAX);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3251" y="3121372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5B9BD5"/>
                </a:solidFill>
                <a:latin typeface="Courier New"/>
              </a:rPr>
              <a:t>  pid-&gt;error_prev = error;  return output;  }  // Step 5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3251" y="3290441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5B9BD5"/>
                </a:solidFill>
                <a:latin typeface="Courier New"/>
              </a:rPr>
              <a:t>  float output = p_term + i_term + d_term;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3251" y="3459510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6A9955"/>
                </a:solidFill>
                <a:latin typeface="Courier New"/>
              </a:rPr>
              <a:t>  LIMIT(output, OUTPUT_MIN, OUTPUT_MAX);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3251" y="3628579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5B9BD5"/>
                </a:solidFill>
                <a:latin typeface="Courier New"/>
              </a:rPr>
              <a:t>  pid-&gt;error_prev = error;  return output;  }  // Step 5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48200" y="1164878"/>
            <a:ext cx="417128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1000" b="1">
                <a:solidFill>
                  <a:srgbClr val="4472C4"/>
                </a:solidFill>
                <a:latin typeface="Arial"/>
              </a:rPr>
              <a:t>数学公式 → 代码对应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48200" y="1460153"/>
            <a:ext cx="4089499" cy="2633514"/>
          </a:xfrm>
          <a:prstGeom prst="roundRect">
            <a:avLst>
              <a:gd name="adj" fmla="val 2893"/>
            </a:avLst>
          </a:prstGeom>
          <a:solidFill>
            <a:srgbClr val="1E2A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75150" y="1599754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 dirty="0">
                <a:solidFill>
                  <a:srgbClr val="5B9BD5"/>
                </a:solidFill>
                <a:latin typeface="Courier New"/>
              </a:rPr>
              <a:t>e(k)=target-actual  → float error=...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75150" y="1768822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E0E0E0"/>
                </a:solidFill>
                <a:latin typeface="Courier New"/>
              </a:rPr>
              <a:t>Σe+=e(k) 限幅±1500  → integral+=error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75150" y="1937891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E0E0E0"/>
                </a:solidFill>
                <a:latin typeface="Courier New"/>
              </a:rPr>
              <a:t>P项=Kp×e  → p_term=Kp*error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75150" y="2106960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6A9955"/>
                </a:solidFill>
                <a:latin typeface="Courier New"/>
              </a:rPr>
              <a:t>I项=Ki×Σe  → i_term=Ki*integral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75150" y="2276029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 dirty="0">
                <a:solidFill>
                  <a:srgbClr val="6A9955"/>
                </a:solidFill>
                <a:latin typeface="Courier New"/>
              </a:rPr>
              <a:t>D项=Kd×[e(k)-e(k-1)]  → d_term=Kd*(...)</a:t>
            </a:r>
            <a:r>
              <a:rPr sz="800" dirty="0" err="1">
                <a:solidFill>
                  <a:srgbClr val="6A9955"/>
                </a:solidFill>
                <a:latin typeface="Courier New"/>
              </a:rPr>
              <a:t>合成输出</a:t>
            </a:r>
            <a:r>
              <a:rPr sz="800" dirty="0">
                <a:solidFill>
                  <a:srgbClr val="6A9955"/>
                </a:solidFill>
                <a:latin typeface="Courier New"/>
              </a:rPr>
              <a:t> + </a:t>
            </a:r>
            <a:r>
              <a:rPr sz="800" dirty="0" err="1">
                <a:solidFill>
                  <a:srgbClr val="6A9955"/>
                </a:solidFill>
                <a:latin typeface="Courier New"/>
              </a:rPr>
              <a:t>双向限幅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75150" y="2445097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E0E0E0"/>
                </a:solidFill>
                <a:latin typeface="Courier New"/>
              </a:rPr>
              <a:t>u(k)=P+I+D 限幅[-90,90]  → LIMIT(output)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75150" y="2614166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5B9BD5"/>
                </a:solidFill>
                <a:latin typeface="Courier New"/>
              </a:rPr>
              <a:t>Kp=0.4 Ki=0.08 Kd=0 @ISR 1000Hz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75150" y="2783235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 dirty="0">
                <a:solidFill>
                  <a:srgbClr val="6A9955"/>
                </a:solidFill>
                <a:latin typeface="Courier New"/>
              </a:rPr>
              <a:t>位置式 P=Kp×e 直接出力 | 增量 P=Kp×Δe 稳态无力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75150" y="2952304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 dirty="0" err="1">
                <a:solidFill>
                  <a:srgbClr val="5B9BD5"/>
                </a:solidFill>
                <a:latin typeface="Courier New"/>
              </a:rPr>
              <a:t>I项=Ki×Σe(k)     → i_term=Ki*integral</a:t>
            </a:r>
            <a:r>
              <a:rPr sz="800" dirty="0">
                <a:solidFill>
                  <a:srgbClr val="5B9BD5"/>
                </a:solidFill>
                <a:latin typeface="Courier New"/>
              </a:rPr>
              <a:t> = </a:t>
            </a:r>
            <a:r>
              <a:rPr sz="800" dirty="0" err="1">
                <a:solidFill>
                  <a:srgbClr val="5B9BD5"/>
                </a:solidFill>
                <a:latin typeface="Courier New"/>
              </a:rPr>
              <a:t>Σe</a:t>
            </a:r>
            <a:r>
              <a:rPr sz="800" dirty="0">
                <a:solidFill>
                  <a:srgbClr val="5B9BD5"/>
                </a:solidFill>
                <a:latin typeface="Courier New"/>
              </a:rPr>
              <a:t> + e(k)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75150" y="3121372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75150" y="3290441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6A9955"/>
                </a:solidFill>
                <a:latin typeface="Courier New"/>
              </a:rPr>
              <a:t>D项=Kd×[e(k)-e(k-1)] → d_term=Kd*(err-prev)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75150" y="3459510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5B9BD5"/>
                </a:solidFill>
                <a:latin typeface="Courier New"/>
              </a:rPr>
              <a:t>u(k)=P+I+D  限幅[-90,90]  → LIMIT(output)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75150" y="3628579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75150" y="3797647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48200" y="4169866"/>
            <a:ext cx="4089499" cy="50780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42240" indent="-71120" algn="l">
              <a:spcAft>
                <a:spcPts val="200"/>
              </a:spcAft>
              <a:buSzPct val="100000"/>
              <a:buChar char="•"/>
            </a:pPr>
            <a:r>
              <a:rPr sz="800">
                <a:solidFill>
                  <a:srgbClr val="2D3748"/>
                </a:solidFill>
                <a:latin typeface="Arial"/>
              </a:rPr>
              <a:t>u(k) = Kp·e + Ki·Σe + Kd·[e(k)-e(k-1)]</a:t>
            </a:r>
            <a:endParaRPr lang="en-US" sz="950" dirty="0"/>
          </a:p>
          <a:p>
            <a:pPr marL="142240" indent="-71120" algn="l">
              <a:spcAft>
                <a:spcPts val="200"/>
              </a:spcAft>
              <a:buChar char="•"/>
            </a:pPr>
            <a:r>
              <a:rPr sz="800">
                <a:solidFill>
                  <a:srgbClr val="2D3748"/>
                </a:solidFill>
                <a:latin typeface="Arial"/>
              </a:rPr>
              <a:t>双重限幅保护：输出限幅[-90,90] 防PWM超限，积分限幅±1500 防Windup饱和</a:t>
            </a:r>
          </a:p>
          <a:p>
            <a:pPr marL="142240" indent="-71120" algn="l">
              <a:spcAft>
                <a:spcPts val="200"/>
              </a:spcAft>
              <a:buChar char="•"/>
            </a:pPr>
            <a:r>
              <a:rPr sz="800">
                <a:solidFill>
                  <a:srgbClr val="2D3748"/>
                </a:solidFill>
                <a:latin typeface="Arial"/>
              </a:rPr>
              <a:t>当前最优参数：Kp=0.4, Ki=0.08, Kd=0, 运行在ADC ISR 1000Hz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77652"/>
            <a:ext cx="9144000" cy="0"/>
          </a:xfrm>
          <a:prstGeom prst="line">
            <a:avLst/>
          </a:prstGeom>
          <a:noFill/>
          <a:ln w="19050">
            <a:solidFill>
              <a:srgbClr val="E7E6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7950" y="253901"/>
            <a:ext cx="82906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sz="1000">
                <a:solidFill>
                  <a:srgbClr val="4472C4"/>
                </a:solidFill>
                <a:latin typeface="Arial"/>
              </a:rPr>
              <a:t>11-04 · 触发链详解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49515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2000" b="1">
                <a:solidFill>
                  <a:srgbClr val="2D3748"/>
                </a:solidFill>
                <a:latin typeface="Arial"/>
              </a:rPr>
              <a:t>ADC 过采样与触发链详解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06301" y="1164878"/>
            <a:ext cx="417128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1000" b="1">
                <a:solidFill>
                  <a:srgbClr val="4472C4"/>
                </a:solidFill>
                <a:latin typeface="Arial"/>
              </a:rPr>
              <a:t>触发链 + 过采样代码 (bsp_current_sensor.c)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460153"/>
            <a:ext cx="4089499" cy="2464445"/>
          </a:xfrm>
          <a:prstGeom prst="roundRect">
            <a:avLst>
              <a:gd name="adj" fmla="val 3092"/>
            </a:avLst>
          </a:prstGeom>
          <a:solidFill>
            <a:srgbClr val="1E2A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251" y="1599754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6A9955"/>
                </a:solidFill>
                <a:latin typeface="Courier New"/>
              </a:rPr>
              <a:t>/* ---- 硬件触发链 ---- */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3251" y="1768822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6A9955"/>
                </a:solidFill>
                <a:latin typeface="Courier New"/>
              </a:rPr>
              <a:t>  中心对齐: 计数到ARR/2 时采样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33251" y="1937891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E0E0E0"/>
                </a:solidFill>
                <a:latin typeface="Courier New"/>
              </a:rPr>
              <a:t>ADC ISR 每 62.5μs 触发一次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3251" y="2106960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E0E0E0"/>
                </a:solidFill>
                <a:latin typeface="Courier New"/>
              </a:rPr>
              <a:t>adc_raw = adc_data - offset;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33251" y="2276029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6A9955"/>
                </a:solidFill>
                <a:latin typeface="Courier New"/>
              </a:rPr>
              <a:t>/* ---- 16× 过采样完成 ---- */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3251" y="2445097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5B9BD5"/>
                </a:solidFill>
                <a:latin typeface="Courier New"/>
              </a:rPr>
              <a:t>if (cnt &gt;= 16) {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3251" y="2614166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 dirty="0">
                <a:solidFill>
                  <a:srgbClr val="E0E0E0"/>
                </a:solidFill>
                <a:latin typeface="Courier New"/>
              </a:rPr>
              <a:t>  avg = </a:t>
            </a:r>
            <a:r>
              <a:rPr sz="800" dirty="0" err="1">
                <a:solidFill>
                  <a:srgbClr val="E0E0E0"/>
                </a:solidFill>
                <a:latin typeface="Courier New"/>
              </a:rPr>
              <a:t>accum</a:t>
            </a:r>
            <a:r>
              <a:rPr sz="800" dirty="0">
                <a:solidFill>
                  <a:srgbClr val="E0E0E0"/>
                </a:solidFill>
                <a:latin typeface="Courier New"/>
              </a:rPr>
              <a:t> / 16;  // </a:t>
            </a:r>
            <a:r>
              <a:rPr sz="800" dirty="0" err="1">
                <a:solidFill>
                  <a:srgbClr val="E0E0E0"/>
                </a:solidFill>
                <a:latin typeface="Courier New"/>
              </a:rPr>
              <a:t>平均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3251" y="2783235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 dirty="0">
                <a:solidFill>
                  <a:srgbClr val="E0E0E0"/>
                </a:solidFill>
                <a:latin typeface="Courier New"/>
              </a:rPr>
              <a:t>  </a:t>
            </a:r>
            <a:r>
              <a:rPr sz="800" dirty="0" err="1">
                <a:solidFill>
                  <a:srgbClr val="E0E0E0"/>
                </a:solidFill>
                <a:latin typeface="Courier New"/>
              </a:rPr>
              <a:t>accum</a:t>
            </a:r>
            <a:r>
              <a:rPr sz="800" dirty="0">
                <a:solidFill>
                  <a:srgbClr val="E0E0E0"/>
                </a:solidFill>
                <a:latin typeface="Courier New"/>
              </a:rPr>
              <a:t>=0; </a:t>
            </a:r>
            <a:r>
              <a:rPr sz="800" dirty="0" err="1">
                <a:solidFill>
                  <a:srgbClr val="E0E0E0"/>
                </a:solidFill>
                <a:latin typeface="Courier New"/>
              </a:rPr>
              <a:t>cnt</a:t>
            </a:r>
            <a:r>
              <a:rPr sz="800" dirty="0">
                <a:solidFill>
                  <a:srgbClr val="E0E0E0"/>
                </a:solidFill>
                <a:latin typeface="Courier New"/>
              </a:rPr>
              <a:t>=0; } // </a:t>
            </a:r>
            <a:r>
              <a:rPr sz="800" dirty="0" err="1">
                <a:solidFill>
                  <a:srgbClr val="E0E0E0"/>
                </a:solidFill>
                <a:latin typeface="Courier New"/>
              </a:rPr>
              <a:t>重置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3251" y="2952304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6A9955"/>
                </a:solidFill>
                <a:latin typeface="Courier New"/>
              </a:rPr>
              <a:t>/* ---- 时序参数 ---- */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3251" y="3121372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5B9BD5"/>
                </a:solidFill>
                <a:latin typeface="Courier New"/>
              </a:rPr>
              <a:t>PWM 频率: 16kHz (超声音)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3251" y="3290441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 dirty="0" err="1">
                <a:solidFill>
                  <a:srgbClr val="5B9BD5"/>
                </a:solidFill>
                <a:latin typeface="Courier New"/>
              </a:rPr>
              <a:t>过采样</a:t>
            </a:r>
            <a:r>
              <a:rPr sz="800" dirty="0">
                <a:solidFill>
                  <a:srgbClr val="5B9BD5"/>
                </a:solidFill>
                <a:latin typeface="Courier New"/>
              </a:rPr>
              <a:t>: 16× → 1000Hz PID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3251" y="3459510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 dirty="0">
                <a:solidFill>
                  <a:srgbClr val="6A9955"/>
                </a:solidFill>
                <a:latin typeface="Courier New"/>
              </a:rPr>
              <a:t>   等效分辨率提升≈2bit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3251" y="3628579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5B9BD5"/>
                </a:solidFill>
                <a:latin typeface="Courier New"/>
              </a:rPr>
              <a:t>低通滤波: α=0.05 (one-pole IIR)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48200" y="1164878"/>
            <a:ext cx="417128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1000" b="1" dirty="0" err="1">
                <a:solidFill>
                  <a:srgbClr val="4472C4"/>
                </a:solidFill>
                <a:latin typeface="Arial"/>
              </a:rPr>
              <a:t>时序与等效分辨率分析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48200" y="1460153"/>
            <a:ext cx="4089499" cy="2633514"/>
          </a:xfrm>
          <a:prstGeom prst="roundRect">
            <a:avLst>
              <a:gd name="adj" fmla="val 2893"/>
            </a:avLst>
          </a:prstGeom>
          <a:solidFill>
            <a:srgbClr val="1E2A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75150" y="1599754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5B9BD5"/>
                </a:solidFill>
                <a:latin typeface="Courier New"/>
              </a:rPr>
              <a:t>TIM1 16kHz → TRGO Update → ADC 注入（硬件触发,无需DMA,ISR直处理）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75150" y="1768822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E0E0E0"/>
                </a:solidFill>
                <a:latin typeface="Courier New"/>
              </a:rPr>
              <a:t>current_temp = adc_raw * ADC_TO_MA;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75150" y="1937891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 dirty="0">
                <a:solidFill>
                  <a:srgbClr val="6A9955"/>
                </a:solidFill>
                <a:latin typeface="Courier New"/>
              </a:rPr>
              <a:t>/* </a:t>
            </a:r>
            <a:r>
              <a:rPr sz="800" dirty="0" err="1">
                <a:solidFill>
                  <a:srgbClr val="6A9955"/>
                </a:solidFill>
                <a:latin typeface="Courier New"/>
              </a:rPr>
              <a:t>单次</a:t>
            </a:r>
            <a:r>
              <a:rPr sz="800" dirty="0">
                <a:solidFill>
                  <a:srgbClr val="6A9955"/>
                </a:solidFill>
                <a:latin typeface="Courier New"/>
              </a:rPr>
              <a:t> LSB ≈6.7mA，噪声大 */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75150" y="2106960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5B9BD5"/>
                </a:solidFill>
                <a:latin typeface="Courier New"/>
              </a:rPr>
              <a:t>oversample_accum += current_temp; cnt++;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75150" y="2276029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FFC000"/>
                </a:solidFill>
                <a:latin typeface="Courier New"/>
              </a:rPr>
              <a:t>  // IIR: y=α*x+(1-α)*y_prev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75150" y="2445097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E0E0E0"/>
                </a:solidFill>
                <a:latin typeface="Courier New"/>
              </a:rPr>
              <a:t>  current_mA = 0.05*avg+0.95*prev;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75150" y="2614166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5B9BD5"/>
                </a:solidFill>
                <a:latin typeface="Courier New"/>
              </a:rPr>
              <a:t>  if (closed_loop) CurrentLoop_Update();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75150" y="2783235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6A9955"/>
                </a:solidFill>
                <a:latin typeface="Courier New"/>
              </a:rPr>
              <a:t>ARR=2624, PSC=1, 168MHz/TIMclk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75150" y="2952304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5B9BD5"/>
                </a:solidFill>
                <a:latin typeface="Courier New"/>
              </a:rPr>
              <a:t>ADC 触发: 16kHz TRGO Update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75150" y="3121372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6A9955"/>
                </a:solidFill>
                <a:latin typeface="Courier New"/>
              </a:rPr>
              <a:t>   中心对齐中点 = 电流平均点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75150" y="3290441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6A9955"/>
                </a:solidFill>
                <a:latin typeface="Courier New"/>
              </a:rPr>
              <a:t>   截止频率 fc=8Hz (强噪声抑制)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75150" y="3459510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 dirty="0" err="1">
                <a:solidFill>
                  <a:srgbClr val="FFC000"/>
                </a:solidFill>
                <a:latin typeface="Courier New"/>
              </a:rPr>
              <a:t>总更新周期</a:t>
            </a:r>
            <a:r>
              <a:rPr sz="800" dirty="0">
                <a:solidFill>
                  <a:srgbClr val="FFC000"/>
                </a:solidFill>
                <a:latin typeface="Courier New"/>
              </a:rPr>
              <a:t>: 16/16k = 1ms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75150" y="3628579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FFC000"/>
                </a:solidFill>
                <a:latin typeface="Courier New"/>
              </a:rPr>
              <a:t>PID 在 ISR 内零延迟闭环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75150" y="3797647"/>
            <a:ext cx="3912310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sz="800">
                <a:solidFill>
                  <a:srgbClr val="5B9BD5"/>
                </a:solidFill>
                <a:latin typeface="Courier New"/>
              </a:rPr>
              <a:t>}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48200" y="4169866"/>
            <a:ext cx="4089499" cy="50780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42240" indent="-71120" algn="l">
              <a:spcAft>
                <a:spcPts val="200"/>
              </a:spcAft>
              <a:buSzPct val="100000"/>
              <a:buChar char="•"/>
            </a:pPr>
            <a:r>
              <a:rPr sz="800">
                <a:solidFill>
                  <a:srgbClr val="2D3748"/>
                </a:solidFill>
                <a:latin typeface="Arial"/>
              </a:rPr>
              <a:t>中心对齐 PWM：TRGO=Update在计数中点，采样时刻对应电流波形平均值，避开开关尖峰</a:t>
            </a:r>
            <a:endParaRPr lang="en-US" sz="950" dirty="0"/>
          </a:p>
          <a:p>
            <a:pPr marL="142240" indent="-71120" algn="l">
              <a:spcAft>
                <a:spcPts val="200"/>
              </a:spcAft>
              <a:buChar char="•"/>
            </a:pPr>
            <a:r>
              <a:rPr sz="800">
                <a:solidFill>
                  <a:srgbClr val="2D3748"/>
                </a:solidFill>
                <a:latin typeface="Arial"/>
              </a:rPr>
              <a:t>全信号链：TIM1 TRGO(16k)→ADC注入→16×过采样→IIR(α=0.05)→PID→下个PWM周期生效</a:t>
            </a:r>
          </a:p>
          <a:p>
            <a:pPr marL="142240" indent="-71120" algn="l">
              <a:spcAft>
                <a:spcPts val="200"/>
              </a:spcAft>
              <a:buChar char="•"/>
            </a:pPr>
            <a:r>
              <a:rPr sz="800">
                <a:solidFill>
                  <a:srgbClr val="2D3748"/>
                </a:solidFill>
                <a:latin typeface="Arial"/>
              </a:rPr>
              <a:t>单次 LSB=6.7mA, 16×过采样→等效≈1.7mA, 再加 IIR → 开环波动仅6mA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30423" y="805160"/>
            <a:ext cx="308315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600"/>
              </a:spcAft>
              <a:buNone/>
            </a:pPr>
            <a:r>
              <a:rPr sz="2800" b="1">
                <a:solidFill>
                  <a:srgbClr val="FFFFFF"/>
                </a:solidFill>
                <a:latin typeface="Arial"/>
              </a:rPr>
              <a:t>总结与要点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030423" y="1475036"/>
            <a:ext cx="308315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sz="1800">
                <a:solidFill>
                  <a:srgbClr val="4472C4"/>
                </a:solidFill>
                <a:latin typeface="Arial"/>
              </a:rPr>
              <a:t>电流环 PID 控制核心知识框架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0398" y="2024211"/>
            <a:ext cx="3695402" cy="669727"/>
          </a:xfrm>
          <a:prstGeom prst="rect">
            <a:avLst/>
          </a:prstGeom>
          <a:solidFill>
            <a:srgbClr val="4472C4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19448" y="2024211"/>
            <a:ext cx="0" cy="669727"/>
          </a:xfrm>
          <a:prstGeom prst="line">
            <a:avLst/>
          </a:prstGeom>
          <a:noFill/>
          <a:ln w="38100">
            <a:solidFill>
              <a:srgbClr val="4472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16198" y="2151162"/>
            <a:ext cx="3367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sz="1200" b="1">
                <a:solidFill>
                  <a:srgbClr val="5B9BD5"/>
                </a:solidFill>
                <a:latin typeface="Arial"/>
              </a:rPr>
              <a:t>位置式 PID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6198" y="2389287"/>
            <a:ext cx="33679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sz="1000">
                <a:solidFill>
                  <a:srgbClr val="AAB7B8"/>
                </a:solidFill>
                <a:latin typeface="Arial"/>
              </a:rPr>
              <a:t>output=Kp·e+Ki·Σe+Kd·Δe，P项直接出力，需双重限幅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48200" y="2024211"/>
            <a:ext cx="3695402" cy="669727"/>
          </a:xfrm>
          <a:prstGeom prst="rect">
            <a:avLst/>
          </a:prstGeom>
          <a:solidFill>
            <a:srgbClr val="4472C4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67250" y="2024211"/>
            <a:ext cx="0" cy="669727"/>
          </a:xfrm>
          <a:prstGeom prst="line">
            <a:avLst/>
          </a:prstGeom>
          <a:noFill/>
          <a:ln w="38100">
            <a:solidFill>
              <a:srgbClr val="4472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864001" y="2151162"/>
            <a:ext cx="3367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sz="1200" b="1">
                <a:solidFill>
                  <a:srgbClr val="5B9BD5"/>
                </a:solidFill>
                <a:latin typeface="Arial"/>
              </a:rPr>
              <a:t>三层架构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001" y="2389287"/>
            <a:ext cx="33679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sz="1000">
                <a:solidFill>
                  <a:srgbClr val="AAB7B8"/>
                </a:solidFill>
                <a:latin typeface="Arial"/>
              </a:rPr>
              <a:t>user_config → pid/current_loop → bsp_motor/sensor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0398" y="2846338"/>
            <a:ext cx="3695402" cy="669727"/>
          </a:xfrm>
          <a:prstGeom prst="rect">
            <a:avLst/>
          </a:prstGeom>
          <a:solidFill>
            <a:srgbClr val="4472C4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19448" y="2846338"/>
            <a:ext cx="0" cy="669727"/>
          </a:xfrm>
          <a:prstGeom prst="line">
            <a:avLst/>
          </a:prstGeom>
          <a:noFill/>
          <a:ln w="38100">
            <a:solidFill>
              <a:srgbClr val="4472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16198" y="2973288"/>
            <a:ext cx="3367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sz="1200" b="1">
                <a:solidFill>
                  <a:srgbClr val="5B9BD5"/>
                </a:solidFill>
                <a:latin typeface="Arial"/>
              </a:rPr>
              <a:t>ISR 闭环架构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16198" y="3211413"/>
            <a:ext cx="33679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sz="1000">
                <a:solidFill>
                  <a:srgbClr val="AAB7B8"/>
                </a:solidFill>
                <a:latin typeface="Arial"/>
              </a:rPr>
              <a:t>TIM1 TRGO(16kHz)→ADC注入→过采样16×→IIR→PID→PWM，全在ISR，1000Hz零延迟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8200" y="2846338"/>
            <a:ext cx="3695402" cy="669727"/>
          </a:xfrm>
          <a:prstGeom prst="rect">
            <a:avLst/>
          </a:prstGeom>
          <a:solidFill>
            <a:srgbClr val="4472C4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67250" y="2846338"/>
            <a:ext cx="0" cy="669727"/>
          </a:xfrm>
          <a:prstGeom prst="line">
            <a:avLst/>
          </a:prstGeom>
          <a:noFill/>
          <a:ln w="38100">
            <a:solidFill>
              <a:srgbClr val="4472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864001" y="2973288"/>
            <a:ext cx="3367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sz="1200" b="1">
                <a:solidFill>
                  <a:srgbClr val="5B9BD5"/>
                </a:solidFill>
                <a:latin typeface="Arial"/>
              </a:rPr>
              <a:t>双模式对比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64001" y="3211413"/>
            <a:ext cx="33679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sz="1000">
                <a:solidFill>
                  <a:srgbClr val="AAB7B8"/>
                </a:solidFill>
                <a:latin typeface="Arial"/>
              </a:rPr>
              <a:t>开环（固定占空比）vs 闭环（PID 自动调节）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0398" y="3668464"/>
            <a:ext cx="3695402" cy="669727"/>
          </a:xfrm>
          <a:prstGeom prst="rect">
            <a:avLst/>
          </a:prstGeom>
          <a:solidFill>
            <a:srgbClr val="4472C4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819448" y="3668464"/>
            <a:ext cx="0" cy="669727"/>
          </a:xfrm>
          <a:prstGeom prst="line">
            <a:avLst/>
          </a:prstGeom>
          <a:noFill/>
          <a:ln w="38100">
            <a:solidFill>
              <a:srgbClr val="4472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016198" y="3795415"/>
            <a:ext cx="3367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sz="1200" b="1">
                <a:solidFill>
                  <a:srgbClr val="5B9BD5"/>
                </a:solidFill>
                <a:latin typeface="Arial"/>
              </a:rPr>
              <a:t>参数在线可调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16198" y="4033540"/>
            <a:ext cx="33679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sz="1000">
                <a:solidFill>
                  <a:srgbClr val="AAB7B8"/>
                </a:solidFill>
                <a:latin typeface="Arial"/>
              </a:rPr>
              <a:t>Kp/Ki/Kd/α/过采样/限幅 修改 user_config.h 重编译，或通过串口在线调参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48200" y="3668464"/>
            <a:ext cx="3695402" cy="669727"/>
          </a:xfrm>
          <a:prstGeom prst="rect">
            <a:avLst/>
          </a:prstGeom>
          <a:solidFill>
            <a:srgbClr val="4472C4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67250" y="3668464"/>
            <a:ext cx="0" cy="669727"/>
          </a:xfrm>
          <a:prstGeom prst="line">
            <a:avLst/>
          </a:prstGeom>
          <a:noFill/>
          <a:ln w="38100">
            <a:solidFill>
              <a:srgbClr val="4472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864001" y="3795415"/>
            <a:ext cx="3367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sz="1200" b="1">
                <a:solidFill>
                  <a:srgbClr val="5B9BD5"/>
                </a:solidFill>
                <a:latin typeface="Arial"/>
              </a:rPr>
              <a:t>参数在线可调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001" y="4033540"/>
            <a:ext cx="33679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sz="1000">
                <a:solidFill>
                  <a:srgbClr val="AAB7B8"/>
                </a:solidFill>
                <a:latin typeface="Arial"/>
              </a:rPr>
              <a:t>B站：高博士_嵌入式 | 淘宝：GenBotter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6669" y="4648200"/>
            <a:ext cx="82906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100">
                <a:solidFill>
                  <a:srgbClr val="5B7FA0"/>
                </a:solidFill>
                <a:latin typeface="Arial"/>
              </a:rPr>
              <a:t>B站：高博士_嵌入式 | 淘宝：GenBotter | 视频教程配套课件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2496</Words>
  <Application>Microsoft Office PowerPoint</Application>
  <PresentationFormat>全屏显示(16:9)</PresentationFormat>
  <Paragraphs>352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-apple-system</vt:lpstr>
      <vt:lpstr>Noto Sans SC</vt:lpstr>
      <vt:lpstr>Arial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11-04 PID电流环控制案例解析</dc:title>
  <dc:subject>PptxGenJS Presentation</dc:subject>
  <dc:creator>高博士</dc:creator>
  <cp:lastModifiedBy>延增 高</cp:lastModifiedBy>
  <cp:revision>26</cp:revision>
  <dcterms:created xsi:type="dcterms:W3CDTF">2026-06-29T06:42:29Z</dcterms:created>
  <dcterms:modified xsi:type="dcterms:W3CDTF">2026-06-30T07:47:00Z</dcterms:modified>
</cp:coreProperties>
</file>