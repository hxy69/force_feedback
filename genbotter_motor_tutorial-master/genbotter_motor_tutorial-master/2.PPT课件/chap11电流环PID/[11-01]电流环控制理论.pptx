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notesMasterIdLst>
    <p:notesMasterId r:id="rId15"/>
  </p:notesMasterIdLst>
  <p:sldIdLst>
    <p:sldId id="803" r:id="rId2"/>
    <p:sldId id="257" r:id="rId3"/>
    <p:sldId id="258" r:id="rId4"/>
    <p:sldId id="269" r:id="rId5"/>
    <p:sldId id="271" r:id="rId6"/>
    <p:sldId id="272" r:id="rId7"/>
    <p:sldId id="273" r:id="rId8"/>
    <p:sldId id="817" r:id="rId9"/>
    <p:sldId id="274" r:id="rId10"/>
    <p:sldId id="275" r:id="rId11"/>
    <p:sldId id="276" r:id="rId12"/>
    <p:sldId id="277" r:id="rId13"/>
    <p:sldId id="28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C431"/>
    <a:srgbClr val="098F4A"/>
    <a:srgbClr val="FFFFFF"/>
    <a:srgbClr val="0193D8"/>
    <a:srgbClr val="F94502"/>
    <a:srgbClr val="0194D4"/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6238" autoAdjust="0"/>
  </p:normalViewPr>
  <p:slideViewPr>
    <p:cSldViewPr snapToGrid="0">
      <p:cViewPr varScale="1">
        <p:scale>
          <a:sx n="110" d="100"/>
          <a:sy n="110" d="100"/>
        </p:scale>
        <p:origin x="126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21A8CC-A42B-4A94-BBDD-30F1CD0FCD7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5ADD181E-16FF-4542-997C-AE4B9C114F0D}">
      <dgm:prSet custT="1"/>
      <dgm:spPr/>
      <dgm:t>
        <a:bodyPr/>
        <a:lstStyle/>
        <a:p>
          <a:r>
            <a:rPr lang="en-US" sz="1600" b="0" dirty="0"/>
            <a:t>100% PWM = </a:t>
          </a:r>
          <a:r>
            <a:rPr lang="zh-CN" sz="1600" b="1" dirty="0"/>
            <a:t>电机直接接电源，没有限流</a:t>
          </a:r>
          <a:r>
            <a:rPr lang="zh-CN" sz="1600" b="0" dirty="0"/>
            <a:t>。</a:t>
          </a:r>
          <a:endParaRPr lang="zh-CN" sz="1600" dirty="0"/>
        </a:p>
      </dgm:t>
    </dgm:pt>
    <dgm:pt modelId="{EAEB26DE-15E7-4F85-8035-EC82BFA5575D}" type="parTrans" cxnId="{D9BFDA56-E2BE-476C-896A-7E706D4E16B4}">
      <dgm:prSet/>
      <dgm:spPr/>
      <dgm:t>
        <a:bodyPr/>
        <a:lstStyle/>
        <a:p>
          <a:endParaRPr lang="zh-CN" altLang="en-US"/>
        </a:p>
      </dgm:t>
    </dgm:pt>
    <dgm:pt modelId="{AA679334-EFEE-4647-9109-3B462CA0C947}" type="sibTrans" cxnId="{D9BFDA56-E2BE-476C-896A-7E706D4E16B4}">
      <dgm:prSet/>
      <dgm:spPr/>
      <dgm:t>
        <a:bodyPr/>
        <a:lstStyle/>
        <a:p>
          <a:endParaRPr lang="zh-CN" altLang="en-US"/>
        </a:p>
      </dgm:t>
    </dgm:pt>
    <dgm:pt modelId="{4BBB938A-3080-42F6-8264-DF30BA3CB481}">
      <dgm:prSet custT="1"/>
      <dgm:spPr/>
      <dgm:t>
        <a:bodyPr/>
        <a:lstStyle/>
        <a:p>
          <a:r>
            <a:rPr lang="zh-CN" altLang="en-US" sz="1600" b="0"/>
            <a:t>电机绕组电阻极小</a:t>
          </a:r>
          <a:endParaRPr lang="zh-CN" altLang="en-US" sz="1600"/>
        </a:p>
      </dgm:t>
    </dgm:pt>
    <dgm:pt modelId="{A3900E48-CC55-434B-BD2C-A48A7A6437BB}" type="parTrans" cxnId="{8E665CCC-D45C-441A-B23F-48020BA87EC6}">
      <dgm:prSet/>
      <dgm:spPr/>
      <dgm:t>
        <a:bodyPr/>
        <a:lstStyle/>
        <a:p>
          <a:endParaRPr lang="zh-CN" altLang="en-US"/>
        </a:p>
      </dgm:t>
    </dgm:pt>
    <dgm:pt modelId="{8408F56B-2B01-47AB-ACCF-EFB0EBC3052E}" type="sibTrans" cxnId="{8E665CCC-D45C-441A-B23F-48020BA87EC6}">
      <dgm:prSet/>
      <dgm:spPr/>
      <dgm:t>
        <a:bodyPr/>
        <a:lstStyle/>
        <a:p>
          <a:endParaRPr lang="zh-CN" altLang="en-US"/>
        </a:p>
      </dgm:t>
    </dgm:pt>
    <dgm:pt modelId="{041E2FA8-5711-4625-9A16-25D2D7D13003}">
      <dgm:prSet custT="1"/>
      <dgm:spPr/>
      <dgm:t>
        <a:bodyPr/>
        <a:lstStyle/>
        <a:p>
          <a:r>
            <a:rPr lang="zh-CN" sz="1600" b="0" dirty="0"/>
            <a:t>刚启动 </a:t>
          </a:r>
          <a:r>
            <a:rPr lang="en-US" sz="1600" b="0" dirty="0"/>
            <a:t>/ </a:t>
          </a:r>
          <a:r>
            <a:rPr lang="zh-CN" sz="1600" b="0" dirty="0"/>
            <a:t>低速时反电动势很小</a:t>
          </a:r>
          <a:endParaRPr lang="zh-CN" sz="1600" dirty="0"/>
        </a:p>
      </dgm:t>
    </dgm:pt>
    <dgm:pt modelId="{ADD599D2-2055-4AFA-8DC0-0A95BC8B2570}" type="parTrans" cxnId="{0BE04DB5-7A11-4E48-BEBB-2FE6A0F16F00}">
      <dgm:prSet/>
      <dgm:spPr/>
      <dgm:t>
        <a:bodyPr/>
        <a:lstStyle/>
        <a:p>
          <a:endParaRPr lang="zh-CN" altLang="en-US"/>
        </a:p>
      </dgm:t>
    </dgm:pt>
    <dgm:pt modelId="{37F56514-53C5-414D-8996-CA2B40479856}" type="sibTrans" cxnId="{0BE04DB5-7A11-4E48-BEBB-2FE6A0F16F00}">
      <dgm:prSet/>
      <dgm:spPr/>
      <dgm:t>
        <a:bodyPr/>
        <a:lstStyle/>
        <a:p>
          <a:endParaRPr lang="zh-CN" altLang="en-US"/>
        </a:p>
      </dgm:t>
    </dgm:pt>
    <dgm:pt modelId="{D58A5403-CCC4-4A83-97A3-944D73D6DE08}">
      <dgm:prSet custT="1"/>
      <dgm:spPr/>
      <dgm:t>
        <a:bodyPr/>
        <a:lstStyle/>
        <a:p>
          <a:r>
            <a:rPr lang="zh-CN" sz="1600" b="0" dirty="0"/>
            <a:t>电流 </a:t>
          </a:r>
          <a:r>
            <a:rPr lang="en-US" sz="1600" b="0" dirty="0"/>
            <a:t>= </a:t>
          </a:r>
          <a:r>
            <a:rPr lang="zh-CN" sz="1600" b="0" dirty="0"/>
            <a:t>电源电压 </a:t>
          </a:r>
          <a:r>
            <a:rPr lang="en-US" sz="1600" b="0" dirty="0"/>
            <a:t>/ </a:t>
          </a:r>
          <a:r>
            <a:rPr lang="zh-CN" sz="1600" b="0" dirty="0"/>
            <a:t>绕组电阻</a:t>
          </a:r>
          <a:endParaRPr lang="zh-CN" sz="1600" dirty="0"/>
        </a:p>
      </dgm:t>
    </dgm:pt>
    <dgm:pt modelId="{3C11CC0A-E9EA-489C-A707-D05F21ED8E23}" type="parTrans" cxnId="{67BD714D-80DF-4243-8885-18E3D0D17ED9}">
      <dgm:prSet/>
      <dgm:spPr/>
      <dgm:t>
        <a:bodyPr/>
        <a:lstStyle/>
        <a:p>
          <a:endParaRPr lang="zh-CN" altLang="en-US"/>
        </a:p>
      </dgm:t>
    </dgm:pt>
    <dgm:pt modelId="{B95929DC-06CC-4051-BE74-7E2448B14C33}" type="sibTrans" cxnId="{67BD714D-80DF-4243-8885-18E3D0D17ED9}">
      <dgm:prSet/>
      <dgm:spPr/>
      <dgm:t>
        <a:bodyPr/>
        <a:lstStyle/>
        <a:p>
          <a:endParaRPr lang="zh-CN" altLang="en-US"/>
        </a:p>
      </dgm:t>
    </dgm:pt>
    <dgm:pt modelId="{08E74758-F6AD-4FD4-8473-F6F242EA4095}">
      <dgm:prSet custT="1"/>
      <dgm:spPr/>
      <dgm:t>
        <a:bodyPr/>
        <a:lstStyle/>
        <a:p>
          <a:r>
            <a:rPr lang="zh-CN" sz="1600" b="0" dirty="0"/>
            <a:t>→ 直接变成</a:t>
          </a:r>
          <a:r>
            <a:rPr lang="zh-CN" sz="1600" b="1" dirty="0"/>
            <a:t>堵转电流</a:t>
          </a:r>
          <a:r>
            <a:rPr lang="zh-CN" sz="1600" b="0" dirty="0"/>
            <a:t>，通常是额定电流的 </a:t>
          </a:r>
          <a:r>
            <a:rPr lang="en-US" sz="1600" b="0" dirty="0"/>
            <a:t>5</a:t>
          </a:r>
          <a:r>
            <a:rPr lang="zh-CN" sz="1600" b="0" dirty="0"/>
            <a:t>～</a:t>
          </a:r>
          <a:r>
            <a:rPr lang="en-US" sz="1600" b="0" dirty="0"/>
            <a:t>20 </a:t>
          </a:r>
          <a:r>
            <a:rPr lang="zh-CN" sz="1600" b="0" dirty="0"/>
            <a:t>倍</a:t>
          </a:r>
          <a:endParaRPr lang="zh-CN" sz="1600" dirty="0"/>
        </a:p>
      </dgm:t>
    </dgm:pt>
    <dgm:pt modelId="{2E6FCCD7-5C67-42D4-B1AD-51A9052198F9}" type="parTrans" cxnId="{2D7FB97F-7A48-47F3-BE91-172381BE91EF}">
      <dgm:prSet/>
      <dgm:spPr/>
      <dgm:t>
        <a:bodyPr/>
        <a:lstStyle/>
        <a:p>
          <a:endParaRPr lang="zh-CN" altLang="en-US"/>
        </a:p>
      </dgm:t>
    </dgm:pt>
    <dgm:pt modelId="{14DFBA4F-ED1C-43EC-B504-64A53CA88559}" type="sibTrans" cxnId="{2D7FB97F-7A48-47F3-BE91-172381BE91EF}">
      <dgm:prSet/>
      <dgm:spPr/>
      <dgm:t>
        <a:bodyPr/>
        <a:lstStyle/>
        <a:p>
          <a:endParaRPr lang="zh-CN" altLang="en-US"/>
        </a:p>
      </dgm:t>
    </dgm:pt>
    <dgm:pt modelId="{577CD195-4B78-45A8-AA44-347C57656637}">
      <dgm:prSet custT="1"/>
      <dgm:spPr/>
      <dgm:t>
        <a:bodyPr/>
        <a:lstStyle/>
        <a:p>
          <a:r>
            <a:rPr lang="zh-CN" sz="1600" b="0"/>
            <a:t>→ 发热 </a:t>
          </a:r>
          <a:r>
            <a:rPr lang="en-US" sz="1600" b="0"/>
            <a:t>I²R </a:t>
          </a:r>
          <a:r>
            <a:rPr lang="zh-CN" sz="1600" b="0"/>
            <a:t>瞬间爆炸</a:t>
          </a:r>
          <a:endParaRPr lang="zh-CN" sz="1600"/>
        </a:p>
      </dgm:t>
    </dgm:pt>
    <dgm:pt modelId="{BA0F0545-3ADE-4A21-A24F-B8462F981313}" type="parTrans" cxnId="{6D2CDE42-ECCD-46B7-8E08-FB9C5EE1112D}">
      <dgm:prSet/>
      <dgm:spPr/>
      <dgm:t>
        <a:bodyPr/>
        <a:lstStyle/>
        <a:p>
          <a:endParaRPr lang="zh-CN" altLang="en-US"/>
        </a:p>
      </dgm:t>
    </dgm:pt>
    <dgm:pt modelId="{8576CF83-520F-41AE-A6EC-F97571FE5F11}" type="sibTrans" cxnId="{6D2CDE42-ECCD-46B7-8E08-FB9C5EE1112D}">
      <dgm:prSet/>
      <dgm:spPr/>
      <dgm:t>
        <a:bodyPr/>
        <a:lstStyle/>
        <a:p>
          <a:endParaRPr lang="zh-CN" altLang="en-US"/>
        </a:p>
      </dgm:t>
    </dgm:pt>
    <dgm:pt modelId="{3D1322C5-0A69-48E7-8A19-C5E141CBC991}">
      <dgm:prSet custT="1"/>
      <dgm:spPr/>
      <dgm:t>
        <a:bodyPr/>
        <a:lstStyle/>
        <a:p>
          <a:r>
            <a:rPr lang="zh-CN" altLang="en-US" sz="1600" b="0" dirty="0"/>
            <a:t>→ 烧驱动、烧电机</a:t>
          </a:r>
          <a:endParaRPr lang="zh-CN" altLang="en-US" sz="1600" dirty="0"/>
        </a:p>
      </dgm:t>
    </dgm:pt>
    <dgm:pt modelId="{B56C8404-4020-457E-9FC9-07803FC61A3D}" type="parTrans" cxnId="{C8BB14EF-C5D2-4423-B75C-1D4A83F10D30}">
      <dgm:prSet/>
      <dgm:spPr/>
      <dgm:t>
        <a:bodyPr/>
        <a:lstStyle/>
        <a:p>
          <a:endParaRPr lang="zh-CN" altLang="en-US"/>
        </a:p>
      </dgm:t>
    </dgm:pt>
    <dgm:pt modelId="{A65EE4BC-0109-4770-9776-E6DD78FDD0A7}" type="sibTrans" cxnId="{C8BB14EF-C5D2-4423-B75C-1D4A83F10D30}">
      <dgm:prSet/>
      <dgm:spPr/>
      <dgm:t>
        <a:bodyPr/>
        <a:lstStyle/>
        <a:p>
          <a:endParaRPr lang="zh-CN" altLang="en-US"/>
        </a:p>
      </dgm:t>
    </dgm:pt>
    <dgm:pt modelId="{8AB674F3-8AE7-42D2-8549-1D1BF5D5A4CA}" type="pres">
      <dgm:prSet presAssocID="{7E21A8CC-A42B-4A94-BBDD-30F1CD0FCD7B}" presName="linear" presStyleCnt="0">
        <dgm:presLayoutVars>
          <dgm:dir/>
          <dgm:animLvl val="lvl"/>
          <dgm:resizeHandles val="exact"/>
        </dgm:presLayoutVars>
      </dgm:prSet>
      <dgm:spPr/>
    </dgm:pt>
    <dgm:pt modelId="{48782F1A-7C89-4760-92F9-E8E3D3C1163F}" type="pres">
      <dgm:prSet presAssocID="{5ADD181E-16FF-4542-997C-AE4B9C114F0D}" presName="parentLin" presStyleCnt="0"/>
      <dgm:spPr/>
    </dgm:pt>
    <dgm:pt modelId="{7A04D565-3AED-4C93-A8AD-D69A4D6AB4B2}" type="pres">
      <dgm:prSet presAssocID="{5ADD181E-16FF-4542-997C-AE4B9C114F0D}" presName="parentLeftMargin" presStyleLbl="node1" presStyleIdx="0" presStyleCnt="1"/>
      <dgm:spPr/>
    </dgm:pt>
    <dgm:pt modelId="{BEBC1CE4-2C14-4BBB-854D-E2B432E2DE06}" type="pres">
      <dgm:prSet presAssocID="{5ADD181E-16FF-4542-997C-AE4B9C114F0D}" presName="parentText" presStyleLbl="node1" presStyleIdx="0" presStyleCnt="1" custScaleX="142857" custScaleY="282364" custLinFactX="-10935" custLinFactNeighborX="-100000" custLinFactNeighborY="-17524">
        <dgm:presLayoutVars>
          <dgm:chMax val="0"/>
          <dgm:bulletEnabled val="1"/>
        </dgm:presLayoutVars>
      </dgm:prSet>
      <dgm:spPr/>
    </dgm:pt>
    <dgm:pt modelId="{DDC3EAA9-6DA9-4598-8E53-9802F66DE86D}" type="pres">
      <dgm:prSet presAssocID="{5ADD181E-16FF-4542-997C-AE4B9C114F0D}" presName="negativeSpace" presStyleCnt="0"/>
      <dgm:spPr/>
    </dgm:pt>
    <dgm:pt modelId="{C3C62E2B-282B-40BA-9323-A047B50AEA7B}" type="pres">
      <dgm:prSet presAssocID="{5ADD181E-16FF-4542-997C-AE4B9C114F0D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6D2CDE42-ECCD-46B7-8E08-FB9C5EE1112D}" srcId="{5ADD181E-16FF-4542-997C-AE4B9C114F0D}" destId="{577CD195-4B78-45A8-AA44-347C57656637}" srcOrd="4" destOrd="0" parTransId="{BA0F0545-3ADE-4A21-A24F-B8462F981313}" sibTransId="{8576CF83-520F-41AE-A6EC-F97571FE5F11}"/>
    <dgm:cxn modelId="{B10FE043-3C02-405A-8FFC-F4E6424889CF}" type="presOf" srcId="{577CD195-4B78-45A8-AA44-347C57656637}" destId="{C3C62E2B-282B-40BA-9323-A047B50AEA7B}" srcOrd="0" destOrd="4" presId="urn:microsoft.com/office/officeart/2005/8/layout/list1"/>
    <dgm:cxn modelId="{2C23E063-F5A4-471F-8079-5DBD7DD9A07E}" type="presOf" srcId="{4BBB938A-3080-42F6-8264-DF30BA3CB481}" destId="{C3C62E2B-282B-40BA-9323-A047B50AEA7B}" srcOrd="0" destOrd="0" presId="urn:microsoft.com/office/officeart/2005/8/layout/list1"/>
    <dgm:cxn modelId="{67BD714D-80DF-4243-8885-18E3D0D17ED9}" srcId="{5ADD181E-16FF-4542-997C-AE4B9C114F0D}" destId="{D58A5403-CCC4-4A83-97A3-944D73D6DE08}" srcOrd="2" destOrd="0" parTransId="{3C11CC0A-E9EA-489C-A707-D05F21ED8E23}" sibTransId="{B95929DC-06CC-4051-BE74-7E2448B14C33}"/>
    <dgm:cxn modelId="{7D813175-0FB2-4502-9B80-41423F5A1777}" type="presOf" srcId="{5ADD181E-16FF-4542-997C-AE4B9C114F0D}" destId="{BEBC1CE4-2C14-4BBB-854D-E2B432E2DE06}" srcOrd="1" destOrd="0" presId="urn:microsoft.com/office/officeart/2005/8/layout/list1"/>
    <dgm:cxn modelId="{1DBC9676-7FD6-49C9-9CEB-C0108091BA4F}" type="presOf" srcId="{5ADD181E-16FF-4542-997C-AE4B9C114F0D}" destId="{7A04D565-3AED-4C93-A8AD-D69A4D6AB4B2}" srcOrd="0" destOrd="0" presId="urn:microsoft.com/office/officeart/2005/8/layout/list1"/>
    <dgm:cxn modelId="{D9BFDA56-E2BE-476C-896A-7E706D4E16B4}" srcId="{7E21A8CC-A42B-4A94-BBDD-30F1CD0FCD7B}" destId="{5ADD181E-16FF-4542-997C-AE4B9C114F0D}" srcOrd="0" destOrd="0" parTransId="{EAEB26DE-15E7-4F85-8035-EC82BFA5575D}" sibTransId="{AA679334-EFEE-4647-9109-3B462CA0C947}"/>
    <dgm:cxn modelId="{2D7FB97F-7A48-47F3-BE91-172381BE91EF}" srcId="{5ADD181E-16FF-4542-997C-AE4B9C114F0D}" destId="{08E74758-F6AD-4FD4-8473-F6F242EA4095}" srcOrd="3" destOrd="0" parTransId="{2E6FCCD7-5C67-42D4-B1AD-51A9052198F9}" sibTransId="{14DFBA4F-ED1C-43EC-B504-64A53CA88559}"/>
    <dgm:cxn modelId="{479DF386-0823-4418-8980-B2352802DDDD}" type="presOf" srcId="{D58A5403-CCC4-4A83-97A3-944D73D6DE08}" destId="{C3C62E2B-282B-40BA-9323-A047B50AEA7B}" srcOrd="0" destOrd="2" presId="urn:microsoft.com/office/officeart/2005/8/layout/list1"/>
    <dgm:cxn modelId="{0BE04DB5-7A11-4E48-BEBB-2FE6A0F16F00}" srcId="{5ADD181E-16FF-4542-997C-AE4B9C114F0D}" destId="{041E2FA8-5711-4625-9A16-25D2D7D13003}" srcOrd="1" destOrd="0" parTransId="{ADD599D2-2055-4AFA-8DC0-0A95BC8B2570}" sibTransId="{37F56514-53C5-414D-8996-CA2B40479856}"/>
    <dgm:cxn modelId="{34B5AEB7-A343-4CBE-BFAB-59B1D30910E2}" type="presOf" srcId="{3D1322C5-0A69-48E7-8A19-C5E141CBC991}" destId="{C3C62E2B-282B-40BA-9323-A047B50AEA7B}" srcOrd="0" destOrd="5" presId="urn:microsoft.com/office/officeart/2005/8/layout/list1"/>
    <dgm:cxn modelId="{5D3FFBBB-1889-4EC2-80B6-16C4C463B8D4}" type="presOf" srcId="{7E21A8CC-A42B-4A94-BBDD-30F1CD0FCD7B}" destId="{8AB674F3-8AE7-42D2-8549-1D1BF5D5A4CA}" srcOrd="0" destOrd="0" presId="urn:microsoft.com/office/officeart/2005/8/layout/list1"/>
    <dgm:cxn modelId="{1920F6C3-3575-4ACA-82BC-8C4D1FD93DA2}" type="presOf" srcId="{041E2FA8-5711-4625-9A16-25D2D7D13003}" destId="{C3C62E2B-282B-40BA-9323-A047B50AEA7B}" srcOrd="0" destOrd="1" presId="urn:microsoft.com/office/officeart/2005/8/layout/list1"/>
    <dgm:cxn modelId="{8E665CCC-D45C-441A-B23F-48020BA87EC6}" srcId="{5ADD181E-16FF-4542-997C-AE4B9C114F0D}" destId="{4BBB938A-3080-42F6-8264-DF30BA3CB481}" srcOrd="0" destOrd="0" parTransId="{A3900E48-CC55-434B-BD2C-A48A7A6437BB}" sibTransId="{8408F56B-2B01-47AB-ACCF-EFB0EBC3052E}"/>
    <dgm:cxn modelId="{A159D4EC-D97A-458F-B05E-0DC6C8F23148}" type="presOf" srcId="{08E74758-F6AD-4FD4-8473-F6F242EA4095}" destId="{C3C62E2B-282B-40BA-9323-A047B50AEA7B}" srcOrd="0" destOrd="3" presId="urn:microsoft.com/office/officeart/2005/8/layout/list1"/>
    <dgm:cxn modelId="{C8BB14EF-C5D2-4423-B75C-1D4A83F10D30}" srcId="{5ADD181E-16FF-4542-997C-AE4B9C114F0D}" destId="{3D1322C5-0A69-48E7-8A19-C5E141CBC991}" srcOrd="5" destOrd="0" parTransId="{B56C8404-4020-457E-9FC9-07803FC61A3D}" sibTransId="{A65EE4BC-0109-4770-9776-E6DD78FDD0A7}"/>
    <dgm:cxn modelId="{63B3943C-0C14-4DA3-B640-63B5E54889DE}" type="presParOf" srcId="{8AB674F3-8AE7-42D2-8549-1D1BF5D5A4CA}" destId="{48782F1A-7C89-4760-92F9-E8E3D3C1163F}" srcOrd="0" destOrd="0" presId="urn:microsoft.com/office/officeart/2005/8/layout/list1"/>
    <dgm:cxn modelId="{C06565CA-14BF-47FB-9384-9D44FC6CA8BE}" type="presParOf" srcId="{48782F1A-7C89-4760-92F9-E8E3D3C1163F}" destId="{7A04D565-3AED-4C93-A8AD-D69A4D6AB4B2}" srcOrd="0" destOrd="0" presId="urn:microsoft.com/office/officeart/2005/8/layout/list1"/>
    <dgm:cxn modelId="{AD5774DF-DF91-40B0-8107-2C9F4B9E1B5A}" type="presParOf" srcId="{48782F1A-7C89-4760-92F9-E8E3D3C1163F}" destId="{BEBC1CE4-2C14-4BBB-854D-E2B432E2DE06}" srcOrd="1" destOrd="0" presId="urn:microsoft.com/office/officeart/2005/8/layout/list1"/>
    <dgm:cxn modelId="{10B25E3E-7F0E-4461-AFED-A5C977C33D38}" type="presParOf" srcId="{8AB674F3-8AE7-42D2-8549-1D1BF5D5A4CA}" destId="{DDC3EAA9-6DA9-4598-8E53-9802F66DE86D}" srcOrd="1" destOrd="0" presId="urn:microsoft.com/office/officeart/2005/8/layout/list1"/>
    <dgm:cxn modelId="{D15F6474-0DA5-403C-9F00-964F1F3CDBD9}" type="presParOf" srcId="{8AB674F3-8AE7-42D2-8549-1D1BF5D5A4CA}" destId="{C3C62E2B-282B-40BA-9323-A047B50AEA7B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C62E2B-282B-40BA-9323-A047B50AEA7B}">
      <dsp:nvSpPr>
        <dsp:cNvPr id="0" name=""/>
        <dsp:cNvSpPr/>
      </dsp:nvSpPr>
      <dsp:spPr>
        <a:xfrm>
          <a:off x="0" y="435098"/>
          <a:ext cx="3428641" cy="219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101" tIns="124968" rIns="26610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0" kern="1200"/>
            <a:t>电机绕组电阻极小</a:t>
          </a:r>
          <a:endParaRPr lang="zh-CN" alt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600" b="0" kern="1200" dirty="0"/>
            <a:t>刚启动 </a:t>
          </a:r>
          <a:r>
            <a:rPr lang="en-US" sz="1600" b="0" kern="1200" dirty="0"/>
            <a:t>/ </a:t>
          </a:r>
          <a:r>
            <a:rPr lang="zh-CN" sz="1600" b="0" kern="1200" dirty="0"/>
            <a:t>低速时反电动势很小</a:t>
          </a:r>
          <a:endParaRPr lang="zh-C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600" b="0" kern="1200" dirty="0"/>
            <a:t>电流 </a:t>
          </a:r>
          <a:r>
            <a:rPr lang="en-US" sz="1600" b="0" kern="1200" dirty="0"/>
            <a:t>= </a:t>
          </a:r>
          <a:r>
            <a:rPr lang="zh-CN" sz="1600" b="0" kern="1200" dirty="0"/>
            <a:t>电源电压 </a:t>
          </a:r>
          <a:r>
            <a:rPr lang="en-US" sz="1600" b="0" kern="1200" dirty="0"/>
            <a:t>/ </a:t>
          </a:r>
          <a:r>
            <a:rPr lang="zh-CN" sz="1600" b="0" kern="1200" dirty="0"/>
            <a:t>绕组电阻</a:t>
          </a:r>
          <a:endParaRPr lang="zh-C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600" b="0" kern="1200" dirty="0"/>
            <a:t>→ 直接变成</a:t>
          </a:r>
          <a:r>
            <a:rPr lang="zh-CN" sz="1600" b="1" kern="1200" dirty="0"/>
            <a:t>堵转电流</a:t>
          </a:r>
          <a:r>
            <a:rPr lang="zh-CN" sz="1600" b="0" kern="1200" dirty="0"/>
            <a:t>，通常是额定电流的 </a:t>
          </a:r>
          <a:r>
            <a:rPr lang="en-US" sz="1600" b="0" kern="1200" dirty="0"/>
            <a:t>5</a:t>
          </a:r>
          <a:r>
            <a:rPr lang="zh-CN" sz="1600" b="0" kern="1200" dirty="0"/>
            <a:t>～</a:t>
          </a:r>
          <a:r>
            <a:rPr lang="en-US" sz="1600" b="0" kern="1200" dirty="0"/>
            <a:t>20 </a:t>
          </a:r>
          <a:r>
            <a:rPr lang="zh-CN" sz="1600" b="0" kern="1200" dirty="0"/>
            <a:t>倍</a:t>
          </a:r>
          <a:endParaRPr lang="zh-C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600" b="0" kern="1200"/>
            <a:t>→ 发热 </a:t>
          </a:r>
          <a:r>
            <a:rPr lang="en-US" sz="1600" b="0" kern="1200"/>
            <a:t>I²R </a:t>
          </a:r>
          <a:r>
            <a:rPr lang="zh-CN" sz="1600" b="0" kern="1200"/>
            <a:t>瞬间爆炸</a:t>
          </a:r>
          <a:endParaRPr lang="zh-CN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0" kern="1200" dirty="0"/>
            <a:t>→ 烧驱动、烧电机</a:t>
          </a:r>
          <a:endParaRPr lang="zh-CN" altLang="en-US" sz="1600" kern="1200" dirty="0"/>
        </a:p>
      </dsp:txBody>
      <dsp:txXfrm>
        <a:off x="0" y="435098"/>
        <a:ext cx="3428641" cy="2192400"/>
      </dsp:txXfrm>
    </dsp:sp>
    <dsp:sp modelId="{BEBC1CE4-2C14-4BBB-854D-E2B432E2DE06}">
      <dsp:nvSpPr>
        <dsp:cNvPr id="0" name=""/>
        <dsp:cNvSpPr/>
      </dsp:nvSpPr>
      <dsp:spPr>
        <a:xfrm>
          <a:off x="0" y="0"/>
          <a:ext cx="3264571" cy="5001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716" tIns="0" rIns="9071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100% PWM = </a:t>
          </a:r>
          <a:r>
            <a:rPr lang="zh-CN" sz="1600" b="1" kern="1200" dirty="0"/>
            <a:t>电机直接接电源，没有限流</a:t>
          </a:r>
          <a:r>
            <a:rPr lang="zh-CN" sz="1600" b="0" kern="1200" dirty="0"/>
            <a:t>。</a:t>
          </a:r>
          <a:endParaRPr lang="zh-CN" sz="1600" kern="1200" dirty="0"/>
        </a:p>
      </dsp:txBody>
      <dsp:txXfrm>
        <a:off x="24414" y="24414"/>
        <a:ext cx="3215743" cy="4512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E33EE-9CF4-FA5B-3761-EB11C13A2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BB56B4-F573-F2EE-3841-51335B855A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493529-937D-7BC8-4C0F-5CE0CB07A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从这一讲开始，我们正式进入</a:t>
            </a:r>
            <a:r>
              <a:rPr lang="zh-CN" altLang="en-US" b="1" dirty="0"/>
              <a:t>控制器设计</a:t>
            </a:r>
            <a:r>
              <a:rPr lang="zh-CN" altLang="en-US" dirty="0"/>
              <a:t>。前面第 </a:t>
            </a:r>
            <a:r>
              <a:rPr lang="en-US" altLang="zh-CN" dirty="0"/>
              <a:t>7 </a:t>
            </a:r>
            <a:r>
              <a:rPr lang="zh-CN" altLang="en-US" dirty="0"/>
              <a:t>章我们已经知道什么是闭环控制，那今天要解决的问题是：</a:t>
            </a:r>
            <a:br>
              <a:rPr lang="zh-CN" altLang="en-US" dirty="0"/>
            </a:br>
            <a:r>
              <a:rPr lang="zh-CN" altLang="en-US" b="1" dirty="0"/>
              <a:t>闭环里，谁在做决定？它是怎么想的？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7DD01A-7410-E5EE-E706-6C1CCB95F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8816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本次课程分为两个主要部分。第一部分，我们将探讨电流环的基本概念和它在电机控制中的重要意义。第二部分，我们将进行实战，通过代码实现电流环PID控制，并演示其效果。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首先，让我们进入第一章，了解电流环到底是什么，以及它为什么对电机控制如此重要。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课程将分为七个部分。首先，我们会回顾速度环的痛点，引出电流环的必要性。接着，深入理解电流环的物理本质和双环嵌套的逻辑。然后，我们会重点讲解电流环的快速响应特性。之后，将进入实战环节，演示如何在STM32F407上实现电流环控制。最后，通过实验验证效果，并对课程进行总结和预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讨论电流环之前，我们先简单回顾一下速度环。速度环的控制逻辑很直接：我们给一个速度目标，PID控制器根据实际转速和目标转速的误差，计算出需要输出的PWM占空比，通过改变电机电压来调整转速。这套逻辑在大多数情况下工作得很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但是，速度环有一个致命的弱点。想象一下，如果电机在运行中突然被卡住，转速瞬间降为零。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速度环的PID控制器会看到巨大的误差，它会拼命地增加PWM输出，试图让电机重新达到目标速度。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结果就是，PWM占空比被加到最大，电机电流瞬间飙升，这很容易就会烧毁我们的驱动板或者电机本身。这就是速度环的“阿喀琉斯之踵”。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要解决这个问题，我们需要回到电机的物理本质。电机的输出转矩，也就是我们常说的“力气”，它和什么有关呢？答案是电流。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根据公式T等于Kt乘以I，电磁转矩与流过电枢线圈的电流成正比。这意味着，控制电流，就是直接控制电机的输出力矩。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右侧的示意图展示了直流电机的内部结构，电流通过线圈产生磁场，磁场之间的相互作用最终转化为旋转的力矩。理解这一点，对于我们设计高效的电机控制系统至关重要。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DB085-E0C8-D59C-ABFF-737B9F10A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5FB1523-E91B-8684-2690-A2524AF4C0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B578AF-914B-DB9F-CED7-471770A8808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1D27DA9-DFF9-1DB9-A1F1-E4DEED1CE5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3359987-DB60-EED2-1649-1FAD3BD14C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这个原理，电流环主要有三大核心作用。第一，它可以实现限流保护，将电机的最大电流限制在安全范围内，有效防止过流烧毁。第二，它能稳定力矩输出，让我们可以精确地控制电机的扭矩。第三，作为速度环的内环，电流环能够快速响应，极大地提升整个系统的稳定性和动态性能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48C5A0-A365-D961-C026-92B871135C2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529DD-0664-FCB4-3A64-0F68D3B03E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827919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为什么我们不直接控制电流呢？因为我们通常只能控制电压。根据电枢电压方程，我们施加的电压U，需要先克服线圈的电阻压降、电感压降，还要对抗电机转动产生的反电动势E，剩下的部分才能真正用来产生电流。反电动势会随着转速升高而增大，所以电压和电流之间并不是简单的线性关系。这就是为什么直接控制电压（PWM）并不能精确控制力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解决方案就是引入电流环，形成双环嵌套的串级控制结构。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在这个结构中，速度环作为外环，它的任务不再是直接输出PWM，而是根据速度误差，计算出为了达到目标速度，电机需要输出多大的力矩，也就是需要多大的“目标电流”。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然后，这个目标电流被传递给作为内环的电流环。电流环的任务就是精确地控制电机的实际电流，让它紧紧跟随这个目标值。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这种内外分工协作的方式，既保证了最终的速度准确性，又利用电流环的快速响应特性抑制了系统扰动。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的关键转变在于，速度环的输出变了。没有电流环时，速度环的PID输出直接就是PWM占空比。而有了电流环之后，速度环的PID输出变成了“目标电流值”。这是一个从“直接控制执行器”到“控制中间变量”的转变，正是这个转变，让整个系统的稳定性和安全性得到了极大提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这个双环系统稳定工作，电流环的响应速度必须远快于速度环。我们可以用一个比喻来理解：速度环就像大脑，是指挥官，负责下达“跑多快”的战略指令；而电流环就像肌肉，是士兵，负责执行“用多大力气”的战术动作。肌肉的反应速度必须比大脑的指令快得多，这样整个身体才能协调、稳定地运动。在技术上，这意味着电流环的控制频率（比如10kHz）通常要比速度环（比如100Hz）高出一个数量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pPr/>
              <a:t>2026/6/8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210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856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pPr/>
              <a:t>2026/6/8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611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pPr/>
              <a:t>2026/6/8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566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pPr/>
              <a:t>2026/6/8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519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pPr/>
              <a:t>2026/6/8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7789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pPr/>
              <a:t>2026/6/8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7393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pPr/>
              <a:t>2026/6/8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417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pPr/>
              <a:t>2026/6/8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298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pPr/>
              <a:t>2026/6/8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4712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pPr/>
              <a:t>2026/6/8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772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3" y="374795"/>
            <a:ext cx="10586281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26683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05093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775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2026/6/8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383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12.sv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diagramData" Target="../diagrams/data1.xml"/><Relationship Id="rId5" Type="http://schemas.openxmlformats.org/officeDocument/2006/relationships/image" Target="../media/image13.svg"/><Relationship Id="rId10" Type="http://schemas.microsoft.com/office/2007/relationships/diagramDrawing" Target="../diagrams/drawing1.xml"/><Relationship Id="rId4" Type="http://schemas.openxmlformats.org/officeDocument/2006/relationships/image" Target="../media/image9.svg"/><Relationship Id="rId9" Type="http://schemas.openxmlformats.org/officeDocument/2006/relationships/diagramColors" Target="../diagrams/colors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svg"/><Relationship Id="rId4" Type="http://schemas.openxmlformats.org/officeDocument/2006/relationships/image" Target="../media/image2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svg"/><Relationship Id="rId4" Type="http://schemas.openxmlformats.org/officeDocument/2006/relationships/image" Target="../media/image26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29F282-F80C-154F-7C72-A3C8DDAD0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标题 1">
            <a:extLst>
              <a:ext uri="{FF2B5EF4-FFF2-40B4-BE49-F238E27FC236}">
                <a16:creationId xmlns:a16="http://schemas.microsoft.com/office/drawing/2014/main" id="{435EA853-567B-EB8E-4E36-3177EB2EED9B}"/>
              </a:ext>
            </a:extLst>
          </p:cNvPr>
          <p:cNvSpPr txBox="1"/>
          <p:nvPr/>
        </p:nvSpPr>
        <p:spPr>
          <a:xfrm>
            <a:off x="1948809" y="2071216"/>
            <a:ext cx="9453791" cy="271556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zh-CN" altLang="en-US" sz="115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电流环控制</a:t>
            </a:r>
            <a:endParaRPr kumimoji="1" lang="en-US" altLang="zh-CN" sz="115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1684E16-F27B-56A8-C87F-2FB48002DB0B}"/>
              </a:ext>
            </a:extLst>
          </p:cNvPr>
          <p:cNvSpPr txBox="1"/>
          <p:nvPr/>
        </p:nvSpPr>
        <p:spPr>
          <a:xfrm>
            <a:off x="1948809" y="812539"/>
            <a:ext cx="2605774" cy="190832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8800" b="1" dirty="0">
                <a:ln w="127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B6875911-F965-10C4-6C61-43E1809AFDD4}"/>
              </a:ext>
            </a:extLst>
          </p:cNvPr>
          <p:cNvSpPr txBox="1"/>
          <p:nvPr/>
        </p:nvSpPr>
        <p:spPr>
          <a:xfrm>
            <a:off x="7041425" y="612411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1234AD20-F16C-E09C-1B59-69564EF7D687}"/>
              </a:ext>
            </a:extLst>
          </p:cNvPr>
          <p:cNvGrpSpPr/>
          <p:nvPr/>
        </p:nvGrpSpPr>
        <p:grpSpPr>
          <a:xfrm>
            <a:off x="7150385" y="700253"/>
            <a:ext cx="191046" cy="123736"/>
            <a:chOff x="9405360" y="560916"/>
            <a:chExt cx="191046" cy="123736"/>
          </a:xfrm>
        </p:grpSpPr>
        <p:sp>
          <p:nvSpPr>
            <p:cNvPr id="8" name="标题 1">
              <a:extLst>
                <a:ext uri="{FF2B5EF4-FFF2-40B4-BE49-F238E27FC236}">
                  <a16:creationId xmlns:a16="http://schemas.microsoft.com/office/drawing/2014/main" id="{81E79F3F-9D93-686E-CED2-0E5C7A5793DE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083406F0-0614-FC90-8B33-533D5926C97E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0" name="标题 1">
              <a:extLst>
                <a:ext uri="{FF2B5EF4-FFF2-40B4-BE49-F238E27FC236}">
                  <a16:creationId xmlns:a16="http://schemas.microsoft.com/office/drawing/2014/main" id="{A354598E-D320-6B30-23AF-C3B065AC84A4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1" name="标题 1">
            <a:extLst>
              <a:ext uri="{FF2B5EF4-FFF2-40B4-BE49-F238E27FC236}">
                <a16:creationId xmlns:a16="http://schemas.microsoft.com/office/drawing/2014/main" id="{AD76799B-ECD6-FBA7-7470-5E20D1E69960}"/>
              </a:ext>
            </a:extLst>
          </p:cNvPr>
          <p:cNvSpPr txBox="1"/>
          <p:nvPr/>
        </p:nvSpPr>
        <p:spPr>
          <a:xfrm>
            <a:off x="10161162" y="681392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A32FD97C-7D8C-66EC-BBAE-781D7B900250}"/>
              </a:ext>
            </a:extLst>
          </p:cNvPr>
          <p:cNvSpPr txBox="1"/>
          <p:nvPr/>
        </p:nvSpPr>
        <p:spPr>
          <a:xfrm>
            <a:off x="7341452" y="643291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zh-CN" altLang="en-US" sz="1600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淘宝店铺：</a:t>
            </a:r>
            <a:r>
              <a:rPr kumimoji="1" lang="en-US" altLang="zh-CN" sz="1600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endParaRPr kumimoji="1" lang="zh-CN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496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62000" y="508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219200"/>
            <a:ext cx="762000" cy="50800"/>
          </a:xfrm>
          <a:prstGeom prst="roundRect">
            <a:avLst>
              <a:gd name="adj" fmla="val 0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096000" y="1524000"/>
            <a:ext cx="5080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0000" y="19812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7112000" y="1778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11 - 01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112000" y="20955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电流环的意义与控制原理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096000" y="3429000"/>
            <a:ext cx="5080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000" y="38862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112000" y="3683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11 - 02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112000" y="40005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电流环PID代码实现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381000" y="6096000"/>
            <a:ext cx="1143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Motor Control System Design &amp; Implementation</a:t>
            </a:r>
            <a:endParaRPr lang="en-US" sz="110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AE81128-21F1-11A0-8D40-ABBC36C86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课程大纲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82889703-7672-98DE-1498-D464F5F17F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83" y="1670777"/>
            <a:ext cx="3582272" cy="30084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635000" y="27305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5805" y="3546475"/>
            <a:ext cx="6011817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en-US" sz="1600" b="0" i="0" u="none" strike="noStrike" spc="100">
                <a:solidFill>
                  <a:schemeClr val="tx1">
                    <a:lumMod val="85000"/>
                    <a:lumOff val="1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从基础原理到闭环控制的核心逻辑解析</a:t>
            </a:r>
            <a:endParaRPr lang="en-US"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CCAFA6A-7D17-3BD6-3DBC-53A932796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8700" y="2703512"/>
            <a:ext cx="9258300" cy="815975"/>
          </a:xfrm>
        </p:spPr>
        <p:txBody>
          <a:bodyPr>
            <a:norm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【11-01】电流环的意义与控制原理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62000" y="508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内容大纲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3479074" y="1624874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33074" y="1853474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177574" y="1815374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latin typeface="Poppins"/>
                <a:ea typeface="Poppins"/>
                <a:cs typeface="Poppins"/>
                <a:sym typeface="Poppins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749074" y="1815374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回顾与痛点</a:t>
            </a:r>
            <a:r>
              <a:rPr lang="en-US" sz="16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6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如果只有</a:t>
            </a:r>
            <a:r>
              <a:rPr lang="en-US" sz="16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速度环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3479074" y="2513874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33074" y="2742474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177574" y="2704374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latin typeface="Poppins"/>
                <a:ea typeface="Poppins"/>
                <a:cs typeface="Poppins"/>
                <a:sym typeface="Poppins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749074" y="2704374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物理本质：转矩与电流的亲密关系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479074" y="3402874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3074" y="3631474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177574" y="3593374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latin typeface="Poppins"/>
                <a:ea typeface="Poppins"/>
                <a:cs typeface="Poppins"/>
                <a:sym typeface="Poppins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49074" y="3593374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双环嵌套：速度环与电流环的完美协作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479074" y="4291874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33074" y="4520474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4177574" y="4482374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latin typeface="Poppins"/>
                <a:ea typeface="Poppins"/>
                <a:cs typeface="Poppins"/>
                <a:sym typeface="Poppins"/>
              </a:rPr>
              <a:t>04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749074" y="4482374"/>
            <a:ext cx="3733074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内环之快：电流环为何必须“眼疾手快</a:t>
            </a:r>
            <a:r>
              <a:rPr lang="en-US" sz="16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”</a:t>
            </a:r>
            <a:endParaRPr lang="en-US" sz="1100" dirty="0"/>
          </a:p>
        </p:txBody>
      </p:sp>
      <p:sp>
        <p:nvSpPr>
          <p:cNvPr id="34" name="AutoShape 34"/>
          <p:cNvSpPr/>
          <p:nvPr/>
        </p:nvSpPr>
        <p:spPr>
          <a:xfrm>
            <a:off x="0" y="6096000"/>
            <a:ext cx="12192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FFFF">
                  <a:alpha val="0"/>
                </a:srgbClr>
              </a:gs>
              <a:gs pos="50000">
                <a:srgbClr val="00FFFF">
                  <a:alpha val="100000"/>
                </a:srgbClr>
              </a:gs>
              <a:gs pos="100000">
                <a:srgbClr val="00F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035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回顾：速度环的基本控制逻辑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143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22656" y="1524000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156" y="1714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257656" y="1676400"/>
            <a:ext cx="393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闭环控制流程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13156" y="20955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i="0" u="none" strike="noStrike" dirty="0" err="1"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速度设定值</a:t>
            </a:r>
            <a:r>
              <a:rPr lang="en-US" sz="1600" i="0" u="none" strike="noStrike" dirty="0"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 → </a:t>
            </a:r>
            <a:r>
              <a:rPr lang="en-US" sz="1600" i="0" u="none" strike="noStrike" dirty="0" err="1"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速度PID控制器</a:t>
            </a:r>
            <a:r>
              <a:rPr lang="en-US" sz="1600" i="0" u="none" strike="noStrike" dirty="0"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 → </a:t>
            </a:r>
            <a:r>
              <a:rPr lang="en-US" sz="1600" i="0" u="none" strike="noStrike" dirty="0" err="1"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PWM输出</a:t>
            </a:r>
            <a:r>
              <a:rPr lang="en-US" sz="1600" i="0" u="none" strike="noStrike" dirty="0"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 → </a:t>
            </a:r>
            <a:r>
              <a:rPr lang="en-US" sz="1600" i="0" u="none" strike="noStrike" dirty="0" err="1"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电机，形成完整的负反馈闭环</a:t>
            </a:r>
            <a:r>
              <a:rPr lang="en-US" sz="1600" i="0" u="none" strike="noStrike" dirty="0"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。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656" y="2984500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3156" y="3175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57656" y="3136900"/>
            <a:ext cx="393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核心调节原理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3156" y="35560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i="0" u="none" strike="noStrike" dirty="0" err="1"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根据速度误差动态调整PWM占空比，改变电机两端平均电压，从而精确控制转速</a:t>
            </a:r>
            <a:r>
              <a:rPr lang="en-US" sz="1600" i="0" u="none" strike="noStrike" dirty="0"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。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2656" y="4445000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3156" y="4635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257656" y="4597400"/>
            <a:ext cx="3937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方案优势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3156" y="50165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i="0" u="none" strike="noStrike" dirty="0" err="1"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结构简单，能够满足大多数场景下的基本速度稳定控制需求</a:t>
            </a:r>
            <a:r>
              <a:rPr lang="en-US" sz="1600" i="0" u="none" strike="noStrike" dirty="0"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。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5537200" y="1503356"/>
            <a:ext cx="6654800" cy="2667324"/>
          </a:xfrm>
          <a:prstGeom prst="roundRect">
            <a:avLst>
              <a:gd name="adj" fmla="val 4166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00F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096000" y="4181181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图：速度环控制逻辑框图示意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6096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51E0B97D-2D4D-1B02-C2A0-6A6E111E77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907" y="1513857"/>
            <a:ext cx="6805386" cy="26394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543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痛点</a:t>
            </a:r>
            <a:r>
              <a:rPr lang="en-US" sz="3600" b="1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3600" b="1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只有</a:t>
            </a:r>
            <a:r>
              <a:rPr lang="en-US" sz="3600" b="1" i="0" u="none" strike="noStrike" dirty="0" err="1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速度环的</a:t>
            </a:r>
            <a:r>
              <a:rPr lang="zh-CN" altLang="en-US" sz="3600" b="1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不足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52695" y="1311362"/>
            <a:ext cx="7724911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196" y="1628862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178196" y="1438362"/>
            <a:ext cx="406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异常状态：电机堵转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178196" y="1819362"/>
            <a:ext cx="6406967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当电机运行中突然被卡住时，实际转速瞬间远低于设定值，系统进入异常状态</a:t>
            </a:r>
            <a:r>
              <a:rPr lang="en-US" sz="14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52695" y="2644862"/>
            <a:ext cx="7724911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3196" y="2962362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178196" y="2771862"/>
            <a:ext cx="406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PID 失控反应</a:t>
            </a:r>
            <a:endParaRPr lang="en-US" sz="1100">
              <a:solidFill>
                <a:srgbClr val="FF0000"/>
              </a:solidFill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178196" y="3152862"/>
            <a:ext cx="6406967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控制器检测到巨大的转速误差，会持续增大</a:t>
            </a:r>
            <a:r>
              <a:rPr lang="en-US" sz="14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PWM </a:t>
            </a:r>
            <a:r>
              <a:rPr lang="en-US" sz="1400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输出，试图“拉回”目标速度</a:t>
            </a:r>
            <a:r>
              <a:rPr lang="en-US" sz="14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52695" y="3978362"/>
            <a:ext cx="7724911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3196" y="4295862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178196" y="4105362"/>
            <a:ext cx="406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硬件烧毁风险</a:t>
            </a:r>
            <a:endParaRPr lang="en-US" sz="1100">
              <a:solidFill>
                <a:srgbClr val="FF0000"/>
              </a:solidFill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178196" y="4486362"/>
            <a:ext cx="6406967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PWM </a:t>
            </a:r>
            <a:r>
              <a:rPr lang="en-US" sz="1400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无限增大导致电流急剧飙升，瞬间产生高温，极易烧毁驱动板或电机本体</a:t>
            </a:r>
            <a:r>
              <a:rPr lang="en-US" sz="14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352695" y="5715000"/>
            <a:ext cx="9008075" cy="635000"/>
          </a:xfrm>
          <a:prstGeom prst="roundRect">
            <a:avLst>
              <a:gd name="adj" fmla="val 20000"/>
            </a:avLst>
          </a:prstGeom>
          <a:solidFill>
            <a:srgbClr val="00FFFF">
              <a:alpha val="1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352695" y="5835828"/>
            <a:ext cx="900807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核心结论：无保护的速度环在堵转场景下存在极高的硬件损坏风险，必须引入限流保护机制</a:t>
            </a:r>
            <a:r>
              <a:rPr lang="en-US" sz="16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2B8823A-9D56-68EF-2591-BF244CFB4C1B}"/>
              </a:ext>
            </a:extLst>
          </p:cNvPr>
          <p:cNvSpPr txBox="1"/>
          <p:nvPr/>
        </p:nvSpPr>
        <p:spPr>
          <a:xfrm>
            <a:off x="7585163" y="450952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  <p:graphicFrame>
        <p:nvGraphicFramePr>
          <p:cNvPr id="21" name="图示 20">
            <a:extLst>
              <a:ext uri="{FF2B5EF4-FFF2-40B4-BE49-F238E27FC236}">
                <a16:creationId xmlns:a16="http://schemas.microsoft.com/office/drawing/2014/main" id="{D89E55B2-6138-7B0A-5831-D63C036306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6569820"/>
              </p:ext>
            </p:extLst>
          </p:nvPr>
        </p:nvGraphicFramePr>
        <p:xfrm>
          <a:off x="8576127" y="1136829"/>
          <a:ext cx="3428641" cy="2651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物理本质</a:t>
            </a:r>
            <a:r>
              <a:rPr lang="en-US" sz="3600" b="1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3600" b="1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电流决定转矩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4826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25400" cap="flat" cmpd="sng">
            <a:solidFill>
              <a:srgbClr val="00F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651000" y="1651000"/>
            <a:ext cx="368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T = Kt · I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电磁转矩</a:t>
            </a:r>
            <a:r>
              <a:rPr 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(T) 与 </a:t>
            </a:r>
            <a:r>
              <a:rPr lang="en-US" sz="14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电枢电流</a:t>
            </a:r>
            <a:r>
              <a:rPr 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(I) </a:t>
            </a:r>
            <a:r>
              <a:rPr lang="en-US" sz="14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成正比</a:t>
            </a:r>
            <a:endParaRPr lang="en-US" sz="14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921000"/>
            <a:ext cx="4826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175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3048000"/>
            <a:ext cx="381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物理原理洞察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电机的输出力矩直接由流过线圈的</a:t>
            </a:r>
            <a:r>
              <a:rPr lang="en-US" sz="1400" b="1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电流</a:t>
            </a:r>
            <a:r>
              <a:rPr lang="en-US" sz="14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决定，而非电压。电压仅决定转速趋势</a:t>
            </a:r>
            <a:r>
              <a:rPr 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4572000"/>
            <a:ext cx="4826000" cy="1016000"/>
          </a:xfrm>
          <a:prstGeom prst="roundRect">
            <a:avLst>
              <a:gd name="adj" fmla="val 12500"/>
            </a:avLst>
          </a:prstGeom>
          <a:solidFill>
            <a:srgbClr val="00FFFF">
              <a:alpha val="10000"/>
            </a:srgbClr>
          </a:solidFill>
          <a:ln w="12700" cap="flat" cmpd="sng">
            <a:solidFill>
              <a:srgbClr val="00FFFF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524000" y="46990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控制电流</a:t>
            </a:r>
            <a:r>
              <a:rPr lang="en-US" sz="20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= </a:t>
            </a:r>
            <a:r>
              <a:rPr lang="en-US" sz="2000" b="1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控制力矩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096000" y="1524000"/>
            <a:ext cx="5334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r="2700000" algn="tl" rotWithShape="0">
              <a:srgbClr val="00FFFF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096000" y="1524000"/>
            <a:ext cx="5334000" cy="304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6095999" y="4699000"/>
            <a:ext cx="5590903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直流电机内部电磁结构示意图：电流产生磁场，磁场相互作用产生转矩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6096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FFFF">
                  <a:alpha val="100000"/>
                </a:srgbClr>
              </a:gs>
              <a:gs pos="100000">
                <a:srgbClr val="00F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11">
            <a:extLst>
              <a:ext uri="{FF2B5EF4-FFF2-40B4-BE49-F238E27FC236}">
                <a16:creationId xmlns:a16="http://schemas.microsoft.com/office/drawing/2014/main" id="{8A123CBC-D623-73BC-0BE5-6AB6F8C40052}"/>
              </a:ext>
            </a:extLst>
          </p:cNvPr>
          <p:cNvSpPr/>
          <p:nvPr/>
        </p:nvSpPr>
        <p:spPr>
          <a:xfrm>
            <a:off x="6618515" y="508000"/>
            <a:ext cx="4249782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实际上通过控制电流来控制转矩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AAA21-5750-D191-A6F0-F03C5BB0F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9BDA9A87-FD89-4EE2-C03D-4D68CF99956A}"/>
              </a:ext>
            </a:extLst>
          </p:cNvPr>
          <p:cNvSpPr/>
          <p:nvPr/>
        </p:nvSpPr>
        <p:spPr>
          <a:xfrm>
            <a:off x="762000" y="508000"/>
            <a:ext cx="55372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电流环的三大核心作用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91898CE6-1AA3-5455-2D6F-9E894FB6FE73}"/>
              </a:ext>
            </a:extLst>
          </p:cNvPr>
          <p:cNvSpPr/>
          <p:nvPr/>
        </p:nvSpPr>
        <p:spPr>
          <a:xfrm>
            <a:off x="762000" y="1651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chemeClr val="tx1">
                <a:lumMod val="95000"/>
                <a:lumOff val="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01467F13-BE19-B51D-7CDC-C695CA54EF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006600" y="1905000"/>
            <a:ext cx="812800" cy="812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>
            <a:extLst>
              <a:ext uri="{FF2B5EF4-FFF2-40B4-BE49-F238E27FC236}">
                <a16:creationId xmlns:a16="http://schemas.microsoft.com/office/drawing/2014/main" id="{42B9457D-E608-6AD8-33ED-8C724F5689D0}"/>
              </a:ext>
            </a:extLst>
          </p:cNvPr>
          <p:cNvSpPr/>
          <p:nvPr/>
        </p:nvSpPr>
        <p:spPr>
          <a:xfrm>
            <a:off x="889000" y="28448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限流保护</a:t>
            </a:r>
            <a:endParaRPr lang="en-US" sz="110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73BABC68-6B58-DC48-C6CF-F83318633CE7}"/>
              </a:ext>
            </a:extLst>
          </p:cNvPr>
          <p:cNvSpPr/>
          <p:nvPr/>
        </p:nvSpPr>
        <p:spPr>
          <a:xfrm>
            <a:off x="1016000" y="3302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08333"/>
              </a:lnSpc>
              <a:defRPr/>
            </a:pPr>
            <a:r>
              <a:rPr lang="en-US" sz="18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防止过流烧毁电机和驱动电路，保障系统硬件安全</a:t>
            </a:r>
            <a:r>
              <a:rPr lang="en-US" sz="18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708D119F-A50F-0D9B-EA91-E16E1B4852AB}"/>
              </a:ext>
            </a:extLst>
          </p:cNvPr>
          <p:cNvSpPr/>
          <p:nvPr/>
        </p:nvSpPr>
        <p:spPr>
          <a:xfrm>
            <a:off x="4445000" y="1651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chemeClr val="tx1">
                <a:lumMod val="95000"/>
                <a:lumOff val="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E25A1865-F70B-D8D8-12FF-2859165758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689600" y="1905000"/>
            <a:ext cx="812800" cy="812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>
            <a:extLst>
              <a:ext uri="{FF2B5EF4-FFF2-40B4-BE49-F238E27FC236}">
                <a16:creationId xmlns:a16="http://schemas.microsoft.com/office/drawing/2014/main" id="{02FB43F6-B821-91B4-FCEA-E705568EF2FF}"/>
              </a:ext>
            </a:extLst>
          </p:cNvPr>
          <p:cNvSpPr/>
          <p:nvPr/>
        </p:nvSpPr>
        <p:spPr>
          <a:xfrm>
            <a:off x="4572000" y="28448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稳定力矩输出</a:t>
            </a:r>
            <a:endParaRPr lang="en-US" sz="110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D33075D1-B492-B5B6-05C1-B7C08416E257}"/>
              </a:ext>
            </a:extLst>
          </p:cNvPr>
          <p:cNvSpPr/>
          <p:nvPr/>
        </p:nvSpPr>
        <p:spPr>
          <a:xfrm>
            <a:off x="4699000" y="3302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08333"/>
              </a:lnSpc>
              <a:defRPr/>
            </a:pPr>
            <a:r>
              <a:rPr lang="en-US" sz="18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实现精准的转矩控制，确保负载变化时力矩平稳。</a:t>
            </a:r>
            <a:endParaRPr lang="en-US" sz="1100"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93FE5E66-13B5-38FB-A1E8-62A86E19A3F1}"/>
              </a:ext>
            </a:extLst>
          </p:cNvPr>
          <p:cNvSpPr/>
          <p:nvPr/>
        </p:nvSpPr>
        <p:spPr>
          <a:xfrm>
            <a:off x="8128000" y="1651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chemeClr val="tx1">
                <a:lumMod val="95000"/>
                <a:lumOff val="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CCC33D73-AA1A-E80C-2A6D-D001DBC7B81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372600" y="1905000"/>
            <a:ext cx="812800" cy="812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>
            <a:extLst>
              <a:ext uri="{FF2B5EF4-FFF2-40B4-BE49-F238E27FC236}">
                <a16:creationId xmlns:a16="http://schemas.microsoft.com/office/drawing/2014/main" id="{C4B332AC-1DE4-5C06-518A-1FDFDB8B437D}"/>
              </a:ext>
            </a:extLst>
          </p:cNvPr>
          <p:cNvSpPr/>
          <p:nvPr/>
        </p:nvSpPr>
        <p:spPr>
          <a:xfrm>
            <a:off x="8255000" y="28448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提升系统稳定性</a:t>
            </a:r>
            <a:endParaRPr lang="en-US" sz="1100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22BC4594-9919-9E9D-5042-066A38607F89}"/>
              </a:ext>
            </a:extLst>
          </p:cNvPr>
          <p:cNvSpPr/>
          <p:nvPr/>
        </p:nvSpPr>
        <p:spPr>
          <a:xfrm>
            <a:off x="8382000" y="3302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08333"/>
              </a:lnSpc>
              <a:defRPr/>
            </a:pPr>
            <a:r>
              <a:rPr lang="en-US" sz="18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作为</a:t>
            </a:r>
            <a:r>
              <a:rPr lang="en-US" sz="1800" b="1" i="0" u="none" strike="noStrike" dirty="0" err="1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内环</a:t>
            </a:r>
            <a:r>
              <a:rPr lang="en-US" sz="18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快速响应，显著提升速度环的稳定性和响应速度</a:t>
            </a:r>
            <a:r>
              <a:rPr lang="en-US" sz="18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20791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543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为什么电压不能直接控制力矩</a:t>
            </a:r>
            <a:r>
              <a:rPr lang="en-US" sz="3600" b="1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651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5240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电枢电压方程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397000" y="19050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施加电压</a:t>
            </a:r>
            <a:r>
              <a:rPr lang="en-US" sz="1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U = </a:t>
            </a:r>
            <a:r>
              <a:rPr lang="en-US" sz="14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电阻压降</a:t>
            </a:r>
            <a:r>
              <a:rPr lang="en-US" sz="1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(R·I) + </a:t>
            </a:r>
            <a:r>
              <a:rPr lang="en-US" sz="14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电感压降</a:t>
            </a:r>
            <a:r>
              <a:rPr lang="en-US" sz="1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sz="14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L·dI</a:t>
            </a:r>
            <a:r>
              <a:rPr lang="en-US" sz="1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/dt) + </a:t>
            </a:r>
            <a:r>
              <a:rPr lang="en-US" sz="14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反电动势</a:t>
            </a:r>
            <a:r>
              <a:rPr lang="en-US" sz="1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(E)，</a:t>
            </a:r>
            <a:r>
              <a:rPr lang="en-US" sz="14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需层层克服</a:t>
            </a:r>
            <a:r>
              <a:rPr lang="en-US" sz="1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27305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984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28575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>
                    <a:lumMod val="95000"/>
                    <a:lumOff val="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反电动势 (E) 的阻碍</a:t>
            </a:r>
            <a:endParaRPr lang="en-US" sz="11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397000" y="32385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反电动势与转速成正比，转速越高，抵消的输入电压越多，直接削弱了有效电压</a:t>
            </a:r>
            <a:r>
              <a:rPr lang="en-US" sz="1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0640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318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41910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>
                    <a:lumMod val="95000"/>
                    <a:lumOff val="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电感的动态阻碍</a:t>
            </a:r>
            <a:endParaRPr lang="en-US" sz="11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397000" y="45720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电感</a:t>
            </a:r>
            <a:r>
              <a:rPr lang="en-US" sz="1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(L) </a:t>
            </a:r>
            <a:r>
              <a:rPr lang="en-US" sz="14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会产生感应电压阻碍电流变化，导致电流响应滞后于电压指令</a:t>
            </a:r>
            <a:r>
              <a:rPr lang="en-US" sz="14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397500"/>
            <a:ext cx="5334000" cy="762000"/>
          </a:xfrm>
          <a:prstGeom prst="roundRect">
            <a:avLst>
              <a:gd name="adj" fmla="val 16666"/>
            </a:avLst>
          </a:prstGeom>
          <a:solidFill>
            <a:srgbClr val="00FFFF">
              <a:alpha val="10000"/>
            </a:srgbClr>
          </a:solidFill>
          <a:ln w="12700" cap="flat" cmpd="sng">
            <a:solidFill>
              <a:srgbClr val="00F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56261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397000" y="55245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>
                    <a:lumMod val="95000"/>
                    <a:lumOff val="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结论：电压与力矩非线性，无法直接精确控制。</a:t>
            </a:r>
            <a:endParaRPr lang="en-US" sz="11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477000" y="1397000"/>
            <a:ext cx="4953000" cy="2921000"/>
          </a:xfrm>
          <a:prstGeom prst="roundRect">
            <a:avLst>
              <a:gd name="adj" fmla="val 434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r="2700000" algn="tl" rotWithShape="0">
              <a:srgbClr val="00FFFF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540500" y="1460500"/>
            <a:ext cx="4826000" cy="2717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6477000" y="4445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>
                    <a:lumMod val="95000"/>
                    <a:lumOff val="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图：直流电机等效电路模型</a:t>
            </a:r>
            <a:endParaRPr lang="en-US" sz="11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1" name="Connector 21"/>
          <p:cNvCxnSpPr/>
          <p:nvPr/>
        </p:nvCxnSpPr>
        <p:spPr>
          <a:xfrm rot="-4092">
            <a:off x="762004" y="1200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8559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双环嵌套：速度环与电流环的完美协作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143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91887" y="1524000"/>
            <a:ext cx="6226628" cy="167640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14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676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串级控制闭环流程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2159000"/>
            <a:ext cx="5734594" cy="80191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400" dirty="0">
                <a:latin typeface="Noto Sans SC"/>
                <a:ea typeface="Noto Sans SC"/>
                <a:cs typeface="Noto Sans SC"/>
                <a:sym typeface="Noto Sans SC"/>
              </a:rPr>
              <a:t>目标</a:t>
            </a: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速度</a:t>
            </a: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速度PID</a:t>
            </a: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目标电流</a:t>
            </a: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电流PID</a:t>
            </a: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PWM输出</a:t>
            </a: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电机驱动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391887" y="3429000"/>
            <a:ext cx="6226626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619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3581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内外环角色分工</a:t>
            </a:r>
            <a:endParaRPr lang="en-US" sz="1100">
              <a:solidFill>
                <a:srgbClr val="FF0000"/>
              </a:solidFill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22514" y="4064000"/>
            <a:ext cx="597408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1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速度环（外环</a:t>
            </a:r>
            <a:r>
              <a:rPr lang="en-US" sz="14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）：</a:t>
            </a: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根据速度误差计算所需的“</a:t>
            </a: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目标电流</a:t>
            </a: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”（</a:t>
            </a: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即所需力矩</a:t>
            </a: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）。</a:t>
            </a:r>
            <a:endParaRPr lang="en-US" sz="1100" dirty="0"/>
          </a:p>
          <a:p>
            <a:pPr indent="0" algn="l">
              <a:lnSpc>
                <a:spcPct val="108333"/>
              </a:lnSpc>
            </a:pPr>
            <a:r>
              <a:rPr lang="en-US" sz="1400" b="1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电流环（内环</a:t>
            </a:r>
            <a:r>
              <a:rPr lang="en-US" sz="14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）：</a:t>
            </a: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精确控制实际电流，使其紧紧跟随速度环给出的目标值</a:t>
            </a: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783976" y="1524000"/>
            <a:ext cx="5268687" cy="3810000"/>
          </a:xfrm>
          <a:prstGeom prst="roundRect">
            <a:avLst>
              <a:gd name="adj" fmla="val 4347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350000" y="4572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图：双环嵌套串级控制原理框图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91887" y="5588000"/>
            <a:ext cx="11038113" cy="762000"/>
          </a:xfrm>
          <a:prstGeom prst="roundRect">
            <a:avLst>
              <a:gd name="adj" fmla="val 16666"/>
            </a:avLst>
          </a:prstGeom>
          <a:solidFill>
            <a:srgbClr val="00FFFF">
              <a:alpha val="10000"/>
            </a:srgbClr>
          </a:solidFill>
          <a:ln w="12700" cap="flat" cmpd="sng">
            <a:solidFill>
              <a:srgbClr val="00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200" y="58166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397000" y="5740400"/>
            <a:ext cx="977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核心优势：</a:t>
            </a:r>
            <a:r>
              <a:rPr lang="en-US" sz="16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通过双环嵌套，系统兼具了外环的稳态精度与内环的动态响应速度，实现了对电机的高性能控制</a:t>
            </a:r>
            <a:r>
              <a:rPr lang="en-US" sz="16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05C67947-2183-8F06-7261-4A218E5B14E6}"/>
              </a:ext>
            </a:extLst>
          </p:cNvPr>
          <p:cNvSpPr/>
          <p:nvPr/>
        </p:nvSpPr>
        <p:spPr>
          <a:xfrm>
            <a:off x="9614313" y="2517729"/>
            <a:ext cx="746272" cy="51915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PWM</a:t>
            </a:r>
          </a:p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占空比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68B84113-D4CF-4FFD-75EA-4899A23B6F33}"/>
              </a:ext>
            </a:extLst>
          </p:cNvPr>
          <p:cNvSpPr/>
          <p:nvPr/>
        </p:nvSpPr>
        <p:spPr>
          <a:xfrm>
            <a:off x="7635809" y="2638813"/>
            <a:ext cx="708712" cy="27699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速度环</a:t>
            </a:r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FB39BB40-01C0-50ED-1D06-E12022D327E7}"/>
              </a:ext>
            </a:extLst>
          </p:cNvPr>
          <p:cNvGrpSpPr/>
          <p:nvPr/>
        </p:nvGrpSpPr>
        <p:grpSpPr>
          <a:xfrm>
            <a:off x="7308077" y="2667425"/>
            <a:ext cx="217714" cy="219767"/>
            <a:chOff x="7741427" y="2187886"/>
            <a:chExt cx="217714" cy="219767"/>
          </a:xfrm>
        </p:grpSpPr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E52CA808-0ADE-B99E-584A-7C20117AF8C0}"/>
                </a:ext>
              </a:extLst>
            </p:cNvPr>
            <p:cNvSpPr/>
            <p:nvPr/>
          </p:nvSpPr>
          <p:spPr>
            <a:xfrm>
              <a:off x="7741427" y="2187886"/>
              <a:ext cx="217714" cy="219767"/>
            </a:xfrm>
            <a:prstGeom prst="ellipse">
              <a:avLst/>
            </a:prstGeom>
            <a:solidFill>
              <a:srgbClr val="FFF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36278D49-8644-0E02-F33B-B51A2054AC58}"/>
                </a:ext>
              </a:extLst>
            </p:cNvPr>
            <p:cNvCxnSpPr>
              <a:stCxn id="83" idx="1"/>
              <a:endCxn id="83" idx="5"/>
            </p:cNvCxnSpPr>
            <p:nvPr/>
          </p:nvCxnSpPr>
          <p:spPr>
            <a:xfrm>
              <a:off x="7773310" y="2220070"/>
              <a:ext cx="153948" cy="155399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9C1E34C0-6922-4674-F118-488938946B00}"/>
                </a:ext>
              </a:extLst>
            </p:cNvPr>
            <p:cNvCxnSpPr>
              <a:cxnSpLocks/>
              <a:stCxn id="83" idx="3"/>
              <a:endCxn id="83" idx="7"/>
            </p:cNvCxnSpPr>
            <p:nvPr/>
          </p:nvCxnSpPr>
          <p:spPr>
            <a:xfrm flipV="1">
              <a:off x="7773310" y="2220070"/>
              <a:ext cx="153948" cy="155399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A14BF631-2E26-FAFE-6680-0568CF6235F0}"/>
              </a:ext>
            </a:extLst>
          </p:cNvPr>
          <p:cNvCxnSpPr>
            <a:cxnSpLocks/>
            <a:stCxn id="93" idx="3"/>
            <a:endCxn id="83" idx="2"/>
          </p:cNvCxnSpPr>
          <p:nvPr/>
        </p:nvCxnSpPr>
        <p:spPr>
          <a:xfrm>
            <a:off x="7121543" y="2776452"/>
            <a:ext cx="186534" cy="8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矩形 86">
            <a:extLst>
              <a:ext uri="{FF2B5EF4-FFF2-40B4-BE49-F238E27FC236}">
                <a16:creationId xmlns:a16="http://schemas.microsoft.com/office/drawing/2014/main" id="{76695352-6AA8-09BD-3110-8EC0CE413D24}"/>
              </a:ext>
            </a:extLst>
          </p:cNvPr>
          <p:cNvSpPr/>
          <p:nvPr/>
        </p:nvSpPr>
        <p:spPr>
          <a:xfrm>
            <a:off x="9645472" y="3603252"/>
            <a:ext cx="972354" cy="3210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编码器测速</a:t>
            </a:r>
          </a:p>
        </p:txBody>
      </p: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FCD041D7-7A3D-793B-0AFA-2C1AC80F77B2}"/>
              </a:ext>
            </a:extLst>
          </p:cNvPr>
          <p:cNvCxnSpPr>
            <a:cxnSpLocks/>
            <a:stCxn id="80" idx="3"/>
            <a:endCxn id="95" idx="1"/>
          </p:cNvCxnSpPr>
          <p:nvPr/>
        </p:nvCxnSpPr>
        <p:spPr>
          <a:xfrm>
            <a:off x="10360585" y="2777308"/>
            <a:ext cx="1292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连接符: 肘形 88">
            <a:extLst>
              <a:ext uri="{FF2B5EF4-FFF2-40B4-BE49-F238E27FC236}">
                <a16:creationId xmlns:a16="http://schemas.microsoft.com/office/drawing/2014/main" id="{9313E101-7314-3440-F477-3131FD3D9E34}"/>
              </a:ext>
            </a:extLst>
          </p:cNvPr>
          <p:cNvCxnSpPr>
            <a:cxnSpLocks/>
            <a:stCxn id="87" idx="1"/>
            <a:endCxn id="83" idx="4"/>
          </p:cNvCxnSpPr>
          <p:nvPr/>
        </p:nvCxnSpPr>
        <p:spPr>
          <a:xfrm rot="10800000">
            <a:off x="7416934" y="2887192"/>
            <a:ext cx="2228538" cy="8765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47AF3C9A-6412-0CED-17CD-2450C43B89E2}"/>
              </a:ext>
            </a:extLst>
          </p:cNvPr>
          <p:cNvCxnSpPr>
            <a:cxnSpLocks/>
            <a:stCxn id="83" idx="6"/>
            <a:endCxn id="81" idx="1"/>
          </p:cNvCxnSpPr>
          <p:nvPr/>
        </p:nvCxnSpPr>
        <p:spPr>
          <a:xfrm flipV="1">
            <a:off x="7525791" y="2777308"/>
            <a:ext cx="11001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E9A2AA72-3BF8-AFA9-2F3C-B30A3186DB56}"/>
              </a:ext>
            </a:extLst>
          </p:cNvPr>
          <p:cNvCxnSpPr>
            <a:cxnSpLocks/>
            <a:stCxn id="81" idx="3"/>
            <a:endCxn id="100" idx="2"/>
          </p:cNvCxnSpPr>
          <p:nvPr/>
        </p:nvCxnSpPr>
        <p:spPr>
          <a:xfrm>
            <a:off x="8344521" y="2777308"/>
            <a:ext cx="11893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92" name="连接符: 肘形 91">
            <a:extLst>
              <a:ext uri="{FF2B5EF4-FFF2-40B4-BE49-F238E27FC236}">
                <a16:creationId xmlns:a16="http://schemas.microsoft.com/office/drawing/2014/main" id="{C5829047-A0DA-D57B-C4C8-C0D0D078B7F3}"/>
              </a:ext>
            </a:extLst>
          </p:cNvPr>
          <p:cNvCxnSpPr>
            <a:cxnSpLocks/>
            <a:stCxn id="94" idx="4"/>
            <a:endCxn id="87" idx="3"/>
          </p:cNvCxnSpPr>
          <p:nvPr/>
        </p:nvCxnSpPr>
        <p:spPr>
          <a:xfrm rot="5400000">
            <a:off x="10755908" y="2898820"/>
            <a:ext cx="726874" cy="100303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框 92">
            <a:extLst>
              <a:ext uri="{FF2B5EF4-FFF2-40B4-BE49-F238E27FC236}">
                <a16:creationId xmlns:a16="http://schemas.microsoft.com/office/drawing/2014/main" id="{5AD9CC01-2FE9-AE66-90B4-4C210051A7F9}"/>
              </a:ext>
            </a:extLst>
          </p:cNvPr>
          <p:cNvSpPr txBox="1"/>
          <p:nvPr/>
        </p:nvSpPr>
        <p:spPr>
          <a:xfrm>
            <a:off x="6766559" y="2360953"/>
            <a:ext cx="3549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目标速度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9C252FFE-250B-EFE4-8116-1CB76C570B32}"/>
              </a:ext>
            </a:extLst>
          </p:cNvPr>
          <p:cNvSpPr/>
          <p:nvPr/>
        </p:nvSpPr>
        <p:spPr>
          <a:xfrm>
            <a:off x="11343767" y="2517714"/>
            <a:ext cx="554194" cy="51918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电机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1304CCD0-1C90-28B8-943E-C5FA559EF0E3}"/>
              </a:ext>
            </a:extLst>
          </p:cNvPr>
          <p:cNvSpPr/>
          <p:nvPr/>
        </p:nvSpPr>
        <p:spPr>
          <a:xfrm>
            <a:off x="10489798" y="2638809"/>
            <a:ext cx="711638" cy="2769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驱动板</a:t>
            </a:r>
          </a:p>
        </p:txBody>
      </p: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98F7E571-7059-6CF3-E36D-D6D04023FBCC}"/>
              </a:ext>
            </a:extLst>
          </p:cNvPr>
          <p:cNvCxnSpPr>
            <a:cxnSpLocks/>
            <a:stCxn id="95" idx="3"/>
            <a:endCxn id="94" idx="2"/>
          </p:cNvCxnSpPr>
          <p:nvPr/>
        </p:nvCxnSpPr>
        <p:spPr>
          <a:xfrm>
            <a:off x="11201436" y="2777308"/>
            <a:ext cx="1423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1E3B4FDD-2C62-AB6D-0FF6-CD1F781C23DD}"/>
              </a:ext>
            </a:extLst>
          </p:cNvPr>
          <p:cNvCxnSpPr>
            <a:cxnSpLocks/>
            <a:stCxn id="98" idx="3"/>
            <a:endCxn id="80" idx="1"/>
          </p:cNvCxnSpPr>
          <p:nvPr/>
        </p:nvCxnSpPr>
        <p:spPr>
          <a:xfrm>
            <a:off x="9521500" y="2777308"/>
            <a:ext cx="928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矩形 97">
            <a:extLst>
              <a:ext uri="{FF2B5EF4-FFF2-40B4-BE49-F238E27FC236}">
                <a16:creationId xmlns:a16="http://schemas.microsoft.com/office/drawing/2014/main" id="{0089D528-DD6C-BB52-2DBF-3FB22374327B}"/>
              </a:ext>
            </a:extLst>
          </p:cNvPr>
          <p:cNvSpPr/>
          <p:nvPr/>
        </p:nvSpPr>
        <p:spPr>
          <a:xfrm>
            <a:off x="8814338" y="2638812"/>
            <a:ext cx="707162" cy="2769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电流环</a:t>
            </a: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C588C850-2B9A-50A7-BEBD-5395A5599C98}"/>
              </a:ext>
            </a:extLst>
          </p:cNvPr>
          <p:cNvGrpSpPr/>
          <p:nvPr/>
        </p:nvGrpSpPr>
        <p:grpSpPr>
          <a:xfrm>
            <a:off x="8463458" y="2667425"/>
            <a:ext cx="217714" cy="219767"/>
            <a:chOff x="7741427" y="2187886"/>
            <a:chExt cx="217714" cy="219767"/>
          </a:xfrm>
        </p:grpSpPr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43114178-23F2-FAB8-F2FB-2E305969BA2F}"/>
                </a:ext>
              </a:extLst>
            </p:cNvPr>
            <p:cNvSpPr/>
            <p:nvPr/>
          </p:nvSpPr>
          <p:spPr>
            <a:xfrm>
              <a:off x="7741427" y="2187886"/>
              <a:ext cx="217714" cy="219767"/>
            </a:xfrm>
            <a:prstGeom prst="ellipse">
              <a:avLst/>
            </a:prstGeom>
            <a:solidFill>
              <a:srgbClr val="FFF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3E660125-D4E2-F218-D878-5DA19DDB72C0}"/>
                </a:ext>
              </a:extLst>
            </p:cNvPr>
            <p:cNvCxnSpPr>
              <a:stCxn id="100" idx="1"/>
              <a:endCxn id="100" idx="5"/>
            </p:cNvCxnSpPr>
            <p:nvPr/>
          </p:nvCxnSpPr>
          <p:spPr>
            <a:xfrm>
              <a:off x="7773310" y="2220070"/>
              <a:ext cx="153948" cy="155399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940D6DF0-0CE2-9F68-5205-345FA17A5608}"/>
                </a:ext>
              </a:extLst>
            </p:cNvPr>
            <p:cNvCxnSpPr>
              <a:cxnSpLocks/>
              <a:stCxn id="100" idx="3"/>
              <a:endCxn id="100" idx="7"/>
            </p:cNvCxnSpPr>
            <p:nvPr/>
          </p:nvCxnSpPr>
          <p:spPr>
            <a:xfrm flipV="1">
              <a:off x="7773310" y="2220070"/>
              <a:ext cx="153948" cy="155399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417EAB9B-2A58-B2CA-2361-1C2B23FEA425}"/>
              </a:ext>
            </a:extLst>
          </p:cNvPr>
          <p:cNvCxnSpPr>
            <a:cxnSpLocks/>
            <a:stCxn id="100" idx="6"/>
            <a:endCxn id="98" idx="1"/>
          </p:cNvCxnSpPr>
          <p:nvPr/>
        </p:nvCxnSpPr>
        <p:spPr>
          <a:xfrm flipV="1">
            <a:off x="8681172" y="2777308"/>
            <a:ext cx="13316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104" name="矩形 103">
            <a:extLst>
              <a:ext uri="{FF2B5EF4-FFF2-40B4-BE49-F238E27FC236}">
                <a16:creationId xmlns:a16="http://schemas.microsoft.com/office/drawing/2014/main" id="{C3635FFA-C2A3-E011-B0FB-F0BCC9205313}"/>
              </a:ext>
            </a:extLst>
          </p:cNvPr>
          <p:cNvSpPr/>
          <p:nvPr/>
        </p:nvSpPr>
        <p:spPr>
          <a:xfrm>
            <a:off x="9631951" y="3175273"/>
            <a:ext cx="972354" cy="3210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电流测量</a:t>
            </a:r>
          </a:p>
        </p:txBody>
      </p:sp>
      <p:cxnSp>
        <p:nvCxnSpPr>
          <p:cNvPr id="105" name="连接符: 肘形 104">
            <a:extLst>
              <a:ext uri="{FF2B5EF4-FFF2-40B4-BE49-F238E27FC236}">
                <a16:creationId xmlns:a16="http://schemas.microsoft.com/office/drawing/2014/main" id="{EFF1126F-CD4B-B01F-7656-FE555F9660BC}"/>
              </a:ext>
            </a:extLst>
          </p:cNvPr>
          <p:cNvCxnSpPr>
            <a:cxnSpLocks/>
            <a:stCxn id="94" idx="4"/>
            <a:endCxn id="104" idx="3"/>
          </p:cNvCxnSpPr>
          <p:nvPr/>
        </p:nvCxnSpPr>
        <p:spPr>
          <a:xfrm rot="5400000">
            <a:off x="10963138" y="2678070"/>
            <a:ext cx="298895" cy="101655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连接符: 肘形 105">
            <a:extLst>
              <a:ext uri="{FF2B5EF4-FFF2-40B4-BE49-F238E27FC236}">
                <a16:creationId xmlns:a16="http://schemas.microsoft.com/office/drawing/2014/main" id="{D10D892D-A367-A30B-C03C-94A1C6389425}"/>
              </a:ext>
            </a:extLst>
          </p:cNvPr>
          <p:cNvCxnSpPr>
            <a:cxnSpLocks/>
            <a:stCxn id="104" idx="1"/>
            <a:endCxn id="100" idx="4"/>
          </p:cNvCxnSpPr>
          <p:nvPr/>
        </p:nvCxnSpPr>
        <p:spPr>
          <a:xfrm rot="10800000">
            <a:off x="8572315" y="2887193"/>
            <a:ext cx="1059636" cy="4486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54389" y="107486"/>
            <a:ext cx="75438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电流环的控制原理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EBC34BE-F2FE-ABE6-1C74-2BE98B288E3D}"/>
              </a:ext>
            </a:extLst>
          </p:cNvPr>
          <p:cNvSpPr/>
          <p:nvPr/>
        </p:nvSpPr>
        <p:spPr>
          <a:xfrm>
            <a:off x="8489458" y="1972376"/>
            <a:ext cx="1267582" cy="8203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PWM</a:t>
            </a:r>
          </a:p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占空比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AFE9F49-F442-E589-5018-8175A27E7A90}"/>
              </a:ext>
            </a:extLst>
          </p:cNvPr>
          <p:cNvSpPr/>
          <p:nvPr/>
        </p:nvSpPr>
        <p:spPr>
          <a:xfrm>
            <a:off x="5048999" y="2122956"/>
            <a:ext cx="1752958" cy="5191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7A0F956C-21A9-3751-88C2-738F6117188B}"/>
              </a:ext>
            </a:extLst>
          </p:cNvPr>
          <p:cNvGrpSpPr/>
          <p:nvPr/>
        </p:nvGrpSpPr>
        <p:grpSpPr>
          <a:xfrm>
            <a:off x="2411772" y="2272669"/>
            <a:ext cx="217714" cy="219767"/>
            <a:chOff x="7741427" y="2187886"/>
            <a:chExt cx="217714" cy="219767"/>
          </a:xfrm>
        </p:grpSpPr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A84AEFA3-F43F-A3FE-F85E-85627278715A}"/>
                </a:ext>
              </a:extLst>
            </p:cNvPr>
            <p:cNvSpPr/>
            <p:nvPr/>
          </p:nvSpPr>
          <p:spPr>
            <a:xfrm>
              <a:off x="7741427" y="2187886"/>
              <a:ext cx="217714" cy="219767"/>
            </a:xfrm>
            <a:prstGeom prst="ellipse">
              <a:avLst/>
            </a:prstGeom>
            <a:solidFill>
              <a:srgbClr val="FFF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B415960A-13EA-E593-CABB-42DDF9BA059C}"/>
                </a:ext>
              </a:extLst>
            </p:cNvPr>
            <p:cNvCxnSpPr>
              <a:stCxn id="18" idx="1"/>
              <a:endCxn id="18" idx="5"/>
            </p:cNvCxnSpPr>
            <p:nvPr/>
          </p:nvCxnSpPr>
          <p:spPr>
            <a:xfrm>
              <a:off x="7773310" y="2220070"/>
              <a:ext cx="153948" cy="155399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4988E006-4742-A79A-E992-87C5BD18FDE6}"/>
                </a:ext>
              </a:extLst>
            </p:cNvPr>
            <p:cNvCxnSpPr>
              <a:cxnSpLocks/>
              <a:stCxn id="18" idx="3"/>
              <a:endCxn id="18" idx="7"/>
            </p:cNvCxnSpPr>
            <p:nvPr/>
          </p:nvCxnSpPr>
          <p:spPr>
            <a:xfrm flipV="1">
              <a:off x="7773310" y="2220070"/>
              <a:ext cx="153948" cy="155399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3ABB5C2C-F6F8-4442-298F-662E12F082C7}"/>
              </a:ext>
            </a:extLst>
          </p:cNvPr>
          <p:cNvCxnSpPr>
            <a:cxnSpLocks/>
            <a:stCxn id="30" idx="3"/>
            <a:endCxn id="18" idx="2"/>
          </p:cNvCxnSpPr>
          <p:nvPr/>
        </p:nvCxnSpPr>
        <p:spPr>
          <a:xfrm flipV="1">
            <a:off x="1685934" y="2382553"/>
            <a:ext cx="725838" cy="32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24BE6F27-D11C-2EDD-EADF-50702355A8EC}"/>
              </a:ext>
            </a:extLst>
          </p:cNvPr>
          <p:cNvSpPr/>
          <p:nvPr/>
        </p:nvSpPr>
        <p:spPr>
          <a:xfrm>
            <a:off x="5146766" y="4326991"/>
            <a:ext cx="2720108" cy="51130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电流采集电路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88DD3E6B-AE8B-A170-1F27-5A2913A22944}"/>
              </a:ext>
            </a:extLst>
          </p:cNvPr>
          <p:cNvCxnSpPr>
            <a:cxnSpLocks/>
            <a:stCxn id="15" idx="3"/>
            <a:endCxn id="34" idx="1"/>
          </p:cNvCxnSpPr>
          <p:nvPr/>
        </p:nvCxnSpPr>
        <p:spPr>
          <a:xfrm>
            <a:off x="9757040" y="2382552"/>
            <a:ext cx="1862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582A3BFB-4355-48CF-9243-5AF1BF8B3E94}"/>
              </a:ext>
            </a:extLst>
          </p:cNvPr>
          <p:cNvCxnSpPr>
            <a:cxnSpLocks/>
            <a:stCxn id="22" idx="1"/>
            <a:endCxn id="18" idx="4"/>
          </p:cNvCxnSpPr>
          <p:nvPr/>
        </p:nvCxnSpPr>
        <p:spPr>
          <a:xfrm rot="10800000">
            <a:off x="2520630" y="2492437"/>
            <a:ext cx="2626137" cy="209020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107D0B1E-8691-B6DC-AF06-7F1EB39DBC0B}"/>
              </a:ext>
            </a:extLst>
          </p:cNvPr>
          <p:cNvCxnSpPr>
            <a:cxnSpLocks/>
            <a:stCxn id="18" idx="6"/>
            <a:endCxn id="16" idx="1"/>
          </p:cNvCxnSpPr>
          <p:nvPr/>
        </p:nvCxnSpPr>
        <p:spPr>
          <a:xfrm flipV="1">
            <a:off x="2629486" y="2382552"/>
            <a:ext cx="241951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8802DE7-CE58-BF05-F0C2-3926227C33EF}"/>
              </a:ext>
            </a:extLst>
          </p:cNvPr>
          <p:cNvCxnSpPr>
            <a:cxnSpLocks/>
            <a:stCxn id="16" idx="3"/>
            <a:endCxn id="43" idx="2"/>
          </p:cNvCxnSpPr>
          <p:nvPr/>
        </p:nvCxnSpPr>
        <p:spPr>
          <a:xfrm>
            <a:off x="6801957" y="2382552"/>
            <a:ext cx="418917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4B9D08CD-DC79-29B4-EB95-B6734DE3287C}"/>
              </a:ext>
            </a:extLst>
          </p:cNvPr>
          <p:cNvCxnSpPr>
            <a:cxnSpLocks/>
            <a:stCxn id="34" idx="2"/>
            <a:endCxn id="22" idx="3"/>
          </p:cNvCxnSpPr>
          <p:nvPr/>
        </p:nvCxnSpPr>
        <p:spPr>
          <a:xfrm rot="5400000">
            <a:off x="8211106" y="2263690"/>
            <a:ext cx="1974722" cy="266318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408A6C69-0DF3-A07F-FE8A-F0CE36EC4CAA}"/>
              </a:ext>
            </a:extLst>
          </p:cNvPr>
          <p:cNvSpPr txBox="1"/>
          <p:nvPr/>
        </p:nvSpPr>
        <p:spPr>
          <a:xfrm>
            <a:off x="1953900" y="1998587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+</a:t>
            </a:r>
            <a:endParaRPr lang="zh-CN" altLang="en-US" sz="24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4713583-3274-10F9-4323-89D137B809CB}"/>
              </a:ext>
            </a:extLst>
          </p:cNvPr>
          <p:cNvSpPr txBox="1"/>
          <p:nvPr/>
        </p:nvSpPr>
        <p:spPr>
          <a:xfrm>
            <a:off x="2171506" y="2498775"/>
            <a:ext cx="343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-</a:t>
            </a:r>
            <a:endParaRPr lang="zh-CN" altLang="en-US" sz="24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6D37475-E8D3-80AD-0D0D-6B18E921AF0A}"/>
              </a:ext>
            </a:extLst>
          </p:cNvPr>
          <p:cNvSpPr txBox="1"/>
          <p:nvPr/>
        </p:nvSpPr>
        <p:spPr>
          <a:xfrm>
            <a:off x="103018" y="2154965"/>
            <a:ext cx="1582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目标电流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479F6DC-35EB-5596-56B2-9A47F7450EF4}"/>
              </a:ext>
            </a:extLst>
          </p:cNvPr>
          <p:cNvSpPr/>
          <p:nvPr/>
        </p:nvSpPr>
        <p:spPr>
          <a:xfrm>
            <a:off x="5048999" y="1175498"/>
            <a:ext cx="1752958" cy="5191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比例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CD94342-A6D1-E125-8E88-0A72019F4A5C}"/>
              </a:ext>
            </a:extLst>
          </p:cNvPr>
          <p:cNvSpPr/>
          <p:nvPr/>
        </p:nvSpPr>
        <p:spPr>
          <a:xfrm>
            <a:off x="5048999" y="3163846"/>
            <a:ext cx="1752958" cy="5191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微分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8924E06C-1F4B-6093-3664-6C02AE573AB3}"/>
              </a:ext>
            </a:extLst>
          </p:cNvPr>
          <p:cNvSpPr/>
          <p:nvPr/>
        </p:nvSpPr>
        <p:spPr>
          <a:xfrm>
            <a:off x="11317599" y="1981671"/>
            <a:ext cx="811454" cy="80176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电机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B515D88-35E6-21B9-703B-A944730E11FB}"/>
              </a:ext>
            </a:extLst>
          </p:cNvPr>
          <p:cNvSpPr/>
          <p:nvPr/>
        </p:nvSpPr>
        <p:spPr>
          <a:xfrm>
            <a:off x="9943298" y="2157183"/>
            <a:ext cx="1173521" cy="4507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驱动板</a:t>
            </a: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3909B7F6-5828-A766-F58B-B00F0B9CD17D}"/>
              </a:ext>
            </a:extLst>
          </p:cNvPr>
          <p:cNvCxnSpPr>
            <a:cxnSpLocks/>
            <a:stCxn id="34" idx="3"/>
            <a:endCxn id="33" idx="2"/>
          </p:cNvCxnSpPr>
          <p:nvPr/>
        </p:nvCxnSpPr>
        <p:spPr>
          <a:xfrm>
            <a:off x="11116819" y="2382552"/>
            <a:ext cx="2007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BC89D64D-4BB3-CE51-82F4-065AA98E51E5}"/>
              </a:ext>
            </a:extLst>
          </p:cNvPr>
          <p:cNvCxnSpPr>
            <a:cxnSpLocks/>
            <a:stCxn id="18" idx="6"/>
            <a:endCxn id="31" idx="1"/>
          </p:cNvCxnSpPr>
          <p:nvPr/>
        </p:nvCxnSpPr>
        <p:spPr>
          <a:xfrm flipV="1">
            <a:off x="2629486" y="1435094"/>
            <a:ext cx="2419513" cy="94745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3A21413B-C52C-5611-26C5-70B28E4B05DD}"/>
              </a:ext>
            </a:extLst>
          </p:cNvPr>
          <p:cNvCxnSpPr>
            <a:cxnSpLocks/>
            <a:stCxn id="18" idx="6"/>
            <a:endCxn id="32" idx="1"/>
          </p:cNvCxnSpPr>
          <p:nvPr/>
        </p:nvCxnSpPr>
        <p:spPr>
          <a:xfrm>
            <a:off x="2629486" y="2382553"/>
            <a:ext cx="2419513" cy="104088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35866C70-4229-1769-53B9-1C03C5F07E3B}"/>
              </a:ext>
            </a:extLst>
          </p:cNvPr>
          <p:cNvCxnSpPr>
            <a:cxnSpLocks/>
            <a:stCxn id="31" idx="3"/>
            <a:endCxn id="43" idx="0"/>
          </p:cNvCxnSpPr>
          <p:nvPr/>
        </p:nvCxnSpPr>
        <p:spPr>
          <a:xfrm>
            <a:off x="6801957" y="1435094"/>
            <a:ext cx="647482" cy="71338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4164A587-7803-00DA-59F7-3C47EEF6D38B}"/>
              </a:ext>
            </a:extLst>
          </p:cNvPr>
          <p:cNvCxnSpPr>
            <a:cxnSpLocks/>
            <a:stCxn id="32" idx="3"/>
            <a:endCxn id="43" idx="4"/>
          </p:cNvCxnSpPr>
          <p:nvPr/>
        </p:nvCxnSpPr>
        <p:spPr>
          <a:xfrm flipV="1">
            <a:off x="6801957" y="2616628"/>
            <a:ext cx="647482" cy="80681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13D79A1E-1E5B-55C0-5599-75A50AA1F35F}"/>
              </a:ext>
            </a:extLst>
          </p:cNvPr>
          <p:cNvSpPr txBox="1"/>
          <p:nvPr/>
        </p:nvSpPr>
        <p:spPr>
          <a:xfrm>
            <a:off x="5146766" y="4919676"/>
            <a:ext cx="27201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Actual_Current</a:t>
            </a:r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A74F9F2-4E25-F494-945B-0BFE630ED469}"/>
              </a:ext>
            </a:extLst>
          </p:cNvPr>
          <p:cNvSpPr txBox="1"/>
          <p:nvPr/>
        </p:nvSpPr>
        <p:spPr>
          <a:xfrm>
            <a:off x="103018" y="2629631"/>
            <a:ext cx="16510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Target_Current</a:t>
            </a:r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B1855FD-31F1-84D6-2341-C1A5421C4E26}"/>
              </a:ext>
            </a:extLst>
          </p:cNvPr>
          <p:cNvSpPr txBox="1"/>
          <p:nvPr/>
        </p:nvSpPr>
        <p:spPr>
          <a:xfrm>
            <a:off x="2722626" y="2444965"/>
            <a:ext cx="7750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Error</a:t>
            </a:r>
            <a:endParaRPr lang="zh-CN" altLang="en-US" dirty="0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62F0DB32-7B95-FDB4-5F6E-6187BFAA8DF8}"/>
              </a:ext>
            </a:extLst>
          </p:cNvPr>
          <p:cNvSpPr/>
          <p:nvPr/>
        </p:nvSpPr>
        <p:spPr>
          <a:xfrm>
            <a:off x="7220874" y="2148480"/>
            <a:ext cx="457130" cy="468148"/>
          </a:xfrm>
          <a:prstGeom prst="ellipse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Σ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25F2424E-2009-D8D9-2343-6C2E4D3BB702}"/>
              </a:ext>
            </a:extLst>
          </p:cNvPr>
          <p:cNvCxnSpPr>
            <a:cxnSpLocks/>
            <a:stCxn id="43" idx="6"/>
            <a:endCxn id="15" idx="1"/>
          </p:cNvCxnSpPr>
          <p:nvPr/>
        </p:nvCxnSpPr>
        <p:spPr>
          <a:xfrm flipV="1">
            <a:off x="7678004" y="2382552"/>
            <a:ext cx="811454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EA012EC3-E493-0D85-1FC1-DDADB94D6766}"/>
              </a:ext>
            </a:extLst>
          </p:cNvPr>
          <p:cNvSpPr txBox="1"/>
          <p:nvPr/>
        </p:nvSpPr>
        <p:spPr>
          <a:xfrm>
            <a:off x="7500461" y="2533665"/>
            <a:ext cx="913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Output</a:t>
            </a:r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D29CE44-7308-578F-4C7A-899AE7EBD98B}"/>
              </a:ext>
            </a:extLst>
          </p:cNvPr>
          <p:cNvSpPr txBox="1"/>
          <p:nvPr/>
        </p:nvSpPr>
        <p:spPr>
          <a:xfrm>
            <a:off x="185948" y="1687465"/>
            <a:ext cx="1120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输入端</a:t>
            </a:r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9E20562-A999-5B86-0FA1-9E1EB73DAF73}"/>
              </a:ext>
            </a:extLst>
          </p:cNvPr>
          <p:cNvSpPr txBox="1"/>
          <p:nvPr/>
        </p:nvSpPr>
        <p:spPr>
          <a:xfrm>
            <a:off x="2249968" y="1931309"/>
            <a:ext cx="1120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比较端</a:t>
            </a:r>
            <a:endParaRPr lang="zh-CN" altLang="en-US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FA81F3F5-CD96-248E-ED84-3319CAACCF2D}"/>
              </a:ext>
            </a:extLst>
          </p:cNvPr>
          <p:cNvSpPr txBox="1"/>
          <p:nvPr/>
        </p:nvSpPr>
        <p:spPr>
          <a:xfrm>
            <a:off x="6836529" y="956940"/>
            <a:ext cx="1120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运算端</a:t>
            </a:r>
            <a:endParaRPr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FA5BC51B-0FBF-2A2F-0F05-C0A5464D51F2}"/>
              </a:ext>
            </a:extLst>
          </p:cNvPr>
          <p:cNvSpPr txBox="1"/>
          <p:nvPr/>
        </p:nvSpPr>
        <p:spPr>
          <a:xfrm>
            <a:off x="8496382" y="1532059"/>
            <a:ext cx="1120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执行端</a:t>
            </a:r>
            <a:endParaRPr lang="zh-CN" altLang="en-US" dirty="0"/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0304594C-6636-F464-5A76-70E578582B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51" y="5508105"/>
            <a:ext cx="6040210" cy="12518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9550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特点</a:t>
            </a:r>
            <a:r>
              <a:rPr lang="en-US" sz="3600" b="1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3600" b="1" i="0" u="none" strike="noStrike" dirty="0" err="1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电流环</a:t>
            </a:r>
            <a:r>
              <a:rPr lang="zh-CN" altLang="en-US" sz="3600" b="1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比速度环更快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1999" y="1524000"/>
            <a:ext cx="10158549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8415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0999" y="1651000"/>
            <a:ext cx="8598989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角色分工：指挥官</a:t>
            </a:r>
            <a:r>
              <a:rPr lang="en-US" sz="18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 vs </a:t>
            </a:r>
            <a:r>
              <a:rPr lang="en-US" sz="1800" b="1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肌肉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速度环像“大脑”制定战略目标，电流环像“肌肉”执行战术力矩</a:t>
            </a: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761999" y="2857500"/>
            <a:ext cx="10158549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1750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0999" y="2984500"/>
            <a:ext cx="8598989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控制原理：敏捷响应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肌肉的反应速度必须远快于大脑指令，才能保证动作的敏捷与稳定</a:t>
            </a: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1999" y="4191000"/>
            <a:ext cx="10158549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508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50999" y="4318000"/>
            <a:ext cx="8598989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技术要求：频率差一个数量级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电流环频率通常为</a:t>
            </a: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 10kHz，远高于速度环的 100Hz。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604000" y="4191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示意图：指挥官下达指令，士兵快速执行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715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FFFF">
                  <a:alpha val="100000"/>
                </a:srgbClr>
              </a:gs>
              <a:gs pos="100000">
                <a:srgbClr val="00F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2026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zh-CN" altLang="en-US" sz="1200" dirty="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r>
              <a:rPr kumimoji="1" lang="en-US" altLang="zh-CN" sz="1200" dirty="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_</a:t>
            </a:r>
            <a:r>
              <a:rPr kumimoji="1" lang="zh-CN" altLang="en-US" sz="1200" dirty="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嵌入式</a:t>
            </a:r>
            <a:endParaRPr kumimoji="1" lang="zh-CN" altLang="en-US" dirty="0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2026.04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8479</TotalTime>
  <Words>848</Words>
  <Application>Microsoft Office PowerPoint</Application>
  <PresentationFormat>宽屏</PresentationFormat>
  <Paragraphs>163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Noto Sans SC</vt:lpstr>
      <vt:lpstr>Source Han Sans</vt:lpstr>
      <vt:lpstr>Source Han Sans CN Regular</vt:lpstr>
      <vt:lpstr>等线</vt:lpstr>
      <vt:lpstr>微软雅黑</vt:lpstr>
      <vt:lpstr>Arial</vt:lpstr>
      <vt:lpstr>Calibri</vt:lpstr>
      <vt:lpstr>Calibri Light</vt:lpstr>
      <vt:lpstr>Poppins</vt:lpstr>
      <vt:lpstr>Office 主题​​</vt:lpstr>
      <vt:lpstr>PowerPoint 演示文稿</vt:lpstr>
      <vt:lpstr>课程大纲</vt:lpstr>
      <vt:lpstr>【11-01】电流环的意义与控制原理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209</cp:revision>
  <dcterms:created xsi:type="dcterms:W3CDTF">2025-05-21T06:55:53Z</dcterms:created>
  <dcterms:modified xsi:type="dcterms:W3CDTF">2026-06-08T07:19:22Z</dcterms:modified>
</cp:coreProperties>
</file>