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1"/>
  </p:notesMasterIdLst>
  <p:sldIdLst>
    <p:sldId id="289" r:id="rId2"/>
    <p:sldId id="802" r:id="rId3"/>
    <p:sldId id="800" r:id="rId4"/>
    <p:sldId id="803" r:id="rId5"/>
    <p:sldId id="804" r:id="rId6"/>
    <p:sldId id="805" r:id="rId7"/>
    <p:sldId id="806" r:id="rId8"/>
    <p:sldId id="807" r:id="rId9"/>
    <p:sldId id="28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3D8"/>
    <a:srgbClr val="F94502"/>
    <a:srgbClr val="FFFFFF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3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baseline="0" dirty="0"/>
            <a:t>1. FSMC</a:t>
          </a:r>
          <a:r>
            <a:rPr lang="zh-CN" altLang="en-US" b="0" i="0" baseline="0" dirty="0"/>
            <a:t>简介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D118A83C-5222-4221-A506-F83C2AA7FC34}">
      <dgm:prSet/>
      <dgm:spPr/>
      <dgm:t>
        <a:bodyPr/>
        <a:lstStyle/>
        <a:p>
          <a:r>
            <a:rPr lang="en-US" altLang="zh-CN" b="0" i="0" baseline="0" dirty="0"/>
            <a:t>2. </a:t>
          </a:r>
          <a:r>
            <a:rPr lang="zh-CN" altLang="en-US" b="0" i="0" baseline="0" dirty="0"/>
            <a:t>屏幕和开发板的</a:t>
          </a:r>
          <a:r>
            <a:rPr lang="en-US" altLang="zh-CN" b="0" i="0" baseline="0" dirty="0"/>
            <a:t>FSMC</a:t>
          </a:r>
          <a:r>
            <a:rPr lang="zh-CN" altLang="en-US" b="0" i="0" baseline="0" dirty="0"/>
            <a:t>连接</a:t>
          </a:r>
          <a:endParaRPr lang="zh-CN" dirty="0"/>
        </a:p>
      </dgm:t>
    </dgm:pt>
    <dgm:pt modelId="{D48F979D-CEE7-4607-A4C7-859C651DBD36}" type="par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2BFAFC48-F919-4681-86DE-0DA1D0706F30}" type="sibTrans" cxnId="{3A69001C-F338-4EBD-8B42-35A6ECB5A607}">
      <dgm:prSet/>
      <dgm:spPr/>
      <dgm:t>
        <a:bodyPr/>
        <a:lstStyle/>
        <a:p>
          <a:endParaRPr lang="zh-CN" altLang="en-US"/>
        </a:p>
      </dgm:t>
    </dgm:pt>
    <dgm:pt modelId="{738BEC7C-3245-4286-9DF7-13B01FFA45FB}" type="pres">
      <dgm:prSet presAssocID="{8CD2E5DB-863B-4C72-909B-8B419B7117A4}" presName="Name0" presStyleCnt="0">
        <dgm:presLayoutVars>
          <dgm:chMax/>
          <dgm:chPref/>
          <dgm:dir/>
        </dgm:presLayoutVars>
      </dgm:prSet>
      <dgm:spPr/>
    </dgm:pt>
    <dgm:pt modelId="{055E1E82-F836-47A6-BC32-2DE6ACF44229}" type="pres">
      <dgm:prSet presAssocID="{E64E6344-03F3-41EA-B2B3-D9F732B8BD60}" presName="parenttextcomposite" presStyleCnt="0"/>
      <dgm:spPr/>
    </dgm:pt>
    <dgm:pt modelId="{1C4478CB-78FA-4414-9C89-53ACFBCE411B}" type="pres">
      <dgm:prSet presAssocID="{E64E6344-03F3-41EA-B2B3-D9F732B8BD60}" presName="parenttext" presStyleLbl="revTx" presStyleIdx="0" presStyleCnt="2">
        <dgm:presLayoutVars>
          <dgm:chMax/>
          <dgm:chPref val="2"/>
          <dgm:bulletEnabled val="1"/>
        </dgm:presLayoutVars>
      </dgm:prSet>
      <dgm:spPr/>
    </dgm:pt>
    <dgm:pt modelId="{B0277B7C-836D-47A8-B3BC-AC5757B50D54}" type="pres">
      <dgm:prSet presAssocID="{E64E6344-03F3-41EA-B2B3-D9F732B8BD60}" presName="parallelogramComposite" presStyleCnt="0"/>
      <dgm:spPr/>
    </dgm:pt>
    <dgm:pt modelId="{A614731B-BCE0-4731-84AA-055B66388F5D}" type="pres">
      <dgm:prSet presAssocID="{E64E6344-03F3-41EA-B2B3-D9F732B8BD60}" presName="parallelogram1" presStyleLbl="alignNode1" presStyleIdx="0" presStyleCnt="14"/>
      <dgm:spPr/>
    </dgm:pt>
    <dgm:pt modelId="{25AE42F5-658F-48EB-9FCF-DCC1A6CF8AE4}" type="pres">
      <dgm:prSet presAssocID="{E64E6344-03F3-41EA-B2B3-D9F732B8BD60}" presName="parallelogram2" presStyleLbl="alignNode1" presStyleIdx="1" presStyleCnt="14"/>
      <dgm:spPr/>
    </dgm:pt>
    <dgm:pt modelId="{FEE00E69-F14F-43AF-8A1E-E4E7EA79D594}" type="pres">
      <dgm:prSet presAssocID="{E64E6344-03F3-41EA-B2B3-D9F732B8BD60}" presName="parallelogram3" presStyleLbl="alignNode1" presStyleIdx="2" presStyleCnt="14"/>
      <dgm:spPr/>
    </dgm:pt>
    <dgm:pt modelId="{C945F776-9E00-4635-AB7D-CB30AD2AFD9F}" type="pres">
      <dgm:prSet presAssocID="{E64E6344-03F3-41EA-B2B3-D9F732B8BD60}" presName="parallelogram4" presStyleLbl="alignNode1" presStyleIdx="3" presStyleCnt="14"/>
      <dgm:spPr/>
    </dgm:pt>
    <dgm:pt modelId="{2189FF60-D3C8-4931-B00D-B45E380C9F68}" type="pres">
      <dgm:prSet presAssocID="{E64E6344-03F3-41EA-B2B3-D9F732B8BD60}" presName="parallelogram5" presStyleLbl="alignNode1" presStyleIdx="4" presStyleCnt="14"/>
      <dgm:spPr/>
    </dgm:pt>
    <dgm:pt modelId="{90D9821C-89AA-4408-A115-111B28E9EEF7}" type="pres">
      <dgm:prSet presAssocID="{E64E6344-03F3-41EA-B2B3-D9F732B8BD60}" presName="parallelogram6" presStyleLbl="alignNode1" presStyleIdx="5" presStyleCnt="14"/>
      <dgm:spPr/>
    </dgm:pt>
    <dgm:pt modelId="{FE5A3424-D893-4DB0-AED5-4AA5EEE9E952}" type="pres">
      <dgm:prSet presAssocID="{E64E6344-03F3-41EA-B2B3-D9F732B8BD60}" presName="parallelogram7" presStyleLbl="alignNode1" presStyleIdx="6" presStyleCnt="14"/>
      <dgm:spPr/>
    </dgm:pt>
    <dgm:pt modelId="{DB53369C-F37E-439A-B454-2A3E26B5C592}" type="pres">
      <dgm:prSet presAssocID="{0DC89421-7892-4BB5-8A47-F6705D342A56}" presName="sibTrans" presStyleCnt="0"/>
      <dgm:spPr/>
    </dgm:pt>
    <dgm:pt modelId="{972A3C29-5A13-436B-B57C-C9F86793AEB6}" type="pres">
      <dgm:prSet presAssocID="{D118A83C-5222-4221-A506-F83C2AA7FC34}" presName="parenttextcomposite" presStyleCnt="0"/>
      <dgm:spPr/>
    </dgm:pt>
    <dgm:pt modelId="{E3B57A0B-D321-4B2B-AF35-06912DD4DB42}" type="pres">
      <dgm:prSet presAssocID="{D118A83C-5222-4221-A506-F83C2AA7FC34}" presName="parenttext" presStyleLbl="revTx" presStyleIdx="1" presStyleCnt="2">
        <dgm:presLayoutVars>
          <dgm:chMax/>
          <dgm:chPref val="2"/>
          <dgm:bulletEnabled val="1"/>
        </dgm:presLayoutVars>
      </dgm:prSet>
      <dgm:spPr/>
    </dgm:pt>
    <dgm:pt modelId="{B6D4990B-EFB7-4577-B1DD-2745398976C9}" type="pres">
      <dgm:prSet presAssocID="{D118A83C-5222-4221-A506-F83C2AA7FC34}" presName="parallelogramComposite" presStyleCnt="0"/>
      <dgm:spPr/>
    </dgm:pt>
    <dgm:pt modelId="{EF36861A-3A1C-4428-A4B8-9A815B01A6F1}" type="pres">
      <dgm:prSet presAssocID="{D118A83C-5222-4221-A506-F83C2AA7FC34}" presName="parallelogram1" presStyleLbl="alignNode1" presStyleIdx="7" presStyleCnt="14"/>
      <dgm:spPr/>
    </dgm:pt>
    <dgm:pt modelId="{5928AD55-6F0E-485C-828B-D9F30DC1009A}" type="pres">
      <dgm:prSet presAssocID="{D118A83C-5222-4221-A506-F83C2AA7FC34}" presName="parallelogram2" presStyleLbl="alignNode1" presStyleIdx="8" presStyleCnt="14"/>
      <dgm:spPr/>
    </dgm:pt>
    <dgm:pt modelId="{49F4CDC7-51CB-4ED6-A750-F71B734FD8A2}" type="pres">
      <dgm:prSet presAssocID="{D118A83C-5222-4221-A506-F83C2AA7FC34}" presName="parallelogram3" presStyleLbl="alignNode1" presStyleIdx="9" presStyleCnt="14"/>
      <dgm:spPr/>
    </dgm:pt>
    <dgm:pt modelId="{DB8D2BE4-B05F-4F08-8C1C-214B361034C5}" type="pres">
      <dgm:prSet presAssocID="{D118A83C-5222-4221-A506-F83C2AA7FC34}" presName="parallelogram4" presStyleLbl="alignNode1" presStyleIdx="10" presStyleCnt="14"/>
      <dgm:spPr/>
    </dgm:pt>
    <dgm:pt modelId="{52C53AE6-C717-459D-BEC5-762DDB69AA39}" type="pres">
      <dgm:prSet presAssocID="{D118A83C-5222-4221-A506-F83C2AA7FC34}" presName="parallelogram5" presStyleLbl="alignNode1" presStyleIdx="11" presStyleCnt="14"/>
      <dgm:spPr/>
    </dgm:pt>
    <dgm:pt modelId="{2154D313-A28D-420B-9F14-A24E84C381C1}" type="pres">
      <dgm:prSet presAssocID="{D118A83C-5222-4221-A506-F83C2AA7FC34}" presName="parallelogram6" presStyleLbl="alignNode1" presStyleIdx="12" presStyleCnt="14"/>
      <dgm:spPr/>
    </dgm:pt>
    <dgm:pt modelId="{141B039D-0992-43C7-8135-D1BF3E76AB73}" type="pres">
      <dgm:prSet presAssocID="{D118A83C-5222-4221-A506-F83C2AA7FC34}" presName="parallelogram7" presStyleLbl="alignNode1" presStyleIdx="13" presStyleCnt="14"/>
      <dgm:spPr/>
    </dgm:pt>
  </dgm:ptLst>
  <dgm:cxnLst>
    <dgm:cxn modelId="{3A69001C-F338-4EBD-8B42-35A6ECB5A607}" srcId="{8CD2E5DB-863B-4C72-909B-8B419B7117A4}" destId="{D118A83C-5222-4221-A506-F83C2AA7FC34}" srcOrd="1" destOrd="0" parTransId="{D48F979D-CEE7-4607-A4C7-859C651DBD36}" sibTransId="{2BFAFC48-F919-4681-86DE-0DA1D0706F30}"/>
    <dgm:cxn modelId="{07506450-267C-4851-A719-13C26EA5B303}" type="presOf" srcId="{8CD2E5DB-863B-4C72-909B-8B419B7117A4}" destId="{738BEC7C-3245-4286-9DF7-13B01FFA45FB}" srcOrd="0" destOrd="0" presId="urn:microsoft.com/office/officeart/2008/layout/VerticalAccentList"/>
    <dgm:cxn modelId="{21F8D8DF-2A5A-472B-BC05-93B7FDE0AF80}" type="presOf" srcId="{E64E6344-03F3-41EA-B2B3-D9F732B8BD60}" destId="{1C4478CB-78FA-4414-9C89-53ACFBCE411B}" srcOrd="0" destOrd="0" presId="urn:microsoft.com/office/officeart/2008/layout/VerticalAccentList"/>
    <dgm:cxn modelId="{F40096E3-8D73-43A0-A268-893A4FDEB9BF}" type="presOf" srcId="{D118A83C-5222-4221-A506-F83C2AA7FC34}" destId="{E3B57A0B-D321-4B2B-AF35-06912DD4DB42}" srcOrd="0" destOrd="0" presId="urn:microsoft.com/office/officeart/2008/layout/VerticalAccentList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95D26AB8-9FB1-465C-AD4C-4FC08BE70BBD}" type="presParOf" srcId="{738BEC7C-3245-4286-9DF7-13B01FFA45FB}" destId="{055E1E82-F836-47A6-BC32-2DE6ACF44229}" srcOrd="0" destOrd="0" presId="urn:microsoft.com/office/officeart/2008/layout/VerticalAccentList"/>
    <dgm:cxn modelId="{2251750B-E472-492E-A06B-6FE7C7C1711B}" type="presParOf" srcId="{055E1E82-F836-47A6-BC32-2DE6ACF44229}" destId="{1C4478CB-78FA-4414-9C89-53ACFBCE411B}" srcOrd="0" destOrd="0" presId="urn:microsoft.com/office/officeart/2008/layout/VerticalAccentList"/>
    <dgm:cxn modelId="{AB91266B-DBDF-4BA0-8532-A5440B3355BA}" type="presParOf" srcId="{738BEC7C-3245-4286-9DF7-13B01FFA45FB}" destId="{B0277B7C-836D-47A8-B3BC-AC5757B50D54}" srcOrd="1" destOrd="0" presId="urn:microsoft.com/office/officeart/2008/layout/VerticalAccentList"/>
    <dgm:cxn modelId="{463E3654-4DAB-46CB-8B98-1988B01F5A61}" type="presParOf" srcId="{B0277B7C-836D-47A8-B3BC-AC5757B50D54}" destId="{A614731B-BCE0-4731-84AA-055B66388F5D}" srcOrd="0" destOrd="0" presId="urn:microsoft.com/office/officeart/2008/layout/VerticalAccentList"/>
    <dgm:cxn modelId="{883BF118-5749-41A7-B1DE-2BBAEF810FCF}" type="presParOf" srcId="{B0277B7C-836D-47A8-B3BC-AC5757B50D54}" destId="{25AE42F5-658F-48EB-9FCF-DCC1A6CF8AE4}" srcOrd="1" destOrd="0" presId="urn:microsoft.com/office/officeart/2008/layout/VerticalAccentList"/>
    <dgm:cxn modelId="{E1B581B1-2609-4D35-9FCD-47F24EC492EA}" type="presParOf" srcId="{B0277B7C-836D-47A8-B3BC-AC5757B50D54}" destId="{FEE00E69-F14F-43AF-8A1E-E4E7EA79D594}" srcOrd="2" destOrd="0" presId="urn:microsoft.com/office/officeart/2008/layout/VerticalAccentList"/>
    <dgm:cxn modelId="{B76CA70A-4D52-47E5-8DE2-BB1553174312}" type="presParOf" srcId="{B0277B7C-836D-47A8-B3BC-AC5757B50D54}" destId="{C945F776-9E00-4635-AB7D-CB30AD2AFD9F}" srcOrd="3" destOrd="0" presId="urn:microsoft.com/office/officeart/2008/layout/VerticalAccentList"/>
    <dgm:cxn modelId="{2D0AA1FA-31C4-42EC-A290-21CE3753EEB8}" type="presParOf" srcId="{B0277B7C-836D-47A8-B3BC-AC5757B50D54}" destId="{2189FF60-D3C8-4931-B00D-B45E380C9F68}" srcOrd="4" destOrd="0" presId="urn:microsoft.com/office/officeart/2008/layout/VerticalAccentList"/>
    <dgm:cxn modelId="{BACB5F4A-3E73-4AD4-9CB2-A404BCD9411C}" type="presParOf" srcId="{B0277B7C-836D-47A8-B3BC-AC5757B50D54}" destId="{90D9821C-89AA-4408-A115-111B28E9EEF7}" srcOrd="5" destOrd="0" presId="urn:microsoft.com/office/officeart/2008/layout/VerticalAccentList"/>
    <dgm:cxn modelId="{E6763FC2-54E6-4E26-BE31-B7E94F1A29FE}" type="presParOf" srcId="{B0277B7C-836D-47A8-B3BC-AC5757B50D54}" destId="{FE5A3424-D893-4DB0-AED5-4AA5EEE9E952}" srcOrd="6" destOrd="0" presId="urn:microsoft.com/office/officeart/2008/layout/VerticalAccentList"/>
    <dgm:cxn modelId="{BFCAEBC7-4347-4A38-896B-E3C998C1B47F}" type="presParOf" srcId="{738BEC7C-3245-4286-9DF7-13B01FFA45FB}" destId="{DB53369C-F37E-439A-B454-2A3E26B5C592}" srcOrd="2" destOrd="0" presId="urn:microsoft.com/office/officeart/2008/layout/VerticalAccentList"/>
    <dgm:cxn modelId="{4DC63B9B-FC28-46B6-8155-F324037CD2C0}" type="presParOf" srcId="{738BEC7C-3245-4286-9DF7-13B01FFA45FB}" destId="{972A3C29-5A13-436B-B57C-C9F86793AEB6}" srcOrd="3" destOrd="0" presId="urn:microsoft.com/office/officeart/2008/layout/VerticalAccentList"/>
    <dgm:cxn modelId="{0E98F989-6974-4A80-AA52-3584B17ACA34}" type="presParOf" srcId="{972A3C29-5A13-436B-B57C-C9F86793AEB6}" destId="{E3B57A0B-D321-4B2B-AF35-06912DD4DB42}" srcOrd="0" destOrd="0" presId="urn:microsoft.com/office/officeart/2008/layout/VerticalAccentList"/>
    <dgm:cxn modelId="{9B1E24AF-5266-43CB-82FB-E5DBED083048}" type="presParOf" srcId="{738BEC7C-3245-4286-9DF7-13B01FFA45FB}" destId="{B6D4990B-EFB7-4577-B1DD-2745398976C9}" srcOrd="4" destOrd="0" presId="urn:microsoft.com/office/officeart/2008/layout/VerticalAccentList"/>
    <dgm:cxn modelId="{97231D24-8765-417F-A078-C3F8AC95C317}" type="presParOf" srcId="{B6D4990B-EFB7-4577-B1DD-2745398976C9}" destId="{EF36861A-3A1C-4428-A4B8-9A815B01A6F1}" srcOrd="0" destOrd="0" presId="urn:microsoft.com/office/officeart/2008/layout/VerticalAccentList"/>
    <dgm:cxn modelId="{EF453A3A-4D33-4DC1-972E-F3FDDDF425DD}" type="presParOf" srcId="{B6D4990B-EFB7-4577-B1DD-2745398976C9}" destId="{5928AD55-6F0E-485C-828B-D9F30DC1009A}" srcOrd="1" destOrd="0" presId="urn:microsoft.com/office/officeart/2008/layout/VerticalAccentList"/>
    <dgm:cxn modelId="{38F44201-7B8C-4B22-B67F-12C0DBCF6BE3}" type="presParOf" srcId="{B6D4990B-EFB7-4577-B1DD-2745398976C9}" destId="{49F4CDC7-51CB-4ED6-A750-F71B734FD8A2}" srcOrd="2" destOrd="0" presId="urn:microsoft.com/office/officeart/2008/layout/VerticalAccentList"/>
    <dgm:cxn modelId="{B4A11A64-CFE5-4133-889C-DD7B24BCE42A}" type="presParOf" srcId="{B6D4990B-EFB7-4577-B1DD-2745398976C9}" destId="{DB8D2BE4-B05F-4F08-8C1C-214B361034C5}" srcOrd="3" destOrd="0" presId="urn:microsoft.com/office/officeart/2008/layout/VerticalAccentList"/>
    <dgm:cxn modelId="{0E0C5FBD-2986-4593-8F80-4582C95773E8}" type="presParOf" srcId="{B6D4990B-EFB7-4577-B1DD-2745398976C9}" destId="{52C53AE6-C717-459D-BEC5-762DDB69AA39}" srcOrd="4" destOrd="0" presId="urn:microsoft.com/office/officeart/2008/layout/VerticalAccentList"/>
    <dgm:cxn modelId="{A0DB6676-6B68-4F20-BDE4-03C2963F7515}" type="presParOf" srcId="{B6D4990B-EFB7-4577-B1DD-2745398976C9}" destId="{2154D313-A28D-420B-9F14-A24E84C381C1}" srcOrd="5" destOrd="0" presId="urn:microsoft.com/office/officeart/2008/layout/VerticalAccentList"/>
    <dgm:cxn modelId="{8F378C2D-0DAD-40F6-8CC0-13BDA1B1F5F3}" type="presParOf" srcId="{B6D4990B-EFB7-4577-B1DD-2745398976C9}" destId="{141B039D-0992-43C7-8135-D1BF3E76AB73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478CB-78FA-4414-9C89-53ACFBCE411B}">
      <dsp:nvSpPr>
        <dsp:cNvPr id="0" name=""/>
        <dsp:cNvSpPr/>
      </dsp:nvSpPr>
      <dsp:spPr>
        <a:xfrm>
          <a:off x="472705" y="1471534"/>
          <a:ext cx="8508707" cy="77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b="0" i="0" kern="1200" baseline="0" dirty="0"/>
            <a:t>1. FSMC</a:t>
          </a:r>
          <a:r>
            <a:rPr lang="zh-CN" altLang="en-US" sz="3200" b="0" i="0" kern="1200" baseline="0" dirty="0"/>
            <a:t>简介</a:t>
          </a:r>
          <a:endParaRPr lang="zh-CN" sz="3200" kern="1200" dirty="0"/>
        </a:p>
      </dsp:txBody>
      <dsp:txXfrm>
        <a:off x="472705" y="1471534"/>
        <a:ext cx="8508707" cy="773518"/>
      </dsp:txXfrm>
    </dsp:sp>
    <dsp:sp modelId="{A614731B-BCE0-4731-84AA-055B66388F5D}">
      <dsp:nvSpPr>
        <dsp:cNvPr id="0" name=""/>
        <dsp:cNvSpPr/>
      </dsp:nvSpPr>
      <dsp:spPr>
        <a:xfrm>
          <a:off x="472705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E42F5-658F-48EB-9FCF-DCC1A6CF8AE4}">
      <dsp:nvSpPr>
        <dsp:cNvPr id="0" name=""/>
        <dsp:cNvSpPr/>
      </dsp:nvSpPr>
      <dsp:spPr>
        <a:xfrm>
          <a:off x="1673379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00E69-F14F-43AF-8A1E-E4E7EA79D594}">
      <dsp:nvSpPr>
        <dsp:cNvPr id="0" name=""/>
        <dsp:cNvSpPr/>
      </dsp:nvSpPr>
      <dsp:spPr>
        <a:xfrm>
          <a:off x="2874052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5F776-9E00-4635-AB7D-CB30AD2AFD9F}">
      <dsp:nvSpPr>
        <dsp:cNvPr id="0" name=""/>
        <dsp:cNvSpPr/>
      </dsp:nvSpPr>
      <dsp:spPr>
        <a:xfrm>
          <a:off x="4074725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9FF60-D3C8-4931-B00D-B45E380C9F68}">
      <dsp:nvSpPr>
        <dsp:cNvPr id="0" name=""/>
        <dsp:cNvSpPr/>
      </dsp:nvSpPr>
      <dsp:spPr>
        <a:xfrm>
          <a:off x="5275398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9821C-89AA-4408-A115-111B28E9EEF7}">
      <dsp:nvSpPr>
        <dsp:cNvPr id="0" name=""/>
        <dsp:cNvSpPr/>
      </dsp:nvSpPr>
      <dsp:spPr>
        <a:xfrm>
          <a:off x="6476071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A3424-D893-4DB0-AED5-4AA5EEE9E952}">
      <dsp:nvSpPr>
        <dsp:cNvPr id="0" name=""/>
        <dsp:cNvSpPr/>
      </dsp:nvSpPr>
      <dsp:spPr>
        <a:xfrm>
          <a:off x="7676744" y="2245052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57A0B-D321-4B2B-AF35-06912DD4DB42}">
      <dsp:nvSpPr>
        <dsp:cNvPr id="0" name=""/>
        <dsp:cNvSpPr/>
      </dsp:nvSpPr>
      <dsp:spPr>
        <a:xfrm>
          <a:off x="472705" y="2533487"/>
          <a:ext cx="8508707" cy="773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b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200" b="0" i="0" kern="1200" baseline="0" dirty="0"/>
            <a:t>2. </a:t>
          </a:r>
          <a:r>
            <a:rPr lang="zh-CN" altLang="en-US" sz="3200" b="0" i="0" kern="1200" baseline="0" dirty="0"/>
            <a:t>屏幕和开发板的</a:t>
          </a:r>
          <a:r>
            <a:rPr lang="en-US" altLang="zh-CN" sz="3200" b="0" i="0" kern="1200" baseline="0" dirty="0"/>
            <a:t>FSMC</a:t>
          </a:r>
          <a:r>
            <a:rPr lang="zh-CN" altLang="en-US" sz="3200" b="0" i="0" kern="1200" baseline="0" dirty="0"/>
            <a:t>连接</a:t>
          </a:r>
          <a:endParaRPr lang="zh-CN" sz="3200" kern="1200" dirty="0"/>
        </a:p>
      </dsp:txBody>
      <dsp:txXfrm>
        <a:off x="472705" y="2533487"/>
        <a:ext cx="8508707" cy="773518"/>
      </dsp:txXfrm>
    </dsp:sp>
    <dsp:sp modelId="{EF36861A-3A1C-4428-A4B8-9A815B01A6F1}">
      <dsp:nvSpPr>
        <dsp:cNvPr id="0" name=""/>
        <dsp:cNvSpPr/>
      </dsp:nvSpPr>
      <dsp:spPr>
        <a:xfrm>
          <a:off x="472705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8AD55-6F0E-485C-828B-D9F30DC1009A}">
      <dsp:nvSpPr>
        <dsp:cNvPr id="0" name=""/>
        <dsp:cNvSpPr/>
      </dsp:nvSpPr>
      <dsp:spPr>
        <a:xfrm>
          <a:off x="1673379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4CDC7-51CB-4ED6-A750-F71B734FD8A2}">
      <dsp:nvSpPr>
        <dsp:cNvPr id="0" name=""/>
        <dsp:cNvSpPr/>
      </dsp:nvSpPr>
      <dsp:spPr>
        <a:xfrm>
          <a:off x="2874052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D2BE4-B05F-4F08-8C1C-214B361034C5}">
      <dsp:nvSpPr>
        <dsp:cNvPr id="0" name=""/>
        <dsp:cNvSpPr/>
      </dsp:nvSpPr>
      <dsp:spPr>
        <a:xfrm>
          <a:off x="4074725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53AE6-C717-459D-BEC5-762DDB69AA39}">
      <dsp:nvSpPr>
        <dsp:cNvPr id="0" name=""/>
        <dsp:cNvSpPr/>
      </dsp:nvSpPr>
      <dsp:spPr>
        <a:xfrm>
          <a:off x="5275398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4D313-A28D-420B-9F14-A24E84C381C1}">
      <dsp:nvSpPr>
        <dsp:cNvPr id="0" name=""/>
        <dsp:cNvSpPr/>
      </dsp:nvSpPr>
      <dsp:spPr>
        <a:xfrm>
          <a:off x="6476071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B039D-0992-43C7-8135-D1BF3E76AB73}">
      <dsp:nvSpPr>
        <dsp:cNvPr id="0" name=""/>
        <dsp:cNvSpPr/>
      </dsp:nvSpPr>
      <dsp:spPr>
        <a:xfrm>
          <a:off x="7676744" y="3307006"/>
          <a:ext cx="1134494" cy="189082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57989" y="4739461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0" y="2818708"/>
            <a:ext cx="492572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FSMC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【06-02】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CCDEAE-FD00-1792-B9B1-15EEF3CA5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40" t="6138" r="7348" b="6775"/>
          <a:stretch>
            <a:fillRect/>
          </a:stretch>
        </p:blipFill>
        <p:spPr>
          <a:xfrm rot="1592214">
            <a:off x="7062989" y="2357260"/>
            <a:ext cx="2773212" cy="2149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目录</a:t>
            </a:r>
            <a:endParaRPr lang="zh-CN" altLang="en-US" sz="3600" dirty="0"/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2750760"/>
              </p:ext>
            </p:extLst>
          </p:nvPr>
        </p:nvGraphicFramePr>
        <p:xfrm>
          <a:off x="1022293" y="1163211"/>
          <a:ext cx="9454119" cy="4967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FSMC</a:t>
            </a:r>
            <a:r>
              <a:rPr lang="zh-CN" altLang="en-US" dirty="0"/>
              <a:t>简介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C80E75-ED8F-795F-FD74-C3650C1A56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8343" y="1053857"/>
            <a:ext cx="3466012" cy="4815719"/>
          </a:xfrm>
        </p:spPr>
        <p:txBody>
          <a:bodyPr>
            <a:normAutofit fontScale="92500" lnSpcReduction="20000"/>
          </a:bodyPr>
          <a:lstStyle/>
          <a:p>
            <a:r>
              <a:rPr lang="zh-CN" altLang="zh-CN" sz="2400" dirty="0"/>
              <a:t>灵活静态存储控制器（</a:t>
            </a:r>
            <a:r>
              <a:rPr lang="en-US" altLang="zh-CN" sz="2400" dirty="0"/>
              <a:t>Flexible static memory controller</a:t>
            </a:r>
            <a:r>
              <a:rPr lang="zh-CN" altLang="zh-CN" sz="2400" dirty="0"/>
              <a:t>，</a:t>
            </a:r>
            <a:r>
              <a:rPr lang="en-US" altLang="zh-CN" sz="2400" dirty="0"/>
              <a:t>FSMC</a:t>
            </a:r>
            <a:r>
              <a:rPr lang="zh-CN" altLang="zh-CN" sz="2400" dirty="0"/>
              <a:t>）</a:t>
            </a:r>
            <a:r>
              <a:rPr lang="zh-CN" altLang="en-US" sz="2400" dirty="0"/>
              <a:t>使</a:t>
            </a:r>
            <a:r>
              <a:rPr lang="en-US" altLang="zh-CN" sz="2400" dirty="0"/>
              <a:t>STM32</a:t>
            </a:r>
            <a:r>
              <a:rPr lang="zh-CN" altLang="zh-CN" sz="2400" dirty="0"/>
              <a:t>可以通过</a:t>
            </a:r>
            <a:r>
              <a:rPr lang="en-US" altLang="zh-CN" sz="2400" dirty="0"/>
              <a:t>FSMC</a:t>
            </a:r>
            <a:r>
              <a:rPr lang="zh-CN" altLang="zh-CN" sz="2400" dirty="0"/>
              <a:t>与</a:t>
            </a:r>
            <a:r>
              <a:rPr lang="en-US" altLang="zh-CN" sz="2400" dirty="0"/>
              <a:t>SRAM</a:t>
            </a:r>
            <a:r>
              <a:rPr lang="zh-CN" altLang="zh-CN" sz="2400" dirty="0"/>
              <a:t>、</a:t>
            </a:r>
            <a:r>
              <a:rPr lang="en-US" altLang="zh-CN" sz="2400" dirty="0"/>
              <a:t>ROM</a:t>
            </a:r>
            <a:r>
              <a:rPr lang="zh-CN" altLang="zh-CN" sz="2400" dirty="0"/>
              <a:t>、</a:t>
            </a:r>
            <a:r>
              <a:rPr lang="en-US" altLang="zh-CN" sz="2400" dirty="0"/>
              <a:t>PSRAM</a:t>
            </a:r>
            <a:r>
              <a:rPr lang="zh-CN" altLang="zh-CN" sz="2400" dirty="0"/>
              <a:t>、</a:t>
            </a:r>
            <a:r>
              <a:rPr lang="en-US" altLang="zh-CN" sz="2400" dirty="0"/>
              <a:t>Nor Flash</a:t>
            </a:r>
            <a:r>
              <a:rPr lang="zh-CN" altLang="zh-CN" sz="2400" dirty="0"/>
              <a:t>和</a:t>
            </a:r>
            <a:r>
              <a:rPr lang="en-US" altLang="zh-CN" sz="2400" dirty="0" err="1"/>
              <a:t>NandFlash</a:t>
            </a:r>
            <a:r>
              <a:rPr lang="zh-CN" altLang="zh-CN" sz="2400" dirty="0"/>
              <a:t>存储器的引脚相连，从而进行数据的交换。</a:t>
            </a:r>
            <a:endParaRPr lang="en-US" altLang="zh-CN" sz="2400" dirty="0"/>
          </a:p>
          <a:p>
            <a:r>
              <a:rPr lang="en-US" altLang="zh-CN" sz="2400" dirty="0"/>
              <a:t>FSMC</a:t>
            </a:r>
            <a:r>
              <a:rPr lang="zh-CN" altLang="zh-CN" sz="2400" dirty="0"/>
              <a:t>接口既可用于驱动外部存储器，也可用于驱动</a:t>
            </a:r>
            <a:r>
              <a:rPr lang="en-US" altLang="zh-CN" sz="2400" dirty="0"/>
              <a:t>TFT LCD</a:t>
            </a:r>
            <a:r>
              <a:rPr lang="zh-CN" altLang="zh-CN" sz="2400" dirty="0"/>
              <a:t>屏幕。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0DE8946-2033-20D1-3D4D-F3852368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490" y="973769"/>
            <a:ext cx="6364989" cy="57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99B9F-58FB-D55A-113D-AB7F1ED01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FSMC</a:t>
            </a:r>
            <a:r>
              <a:rPr lang="zh-CN" altLang="en-US" dirty="0"/>
              <a:t>简介</a:t>
            </a:r>
            <a:r>
              <a:rPr lang="en-US" altLang="zh-CN" dirty="0"/>
              <a:t>——</a:t>
            </a:r>
            <a:r>
              <a:rPr lang="zh-CN" altLang="en-US" dirty="0"/>
              <a:t>四个存储块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CDE0AE-7124-2397-E742-DAAAEBED13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528876" cy="478851"/>
          </a:xfrm>
        </p:spPr>
        <p:txBody>
          <a:bodyPr>
            <a:normAutofit/>
          </a:bodyPr>
          <a:lstStyle/>
          <a:p>
            <a:r>
              <a:rPr lang="zh-CN" altLang="zh-CN" sz="2000" dirty="0"/>
              <a:t>从</a:t>
            </a:r>
            <a:r>
              <a:rPr lang="en-US" altLang="zh-CN" sz="2000" dirty="0"/>
              <a:t>FSMC</a:t>
            </a:r>
            <a:r>
              <a:rPr lang="zh-CN" altLang="zh-CN" sz="2000" dirty="0"/>
              <a:t>的角度看，可以把外部存储器划分为固定大小为</a:t>
            </a:r>
            <a:r>
              <a:rPr lang="en-US" altLang="zh-CN" sz="2000" dirty="0"/>
              <a:t>256M</a:t>
            </a:r>
            <a:r>
              <a:rPr lang="zh-CN" altLang="zh-CN" sz="2000" dirty="0"/>
              <a:t>字节的四个存储块</a:t>
            </a:r>
            <a:r>
              <a:rPr lang="zh-CN" altLang="en-US" sz="2000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5232D7-6984-B142-C8BF-75776F16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72" y="1847214"/>
            <a:ext cx="4495211" cy="48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6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B1F26-73C6-7916-D4C9-BE6512BE8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FSMC</a:t>
            </a:r>
            <a:r>
              <a:rPr lang="zh-CN" altLang="en-US" dirty="0"/>
              <a:t>简介</a:t>
            </a:r>
            <a:r>
              <a:rPr lang="en-US" altLang="zh-CN" dirty="0"/>
              <a:t>——</a:t>
            </a:r>
            <a:r>
              <a:rPr lang="zh-CN" altLang="en-US" dirty="0"/>
              <a:t>接口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74199FC-A490-73FD-72F7-58959DC41C9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896876743"/>
              </p:ext>
            </p:extLst>
          </p:nvPr>
        </p:nvGraphicFramePr>
        <p:xfrm>
          <a:off x="461554" y="905691"/>
          <a:ext cx="11451773" cy="56938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6252">
                  <a:extLst>
                    <a:ext uri="{9D8B030D-6E8A-4147-A177-3AD203B41FA5}">
                      <a16:colId xmlns:a16="http://schemas.microsoft.com/office/drawing/2014/main" val="2095199342"/>
                    </a:ext>
                  </a:extLst>
                </a:gridCol>
                <a:gridCol w="1062445">
                  <a:extLst>
                    <a:ext uri="{9D8B030D-6E8A-4147-A177-3AD203B41FA5}">
                      <a16:colId xmlns:a16="http://schemas.microsoft.com/office/drawing/2014/main" val="2162584499"/>
                    </a:ext>
                  </a:extLst>
                </a:gridCol>
                <a:gridCol w="8813076">
                  <a:extLst>
                    <a:ext uri="{9D8B030D-6E8A-4147-A177-3AD203B41FA5}">
                      <a16:colId xmlns:a16="http://schemas.microsoft.com/office/drawing/2014/main" val="909104813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FSMC</a:t>
                      </a:r>
                      <a:r>
                        <a:rPr lang="zh-CN" sz="1400" dirty="0">
                          <a:effectLst/>
                        </a:rPr>
                        <a:t>信号名称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信号方向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功能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86879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CLK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输出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时钟（同步突发模式使用）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9049338"/>
                  </a:ext>
                </a:extLst>
              </a:tr>
              <a:tr h="350355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A[25:0]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输出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地址总线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8719489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D[15:0]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输入</a:t>
                      </a: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zh-CN" sz="1400" dirty="0">
                          <a:effectLst/>
                        </a:rPr>
                        <a:t>输出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双向数据总线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485647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NE[x] 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片选，</a:t>
                      </a:r>
                      <a:r>
                        <a:rPr lang="en-US" sz="1400" dirty="0">
                          <a:effectLst/>
                        </a:rPr>
                        <a:t>x = 1...4 (PSRAM</a:t>
                      </a:r>
                      <a:r>
                        <a:rPr lang="zh-CN" sz="1400" dirty="0">
                          <a:effectLst/>
                        </a:rPr>
                        <a:t>称其为</a:t>
                      </a:r>
                      <a:r>
                        <a:rPr lang="en-US" sz="1400" dirty="0">
                          <a:effectLst/>
                        </a:rPr>
                        <a:t>NCE(Cellular RAM</a:t>
                      </a:r>
                      <a:r>
                        <a:rPr lang="zh-CN" sz="1400" dirty="0">
                          <a:effectLst/>
                        </a:rPr>
                        <a:t>既</a:t>
                      </a:r>
                      <a:r>
                        <a:rPr lang="en-US" sz="1400" dirty="0">
                          <a:effectLst/>
                        </a:rPr>
                        <a:t>CRAM)) </a:t>
                      </a:r>
                      <a:r>
                        <a:rPr lang="zh-CN" altLang="en-US" sz="1400" dirty="0">
                          <a:effectLst/>
                        </a:rPr>
                        <a:t>，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对应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FSMC Bank1 - Bank4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片选；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PSRAM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</a:t>
                      </a:r>
                      <a:r>
                        <a:rPr lang="en-US" altLang="zh-C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NCE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为芯片使能，多设备并行时独立选通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7709056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NOE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输出使能</a:t>
                      </a:r>
                      <a:r>
                        <a:rPr lang="zh-CN" altLang="en-US" sz="1400" dirty="0">
                          <a:effectLst/>
                        </a:rPr>
                        <a:t>，</a:t>
                      </a:r>
                      <a:r>
                        <a:rPr lang="zh-CN" altLang="en-US" sz="1400" dirty="0"/>
                        <a:t>读操作时使能</a:t>
                      </a:r>
                      <a:r>
                        <a:rPr lang="en-US" altLang="zh-CN" sz="1400" dirty="0"/>
                        <a:t>D[15:0]</a:t>
                      </a:r>
                      <a:r>
                        <a:rPr lang="zh-CN" altLang="en-US" sz="1400" dirty="0"/>
                        <a:t>输出存储数据；写操作时释放总线，控制外部设备写入</a:t>
                      </a:r>
                      <a:r>
                        <a:rPr lang="en-US" altLang="zh-CN" sz="1400" dirty="0"/>
                        <a:t>FSMC</a:t>
                      </a:r>
                      <a:r>
                        <a:rPr lang="zh-CN" altLang="en-US" sz="1400" dirty="0"/>
                        <a:t>总线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790133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NWE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写使能</a:t>
                      </a:r>
                      <a:r>
                        <a:rPr lang="zh-CN" altLang="en-US" sz="1400" dirty="0">
                          <a:effectLst/>
                        </a:rPr>
                        <a:t>，</a:t>
                      </a:r>
                      <a:r>
                        <a:rPr lang="zh-CN" altLang="en-US" sz="1400" dirty="0"/>
                        <a:t>写操作时指示存储设备接收</a:t>
                      </a:r>
                      <a:r>
                        <a:rPr lang="en-US" altLang="zh-CN" sz="1400" dirty="0"/>
                        <a:t>D[15:0]</a:t>
                      </a:r>
                      <a:r>
                        <a:rPr lang="zh-CN" altLang="en-US" sz="1400" dirty="0"/>
                        <a:t>数据；读操作时保持高电平，控制</a:t>
                      </a:r>
                      <a:r>
                        <a:rPr lang="en-US" altLang="zh-CN" sz="1400" dirty="0"/>
                        <a:t>MCU</a:t>
                      </a:r>
                      <a:r>
                        <a:rPr lang="zh-CN" altLang="en-US" sz="1400" dirty="0"/>
                        <a:t>通过</a:t>
                      </a:r>
                      <a:r>
                        <a:rPr lang="en-US" altLang="zh-CN" sz="1400" dirty="0"/>
                        <a:t>FSMC</a:t>
                      </a:r>
                      <a:r>
                        <a:rPr lang="zh-CN" altLang="en-US" sz="1400" dirty="0"/>
                        <a:t>写出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5353905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NL(=NADV) 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地址有效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zh-CN" sz="1400" dirty="0">
                          <a:effectLst/>
                        </a:rPr>
                        <a:t>存储器信号名称为：</a:t>
                      </a:r>
                      <a:r>
                        <a:rPr lang="en-US" sz="1400" dirty="0">
                          <a:effectLst/>
                        </a:rPr>
                        <a:t>NADV)</a:t>
                      </a:r>
                      <a:r>
                        <a:rPr lang="zh-CN" altLang="en-US" sz="1400" dirty="0">
                          <a:effectLst/>
                        </a:rPr>
                        <a:t>，地址有效信号，低电平表示 </a:t>
                      </a:r>
                      <a:r>
                        <a:rPr lang="en-US" altLang="zh-CN" sz="1400" dirty="0">
                          <a:effectLst/>
                        </a:rPr>
                        <a:t>A[25:0]</a:t>
                      </a:r>
                      <a:r>
                        <a:rPr lang="zh-CN" altLang="en-US" sz="1400" dirty="0">
                          <a:effectLst/>
                        </a:rPr>
                        <a:t>地址已稳定；存储设备检测到此信号后，确认地址有效并启动后续读写时序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1109967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NWAIT 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输入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-635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</a:rPr>
                        <a:t>PSRAM</a:t>
                      </a:r>
                      <a:r>
                        <a:rPr lang="zh-CN" sz="1400" dirty="0">
                          <a:effectLst/>
                        </a:rPr>
                        <a:t>要求</a:t>
                      </a:r>
                      <a:r>
                        <a:rPr lang="en-US" sz="1400" dirty="0">
                          <a:effectLst/>
                        </a:rPr>
                        <a:t>FSMC</a:t>
                      </a:r>
                      <a:r>
                        <a:rPr lang="zh-CN" sz="1400" dirty="0">
                          <a:effectLst/>
                        </a:rPr>
                        <a:t>等待的信号</a:t>
                      </a:r>
                      <a:r>
                        <a:rPr lang="zh-CN" altLang="en-US" sz="1400" dirty="0">
                          <a:effectLst/>
                        </a:rPr>
                        <a:t>，</a:t>
                      </a:r>
                      <a:r>
                        <a:rPr lang="zh-CN" altLang="en-US" sz="1400" dirty="0"/>
                        <a:t>异步模式下的</a:t>
                      </a:r>
                      <a:r>
                        <a:rPr lang="zh-CN" altLang="en-US" sz="1400" b="1" dirty="0"/>
                        <a:t>流控</a:t>
                      </a:r>
                      <a:r>
                        <a:rPr lang="en-US" altLang="zh-CN" sz="1400" b="1" dirty="0"/>
                        <a:t>/</a:t>
                      </a:r>
                      <a:r>
                        <a:rPr lang="zh-CN" altLang="en-US" sz="1400" b="1" dirty="0"/>
                        <a:t>等待扩展</a:t>
                      </a:r>
                      <a:r>
                        <a:rPr lang="zh-CN" altLang="en-US" sz="1400" dirty="0"/>
                        <a:t>​：</a:t>
                      </a:r>
                      <a:r>
                        <a:rPr lang="en-US" altLang="zh-CN" sz="1400" dirty="0"/>
                        <a:t>PSRAM </a:t>
                      </a:r>
                      <a:r>
                        <a:rPr lang="zh-CN" altLang="en-US" sz="1400" dirty="0"/>
                        <a:t>内部操作（如预充电、数据准备）未完成时拉高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NWAIT</a:t>
                      </a:r>
                      <a:r>
                        <a:rPr lang="zh-CN" altLang="en-US" sz="1400" dirty="0"/>
                        <a:t>，</a:t>
                      </a:r>
                      <a:r>
                        <a:rPr lang="en-US" altLang="zh-CN" sz="1400" dirty="0"/>
                        <a:t>FSMC </a:t>
                      </a:r>
                      <a:r>
                        <a:rPr lang="zh-CN" altLang="en-US" sz="1400" dirty="0"/>
                        <a:t>检测到高电平则暂停时序推进，直到 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NWAIT</a:t>
                      </a:r>
                      <a:r>
                        <a:rPr lang="zh-CN" altLang="en-US" sz="1400" dirty="0"/>
                        <a:t>释放为低再继续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6339885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NBL[1]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高字节使能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zh-CN" sz="1400" dirty="0">
                          <a:effectLst/>
                        </a:rPr>
                        <a:t>存储器信号名称为：</a:t>
                      </a:r>
                      <a:r>
                        <a:rPr lang="en-US" sz="1400">
                          <a:effectLst/>
                        </a:rPr>
                        <a:t>NUB)</a:t>
                      </a:r>
                      <a:r>
                        <a:rPr lang="zh-CN" altLang="en-US" sz="1400">
                          <a:effectLst/>
                        </a:rPr>
                        <a:t>，对应高字节（</a:t>
                      </a:r>
                      <a:r>
                        <a:rPr lang="en-US" altLang="zh-CN" sz="1400">
                          <a:effectLst/>
                        </a:rPr>
                        <a:t>D15~D8</a:t>
                      </a:r>
                      <a:r>
                        <a:rPr lang="zh-CN" altLang="en-US" sz="1400">
                          <a:effectLst/>
                        </a:rPr>
                        <a:t>）​，存储器侧称 </a:t>
                      </a:r>
                      <a:r>
                        <a:rPr lang="en-US" altLang="zh-CN" sz="1400">
                          <a:effectLst/>
                        </a:rPr>
                        <a:t>NUB</a:t>
                      </a:r>
                      <a:r>
                        <a:rPr lang="zh-CN" altLang="en-US" sz="1400">
                          <a:effectLst/>
                        </a:rPr>
                        <a:t>（</a:t>
                      </a:r>
                      <a:r>
                        <a:rPr lang="en-US" altLang="zh-CN" sz="1400">
                          <a:effectLst/>
                        </a:rPr>
                        <a:t>Upper Byte</a:t>
                      </a:r>
                      <a:r>
                        <a:rPr lang="zh-CN" altLang="en-US" sz="1400">
                          <a:effectLst/>
                        </a:rPr>
                        <a:t>）；写操作时，通过控制 </a:t>
                      </a:r>
                      <a:r>
                        <a:rPr lang="en-US" altLang="zh-CN" sz="1400">
                          <a:effectLst/>
                        </a:rPr>
                        <a:t>NBL1</a:t>
                      </a:r>
                      <a:r>
                        <a:rPr lang="zh-CN" altLang="en-US" sz="1400">
                          <a:effectLst/>
                        </a:rPr>
                        <a:t>电平选择“仅写高字节”；读操作时，指示高字节数据有效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1693066"/>
                  </a:ext>
                </a:extLst>
              </a:tr>
              <a:tr h="550181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NBL[0]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>
                          <a:effectLst/>
                        </a:rPr>
                        <a:t>输出</a:t>
                      </a:r>
                      <a:endParaRPr lang="zh-C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400" dirty="0">
                          <a:effectLst/>
                        </a:rPr>
                        <a:t>低字节使能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zh-CN" sz="1400" dirty="0">
                          <a:effectLst/>
                        </a:rPr>
                        <a:t>存储器信号名称为：</a:t>
                      </a:r>
                      <a:r>
                        <a:rPr lang="en-US" sz="1400" dirty="0">
                          <a:effectLst/>
                        </a:rPr>
                        <a:t>NLB)</a:t>
                      </a:r>
                      <a:r>
                        <a:rPr lang="zh-CN" altLang="en-US" sz="1400" dirty="0">
                          <a:effectLst/>
                        </a:rPr>
                        <a:t>；对应低字节（</a:t>
                      </a:r>
                      <a:r>
                        <a:rPr lang="en-US" altLang="zh-CN" sz="1400" dirty="0">
                          <a:effectLst/>
                        </a:rPr>
                        <a:t>D7~D0</a:t>
                      </a:r>
                      <a:r>
                        <a:rPr lang="zh-CN" altLang="en-US" sz="1400" dirty="0">
                          <a:effectLst/>
                        </a:rPr>
                        <a:t>）​，存储器侧称 </a:t>
                      </a:r>
                      <a:r>
                        <a:rPr lang="en-US" altLang="zh-CN" sz="1400" dirty="0">
                          <a:effectLst/>
                        </a:rPr>
                        <a:t>NLB</a:t>
                      </a:r>
                      <a:r>
                        <a:rPr lang="zh-CN" altLang="en-US" sz="1400" dirty="0">
                          <a:effectLst/>
                        </a:rPr>
                        <a:t>（</a:t>
                      </a:r>
                      <a:r>
                        <a:rPr lang="en-US" altLang="zh-CN" sz="1400" dirty="0">
                          <a:effectLst/>
                        </a:rPr>
                        <a:t>Lower Byte</a:t>
                      </a:r>
                      <a:r>
                        <a:rPr lang="zh-CN" altLang="en-US" sz="1400" dirty="0">
                          <a:effectLst/>
                        </a:rPr>
                        <a:t>）；写操作时，通过控制 </a:t>
                      </a:r>
                      <a:r>
                        <a:rPr lang="en-US" altLang="zh-CN" sz="1400" dirty="0">
                          <a:effectLst/>
                        </a:rPr>
                        <a:t>NBL0</a:t>
                      </a:r>
                      <a:r>
                        <a:rPr lang="zh-CN" altLang="en-US" sz="1400" dirty="0">
                          <a:effectLst/>
                        </a:rPr>
                        <a:t>电平选择“仅写低字节”；读操作时，指示低字节数据有效</a:t>
                      </a:r>
                      <a:endParaRPr lang="zh-CN" sz="1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722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68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1549D-0999-088D-8E6D-E01D566C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2. </a:t>
            </a:r>
            <a:r>
              <a:rPr lang="zh-CN" altLang="en-US" dirty="0"/>
              <a:t>屏幕和开发板的</a:t>
            </a:r>
            <a:r>
              <a:rPr lang="en-US" altLang="zh-CN" dirty="0"/>
              <a:t>FSMC</a:t>
            </a:r>
            <a:r>
              <a:rPr lang="zh-CN" altLang="en-US" dirty="0"/>
              <a:t>连接</a:t>
            </a:r>
            <a:r>
              <a:rPr lang="en-US" altLang="zh-CN" dirty="0"/>
              <a:t>——8080</a:t>
            </a:r>
            <a:r>
              <a:rPr lang="zh-CN" altLang="en-US" dirty="0"/>
              <a:t>接口</a:t>
            </a:r>
            <a:endParaRPr lang="zh-CN" altLang="zh-CN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90ACE62-A55E-C351-8B7D-29D88C9F962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360195704"/>
              </p:ext>
            </p:extLst>
          </p:nvPr>
        </p:nvGraphicFramePr>
        <p:xfrm>
          <a:off x="548641" y="1558833"/>
          <a:ext cx="11260182" cy="4307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2702853133"/>
                    </a:ext>
                  </a:extLst>
                </a:gridCol>
                <a:gridCol w="1001486">
                  <a:extLst>
                    <a:ext uri="{9D8B030D-6E8A-4147-A177-3AD203B41FA5}">
                      <a16:colId xmlns:a16="http://schemas.microsoft.com/office/drawing/2014/main" val="2460176658"/>
                    </a:ext>
                  </a:extLst>
                </a:gridCol>
                <a:gridCol w="8734697">
                  <a:extLst>
                    <a:ext uri="{9D8B030D-6E8A-4147-A177-3AD203B41FA5}">
                      <a16:colId xmlns:a16="http://schemas.microsoft.com/office/drawing/2014/main" val="3239983764"/>
                    </a:ext>
                  </a:extLst>
                </a:gridCol>
              </a:tblGrid>
              <a:tr h="5025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TFTLCD</a:t>
                      </a:r>
                      <a:r>
                        <a:rPr lang="zh-CN" sz="1400" kern="100" dirty="0">
                          <a:effectLst/>
                        </a:rPr>
                        <a:t>信号名称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信号方向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功能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705785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RST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复位信号，低电平有效（低电平触发复位，释放后进入正常工作模式）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2352080378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CS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片选信号，低电平有效（低电平选通当前 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TFTLCD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设备）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3741535894"/>
                  </a:ext>
                </a:extLst>
              </a:tr>
              <a:tr h="669635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RS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LCD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寄存器选择，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RS=0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指向控制寄存器、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RS=1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指向数据寄存器（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0=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写命令，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1=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写数据）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2019011288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RD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读操作，低电平有效（低电平时，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LCD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向主机输出数据）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1943663203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WR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写操作，低电平有效（低电平时，主机向 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LCD 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写入数据）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1311511893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TFT_BLK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背光控制（高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/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低电平控制背光开启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/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关闭，需匹配硬件电路逻辑）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3735200829"/>
                  </a:ext>
                </a:extLst>
              </a:tr>
              <a:tr h="502503"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var(--hy-font-family)"/>
                        </a:rPr>
                        <a:t>DB15~DB0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输入</a:t>
                      </a:r>
                      <a:r>
                        <a:rPr lang="en-US" altLang="zh-CN" sz="1600" b="0">
                          <a:effectLst/>
                          <a:latin typeface="var(--hy-font-family)"/>
                        </a:rPr>
                        <a:t>/</a:t>
                      </a:r>
                      <a:r>
                        <a:rPr lang="zh-CN" altLang="en-US" sz="1600" b="0">
                          <a:effectLst/>
                          <a:latin typeface="var(--hy-font-family)"/>
                        </a:rPr>
                        <a:t>输出</a:t>
                      </a:r>
                    </a:p>
                  </a:txBody>
                  <a:tcPr marR="190500" marT="95250" marB="95250" anchor="ctr"/>
                </a:tc>
                <a:tc>
                  <a:txBody>
                    <a:bodyPr/>
                    <a:lstStyle/>
                    <a:p>
                      <a:pPr algn="l" fontAlgn="base" latinLnBrk="0">
                        <a:lnSpc>
                          <a:spcPts val="1680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  <a:latin typeface="var(--hy-font-family)"/>
                        </a:rPr>
                        <a:t>16 </a:t>
                      </a:r>
                      <a:r>
                        <a:rPr lang="zh-CN" altLang="en-US" sz="1600" b="0" dirty="0">
                          <a:effectLst/>
                          <a:latin typeface="var(--hy-font-family)"/>
                        </a:rPr>
                        <a:t>位数据线（传输命令、显示数据等，输入</a:t>
                      </a:r>
                      <a:r>
                        <a:rPr lang="en-US" altLang="zh-CN" sz="1600" b="0" dirty="0">
                          <a:effectLst/>
                          <a:latin typeface="var(--hy-font-family)"/>
                        </a:rPr>
                        <a:t>/</a:t>
                      </a:r>
                      <a:r>
                        <a:rPr lang="zh-CN" altLang="en-US" sz="1600" b="0" dirty="0">
                          <a:effectLst/>
                          <a:latin typeface="var(--hy-font-family)"/>
                        </a:rPr>
                        <a:t>输出双向）</a:t>
                      </a:r>
                    </a:p>
                  </a:txBody>
                  <a:tcPr marR="190500" marT="95250" marB="95250" anchor="ctr"/>
                </a:tc>
                <a:extLst>
                  <a:ext uri="{0D108BD9-81ED-4DB2-BD59-A6C34878D82A}">
                    <a16:rowId xmlns:a16="http://schemas.microsoft.com/office/drawing/2014/main" val="38225572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9D79E63-D8ED-90AB-1E6D-D11BF7C65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1" y="977411"/>
            <a:ext cx="113472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由英特尔提出，最初用于外扩RAM/ROM，后被适配到LCD控制领域</a:t>
            </a:r>
          </a:p>
        </p:txBody>
      </p:sp>
    </p:spTree>
    <p:extLst>
      <p:ext uri="{BB962C8B-B14F-4D97-AF65-F5344CB8AC3E}">
        <p14:creationId xmlns:p14="http://schemas.microsoft.com/office/powerpoint/2010/main" val="4154019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3118-3D45-C1A9-56BA-B31A05208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018B8-2A78-45DF-2036-102391BE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2. </a:t>
            </a:r>
            <a:r>
              <a:rPr lang="zh-CN" altLang="en-US" dirty="0"/>
              <a:t>屏幕和开发板的</a:t>
            </a:r>
            <a:r>
              <a:rPr lang="en-US" altLang="zh-CN" dirty="0"/>
              <a:t>FSMC</a:t>
            </a:r>
            <a:r>
              <a:rPr lang="zh-CN" altLang="en-US" dirty="0"/>
              <a:t>连接</a:t>
            </a:r>
            <a:r>
              <a:rPr lang="en-US" altLang="zh-CN" dirty="0"/>
              <a:t>——</a:t>
            </a:r>
            <a:r>
              <a:rPr lang="zh-CN" altLang="en-US" dirty="0"/>
              <a:t>对比</a:t>
            </a:r>
            <a:endParaRPr lang="zh-CN" altLang="zh-CN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D01A0B17-EFA2-E788-C007-745284D814B9}"/>
              </a:ext>
            </a:extLst>
          </p:cNvPr>
          <p:cNvGraphicFramePr>
            <a:graphicFrameLocks noGrp="1"/>
          </p:cNvGraphicFramePr>
          <p:nvPr>
            <p:ph sz="quarter" idx="10"/>
          </p:nvPr>
        </p:nvGraphicFramePr>
        <p:xfrm>
          <a:off x="548641" y="1071153"/>
          <a:ext cx="4981301" cy="5412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5067">
                  <a:extLst>
                    <a:ext uri="{9D8B030D-6E8A-4147-A177-3AD203B41FA5}">
                      <a16:colId xmlns:a16="http://schemas.microsoft.com/office/drawing/2014/main" val="2702853133"/>
                    </a:ext>
                  </a:extLst>
                </a:gridCol>
                <a:gridCol w="928007">
                  <a:extLst>
                    <a:ext uri="{9D8B030D-6E8A-4147-A177-3AD203B41FA5}">
                      <a16:colId xmlns:a16="http://schemas.microsoft.com/office/drawing/2014/main" val="2460176658"/>
                    </a:ext>
                  </a:extLst>
                </a:gridCol>
                <a:gridCol w="2688227">
                  <a:extLst>
                    <a:ext uri="{9D8B030D-6E8A-4147-A177-3AD203B41FA5}">
                      <a16:colId xmlns:a16="http://schemas.microsoft.com/office/drawing/2014/main" val="3239983764"/>
                    </a:ext>
                  </a:extLst>
                </a:gridCol>
              </a:tblGrid>
              <a:tr h="5522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TFTLCD</a:t>
                      </a:r>
                      <a:r>
                        <a:rPr lang="zh-CN" sz="1800" kern="100" dirty="0">
                          <a:effectLst/>
                        </a:rPr>
                        <a:t>信号名称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信号方向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功能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705785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RST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输入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复位信号，低电平有效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52080378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CS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输入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片选信号，低电平有效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1535894"/>
                  </a:ext>
                </a:extLst>
              </a:tr>
              <a:tr h="154617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RS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输入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LCD</a:t>
                      </a:r>
                      <a:r>
                        <a:rPr lang="zh-CN" sz="1800" kern="100" dirty="0">
                          <a:effectLst/>
                        </a:rPr>
                        <a:t>寄存器选择（</a:t>
                      </a:r>
                      <a:r>
                        <a:rPr lang="en-US" sz="1800" kern="100" dirty="0">
                          <a:effectLst/>
                        </a:rPr>
                        <a:t>register select</a:t>
                      </a:r>
                      <a:r>
                        <a:rPr lang="zh-CN" sz="1800" kern="100" dirty="0">
                          <a:effectLst/>
                        </a:rPr>
                        <a:t>），</a:t>
                      </a:r>
                      <a:r>
                        <a:rPr lang="en-US" sz="1800" kern="100" dirty="0">
                          <a:effectLst/>
                        </a:rPr>
                        <a:t>RS=0</a:t>
                      </a:r>
                      <a:r>
                        <a:rPr lang="zh-CN" sz="1800" kern="100" dirty="0">
                          <a:effectLst/>
                        </a:rPr>
                        <a:t>，指向控制寄存器；</a:t>
                      </a:r>
                      <a:r>
                        <a:rPr lang="en-US" sz="1800" kern="100" dirty="0">
                          <a:effectLst/>
                        </a:rPr>
                        <a:t>RS=1</a:t>
                      </a:r>
                      <a:r>
                        <a:rPr lang="zh-CN" sz="1800" kern="100" dirty="0">
                          <a:effectLst/>
                        </a:rPr>
                        <a:t>，指向数据寄存器。即</a:t>
                      </a:r>
                      <a:r>
                        <a:rPr lang="en-US" sz="1800" kern="100" dirty="0">
                          <a:effectLst/>
                        </a:rPr>
                        <a:t>0</a:t>
                      </a:r>
                      <a:r>
                        <a:rPr lang="zh-CN" sz="1800" kern="100" dirty="0">
                          <a:effectLst/>
                        </a:rPr>
                        <a:t>表示读写命令，</a:t>
                      </a:r>
                      <a:r>
                        <a:rPr lang="en-US" sz="1800" kern="100" dirty="0">
                          <a:effectLst/>
                        </a:rPr>
                        <a:t>1</a:t>
                      </a:r>
                      <a:r>
                        <a:rPr lang="zh-CN" sz="1800" kern="100" dirty="0">
                          <a:effectLst/>
                        </a:rPr>
                        <a:t>表示读写数据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9011288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RD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输入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读操作，低电平有效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3663203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WR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输入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写操作，低电平有效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1511893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TFT_BLK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输入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背光控制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5200829"/>
                  </a:ext>
                </a:extLst>
              </a:tr>
              <a:tr h="552268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DB15~DB0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输入</a:t>
                      </a:r>
                      <a:r>
                        <a:rPr lang="en-US" sz="1800" kern="100" dirty="0">
                          <a:effectLst/>
                        </a:rPr>
                        <a:t>/</a:t>
                      </a:r>
                      <a:r>
                        <a:rPr lang="zh-CN" sz="1800" kern="100" dirty="0">
                          <a:effectLst/>
                        </a:rPr>
                        <a:t>输出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16</a:t>
                      </a:r>
                      <a:r>
                        <a:rPr lang="zh-CN" sz="1800" kern="100" dirty="0">
                          <a:effectLst/>
                        </a:rPr>
                        <a:t>位数据线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255729"/>
                  </a:ext>
                </a:extLst>
              </a:tr>
            </a:tbl>
          </a:graphicData>
        </a:graphic>
      </p:graphicFrame>
      <p:graphicFrame>
        <p:nvGraphicFramePr>
          <p:cNvPr id="5" name="内容占位符 5">
            <a:extLst>
              <a:ext uri="{FF2B5EF4-FFF2-40B4-BE49-F238E27FC236}">
                <a16:creationId xmlns:a16="http://schemas.microsoft.com/office/drawing/2014/main" id="{A2FF6FFE-E33F-9DD3-B226-C7536C2728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8750108"/>
              </p:ext>
            </p:extLst>
          </p:nvPr>
        </p:nvGraphicFramePr>
        <p:xfrm>
          <a:off x="5921829" y="1071154"/>
          <a:ext cx="6191794" cy="5511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497">
                  <a:extLst>
                    <a:ext uri="{9D8B030D-6E8A-4147-A177-3AD203B41FA5}">
                      <a16:colId xmlns:a16="http://schemas.microsoft.com/office/drawing/2014/main" val="209519934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162584499"/>
                    </a:ext>
                  </a:extLst>
                </a:gridCol>
                <a:gridCol w="3675017">
                  <a:extLst>
                    <a:ext uri="{9D8B030D-6E8A-4147-A177-3AD203B41FA5}">
                      <a16:colId xmlns:a16="http://schemas.microsoft.com/office/drawing/2014/main" val="909104813"/>
                    </a:ext>
                  </a:extLst>
                </a:gridCol>
              </a:tblGrid>
              <a:tr h="518182"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FSMC</a:t>
                      </a:r>
                      <a:r>
                        <a:rPr lang="zh-CN" sz="1600" dirty="0">
                          <a:effectLst/>
                        </a:rPr>
                        <a:t>信号名称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信号方向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ctr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功能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86879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CLK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输出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时钟（同步突发模式使用）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9049338"/>
                  </a:ext>
                </a:extLst>
              </a:tr>
              <a:tr h="329979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A[25:0]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输出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地址总线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8719489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D[15:0]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输入</a:t>
                      </a:r>
                      <a:r>
                        <a:rPr lang="en-US" sz="1600" dirty="0">
                          <a:effectLst/>
                        </a:rPr>
                        <a:t>/</a:t>
                      </a:r>
                      <a:r>
                        <a:rPr lang="zh-CN" sz="1600" dirty="0">
                          <a:effectLst/>
                        </a:rPr>
                        <a:t>输出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双向数据总线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1485647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NE[x] 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片选，</a:t>
                      </a:r>
                      <a:r>
                        <a:rPr lang="en-US" sz="1600" dirty="0">
                          <a:effectLst/>
                        </a:rPr>
                        <a:t>x = 1...4 (PSRAM</a:t>
                      </a:r>
                      <a:r>
                        <a:rPr lang="zh-CN" sz="1600" dirty="0">
                          <a:effectLst/>
                        </a:rPr>
                        <a:t>称其为</a:t>
                      </a:r>
                      <a:r>
                        <a:rPr lang="en-US" sz="1600" dirty="0">
                          <a:effectLst/>
                        </a:rPr>
                        <a:t>NCE(Cellular RAM</a:t>
                      </a:r>
                      <a:r>
                        <a:rPr lang="zh-CN" sz="1600" dirty="0">
                          <a:effectLst/>
                        </a:rPr>
                        <a:t>既</a:t>
                      </a:r>
                      <a:r>
                        <a:rPr lang="en-US" sz="1600" dirty="0">
                          <a:effectLst/>
                        </a:rPr>
                        <a:t>CRAM)) 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7709056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NOE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输出使能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790133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NWE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写使能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5353905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NL(=NADV) 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地址有效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存储器信号名称为：</a:t>
                      </a:r>
                      <a:r>
                        <a:rPr lang="en-US" sz="1600" dirty="0">
                          <a:effectLst/>
                        </a:rPr>
                        <a:t>NADV)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1109967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NWAIT 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输入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PSRAM</a:t>
                      </a:r>
                      <a:r>
                        <a:rPr lang="zh-CN" sz="1600" dirty="0">
                          <a:effectLst/>
                        </a:rPr>
                        <a:t>要求</a:t>
                      </a:r>
                      <a:r>
                        <a:rPr lang="en-US" sz="1600" dirty="0">
                          <a:effectLst/>
                        </a:rPr>
                        <a:t>FSMC</a:t>
                      </a:r>
                      <a:r>
                        <a:rPr lang="zh-CN" sz="1600" dirty="0">
                          <a:effectLst/>
                        </a:rPr>
                        <a:t>等待的信号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6339885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NBL[1]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高字节使能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存储器信号名称为：</a:t>
                      </a:r>
                      <a:r>
                        <a:rPr lang="en-US" sz="1600" dirty="0">
                          <a:effectLst/>
                        </a:rPr>
                        <a:t>NUB)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1693066"/>
                  </a:ext>
                </a:extLst>
              </a:tr>
              <a:tr h="518182"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en-US" sz="1600">
                          <a:effectLst/>
                        </a:rPr>
                        <a:t>NBL[0]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>
                          <a:effectLst/>
                        </a:rPr>
                        <a:t>输出</a:t>
                      </a:r>
                      <a:endParaRPr lang="zh-CN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-635" algn="just">
                        <a:lnSpc>
                          <a:spcPct val="100000"/>
                        </a:lnSpc>
                        <a:buNone/>
                      </a:pPr>
                      <a:r>
                        <a:rPr lang="zh-CN" sz="1600" dirty="0">
                          <a:effectLst/>
                        </a:rPr>
                        <a:t>低字节使能</a:t>
                      </a:r>
                      <a:r>
                        <a:rPr lang="en-US" sz="1600" dirty="0">
                          <a:effectLst/>
                        </a:rPr>
                        <a:t>(</a:t>
                      </a:r>
                      <a:r>
                        <a:rPr lang="zh-CN" sz="1600" dirty="0">
                          <a:effectLst/>
                        </a:rPr>
                        <a:t>存储器信号名称为：</a:t>
                      </a:r>
                      <a:r>
                        <a:rPr lang="en-US" sz="1600" dirty="0">
                          <a:effectLst/>
                        </a:rPr>
                        <a:t>NLB)</a:t>
                      </a:r>
                      <a:endParaRPr lang="zh-CN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722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39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43342-B966-7C68-DB9A-99048E7C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66A9D-E4A8-EBBC-BDDC-AFEDD477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/>
              <a:t>2. </a:t>
            </a:r>
            <a:r>
              <a:rPr lang="zh-CN" altLang="en-US" dirty="0"/>
              <a:t>屏幕和开发板的</a:t>
            </a:r>
            <a:r>
              <a:rPr lang="en-US" altLang="zh-CN" dirty="0"/>
              <a:t>FSMC</a:t>
            </a:r>
            <a:r>
              <a:rPr lang="zh-CN" altLang="en-US" dirty="0"/>
              <a:t>连接</a:t>
            </a:r>
            <a:endParaRPr lang="zh-CN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1AEB0FF-8E89-F42B-C934-7D42D8991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160773"/>
              </p:ext>
            </p:extLst>
          </p:nvPr>
        </p:nvGraphicFramePr>
        <p:xfrm>
          <a:off x="1999013" y="2438401"/>
          <a:ext cx="8193973" cy="3605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762267" imgH="1600243" progId="Visio.Drawing.15">
                  <p:embed/>
                </p:oleObj>
              </mc:Choice>
              <mc:Fallback>
                <p:oleObj name="Visio" r:id="rId2" imgW="3762267" imgH="1600243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013" y="2438401"/>
                        <a:ext cx="8193973" cy="36053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78FBD01-8759-613F-D8BB-F26C95F54D92}"/>
              </a:ext>
            </a:extLst>
          </p:cNvPr>
          <p:cNvSpPr txBox="1"/>
          <p:nvPr/>
        </p:nvSpPr>
        <p:spPr>
          <a:xfrm>
            <a:off x="7193279" y="6392090"/>
            <a:ext cx="4341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还有一个背光控制引脚，用独立</a:t>
            </a:r>
            <a:r>
              <a:rPr lang="en-US" altLang="zh-CN" dirty="0"/>
              <a:t>IO</a:t>
            </a:r>
            <a:r>
              <a:rPr lang="zh-CN" altLang="en-US" dirty="0"/>
              <a:t>口控制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33537F1-66AA-D8C5-9478-45094374D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80" y="1113663"/>
            <a:ext cx="112445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8080 接口是市场主流的低成本 LCD 方案，而 STM32 的 FSMC 是专为并行外设设计的高性能硬件控制器。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两者结合，​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既解决了 GPIO 模拟的速度、资源、稳定性痛点，又利用硬件级时序和地址复用大幅简化开发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8420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5480</TotalTime>
  <Words>1608</Words>
  <Application>Microsoft Office PowerPoint</Application>
  <PresentationFormat>宽屏</PresentationFormat>
  <Paragraphs>165</Paragraphs>
  <Slides>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Source Han Sans</vt:lpstr>
      <vt:lpstr>Source Han Sans CN Regular</vt:lpstr>
      <vt:lpstr>var(--hy-font-family)</vt:lpstr>
      <vt:lpstr>等线</vt:lpstr>
      <vt:lpstr>微软雅黑</vt:lpstr>
      <vt:lpstr>Arial</vt:lpstr>
      <vt:lpstr>Times New Roman</vt:lpstr>
      <vt:lpstr>Office 主题​​</vt:lpstr>
      <vt:lpstr>Microsoft Visio 绘图</vt:lpstr>
      <vt:lpstr>PowerPoint 演示文稿</vt:lpstr>
      <vt:lpstr>目录</vt:lpstr>
      <vt:lpstr>1. FSMC简介</vt:lpstr>
      <vt:lpstr>1. FSMC简介——四个存储块</vt:lpstr>
      <vt:lpstr>1. FSMC简介——接口</vt:lpstr>
      <vt:lpstr>2. 屏幕和开发板的FSMC连接——8080接口</vt:lpstr>
      <vt:lpstr>2. 屏幕和开发板的FSMC连接——对比</vt:lpstr>
      <vt:lpstr>2. 屏幕和开发板的FSMC连接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138</cp:revision>
  <dcterms:created xsi:type="dcterms:W3CDTF">2025-05-21T06:55:53Z</dcterms:created>
  <dcterms:modified xsi:type="dcterms:W3CDTF">2025-10-09T07:05:28Z</dcterms:modified>
</cp:coreProperties>
</file>