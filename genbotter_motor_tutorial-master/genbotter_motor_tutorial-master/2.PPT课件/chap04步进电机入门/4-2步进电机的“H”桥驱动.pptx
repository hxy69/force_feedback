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9" r:id="rId2"/>
    <p:sldId id="802" r:id="rId3"/>
    <p:sldId id="800" r:id="rId4"/>
    <p:sldId id="799" r:id="rId5"/>
    <p:sldId id="804" r:id="rId6"/>
    <p:sldId id="803" r:id="rId7"/>
    <p:sldId id="28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652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10190902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CB7D22E-DEF5-A6CD-10F9-5FD47CCAE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158" y="13646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0" y="2818708"/>
            <a:ext cx="4688571" cy="6969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步进电机驱动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【04-02】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61E390E-8306-DD00-703A-B33F0F040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80"/>
          <a:stretch>
            <a:fillRect/>
          </a:stretch>
        </p:blipFill>
        <p:spPr>
          <a:xfrm>
            <a:off x="6351140" y="1814489"/>
            <a:ext cx="5352300" cy="24907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951365" cy="390527"/>
          </a:xfrm>
        </p:spPr>
        <p:txBody>
          <a:bodyPr/>
          <a:lstStyle/>
          <a:p>
            <a:r>
              <a:rPr lang="zh-CN" altLang="en-US" sz="3600" dirty="0"/>
              <a:t>目录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779777-AD04-F581-8423-96489809BFC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8"/>
            <a:ext cx="10688441" cy="2560200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步进电机驱动的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H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桥原理图</a:t>
            </a:r>
          </a:p>
          <a:p>
            <a:pPr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MKS 42C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步进电机上使用的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H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桥驱动部分</a:t>
            </a:r>
          </a:p>
          <a:p>
            <a:pPr>
              <a:buFont typeface="+mj-lt"/>
              <a:buAutoNum type="arabicPeriod"/>
            </a:pPr>
            <a:r>
              <a:rPr lang="en-US" altLang="zh-CN" dirty="0">
                <a:solidFill>
                  <a:srgbClr val="000000"/>
                </a:solidFill>
                <a:latin typeface="Inter"/>
              </a:rPr>
              <a:t>MKS 42C</a:t>
            </a:r>
            <a:r>
              <a:rPr lang="zh-CN" altLang="en-US" dirty="0">
                <a:solidFill>
                  <a:srgbClr val="000000"/>
                </a:solidFill>
                <a:latin typeface="Inter"/>
              </a:rPr>
              <a:t>步进电机整体架构</a:t>
            </a:r>
            <a:endParaRPr lang="en-US" altLang="zh-CN" dirty="0">
              <a:solidFill>
                <a:srgbClr val="000000"/>
              </a:solidFill>
              <a:latin typeface="Inter"/>
            </a:endParaRPr>
          </a:p>
          <a:p>
            <a:pPr>
              <a:buFont typeface="+mj-lt"/>
              <a:buAutoNum type="arabicPeriod"/>
            </a:pPr>
            <a:r>
              <a:rPr lang="en-US" altLang="zh-CN" b="0" i="0" dirty="0" err="1">
                <a:solidFill>
                  <a:srgbClr val="000000"/>
                </a:solidFill>
                <a:effectLst/>
                <a:latin typeface="Inter"/>
              </a:rPr>
              <a:t>GenBotter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电机开发板上步进电机接口部分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81DF77E-F915-6381-7919-A3B86BB97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1. H </a:t>
            </a:r>
            <a:r>
              <a:rPr lang="zh-CN" altLang="en-US" sz="3600" dirty="0"/>
              <a:t>桥本质是 “电控开关组”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0375C24-5D6B-7EEE-F1EE-9CE7C72D4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54" y="1010193"/>
            <a:ext cx="6553873" cy="572329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6747151-A79F-0C9A-D40C-DC23F8F8EF11}"/>
              </a:ext>
            </a:extLst>
          </p:cNvPr>
          <p:cNvSpPr txBox="1"/>
          <p:nvPr/>
        </p:nvSpPr>
        <p:spPr>
          <a:xfrm>
            <a:off x="7141027" y="1010193"/>
            <a:ext cx="49290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步进电机 </a:t>
            </a: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桥驱动电路原理图，由：</a:t>
            </a:r>
            <a:endParaRPr lang="en-US" altLang="zh-CN" sz="16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输入逻辑控制、</a:t>
            </a:r>
            <a:endParaRPr lang="en-US" altLang="zh-CN" sz="16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高低侧驱动预处理、</a:t>
            </a:r>
            <a:endParaRPr lang="en-US" altLang="zh-CN" sz="16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桥功率输出、</a:t>
            </a:r>
            <a:endParaRPr lang="en-US" altLang="zh-CN" sz="16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保护电路</a:t>
            </a:r>
            <a:endParaRPr lang="en-US" altLang="zh-CN" sz="16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四部分组成。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E280E62-A7DD-15D4-186C-0BD4EF1BB839}"/>
              </a:ext>
            </a:extLst>
          </p:cNvPr>
          <p:cNvSpPr txBox="1"/>
          <p:nvPr/>
        </p:nvSpPr>
        <p:spPr>
          <a:xfrm>
            <a:off x="7141027" y="2726576"/>
            <a:ext cx="49290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左图是针对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两相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步进电机的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B43716C-72DE-C3C7-9755-12291B35C471}"/>
              </a:ext>
            </a:extLst>
          </p:cNvPr>
          <p:cNvSpPr txBox="1"/>
          <p:nvPr/>
        </p:nvSpPr>
        <p:spPr>
          <a:xfrm>
            <a:off x="7141026" y="3491340"/>
            <a:ext cx="492905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/>
              <a:t>TSD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Thermal Shutdown</a:t>
            </a:r>
            <a:r>
              <a:rPr lang="zh-CN" altLang="en-US" sz="1400" b="1" dirty="0"/>
              <a:t>，过热保护）</a:t>
            </a:r>
            <a:r>
              <a:rPr lang="zh-CN" altLang="en-US" sz="1400" dirty="0"/>
              <a:t>：</a:t>
            </a:r>
          </a:p>
          <a:p>
            <a:pPr lvl="1"/>
            <a:r>
              <a:rPr lang="zh-CN" altLang="en-US" sz="1400" dirty="0"/>
              <a:t>当芯片温度超过阈值（如 </a:t>
            </a:r>
            <a:r>
              <a:rPr lang="en-US" altLang="zh-CN" sz="1400" dirty="0"/>
              <a:t>150°C</a:t>
            </a:r>
            <a:r>
              <a:rPr lang="zh-CN" altLang="en-US" sz="1400" dirty="0"/>
              <a:t>）时，自动关断 </a:t>
            </a:r>
            <a:r>
              <a:rPr lang="en-US" altLang="zh-CN" sz="1400" dirty="0"/>
              <a:t>H </a:t>
            </a:r>
            <a:r>
              <a:rPr lang="zh-CN" altLang="en-US" sz="1400" dirty="0"/>
              <a:t>桥功率管，防止过热烧毁，温度降低后自动恢复。</a:t>
            </a:r>
          </a:p>
          <a:p>
            <a:r>
              <a:rPr lang="en-US" altLang="zh-CN" sz="1400" b="1" dirty="0"/>
              <a:t>VREF</a:t>
            </a:r>
            <a:r>
              <a:rPr lang="zh-CN" altLang="en-US" sz="1400" b="1" dirty="0"/>
              <a:t>（参考电压电路）</a:t>
            </a:r>
            <a:r>
              <a:rPr lang="zh-CN" altLang="en-US" sz="1400" dirty="0"/>
              <a:t>：</a:t>
            </a:r>
          </a:p>
          <a:p>
            <a:pPr lvl="1"/>
            <a:r>
              <a:rPr lang="zh-CN" altLang="en-US" sz="1400" dirty="0"/>
              <a:t>提供精准的基准电压，用于电流采样比较（如通过外接采样电阻检测绕组电流，与 </a:t>
            </a:r>
            <a:r>
              <a:rPr lang="en-US" altLang="zh-CN" sz="1400" dirty="0"/>
              <a:t>VREF </a:t>
            </a:r>
            <a:r>
              <a:rPr lang="zh-CN" altLang="en-US" sz="1400" dirty="0"/>
              <a:t>比较实现恒流控制）。</a:t>
            </a:r>
          </a:p>
          <a:p>
            <a:r>
              <a:rPr lang="en-US" altLang="zh-CN" sz="1400" b="1" dirty="0"/>
              <a:t>LVS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Low Voltage Shutdown</a:t>
            </a:r>
            <a:r>
              <a:rPr lang="zh-CN" altLang="en-US" sz="1400" b="1" dirty="0"/>
              <a:t>，欠压锁定）</a:t>
            </a:r>
            <a:r>
              <a:rPr lang="zh-CN" altLang="en-US" sz="1400" dirty="0"/>
              <a:t>：</a:t>
            </a:r>
          </a:p>
          <a:p>
            <a:pPr lvl="1"/>
            <a:r>
              <a:rPr lang="zh-CN" altLang="en-US" sz="1400" dirty="0"/>
              <a:t>当电源 </a:t>
            </a:r>
            <a:r>
              <a:rPr lang="en-US" altLang="zh-CN" sz="1400" dirty="0"/>
              <a:t>VCC </a:t>
            </a:r>
            <a:r>
              <a:rPr lang="zh-CN" altLang="en-US" sz="1400" dirty="0"/>
              <a:t>低于阈值（如 </a:t>
            </a:r>
            <a:r>
              <a:rPr lang="en-US" altLang="zh-CN" sz="1400" dirty="0"/>
              <a:t>7V</a:t>
            </a:r>
            <a:r>
              <a:rPr lang="zh-CN" altLang="en-US" sz="1400" dirty="0"/>
              <a:t>）时，关断输出，防止低压下功率管工作异常导致损坏。</a:t>
            </a:r>
          </a:p>
          <a:p>
            <a:r>
              <a:rPr lang="zh-CN" altLang="en-US" sz="1400" b="1" dirty="0"/>
              <a:t>续流二极管</a:t>
            </a:r>
            <a:r>
              <a:rPr lang="zh-CN" altLang="en-US" sz="1400" dirty="0"/>
              <a:t>：</a:t>
            </a:r>
          </a:p>
          <a:p>
            <a:pPr lvl="1"/>
            <a:r>
              <a:rPr lang="zh-CN" altLang="en-US" sz="1400" dirty="0"/>
              <a:t>与每个功率管并联的二极管（图中箭头方向为电流续流方向），用于释放电机绕组的感性电流，保护功率管不被反向高压击穿。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40DCE47-66CE-1B5E-FBCF-5284D6C6BCDD}"/>
              </a:ext>
            </a:extLst>
          </p:cNvPr>
          <p:cNvSpPr txBox="1"/>
          <p:nvPr/>
        </p:nvSpPr>
        <p:spPr>
          <a:xfrm>
            <a:off x="2619375" y="2318243"/>
            <a:ext cx="1657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effectLst/>
                <a:latin typeface="Inter"/>
              </a:rPr>
              <a:t>Pre-driver</a:t>
            </a:r>
          </a:p>
          <a:p>
            <a:r>
              <a:rPr lang="zh-CN" altLang="en-US" sz="1400" dirty="0"/>
              <a:t>预驱动、前置驱动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B88BFD1-800F-0F32-5940-4C1ED3921FF6}"/>
              </a:ext>
            </a:extLst>
          </p:cNvPr>
          <p:cNvCxnSpPr>
            <a:cxnSpLocks/>
          </p:cNvCxnSpPr>
          <p:nvPr/>
        </p:nvCxnSpPr>
        <p:spPr>
          <a:xfrm flipH="1" flipV="1">
            <a:off x="5094514" y="5556069"/>
            <a:ext cx="2534195" cy="409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782C-1284-81FB-1CB2-9DDCB957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3DDFB14-0C9E-E66B-3FB6-874C4BD3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097925" cy="390527"/>
          </a:xfrm>
        </p:spPr>
        <p:txBody>
          <a:bodyPr/>
          <a:lstStyle/>
          <a:p>
            <a:r>
              <a:rPr lang="en-US" altLang="zh-CN" sz="3200" dirty="0"/>
              <a:t>2. </a:t>
            </a:r>
            <a:r>
              <a:rPr lang="zh-CN" altLang="en-US" sz="3200" dirty="0"/>
              <a:t>实际的步进电机驱动的</a:t>
            </a:r>
            <a:r>
              <a:rPr lang="en-US" altLang="zh-CN" sz="3200" dirty="0"/>
              <a:t>H</a:t>
            </a:r>
            <a:r>
              <a:rPr lang="zh-CN" altLang="en-US" sz="3200" dirty="0"/>
              <a:t>桥部分原理图</a:t>
            </a:r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5EC2BD53-5386-648F-CE3B-DCC56725B29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6842" y="1084529"/>
            <a:ext cx="5153256" cy="56907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BA73130-35E0-3653-DD25-D11C038B8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344" y="1084529"/>
            <a:ext cx="7328815" cy="272982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08A8DB6-E3FB-26FA-BB0E-3A68F554128D}"/>
              </a:ext>
            </a:extLst>
          </p:cNvPr>
          <p:cNvSpPr txBox="1"/>
          <p:nvPr/>
        </p:nvSpPr>
        <p:spPr>
          <a:xfrm>
            <a:off x="5190097" y="5244068"/>
            <a:ext cx="69650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EG3013 </a:t>
            </a:r>
            <a:r>
              <a:rPr lang="zh-CN" altLang="en-US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是一款专为步进电机驱动设计的</a:t>
            </a:r>
            <a:r>
              <a:rPr lang="en-US" altLang="zh-CN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桥功率驱动芯片</a:t>
            </a:r>
            <a:r>
              <a:rPr lang="zh-CN" altLang="en-US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（预驱动）</a:t>
            </a:r>
            <a:r>
              <a:rPr lang="zh-CN" altLang="en-US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，由屹晶微（</a:t>
            </a:r>
            <a:r>
              <a:rPr lang="en-US" altLang="zh-CN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E-Great</a:t>
            </a:r>
            <a:r>
              <a:rPr lang="zh-CN" altLang="en-US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）推出。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34B3369-11EC-9DFD-89AB-B0F0616913E8}"/>
              </a:ext>
            </a:extLst>
          </p:cNvPr>
          <p:cNvSpPr txBox="1"/>
          <p:nvPr/>
        </p:nvSpPr>
        <p:spPr>
          <a:xfrm>
            <a:off x="5190097" y="4344545"/>
            <a:ext cx="6965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相较于上一页的</a:t>
            </a:r>
            <a:r>
              <a:rPr lang="en-US" altLang="zh-CN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桥，增加了</a:t>
            </a:r>
            <a:r>
              <a:rPr lang="zh-CN" altLang="en-US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预驱动芯片、电流反馈电路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3485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2CAE8-C45E-CAB7-39CF-F50089C50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699F06A-01DE-68F9-D384-1476BA1AF2BD}"/>
              </a:ext>
            </a:extLst>
          </p:cNvPr>
          <p:cNvSpPr/>
          <p:nvPr/>
        </p:nvSpPr>
        <p:spPr>
          <a:xfrm>
            <a:off x="182880" y="3640356"/>
            <a:ext cx="9160609" cy="3043999"/>
          </a:xfrm>
          <a:prstGeom prst="roundRect">
            <a:avLst>
              <a:gd name="adj" fmla="val 3659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38A4FC1-A3C4-8FB6-8CF5-BB25A0DF9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097925" cy="390527"/>
          </a:xfrm>
        </p:spPr>
        <p:txBody>
          <a:bodyPr/>
          <a:lstStyle/>
          <a:p>
            <a:r>
              <a:rPr lang="en-US" altLang="zh-CN" sz="3200" dirty="0"/>
              <a:t>3. MKS 42C</a:t>
            </a:r>
            <a:r>
              <a:rPr lang="zh-CN" altLang="en-US" sz="3200" dirty="0"/>
              <a:t>步进电机整体框架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AB879D-DA6D-686C-0F55-C832950FEC5F}"/>
              </a:ext>
            </a:extLst>
          </p:cNvPr>
          <p:cNvSpPr/>
          <p:nvPr/>
        </p:nvSpPr>
        <p:spPr>
          <a:xfrm>
            <a:off x="430028" y="3747260"/>
            <a:ext cx="2629351" cy="25677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电机本体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AFA9A5A-C44E-457D-B2D4-650163B84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645" y="1664717"/>
            <a:ext cx="1371429" cy="140952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EC2FDA6-CCE3-2339-83AB-F3FB5E90DCB3}"/>
              </a:ext>
            </a:extLst>
          </p:cNvPr>
          <p:cNvSpPr/>
          <p:nvPr/>
        </p:nvSpPr>
        <p:spPr>
          <a:xfrm>
            <a:off x="3537942" y="3747261"/>
            <a:ext cx="5695406" cy="25677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C13BC79-9859-FB08-458A-B0DD4B5C2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744" y="1172495"/>
            <a:ext cx="2661190" cy="244402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2205CF8-14CE-E4BC-342D-61565C102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147" y="1884270"/>
            <a:ext cx="1061767" cy="106904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AB49395-D8C0-6329-2143-03A842C10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3490" y="1621059"/>
            <a:ext cx="1898726" cy="1509332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7B4CC88A-C380-6042-EC55-9953B50A4A74}"/>
              </a:ext>
            </a:extLst>
          </p:cNvPr>
          <p:cNvSpPr txBox="1"/>
          <p:nvPr/>
        </p:nvSpPr>
        <p:spPr>
          <a:xfrm>
            <a:off x="4676502" y="2095623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+</a:t>
            </a:r>
            <a:endParaRPr lang="zh-CN" altLang="en-US" sz="36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8CF97AB-D88C-B3A5-F21E-ED372133A271}"/>
              </a:ext>
            </a:extLst>
          </p:cNvPr>
          <p:cNvSpPr txBox="1"/>
          <p:nvPr/>
        </p:nvSpPr>
        <p:spPr>
          <a:xfrm>
            <a:off x="8377645" y="2052559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=</a:t>
            </a:r>
            <a:endParaRPr lang="zh-CN" altLang="en-US" sz="36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CE41234-00E2-C596-1E4F-0C53EDDBB725}"/>
              </a:ext>
            </a:extLst>
          </p:cNvPr>
          <p:cNvSpPr txBox="1"/>
          <p:nvPr/>
        </p:nvSpPr>
        <p:spPr>
          <a:xfrm>
            <a:off x="1876032" y="288957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电机本体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50AF95D-E739-8CD7-DF7D-B92CA6163BE2}"/>
              </a:ext>
            </a:extLst>
          </p:cNvPr>
          <p:cNvSpPr txBox="1"/>
          <p:nvPr/>
        </p:nvSpPr>
        <p:spPr>
          <a:xfrm>
            <a:off x="6405366" y="303350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控制驱动器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297AEF2-EF92-E344-D127-69F3AE499870}"/>
              </a:ext>
            </a:extLst>
          </p:cNvPr>
          <p:cNvSpPr/>
          <p:nvPr/>
        </p:nvSpPr>
        <p:spPr>
          <a:xfrm>
            <a:off x="9233348" y="4494728"/>
            <a:ext cx="330926" cy="13759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接口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B62B13B-CB0C-58DF-FAA0-3C6812021E71}"/>
              </a:ext>
            </a:extLst>
          </p:cNvPr>
          <p:cNvSpPr txBox="1"/>
          <p:nvPr/>
        </p:nvSpPr>
        <p:spPr>
          <a:xfrm>
            <a:off x="3537942" y="5931576"/>
            <a:ext cx="1330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控制</a:t>
            </a:r>
            <a:r>
              <a:rPr lang="en-US" altLang="zh-CN" dirty="0">
                <a:solidFill>
                  <a:schemeClr val="bg1"/>
                </a:solidFill>
              </a:rPr>
              <a:t>+</a:t>
            </a:r>
            <a:r>
              <a:rPr lang="zh-CN" altLang="en-US" dirty="0">
                <a:solidFill>
                  <a:schemeClr val="bg1"/>
                </a:solidFill>
              </a:rPr>
              <a:t>驱动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FA123B6-9979-7C69-78AC-B1837F73E211}"/>
              </a:ext>
            </a:extLst>
          </p:cNvPr>
          <p:cNvSpPr/>
          <p:nvPr/>
        </p:nvSpPr>
        <p:spPr>
          <a:xfrm>
            <a:off x="3705184" y="4273845"/>
            <a:ext cx="1169589" cy="9056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电机驱动</a:t>
            </a:r>
            <a:endParaRPr lang="en-US" altLang="zh-CN" dirty="0"/>
          </a:p>
          <a:p>
            <a:pPr algn="ctr"/>
            <a:r>
              <a:rPr lang="zh-CN" altLang="en-US" dirty="0"/>
              <a:t>电流检测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2737C36-02A4-93D8-6D28-8A6B294379CC}"/>
              </a:ext>
            </a:extLst>
          </p:cNvPr>
          <p:cNvSpPr/>
          <p:nvPr/>
        </p:nvSpPr>
        <p:spPr>
          <a:xfrm>
            <a:off x="3445757" y="5332456"/>
            <a:ext cx="1422334" cy="53373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磁编码器</a:t>
            </a:r>
            <a:endParaRPr lang="en-US" altLang="zh-CN" dirty="0"/>
          </a:p>
          <a:p>
            <a:pPr algn="ctr"/>
            <a:r>
              <a:rPr lang="zh-CN" altLang="en-US" dirty="0"/>
              <a:t>测转动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ECAD312-B8FC-CD18-7C81-0B31371F364A}"/>
              </a:ext>
            </a:extLst>
          </p:cNvPr>
          <p:cNvSpPr/>
          <p:nvPr/>
        </p:nvSpPr>
        <p:spPr>
          <a:xfrm>
            <a:off x="5760896" y="4576543"/>
            <a:ext cx="1249497" cy="9056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主控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12B6DD7-077B-B596-CAE3-19211495A4B7}"/>
              </a:ext>
            </a:extLst>
          </p:cNvPr>
          <p:cNvSpPr/>
          <p:nvPr/>
        </p:nvSpPr>
        <p:spPr>
          <a:xfrm>
            <a:off x="5501632" y="3915090"/>
            <a:ext cx="1889958" cy="382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电源部分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E0DEFC0-0BF1-3035-340D-21594AA4E996}"/>
              </a:ext>
            </a:extLst>
          </p:cNvPr>
          <p:cNvSpPr/>
          <p:nvPr/>
        </p:nvSpPr>
        <p:spPr>
          <a:xfrm>
            <a:off x="10429679" y="3747260"/>
            <a:ext cx="1660082" cy="25677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电机开发板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BABE537-9A9C-9F6B-E0FC-368315667DB3}"/>
              </a:ext>
            </a:extLst>
          </p:cNvPr>
          <p:cNvSpPr/>
          <p:nvPr/>
        </p:nvSpPr>
        <p:spPr>
          <a:xfrm>
            <a:off x="10098753" y="4507654"/>
            <a:ext cx="330926" cy="13759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接口</a:t>
            </a:r>
          </a:p>
        </p:txBody>
      </p:sp>
      <p:sp>
        <p:nvSpPr>
          <p:cNvPr id="35" name="箭头: 左右 34">
            <a:extLst>
              <a:ext uri="{FF2B5EF4-FFF2-40B4-BE49-F238E27FC236}">
                <a16:creationId xmlns:a16="http://schemas.microsoft.com/office/drawing/2014/main" id="{25F5BAD0-1098-C1BB-A735-F4D701DC9508}"/>
              </a:ext>
            </a:extLst>
          </p:cNvPr>
          <p:cNvSpPr/>
          <p:nvPr/>
        </p:nvSpPr>
        <p:spPr>
          <a:xfrm>
            <a:off x="9749295" y="3946923"/>
            <a:ext cx="534479" cy="357052"/>
          </a:xfrm>
          <a:prstGeom prst="left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C5ECB47-BE21-B184-C5D5-97A718821893}"/>
              </a:ext>
            </a:extLst>
          </p:cNvPr>
          <p:cNvSpPr/>
          <p:nvPr/>
        </p:nvSpPr>
        <p:spPr>
          <a:xfrm>
            <a:off x="7722515" y="4303624"/>
            <a:ext cx="1124455" cy="382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状态指示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F99922-4BA2-B693-5FDB-2C840235B8A8}"/>
              </a:ext>
            </a:extLst>
          </p:cNvPr>
          <p:cNvSpPr/>
          <p:nvPr/>
        </p:nvSpPr>
        <p:spPr>
          <a:xfrm>
            <a:off x="7722515" y="5483986"/>
            <a:ext cx="1124455" cy="382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通信模块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9545A9-BCDB-F49A-7244-06B81A6D04A7}"/>
              </a:ext>
            </a:extLst>
          </p:cNvPr>
          <p:cNvSpPr/>
          <p:nvPr/>
        </p:nvSpPr>
        <p:spPr>
          <a:xfrm>
            <a:off x="5501632" y="5765291"/>
            <a:ext cx="1889958" cy="382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滤波、保护电路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28F14B-2495-072A-C671-4C315F3F4B19}"/>
              </a:ext>
            </a:extLst>
          </p:cNvPr>
          <p:cNvSpPr/>
          <p:nvPr/>
        </p:nvSpPr>
        <p:spPr>
          <a:xfrm>
            <a:off x="7722515" y="4893805"/>
            <a:ext cx="1124455" cy="3822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按键操作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D2E3D9-7CC6-391F-1C4A-A66E779F0287}"/>
              </a:ext>
            </a:extLst>
          </p:cNvPr>
          <p:cNvSpPr txBox="1"/>
          <p:nvPr/>
        </p:nvSpPr>
        <p:spPr>
          <a:xfrm>
            <a:off x="182880" y="6338864"/>
            <a:ext cx="9050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MKS 42C</a:t>
            </a:r>
            <a:r>
              <a:rPr lang="zh-CN" altLang="en-US" dirty="0">
                <a:solidFill>
                  <a:schemeClr val="bg1"/>
                </a:solidFill>
              </a:rPr>
              <a:t>闭环步进电机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B01CE9-AE6F-0E9B-6AC8-D5C30E60560C}"/>
              </a:ext>
            </a:extLst>
          </p:cNvPr>
          <p:cNvSpPr/>
          <p:nvPr/>
        </p:nvSpPr>
        <p:spPr>
          <a:xfrm>
            <a:off x="3313513" y="3978984"/>
            <a:ext cx="271780" cy="1133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接口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681D5E-D3CA-08F9-FA49-767ECAF24E7D}"/>
              </a:ext>
            </a:extLst>
          </p:cNvPr>
          <p:cNvSpPr/>
          <p:nvPr/>
        </p:nvSpPr>
        <p:spPr>
          <a:xfrm>
            <a:off x="2964809" y="3991067"/>
            <a:ext cx="271780" cy="1133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接口</a:t>
            </a:r>
          </a:p>
        </p:txBody>
      </p:sp>
    </p:spTree>
    <p:extLst>
      <p:ext uri="{BB962C8B-B14F-4D97-AF65-F5344CB8AC3E}">
        <p14:creationId xmlns:p14="http://schemas.microsoft.com/office/powerpoint/2010/main" val="1313915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55FDE4-82C9-8E11-8A5E-425AE33C2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9500005" cy="390527"/>
          </a:xfrm>
        </p:spPr>
        <p:txBody>
          <a:bodyPr/>
          <a:lstStyle/>
          <a:p>
            <a:r>
              <a:rPr lang="en-US" altLang="zh-CN" sz="3200" dirty="0"/>
              <a:t>4. </a:t>
            </a:r>
            <a:r>
              <a:rPr lang="en-US" altLang="zh-CN" sz="3200" dirty="0" err="1"/>
              <a:t>GenBotter</a:t>
            </a:r>
            <a:r>
              <a:rPr lang="zh-CN" altLang="en-US" sz="3200" dirty="0"/>
              <a:t>电机开发板上的步进电机接口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51472BC4-1D46-90FD-7D71-0CB1DD59AA71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82880" y="2325082"/>
            <a:ext cx="4136571" cy="435718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6B066F2-101C-4BAE-2EE2-5A4D88312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92293"/>
            <a:ext cx="4988518" cy="1305818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06F9D001-91F3-BC06-FF24-7B8C1D9BBB63}"/>
              </a:ext>
            </a:extLst>
          </p:cNvPr>
          <p:cNvGrpSpPr/>
          <p:nvPr/>
        </p:nvGrpSpPr>
        <p:grpSpPr>
          <a:xfrm>
            <a:off x="5615685" y="979145"/>
            <a:ext cx="4513732" cy="3054205"/>
            <a:chOff x="5605627" y="1684539"/>
            <a:chExt cx="4513732" cy="3054205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BEF2E293-F6C0-CDE3-7C2E-F74D382CD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5627" y="1684539"/>
              <a:ext cx="3115478" cy="3054205"/>
            </a:xfrm>
            <a:prstGeom prst="rect">
              <a:avLst/>
            </a:prstGeom>
          </p:spPr>
        </p:pic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295257BF-8445-EE2A-640D-E569C7AFD864}"/>
                </a:ext>
              </a:extLst>
            </p:cNvPr>
            <p:cNvCxnSpPr/>
            <p:nvPr/>
          </p:nvCxnSpPr>
          <p:spPr>
            <a:xfrm>
              <a:off x="7680959" y="3023962"/>
              <a:ext cx="24384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29902E71-8BEC-DD9E-6B82-752825187EA3}"/>
                </a:ext>
              </a:extLst>
            </p:cNvPr>
            <p:cNvCxnSpPr/>
            <p:nvPr/>
          </p:nvCxnSpPr>
          <p:spPr>
            <a:xfrm>
              <a:off x="7680959" y="3564981"/>
              <a:ext cx="24384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EB91BE9C-1630-F4F9-0F1D-D6ABBEF17C88}"/>
                </a:ext>
              </a:extLst>
            </p:cNvPr>
            <p:cNvCxnSpPr/>
            <p:nvPr/>
          </p:nvCxnSpPr>
          <p:spPr>
            <a:xfrm>
              <a:off x="7672251" y="4111262"/>
              <a:ext cx="24384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9A0F3CE-AB76-8655-5394-42649D1A3F74}"/>
                </a:ext>
              </a:extLst>
            </p:cNvPr>
            <p:cNvSpPr txBox="1"/>
            <p:nvPr/>
          </p:nvSpPr>
          <p:spPr>
            <a:xfrm>
              <a:off x="9360950" y="264818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使能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03221F4F-A28B-8491-2C91-1C75C17FB644}"/>
                </a:ext>
              </a:extLst>
            </p:cNvPr>
            <p:cNvSpPr txBox="1"/>
            <p:nvPr/>
          </p:nvSpPr>
          <p:spPr>
            <a:xfrm>
              <a:off x="9360950" y="321164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方向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E878D00-1D34-766E-9C60-A2AC221FF766}"/>
                </a:ext>
              </a:extLst>
            </p:cNvPr>
            <p:cNvSpPr txBox="1"/>
            <p:nvPr/>
          </p:nvSpPr>
          <p:spPr>
            <a:xfrm>
              <a:off x="9360950" y="3727306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脉冲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B7A78CFE-E194-6687-7D36-D015DB54CE00}"/>
              </a:ext>
            </a:extLst>
          </p:cNvPr>
          <p:cNvSpPr txBox="1"/>
          <p:nvPr/>
        </p:nvSpPr>
        <p:spPr>
          <a:xfrm>
            <a:off x="5615685" y="417968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通过 </a:t>
            </a:r>
            <a:r>
              <a:rPr lang="zh-CN" altLang="en-US" b="1" i="0" dirty="0">
                <a:effectLst/>
                <a:latin typeface="Inter"/>
              </a:rPr>
              <a:t>脉冲引脚</a:t>
            </a:r>
            <a:r>
              <a:rPr lang="zh-CN" altLang="en-US" b="0" i="0" dirty="0">
                <a:effectLst/>
                <a:latin typeface="Inter"/>
              </a:rPr>
              <a:t> 向 </a:t>
            </a:r>
            <a:r>
              <a:rPr lang="zh-CN" altLang="en-US" b="1" i="0" dirty="0">
                <a:effectLst/>
                <a:latin typeface="Inter"/>
              </a:rPr>
              <a:t>步进电机驱动</a:t>
            </a:r>
            <a:r>
              <a:rPr lang="zh-CN" altLang="en-US" b="0" i="0" dirty="0">
                <a:effectLst/>
                <a:latin typeface="Inter"/>
              </a:rPr>
              <a:t> 发送方波脉冲信号（频率决定转速，数量决定转动角度）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5C41549-4357-9706-7261-632F5A1A0256}"/>
              </a:ext>
            </a:extLst>
          </p:cNvPr>
          <p:cNvSpPr txBox="1"/>
          <p:nvPr/>
        </p:nvSpPr>
        <p:spPr>
          <a:xfrm>
            <a:off x="5615685" y="503027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Inter"/>
              </a:rPr>
              <a:t>确定了方向、细分、相数、拍数这些东西后，那一个脉冲过来步进就转一个细分。</a:t>
            </a:r>
            <a:endParaRPr lang="en-US" altLang="zh-CN" b="0" i="0" dirty="0">
              <a:effectLst/>
              <a:latin typeface="Inter"/>
            </a:endParaRPr>
          </a:p>
          <a:p>
            <a:r>
              <a:rPr lang="zh-CN" altLang="en-US" dirty="0">
                <a:latin typeface="Inter"/>
              </a:rPr>
              <a:t>相同条件下，脉冲频率越高转速越快、脉冲数量越多转过的角度越大。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4068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4761</TotalTime>
  <Words>439</Words>
  <Application>Microsoft Office PowerPoint</Application>
  <PresentationFormat>宽屏</PresentationFormat>
  <Paragraphs>69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Inter</vt:lpstr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目录</vt:lpstr>
      <vt:lpstr>1. H 桥本质是 “电控开关组”</vt:lpstr>
      <vt:lpstr>2. 实际的步进电机驱动的H桥部分原理图</vt:lpstr>
      <vt:lpstr>3. MKS 42C步进电机整体框架</vt:lpstr>
      <vt:lpstr>4. GenBotter电机开发板上的步进电机接口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130</cp:revision>
  <dcterms:created xsi:type="dcterms:W3CDTF">2025-05-21T06:55:53Z</dcterms:created>
  <dcterms:modified xsi:type="dcterms:W3CDTF">2025-08-12T06:52:22Z</dcterms:modified>
</cp:coreProperties>
</file>