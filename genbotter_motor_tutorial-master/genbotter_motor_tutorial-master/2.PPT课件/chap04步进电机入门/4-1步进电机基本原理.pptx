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803" r:id="rId2"/>
    <p:sldId id="289" r:id="rId3"/>
    <p:sldId id="802" r:id="rId4"/>
    <p:sldId id="800" r:id="rId5"/>
    <p:sldId id="799" r:id="rId6"/>
    <p:sldId id="805" r:id="rId7"/>
    <p:sldId id="804" r:id="rId8"/>
    <p:sldId id="28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章的直流有刷电机（‘大力出奇迹’的代表，可以粗略控制转速、转向）和第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章的舵机（能定角度，通过减速齿轮和控制板来控制角度），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今天进入第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步进电机，这个堪称‘精准主义者’的新伙伴，它和前两种电机最大的区别就是：转不转、转多少，全由‘步数’说了算！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今天先搞懂它‘怎么迈开腿’，下一节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咱们再细聊它的‘体检报告’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那些参数指标到底藏着什么秘密。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先问大家一个问题：你们见过最 “听话” 的转动是什么？是拧瓶盖？还是钟表指针？但步进电机的 “听话”，那可是 “指哪转哪，转多少算多少”。它到底怎么转起来的呢？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咱们可以把步进电机的内部想象成一个 “迷你指挥台”。定子上有几个 “指挥官”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就是标记的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这些绕组，转子就是那个 “听话的士兵”。当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指挥官先 “发号施令”（通电），转子就会乖乖转向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；接着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指挥官 “接力下令”，转子又会转向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A2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依次 “指挥”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转子就这么一步一步跟着转起来了。</a:t>
            </a:r>
          </a:p>
          <a:p>
            <a:br>
              <a:rPr lang="zh-CN" altLang="en-US" dirty="0"/>
            </a:b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就像咱们排队走路，第一个人往前走一步，第二个人跟上，第三个人再跟上，整个队伍就整齐地动起来了。步进电机每一步转动的角度，就叫 “步距角”。比如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里第一个例子，假设每一步转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度，那它转一圈就需要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步，跟咱们 “迈四大步走一圈” 似的。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将一大步拆解成小碎步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（一）先看左边：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怎么变成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endParaRPr lang="zh-CN" alt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左边电机，转子转一步是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。关键是类似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同时通电，上、右两个定子同时吸引转子，转子会被吸引到中间；本来转子一步从上到右、现在被拆分成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步。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就像谈恋爱，如果上一个对象不挽留你，你立即被下一个对象吸引过去，但是如果下一个对象吸引你的同时、上一个对象挽留你，你会在中间犹豫一下。</a:t>
            </a:r>
          </a:p>
          <a:p>
            <a:br>
              <a:rPr lang="zh-CN" altLang="en-US" dirty="0"/>
            </a:b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（二）再看右边：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“小碎步”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定子绕组的布局也变了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定子有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更多小绕组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，像 “磁场分身”，每个小绕组负责 “拉转子一小步” 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就像你找了个会易容术的对象，谈一个对象相当于谈了两个对象。</a:t>
            </a:r>
            <a:br>
              <a:rPr lang="zh-CN" altLang="en-US" dirty="0"/>
            </a:b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三、提炼核心逻辑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想让步距角更小，关键在 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“细化磁场指令”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：通过控制电流方向（比如让绕组 “半程通电”），让定子磁场的 “指挥” 更细腻，转子步子自然变小 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就像给电机装了个 “微调开关”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以前按一下动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，现在按一下动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，精细度直接翻倍！</a:t>
            </a: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四、快速引出后续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还不够细咋办？下一页有更绝的 “齿牙错位术”，让转子步子比芝麻还小！先记住：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电流控制是缩小步距角的基础操作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，咱们继续解锁更牛的技巧～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一、虽然前面把步距角从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，但工业里像芯片制造、精密仪器，还需要更小的步距角！实际的步进电机在原有基础上，使用了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“齿牙错位术”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的终极大招。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二、拆解 “齿牙错位” 核心：定子转子的 “齿数游戏”：定子（灰色）和转子（蓝色）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；转子轮齿：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齿数不一样，但齿间距相等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三、步距角计算：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每齿角度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360/50=7.2°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；定子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缺口角度共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7.2°×2=14.4°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；然后定子缺口被分成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组，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每个缺口角度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 14.4°÷8=1.8°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简单说：定子把 “大缺口” 切成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 “小牙缝”，转子每步只能 “挤过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个牙缝”（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），步距角直接砍到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，比之前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22.5°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细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倍多！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四、旋转对齐：当定子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齿对齐转子齿，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齿差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号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3.6°…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定子齿 “接力对齐” 时，转子只能 “一步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1.8°”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地挪，像被齿牙 “咬着走”，超精准！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五、增加扭矩：实际的转子继续进化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极齿和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极齿交叉拼接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，相邻齿差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3.6°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！当定子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吸引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极齿，相当于 “左右一起拉”，扭矩直接翻倍！</a:t>
            </a:r>
          </a:p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20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这就是团结的力量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07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4396808" y="2124892"/>
            <a:ext cx="4738483" cy="229452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步进电机</a:t>
            </a:r>
            <a:endParaRPr kumimoji="1" lang="en-US" altLang="zh-CN" sz="5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kumimoji="1" lang="zh-CN" altLang="en-US" sz="54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</a:t>
            </a:r>
            <a:endParaRPr kumimoji="1" lang="en-US" altLang="zh-CN" sz="5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E65C2BA-6EBD-4F57-A092-06BAF6123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69" y="1608364"/>
            <a:ext cx="3614670" cy="30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7393155" y="4841733"/>
            <a:ext cx="2154384" cy="19622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97591" y="2818708"/>
            <a:ext cx="4332956" cy="69698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步进电机基础原理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【04-01】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676F76-7C76-519B-51C6-F7683D203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223" y="1830102"/>
            <a:ext cx="3013310" cy="2564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951365" cy="390527"/>
          </a:xfrm>
        </p:spPr>
        <p:txBody>
          <a:bodyPr/>
          <a:lstStyle/>
          <a:p>
            <a:r>
              <a:rPr lang="en-US" altLang="zh-CN" sz="3600" dirty="0"/>
              <a:t>1. </a:t>
            </a:r>
            <a:r>
              <a:rPr lang="zh-CN" altLang="en-US" sz="3600" dirty="0"/>
              <a:t>步进电机怎么转起来？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07F716-34F9-5A7B-1B0C-16409D39934D}"/>
              </a:ext>
            </a:extLst>
          </p:cNvPr>
          <p:cNvSpPr txBox="1"/>
          <p:nvPr/>
        </p:nvSpPr>
        <p:spPr>
          <a:xfrm>
            <a:off x="7837482" y="1227705"/>
            <a:ext cx="2908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左图，转子转一圈（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360°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）需要几步？一步多少度？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3B29E08-EAB5-FFA8-4273-9491A2B909B8}"/>
              </a:ext>
            </a:extLst>
          </p:cNvPr>
          <p:cNvSpPr txBox="1"/>
          <p:nvPr/>
        </p:nvSpPr>
        <p:spPr>
          <a:xfrm>
            <a:off x="473624" y="4667412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有什么办法让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步距角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更小？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644CC3-26B1-2475-EBE7-818BE2A6D239}"/>
              </a:ext>
            </a:extLst>
          </p:cNvPr>
          <p:cNvSpPr txBox="1"/>
          <p:nvPr/>
        </p:nvSpPr>
        <p:spPr>
          <a:xfrm>
            <a:off x="381347" y="1011778"/>
            <a:ext cx="429515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是绕组数，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相就是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两个独立绕组组，各自能搞出一组磁场 “活动”；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是连接绕组和控制器的导线，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线就是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）各出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根线。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3583F69-16D9-476D-3B5D-BFB267EED34D}"/>
              </a:ext>
            </a:extLst>
          </p:cNvPr>
          <p:cNvGrpSpPr/>
          <p:nvPr/>
        </p:nvGrpSpPr>
        <p:grpSpPr>
          <a:xfrm>
            <a:off x="5061512" y="1139659"/>
            <a:ext cx="2390960" cy="2833019"/>
            <a:chOff x="-653141" y="1101756"/>
            <a:chExt cx="2390960" cy="2833019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4F59B722-9EFD-3455-0FD7-7ADC7B8309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653141" y="1101756"/>
              <a:ext cx="2390960" cy="2833019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3BA1C3E2-0E87-2B53-C16B-6CEA3C160360}"/>
                </a:ext>
              </a:extLst>
            </p:cNvPr>
            <p:cNvSpPr txBox="1"/>
            <p:nvPr/>
          </p:nvSpPr>
          <p:spPr>
            <a:xfrm>
              <a:off x="759882" y="2534652"/>
              <a:ext cx="352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N</a:t>
              </a:r>
              <a:endParaRPr lang="zh-CN" altLang="en-US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F892C60-0CEA-86A8-7980-4E8042CBE6AB}"/>
                </a:ext>
              </a:extLst>
            </p:cNvPr>
            <p:cNvSpPr txBox="1"/>
            <p:nvPr/>
          </p:nvSpPr>
          <p:spPr>
            <a:xfrm>
              <a:off x="-10028" y="2534652"/>
              <a:ext cx="3032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</a:t>
              </a:r>
              <a:endParaRPr lang="zh-CN" altLang="en-US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6E606CED-0141-F0B2-B563-5E6598A04DF2}"/>
              </a:ext>
            </a:extLst>
          </p:cNvPr>
          <p:cNvSpPr txBox="1"/>
          <p:nvPr/>
        </p:nvSpPr>
        <p:spPr>
          <a:xfrm>
            <a:off x="5020087" y="4275705"/>
            <a:ext cx="2432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A2-&gt;B1-&gt;A1-&gt;B2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81DF77E-F915-6381-7919-A3B86BB9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2. </a:t>
            </a:r>
            <a:r>
              <a:rPr lang="zh-CN" altLang="en-US" sz="3600" dirty="0"/>
              <a:t>怎么让步进电机步距角更小？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B55ECFC-862B-0B08-A09A-12BCD4C99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113" y="1394888"/>
            <a:ext cx="2479384" cy="293420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35ABB34-0058-39EF-9A95-077EB4219430}"/>
              </a:ext>
            </a:extLst>
          </p:cNvPr>
          <p:cNvSpPr txBox="1"/>
          <p:nvPr/>
        </p:nvSpPr>
        <p:spPr>
          <a:xfrm>
            <a:off x="1988115" y="5004166"/>
            <a:ext cx="30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步距角从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变成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F8B4A3-9980-115C-EBD9-F840982F3CC2}"/>
              </a:ext>
            </a:extLst>
          </p:cNvPr>
          <p:cNvSpPr txBox="1"/>
          <p:nvPr/>
        </p:nvSpPr>
        <p:spPr>
          <a:xfrm>
            <a:off x="7496634" y="880050"/>
            <a:ext cx="3017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电流方向：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66879A-C7C0-A007-D6C0-A515DF0CD3A5}"/>
              </a:ext>
            </a:extLst>
          </p:cNvPr>
          <p:cNvSpPr txBox="1"/>
          <p:nvPr/>
        </p:nvSpPr>
        <p:spPr>
          <a:xfrm>
            <a:off x="7413094" y="4946689"/>
            <a:ext cx="3241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加上两相同时通电，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步距角可减小到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22.5°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A792C9-A88A-AA17-31CB-805C83BED949}"/>
              </a:ext>
            </a:extLst>
          </p:cNvPr>
          <p:cNvSpPr txBox="1"/>
          <p:nvPr/>
        </p:nvSpPr>
        <p:spPr>
          <a:xfrm>
            <a:off x="154904" y="1394888"/>
            <a:ext cx="18332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B2+A2</a:t>
            </a:r>
          </a:p>
          <a:p>
            <a:r>
              <a:rPr lang="en-US" altLang="zh-CN" sz="2400" dirty="0"/>
              <a:t>A2</a:t>
            </a:r>
          </a:p>
          <a:p>
            <a:r>
              <a:rPr lang="en-US" altLang="zh-CN" sz="2400" dirty="0"/>
              <a:t>A2+B1</a:t>
            </a:r>
          </a:p>
          <a:p>
            <a:r>
              <a:rPr lang="en-US" altLang="zh-CN" sz="2400" dirty="0"/>
              <a:t>B1</a:t>
            </a:r>
          </a:p>
          <a:p>
            <a:r>
              <a:rPr lang="en-US" altLang="zh-CN" sz="2400" dirty="0"/>
              <a:t>B1+A1</a:t>
            </a:r>
          </a:p>
          <a:p>
            <a:r>
              <a:rPr lang="en-US" altLang="zh-CN" sz="2400" dirty="0"/>
              <a:t>A1</a:t>
            </a:r>
          </a:p>
          <a:p>
            <a:r>
              <a:rPr lang="en-US" altLang="zh-CN" sz="2400" dirty="0"/>
              <a:t>A1+B2</a:t>
            </a:r>
          </a:p>
          <a:p>
            <a:r>
              <a:rPr lang="en-US" altLang="zh-CN" sz="2400" dirty="0"/>
              <a:t>B2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890C08A-A6F4-8833-CB72-117F73FEA15A}"/>
              </a:ext>
            </a:extLst>
          </p:cNvPr>
          <p:cNvSpPr txBox="1"/>
          <p:nvPr/>
        </p:nvSpPr>
        <p:spPr>
          <a:xfrm>
            <a:off x="7413094" y="4483079"/>
            <a:ext cx="3017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改进了转子和定子后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78E40F-B13D-0A10-CC0D-784C08A6666D}"/>
              </a:ext>
            </a:extLst>
          </p:cNvPr>
          <p:cNvSpPr txBox="1"/>
          <p:nvPr/>
        </p:nvSpPr>
        <p:spPr>
          <a:xfrm>
            <a:off x="1849782" y="969080"/>
            <a:ext cx="32937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电流方向：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进同时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689957-9BC9-B985-64AC-6B0899B263C9}"/>
              </a:ext>
            </a:extLst>
          </p:cNvPr>
          <p:cNvSpPr txBox="1"/>
          <p:nvPr/>
        </p:nvSpPr>
        <p:spPr>
          <a:xfrm>
            <a:off x="10629901" y="1894174"/>
            <a:ext cx="1562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22.5°</a:t>
            </a:r>
          </a:p>
          <a:p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够了么？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5AA752-18FE-3A85-F6D7-BDC4E295BC72}"/>
              </a:ext>
            </a:extLst>
          </p:cNvPr>
          <p:cNvSpPr txBox="1"/>
          <p:nvPr/>
        </p:nvSpPr>
        <p:spPr>
          <a:xfrm>
            <a:off x="1988112" y="4558550"/>
            <a:ext cx="3017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加上了两相同时通电过渡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B9B83A-2164-2869-C106-AE2218E06C62}"/>
              </a:ext>
            </a:extLst>
          </p:cNvPr>
          <p:cNvSpPr txBox="1"/>
          <p:nvPr/>
        </p:nvSpPr>
        <p:spPr>
          <a:xfrm>
            <a:off x="154904" y="5816410"/>
            <a:ext cx="93591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通多电流相等，转子停在中间；精确控制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的电流强不同，转子转动的步距角更小。这就是步进电机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的原理。</a:t>
            </a:r>
          </a:p>
        </p:txBody>
      </p:sp>
      <p:pic>
        <p:nvPicPr>
          <p:cNvPr id="16" name="内容占位符 8">
            <a:extLst>
              <a:ext uri="{FF2B5EF4-FFF2-40B4-BE49-F238E27FC236}">
                <a16:creationId xmlns:a16="http://schemas.microsoft.com/office/drawing/2014/main" id="{E816950C-EA62-2761-6524-CD94A1222D6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tretch>
            <a:fillRect/>
          </a:stretch>
        </p:blipFill>
        <p:spPr>
          <a:xfrm>
            <a:off x="7496634" y="1369190"/>
            <a:ext cx="2446515" cy="293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F782C-1284-81FB-1CB2-9DDCB957C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3DDFB14-0C9E-E66B-3FB6-874C4BD3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8097925" cy="390527"/>
          </a:xfrm>
        </p:spPr>
        <p:txBody>
          <a:bodyPr/>
          <a:lstStyle/>
          <a:p>
            <a:r>
              <a:rPr lang="en-US" altLang="zh-CN" sz="3200" dirty="0"/>
              <a:t>3. </a:t>
            </a:r>
            <a:r>
              <a:rPr lang="zh-CN" altLang="en-US" sz="3200" dirty="0"/>
              <a:t>继续减小步距角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5D3F71AD-499F-BD18-76D3-8F8A1BDD8B3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413060" y="971228"/>
            <a:ext cx="2361684" cy="23432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BFD8AB4-4935-B482-376B-EDC83A73F3B3}"/>
              </a:ext>
            </a:extLst>
          </p:cNvPr>
          <p:cNvSpPr txBox="1"/>
          <p:nvPr/>
        </p:nvSpPr>
        <p:spPr>
          <a:xfrm>
            <a:off x="413060" y="3358797"/>
            <a:ext cx="23616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定子轮齿：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转子轮齿：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但是，定子、转子的齿间距相等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每个齿对应角度：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360°/50=7.2°</a:t>
            </a: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定子上的缺口角度：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7.2°×2=14.4°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5F9702E-8BF7-6C0B-B95B-ED7ADF227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2326" y="971228"/>
            <a:ext cx="2404653" cy="240085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9DF34CD-C614-23F3-C304-8514B9EFE6B3}"/>
              </a:ext>
            </a:extLst>
          </p:cNvPr>
          <p:cNvSpPr txBox="1"/>
          <p:nvPr/>
        </p:nvSpPr>
        <p:spPr>
          <a:xfrm>
            <a:off x="2922326" y="3377635"/>
            <a:ext cx="255979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定子分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组均匀分布，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缺口也被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每个缺口的角度：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14.4°/8=1.8°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26C0180-0A91-7254-DBA2-72FC2BEB7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055" y="4875159"/>
            <a:ext cx="3662448" cy="189170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B012A89-A23D-6707-F23A-75D7F03979A7}"/>
              </a:ext>
            </a:extLst>
          </p:cNvPr>
          <p:cNvSpPr txBox="1"/>
          <p:nvPr/>
        </p:nvSpPr>
        <p:spPr>
          <a:xfrm>
            <a:off x="9352433" y="966787"/>
            <a:ext cx="24265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某一时刻，只有一组定子、转子的齿（如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）可以完全对齐的。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对齐，则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1.8°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3.6°</a:t>
            </a: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步距角变成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1.8°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，单双拍结合可减小到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0.9°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6A2DC7D-1C2A-9D69-4905-0232A77C4C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055" y="966787"/>
            <a:ext cx="3662448" cy="369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8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FE295-B88D-6950-3E97-15CC6053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加大扭矩的原理</a:t>
            </a:r>
          </a:p>
        </p:txBody>
      </p:sp>
      <p:pic>
        <p:nvPicPr>
          <p:cNvPr id="11" name="内容占位符 10">
            <a:extLst>
              <a:ext uri="{FF2B5EF4-FFF2-40B4-BE49-F238E27FC236}">
                <a16:creationId xmlns:a16="http://schemas.microsoft.com/office/drawing/2014/main" id="{B47812FF-B2EA-D641-86AD-CDFDF3B1EE67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4183763" y="1435530"/>
            <a:ext cx="4385725" cy="430044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4FB55B4-7DC9-0112-AB90-D05CCDB41DCF}"/>
              </a:ext>
            </a:extLst>
          </p:cNvPr>
          <p:cNvSpPr txBox="1"/>
          <p:nvPr/>
        </p:nvSpPr>
        <p:spPr>
          <a:xfrm>
            <a:off x="7491578" y="3365012"/>
            <a:ext cx="4203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N</a:t>
            </a:r>
            <a:endParaRPr lang="zh-CN" altLang="en-US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9E4CD9-AFCA-E0C3-4AD1-B721F4F1AE6D}"/>
              </a:ext>
            </a:extLst>
          </p:cNvPr>
          <p:cNvSpPr txBox="1"/>
          <p:nvPr/>
        </p:nvSpPr>
        <p:spPr>
          <a:xfrm>
            <a:off x="4875017" y="3463834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S</a:t>
            </a:r>
            <a:endParaRPr lang="zh-CN" altLang="en-US" sz="2400" b="1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378C677-77C0-A20C-45D5-78022DD6C814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7118091" y="3365012"/>
            <a:ext cx="373487" cy="2308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CA6082C-F26A-324F-3286-BDC6C115EED0}"/>
              </a:ext>
            </a:extLst>
          </p:cNvPr>
          <p:cNvCxnSpPr>
            <a:endCxn id="5" idx="3"/>
          </p:cNvCxnSpPr>
          <p:nvPr/>
        </p:nvCxnSpPr>
        <p:spPr>
          <a:xfrm flipH="1" flipV="1">
            <a:off x="5227999" y="3694667"/>
            <a:ext cx="331749" cy="132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302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06430-0F64-3BAD-A3B5-20B34711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3" y="374795"/>
            <a:ext cx="7862793" cy="390527"/>
          </a:xfrm>
        </p:spPr>
        <p:txBody>
          <a:bodyPr/>
          <a:lstStyle/>
          <a:p>
            <a:r>
              <a:rPr lang="en-US" altLang="zh-CN" sz="3600" dirty="0"/>
              <a:t>5. </a:t>
            </a:r>
            <a:r>
              <a:rPr lang="zh-CN" altLang="en-US" sz="3600" dirty="0"/>
              <a:t>实际情况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66040E1-8BD5-0199-9DD0-50610FB39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605" y="2381367"/>
            <a:ext cx="3476503" cy="209526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3F2E11C-3124-DB41-6818-B3D9BE16E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837" y="1424666"/>
            <a:ext cx="2447984" cy="161795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DBCE7163-7637-338F-C7C7-928572422377}"/>
              </a:ext>
            </a:extLst>
          </p:cNvPr>
          <p:cNvSpPr txBox="1"/>
          <p:nvPr/>
        </p:nvSpPr>
        <p:spPr>
          <a:xfrm>
            <a:off x="1870837" y="3864429"/>
            <a:ext cx="23616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实际上的转子：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极齿和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极齿交叉拼接，相邻齿之间差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3.6°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吸引转子上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极齿的同时；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吸引转子上的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极齿。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步进电机的扭矩（转动的力量）增加了。</a:t>
            </a:r>
          </a:p>
        </p:txBody>
      </p:sp>
    </p:spTree>
    <p:extLst>
      <p:ext uri="{BB962C8B-B14F-4D97-AF65-F5344CB8AC3E}">
        <p14:creationId xmlns:p14="http://schemas.microsoft.com/office/powerpoint/2010/main" val="3331769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2025.8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4573</TotalTime>
  <Words>1345</Words>
  <Application>Microsoft Office PowerPoint</Application>
  <PresentationFormat>宽屏</PresentationFormat>
  <Paragraphs>105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Source Han Sans</vt:lpstr>
      <vt:lpstr>Source Han Sans CN Regular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1. 步进电机怎么转起来？</vt:lpstr>
      <vt:lpstr>2. 怎么让步进电机步距角更小？</vt:lpstr>
      <vt:lpstr>3. 继续减小步距角</vt:lpstr>
      <vt:lpstr>4. 加大扭矩的原理</vt:lpstr>
      <vt:lpstr>5. 实际情况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117</cp:revision>
  <dcterms:created xsi:type="dcterms:W3CDTF">2025-05-21T06:55:53Z</dcterms:created>
  <dcterms:modified xsi:type="dcterms:W3CDTF">2025-08-12T07:44:15Z</dcterms:modified>
</cp:coreProperties>
</file>