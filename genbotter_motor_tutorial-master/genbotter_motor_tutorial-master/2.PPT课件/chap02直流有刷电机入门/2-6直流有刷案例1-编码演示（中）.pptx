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99" r:id="rId3"/>
    <p:sldId id="301" r:id="rId4"/>
    <p:sldId id="300" r:id="rId5"/>
    <p:sldId id="28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24" d="100"/>
          <a:sy n="124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2025/7/29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467233" y="436575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直流有刷电机驱动案例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编码演示（中）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【02-06】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276" y="1428253"/>
            <a:ext cx="3582272" cy="30084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901271-68CB-F3E4-2A06-5C755674B969}"/>
              </a:ext>
            </a:extLst>
          </p:cNvPr>
          <p:cNvSpPr/>
          <p:nvPr/>
        </p:nvSpPr>
        <p:spPr>
          <a:xfrm>
            <a:off x="372635" y="5121468"/>
            <a:ext cx="252164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开发板硬件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A17968-FAC5-C9E7-02A8-BE7AC1A0E6FE}"/>
              </a:ext>
            </a:extLst>
          </p:cNvPr>
          <p:cNvSpPr/>
          <p:nvPr/>
        </p:nvSpPr>
        <p:spPr>
          <a:xfrm>
            <a:off x="372635" y="3540318"/>
            <a:ext cx="252164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驱动层（</a:t>
            </a:r>
            <a:r>
              <a:rPr lang="en-US" altLang="zh-CN" dirty="0"/>
              <a:t>BSP(key-led\</a:t>
            </a:r>
            <a:r>
              <a:rPr lang="en-US" altLang="zh-CN" dirty="0" err="1"/>
              <a:t>brush_motor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CMSIS</a:t>
            </a:r>
            <a:r>
              <a:rPr lang="zh-CN" altLang="en-US" dirty="0"/>
              <a:t>。。。）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90FC0D-DC44-1534-AB2F-F9EB2BE4F39A}"/>
              </a:ext>
            </a:extLst>
          </p:cNvPr>
          <p:cNvSpPr/>
          <p:nvPr/>
        </p:nvSpPr>
        <p:spPr>
          <a:xfrm>
            <a:off x="372635" y="1559118"/>
            <a:ext cx="252164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应用层（</a:t>
            </a:r>
            <a:r>
              <a:rPr lang="en-US" altLang="zh-CN" dirty="0" err="1"/>
              <a:t>main.c</a:t>
            </a:r>
            <a:r>
              <a:rPr lang="zh-CN" altLang="en-US" dirty="0"/>
              <a:t>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1A2D3E-0323-093C-5F36-33D3316B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直流有刷电机驱动接口函数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D77DFD-F5D7-23DF-E9F3-426F05529190}"/>
              </a:ext>
            </a:extLst>
          </p:cNvPr>
          <p:cNvSpPr/>
          <p:nvPr/>
        </p:nvSpPr>
        <p:spPr>
          <a:xfrm>
            <a:off x="3574360" y="3540318"/>
            <a:ext cx="8245005" cy="1190625"/>
          </a:xfrm>
          <a:prstGeom prst="roundRect">
            <a:avLst>
              <a:gd name="adj" fmla="val 1266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 err="1"/>
              <a:t>brush_motor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使能</a:t>
            </a:r>
            <a:r>
              <a:rPr lang="en-US" altLang="zh-CN" sz="2000" b="1" dirty="0">
                <a:solidFill>
                  <a:srgbClr val="FF0000"/>
                </a:solidFill>
              </a:rPr>
              <a:t>H</a:t>
            </a:r>
            <a:r>
              <a:rPr lang="zh-CN" altLang="en-US" sz="2000" b="1" dirty="0">
                <a:solidFill>
                  <a:srgbClr val="FF0000"/>
                </a:solidFill>
              </a:rPr>
              <a:t>桥驱动、更改电机转速、更改电机转向、停止电机</a:t>
            </a:r>
            <a:r>
              <a:rPr lang="zh-CN" altLang="en-US" dirty="0"/>
              <a:t>、一些反馈信号的检测、</a:t>
            </a:r>
            <a:r>
              <a:rPr lang="en-US" altLang="zh-CN" dirty="0"/>
              <a:t>PID</a:t>
            </a:r>
            <a:r>
              <a:rPr lang="zh-CN" altLang="en-US" dirty="0"/>
              <a:t>控制相关的一些接口函数</a:t>
            </a:r>
          </a:p>
        </p:txBody>
      </p:sp>
    </p:spTree>
    <p:extLst>
      <p:ext uri="{BB962C8B-B14F-4D97-AF65-F5344CB8AC3E}">
        <p14:creationId xmlns:p14="http://schemas.microsoft.com/office/powerpoint/2010/main" val="383264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86FEF-D482-7BE9-1860-6C61D1FE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重新分析一下</a:t>
            </a:r>
            <a:r>
              <a:rPr lang="en-US" altLang="zh-CN" dirty="0"/>
              <a:t>H</a:t>
            </a:r>
            <a:r>
              <a:rPr lang="zh-CN" altLang="en-US" dirty="0"/>
              <a:t>桥和</a:t>
            </a:r>
            <a:r>
              <a:rPr lang="en-US" altLang="zh-CN" dirty="0"/>
              <a:t>Timer1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54AB1D3-20D4-5077-1494-148C67A6DAF3}"/>
              </a:ext>
            </a:extLst>
          </p:cNvPr>
          <p:cNvGrpSpPr/>
          <p:nvPr/>
        </p:nvGrpSpPr>
        <p:grpSpPr>
          <a:xfrm>
            <a:off x="2172183" y="1975858"/>
            <a:ext cx="6872781" cy="2746896"/>
            <a:chOff x="17435" y="1097785"/>
            <a:chExt cx="7238406" cy="301724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B2760CB-5757-B059-4D55-5170E166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1010" y="1097785"/>
              <a:ext cx="1971946" cy="301724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67689B4-0DFD-F468-A151-FE11F248A9EE}"/>
                </a:ext>
              </a:extLst>
            </p:cNvPr>
            <p:cNvSpPr/>
            <p:nvPr/>
          </p:nvSpPr>
          <p:spPr>
            <a:xfrm>
              <a:off x="1750226" y="2223242"/>
              <a:ext cx="437537" cy="6989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U4</a:t>
              </a:r>
              <a:endParaRPr lang="zh-CN" altLang="en-US" sz="11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59CE08D-C188-2C41-37CE-1D0257CAD892}"/>
                </a:ext>
              </a:extLst>
            </p:cNvPr>
            <p:cNvSpPr/>
            <p:nvPr/>
          </p:nvSpPr>
          <p:spPr>
            <a:xfrm>
              <a:off x="5193852" y="2223242"/>
              <a:ext cx="437537" cy="6989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U6</a:t>
              </a:r>
              <a:endParaRPr lang="zh-CN" altLang="en-US" sz="11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4C62417-5FA2-6E52-CC9F-21A7038E2C7F}"/>
                </a:ext>
              </a:extLst>
            </p:cNvPr>
            <p:cNvGrpSpPr/>
            <p:nvPr/>
          </p:nvGrpSpPr>
          <p:grpSpPr>
            <a:xfrm rot="5400000">
              <a:off x="1121008" y="2432835"/>
              <a:ext cx="199785" cy="279803"/>
              <a:chOff x="2059321" y="4914604"/>
              <a:chExt cx="199785" cy="279803"/>
            </a:xfrm>
          </p:grpSpPr>
          <p:sp>
            <p:nvSpPr>
              <p:cNvPr id="26" name="等腰三角形 25">
                <a:extLst>
                  <a:ext uri="{FF2B5EF4-FFF2-40B4-BE49-F238E27FC236}">
                    <a16:creationId xmlns:a16="http://schemas.microsoft.com/office/drawing/2014/main" id="{10F6170E-2F1E-158B-88A9-96122EF16C88}"/>
                  </a:ext>
                </a:extLst>
              </p:cNvPr>
              <p:cNvSpPr/>
              <p:nvPr/>
            </p:nvSpPr>
            <p:spPr>
              <a:xfrm>
                <a:off x="2059321" y="4979254"/>
                <a:ext cx="199785" cy="215153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DEEE05B-4975-C6D2-89F2-C58172CB88D8}"/>
                  </a:ext>
                </a:extLst>
              </p:cNvPr>
              <p:cNvSpPr/>
              <p:nvPr/>
            </p:nvSpPr>
            <p:spPr>
              <a:xfrm>
                <a:off x="2129633" y="4914604"/>
                <a:ext cx="59160" cy="646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1A47405-F0E9-5B95-78CE-C9318A75BB2A}"/>
                </a:ext>
              </a:extLst>
            </p:cNvPr>
            <p:cNvGrpSpPr/>
            <p:nvPr/>
          </p:nvGrpSpPr>
          <p:grpSpPr>
            <a:xfrm rot="16200000">
              <a:off x="6134969" y="2432835"/>
              <a:ext cx="199785" cy="279803"/>
              <a:chOff x="2059321" y="4914604"/>
              <a:chExt cx="199785" cy="279803"/>
            </a:xfrm>
          </p:grpSpPr>
          <p:sp>
            <p:nvSpPr>
              <p:cNvPr id="24" name="等腰三角形 23">
                <a:extLst>
                  <a:ext uri="{FF2B5EF4-FFF2-40B4-BE49-F238E27FC236}">
                    <a16:creationId xmlns:a16="http://schemas.microsoft.com/office/drawing/2014/main" id="{AF0712C7-F585-345C-E1C4-D9AAE870B654}"/>
                  </a:ext>
                </a:extLst>
              </p:cNvPr>
              <p:cNvSpPr/>
              <p:nvPr/>
            </p:nvSpPr>
            <p:spPr>
              <a:xfrm>
                <a:off x="2059321" y="4979254"/>
                <a:ext cx="199785" cy="215153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949AD99C-07F5-3BB3-1AB4-87E421573DC5}"/>
                  </a:ext>
                </a:extLst>
              </p:cNvPr>
              <p:cNvSpPr/>
              <p:nvPr/>
            </p:nvSpPr>
            <p:spPr>
              <a:xfrm>
                <a:off x="2129633" y="4914604"/>
                <a:ext cx="59160" cy="646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C21348E4-3930-88F9-176F-9C086F3AD720}"/>
                </a:ext>
              </a:extLst>
            </p:cNvPr>
            <p:cNvCxnSpPr>
              <a:cxnSpLocks/>
              <a:endCxn id="26" idx="3"/>
            </p:cNvCxnSpPr>
            <p:nvPr/>
          </p:nvCxnSpPr>
          <p:spPr>
            <a:xfrm>
              <a:off x="635495" y="2572736"/>
              <a:ext cx="44550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D3471F87-97D5-A66B-8793-5DE9CE87AAC7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 flipH="1">
              <a:off x="6374763" y="2567863"/>
              <a:ext cx="408482" cy="4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73DD7C7-80F2-CAC6-4A9F-40BD23A49D36}"/>
                </a:ext>
              </a:extLst>
            </p:cNvPr>
            <p:cNvSpPr txBox="1"/>
            <p:nvPr/>
          </p:nvSpPr>
          <p:spPr>
            <a:xfrm>
              <a:off x="17435" y="2223242"/>
              <a:ext cx="971099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PWM_UH</a:t>
              </a:r>
              <a:endParaRPr lang="zh-CN" altLang="en-US" sz="14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C9C6F0F-097B-2DAB-CDAC-630AAFF251A6}"/>
                </a:ext>
              </a:extLst>
            </p:cNvPr>
            <p:cNvSpPr txBox="1"/>
            <p:nvPr/>
          </p:nvSpPr>
          <p:spPr>
            <a:xfrm>
              <a:off x="6328637" y="2232984"/>
              <a:ext cx="927204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PWM_UL</a:t>
              </a:r>
              <a:endParaRPr lang="zh-CN" altLang="en-US" sz="1400" dirty="0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84A8D61-2B76-FD98-E440-6BC3AF47653B}"/>
                </a:ext>
              </a:extLst>
            </p:cNvPr>
            <p:cNvCxnSpPr>
              <a:cxnSpLocks/>
              <a:stCxn id="25" idx="0"/>
              <a:endCxn id="7" idx="3"/>
            </p:cNvCxnSpPr>
            <p:nvPr/>
          </p:nvCxnSpPr>
          <p:spPr>
            <a:xfrm flipH="1">
              <a:off x="5631389" y="2572737"/>
              <a:ext cx="4635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057DBEF-58E7-3489-3E89-66E0EAABF208}"/>
                </a:ext>
              </a:extLst>
            </p:cNvPr>
            <p:cNvCxnSpPr>
              <a:cxnSpLocks/>
              <a:stCxn id="27" idx="0"/>
              <a:endCxn id="6" idx="1"/>
            </p:cNvCxnSpPr>
            <p:nvPr/>
          </p:nvCxnSpPr>
          <p:spPr>
            <a:xfrm>
              <a:off x="1360802" y="2572736"/>
              <a:ext cx="38942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3567AF0-AF7B-319C-AE78-47EE92AFB2A3}"/>
                </a:ext>
              </a:extLst>
            </p:cNvPr>
            <p:cNvCxnSpPr/>
            <p:nvPr/>
          </p:nvCxnSpPr>
          <p:spPr>
            <a:xfrm flipH="1" flipV="1">
              <a:off x="4592956" y="2004060"/>
              <a:ext cx="600896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D6972B5-40EE-1E73-C27D-F291E141E5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2956" y="2756632"/>
              <a:ext cx="600896" cy="4110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60EA42D-0761-1EEC-A259-62E88ADE854D}"/>
                </a:ext>
              </a:extLst>
            </p:cNvPr>
            <p:cNvSpPr txBox="1"/>
            <p:nvPr/>
          </p:nvSpPr>
          <p:spPr>
            <a:xfrm>
              <a:off x="4681733" y="2071178"/>
              <a:ext cx="469680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HO</a:t>
              </a:r>
              <a:endParaRPr lang="zh-CN" altLang="en-US" sz="1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FFE7135-03D8-2713-024E-ABCC2FC112F5}"/>
                </a:ext>
              </a:extLst>
            </p:cNvPr>
            <p:cNvSpPr txBox="1"/>
            <p:nvPr/>
          </p:nvSpPr>
          <p:spPr>
            <a:xfrm>
              <a:off x="4681733" y="2729529"/>
              <a:ext cx="425785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LO</a:t>
              </a:r>
              <a:endParaRPr lang="zh-CN" altLang="en-US" sz="14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A6EAF0B-F1E4-B354-C4AE-E410DFDAB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5898" y="2003075"/>
              <a:ext cx="434227" cy="381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6450CFAE-AE2A-4287-0FA5-7A451221FA5E}"/>
                </a:ext>
              </a:extLst>
            </p:cNvPr>
            <p:cNvCxnSpPr>
              <a:cxnSpLocks/>
            </p:cNvCxnSpPr>
            <p:nvPr/>
          </p:nvCxnSpPr>
          <p:spPr>
            <a:xfrm>
              <a:off x="2194860" y="2784432"/>
              <a:ext cx="426150" cy="438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58AEEED-2763-9687-8AA2-33CFBBBDC4FE}"/>
                </a:ext>
              </a:extLst>
            </p:cNvPr>
            <p:cNvSpPr txBox="1"/>
            <p:nvPr/>
          </p:nvSpPr>
          <p:spPr>
            <a:xfrm>
              <a:off x="2183472" y="2098978"/>
              <a:ext cx="469680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HO</a:t>
              </a:r>
              <a:endParaRPr lang="zh-CN" altLang="en-US" sz="14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CDFD1D8-405F-85D7-1B7F-C322FD57A08F}"/>
                </a:ext>
              </a:extLst>
            </p:cNvPr>
            <p:cNvSpPr txBox="1"/>
            <p:nvPr/>
          </p:nvSpPr>
          <p:spPr>
            <a:xfrm>
              <a:off x="2183472" y="2757329"/>
              <a:ext cx="425785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LO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374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BC784-9ED9-F5AE-F86A-B04DF528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2. TIM</a:t>
            </a:r>
            <a:r>
              <a:rPr lang="zh-CN" altLang="en-US" sz="3600" dirty="0"/>
              <a:t>通道使能、改变</a:t>
            </a:r>
            <a:r>
              <a:rPr lang="en-US" altLang="zh-CN" sz="3600" dirty="0"/>
              <a:t>PWM</a:t>
            </a:r>
            <a:r>
              <a:rPr lang="zh-CN" altLang="en-US" sz="3600" dirty="0"/>
              <a:t>占空比的</a:t>
            </a:r>
            <a:r>
              <a:rPr lang="en-US" altLang="zh-CN" sz="3600" dirty="0"/>
              <a:t>HAL</a:t>
            </a:r>
            <a:r>
              <a:rPr lang="zh-CN" altLang="en-US" sz="3600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F8685-8F16-59BC-5F1E-1E2B706DB8C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正向：启用主通道（</a:t>
            </a:r>
            <a:r>
              <a:rPr lang="en-US" altLang="zh-CN" dirty="0"/>
              <a:t>TIM_CHANNEL_1 → PA8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 err="1"/>
              <a:t>HAL_TIM_PWM_Start</a:t>
            </a:r>
            <a:r>
              <a:rPr lang="en-US" altLang="zh-CN" dirty="0"/>
              <a:t>(&amp;htim1, TIM_CHANNEL_1);</a:t>
            </a:r>
          </a:p>
          <a:p>
            <a:r>
              <a:rPr lang="en-US" altLang="zh-CN" dirty="0"/>
              <a:t>// </a:t>
            </a:r>
            <a:r>
              <a:rPr lang="zh-CN" altLang="en-US" dirty="0"/>
              <a:t>反向：启用互补通道（</a:t>
            </a:r>
            <a:r>
              <a:rPr lang="en-US" altLang="zh-CN" dirty="0"/>
              <a:t>TIM_CHANNEL_1N → PB13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 err="1"/>
              <a:t>HAL_TIMEx_PWMN_Start</a:t>
            </a:r>
            <a:r>
              <a:rPr lang="en-US" altLang="zh-CN" dirty="0"/>
              <a:t>(&amp;htim1, TIM_CHANNEL_1);</a:t>
            </a:r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关闭主通道的函数</a:t>
            </a:r>
            <a:endParaRPr lang="en-US" altLang="zh-CN" dirty="0"/>
          </a:p>
          <a:p>
            <a:r>
              <a:rPr lang="en-US" altLang="zh-CN" dirty="0"/>
              <a:t>    HAL_TIM_PWM_STOP(&amp;htim1, TIM_CHANNEL_1);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关闭互补通道的函数</a:t>
            </a:r>
            <a:endParaRPr lang="en-US" altLang="zh-CN" dirty="0"/>
          </a:p>
          <a:p>
            <a:r>
              <a:rPr lang="zh-CN" altLang="en-US" dirty="0"/>
              <a:t>    </a:t>
            </a:r>
            <a:r>
              <a:rPr lang="en-US" altLang="zh-CN" dirty="0" err="1"/>
              <a:t>HAL_TIMEx_PWMN_Stop</a:t>
            </a:r>
            <a:r>
              <a:rPr lang="en-US" altLang="zh-CN" dirty="0"/>
              <a:t>(&amp;htim1, TIM_CHANNEL_1); 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设置比较值（核心：修改</a:t>
            </a:r>
            <a:r>
              <a:rPr lang="en-US" altLang="zh-CN" dirty="0"/>
              <a:t>PWM</a:t>
            </a:r>
            <a:r>
              <a:rPr lang="zh-CN" altLang="en-US" dirty="0"/>
              <a:t>占空比）</a:t>
            </a:r>
          </a:p>
          <a:p>
            <a:r>
              <a:rPr lang="en-US" altLang="zh-CN" dirty="0"/>
              <a:t>__HAL_TIM_SET_COMPARE(&amp;htim1, TIM_CHANNEL_1, </a:t>
            </a:r>
            <a:r>
              <a:rPr lang="en-US" altLang="zh-CN" dirty="0" err="1"/>
              <a:t>compare_val</a:t>
            </a:r>
            <a:r>
              <a:rPr lang="en-US" altLang="zh-CN" dirty="0"/>
              <a:t>);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29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3736</TotalTime>
  <Words>271</Words>
  <Application>Microsoft Office PowerPoint</Application>
  <PresentationFormat>宽屏</PresentationFormat>
  <Paragraphs>42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1. 直流有刷电机驱动接口函数</vt:lpstr>
      <vt:lpstr>重新分析一下H桥和Timer1</vt:lpstr>
      <vt:lpstr>2. TIM通道使能、改变PWM占空比的HAL函数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75</cp:revision>
  <dcterms:created xsi:type="dcterms:W3CDTF">2025-05-21T06:55:53Z</dcterms:created>
  <dcterms:modified xsi:type="dcterms:W3CDTF">2025-07-29T08:48:43Z</dcterms:modified>
</cp:coreProperties>
</file>