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9" r:id="rId2"/>
    <p:sldId id="294" r:id="rId3"/>
    <p:sldId id="292" r:id="rId4"/>
    <p:sldId id="287" r:id="rId5"/>
    <p:sldId id="282" r:id="rId6"/>
    <p:sldId id="283" r:id="rId7"/>
    <p:sldId id="293" r:id="rId8"/>
    <p:sldId id="286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61" autoAdjust="0"/>
    <p:restoredTop sz="96652" autoAdjust="0"/>
  </p:normalViewPr>
  <p:slideViewPr>
    <p:cSldViewPr snapToGrid="0">
      <p:cViewPr varScale="1">
        <p:scale>
          <a:sx n="110" d="100"/>
          <a:sy n="110" d="100"/>
        </p:scale>
        <p:origin x="114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FA423-769F-0D50-8978-A746DD19C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225" y="365125"/>
            <a:ext cx="10267950" cy="7588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C781BF-EA3C-EF47-1469-E52350BDD7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825" y="6356350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0A28E4B-8D0A-4608-9DAE-00FBA1A70945}" type="datetimeFigureOut">
              <a:rPr lang="zh-CN" altLang="en-US" smtClean="0"/>
              <a:pPr/>
              <a:t>2025/8/6</a:t>
            </a:fld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2C1EA7-1D5B-5D35-7386-B82F0D2999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43975" y="6356350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FCB2E52-3EBE-40F1-B7CA-E76F5B1CA9D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FF2483-EB6F-58CF-4D52-6F2A86B457C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4825" y="1362076"/>
            <a:ext cx="11182350" cy="4867274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A678FE9D-492D-106D-E13C-D12CAD8B8FBE}"/>
              </a:ext>
            </a:extLst>
          </p:cNvPr>
          <p:cNvSpPr/>
          <p:nvPr userDrawn="1"/>
        </p:nvSpPr>
        <p:spPr>
          <a:xfrm>
            <a:off x="733425" y="511177"/>
            <a:ext cx="319087" cy="374648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9CBF875-8197-1C4D-2759-669F3DCB4C7B}"/>
              </a:ext>
            </a:extLst>
          </p:cNvPr>
          <p:cNvSpPr/>
          <p:nvPr userDrawn="1"/>
        </p:nvSpPr>
        <p:spPr>
          <a:xfrm>
            <a:off x="504825" y="511177"/>
            <a:ext cx="319087" cy="374648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E6FF394C-7213-6672-5B4E-FFAA7ABC0724}"/>
              </a:ext>
            </a:extLst>
          </p:cNvPr>
          <p:cNvSpPr/>
          <p:nvPr userDrawn="1"/>
        </p:nvSpPr>
        <p:spPr>
          <a:xfrm>
            <a:off x="962025" y="511177"/>
            <a:ext cx="319087" cy="374648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763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2380" y="0"/>
            <a:ext cx="12196761" cy="6858000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-834428" y="-28011"/>
            <a:ext cx="2564716" cy="2564716"/>
          </a:xfrm>
          <a:prstGeom prst="ellipse">
            <a:avLst/>
          </a:prstGeom>
          <a:gradFill>
            <a:gsLst>
              <a:gs pos="0">
                <a:schemeClr val="accent1">
                  <a:alpha val="30000"/>
                </a:schemeClr>
              </a:gs>
              <a:gs pos="72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732604" y="3983139"/>
            <a:ext cx="964526" cy="1339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年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01" y="661753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854066" y="2314292"/>
            <a:ext cx="6236745" cy="137407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直流有刷电机原理</a:t>
            </a:r>
            <a:endParaRPr kumimoji="1" lang="en-US" altLang="zh-CN" sz="4000" b="1" dirty="0">
              <a:ln w="12700">
                <a:noFill/>
              </a:ln>
              <a:solidFill>
                <a:srgbClr val="FFFFFF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88F529D7-72E7-4171-3645-5C3DF0D8C0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235" b="95531" l="2198" r="97619">
                        <a14:foregroundMark x1="2726" y1="41333" x2="2703" y2="42458"/>
                        <a14:foregroundMark x1="3373" y1="10206" x2="3322" y2="12632"/>
                        <a14:foregroundMark x1="5158" y1="91650" x2="5612" y2="92646"/>
                        <a14:foregroundMark x1="3230" y1="87422" x2="4770" y2="90799"/>
                        <a14:foregroundMark x1="97189" y1="90576" x2="97373" y2="89700"/>
                        <a14:foregroundMark x1="96585" y1="8970" x2="91977" y2="5939"/>
                        <a14:foregroundMark x1="5490" y1="86018" x2="30220" y2="83799"/>
                        <a14:foregroundMark x1="30220" y1="83799" x2="82051" y2="86872"/>
                        <a14:foregroundMark x1="82051" y1="86872" x2="72781" y2="91899"/>
                        <a14:foregroundMark x1="7542" y1="92138" x2="4762" y2="86034"/>
                        <a14:foregroundMark x1="83616" y1="8429" x2="80037" y2="17877"/>
                        <a14:foregroundMark x1="80037" y1="17877" x2="86813" y2="91061"/>
                        <a14:foregroundMark x1="86813" y1="91061" x2="96519" y2="89665"/>
                        <a14:foregroundMark x1="96017" y1="16473" x2="91508" y2="7063"/>
                        <a14:foregroundMark x1="92857" y1="8101" x2="92674" y2="6704"/>
                        <a14:foregroundMark x1="93956" y1="7542" x2="96014" y2="16175"/>
                        <a14:foregroundMark x1="96065" y1="23475" x2="89927" y2="16760"/>
                        <a14:foregroundMark x1="89927" y1="16760" x2="93223" y2="6425"/>
                        <a14:foregroundMark x1="95998" y1="13825" x2="95385" y2="10784"/>
                        <a14:foregroundMark x1="95961" y1="8403" x2="95971" y2="8380"/>
                        <a14:foregroundMark x1="20696" y1="61453" x2="21062" y2="63408"/>
                        <a14:foregroundMark x1="63736" y1="91341" x2="63919" y2="91061"/>
                        <a14:foregroundMark x1="73260" y1="91620" x2="73979" y2="91899"/>
                        <a14:foregroundMark x1="74493" y1="91899" x2="73810" y2="91620"/>
                        <a14:foregroundMark x1="73810" y1="91620" x2="72711" y2="91620"/>
                        <a14:foregroundMark x1="67582" y1="87989" x2="67033" y2="89665"/>
                        <a14:foregroundMark x1="67766" y1="91061" x2="63187" y2="90503"/>
                        <a14:foregroundMark x1="68132" y1="92737" x2="67766" y2="93017"/>
                        <a14:foregroundMark x1="68863" y1="93967" x2="67766" y2="94413"/>
                        <a14:foregroundMark x1="2826" y1="58659" x2="2812" y2="58961"/>
                        <a14:foregroundMark x1="3114" y1="52235" x2="3039" y2="53911"/>
                        <a14:foregroundMark x1="2813" y1="73771" x2="5495" y2="78771"/>
                        <a14:foregroundMark x1="3976" y1="8543" x2="3846" y2="8939"/>
                        <a14:foregroundMark x1="71245" y1="94413" x2="70696" y2="94972"/>
                        <a14:foregroundMark x1="71429" y1="94972" x2="71062" y2="95251"/>
                        <a14:foregroundMark x1="78205" y1="94972" x2="83150" y2="92737"/>
                        <a14:foregroundMark x1="91758" y1="5866" x2="90842" y2="5866"/>
                        <a14:backgroundMark x1="3114" y1="94972" x2="4029" y2="94693"/>
                        <a14:backgroundMark x1="84641" y1="97416" x2="97253" y2="97765"/>
                        <a14:backgroundMark x1="73035" y1="97096" x2="75939" y2="97176"/>
                        <a14:backgroundMark x1="6227" y1="95251" x2="72096" y2="97070"/>
                        <a14:backgroundMark x1="69270" y1="97421" x2="6410" y2="96648"/>
                        <a14:backgroundMark x1="72355" y1="97459" x2="71479" y2="97448"/>
                        <a14:backgroundMark x1="76809" y1="97514" x2="73285" y2="97470"/>
                        <a14:backgroundMark x1="97253" y1="97765" x2="84710" y2="97611"/>
                        <a14:backgroundMark x1="1099" y1="3073" x2="0" y2="838"/>
                        <a14:backgroundMark x1="4396" y1="1397" x2="3663" y2="2514"/>
                        <a14:backgroundMark x1="6410" y1="1955" x2="4945" y2="2793"/>
                        <a14:backgroundMark x1="13187" y1="559" x2="85714" y2="4469"/>
                        <a14:backgroundMark x1="85714" y1="4469" x2="14469" y2="838"/>
                        <a14:backgroundMark x1="90110" y1="1397" x2="88645" y2="1117"/>
                        <a14:backgroundMark x1="89560" y1="2514" x2="86447" y2="2514"/>
                        <a14:backgroundMark x1="89194" y1="3073" x2="86447" y2="3073"/>
                        <a14:backgroundMark x1="87912" y1="2514" x2="86813" y2="3352"/>
                        <a14:backgroundMark x1="99084" y1="9497" x2="99634" y2="89665"/>
                        <a14:backgroundMark x1="4579" y1="4749" x2="13370" y2="3911"/>
                        <a14:backgroundMark x1="3476" y1="8677" x2="3114" y2="10056"/>
                        <a14:backgroundMark x1="4579" y1="4469" x2="4389" y2="5193"/>
                        <a14:backgroundMark x1="2352" y1="80389" x2="2381" y2="87430"/>
                        <a14:backgroundMark x1="2198" y1="43017" x2="2236" y2="52143"/>
                        <a14:backgroundMark x1="2381" y1="87430" x2="2381" y2="87151"/>
                        <a14:backgroundMark x1="2015" y1="58939" x2="1832" y2="73743"/>
                        <a14:backgroundMark x1="1832" y1="73743" x2="1832" y2="73743"/>
                        <a14:backgroundMark x1="85531" y1="5028" x2="88462" y2="4469"/>
                        <a14:backgroundMark x1="2930" y1="5028" x2="7875" y2="3911"/>
                        <a14:backgroundMark x1="96703" y1="92737" x2="96703" y2="94693"/>
                        <a14:backgroundMark x1="96520" y1="92179" x2="97619" y2="92179"/>
                        <a14:backgroundMark x1="84432" y1="95251" x2="82784" y2="96369"/>
                        <a14:backgroundMark x1="91642" y1="5587" x2="92125" y2="5587"/>
                        <a14:backgroundMark x1="97619" y1="8659" x2="97802" y2="10056"/>
                        <a14:backgroundMark x1="2381" y1="31564" x2="2564" y2="41341"/>
                        <a14:backgroundMark x1="2564" y1="29609" x2="2381" y2="31564"/>
                        <a14:backgroundMark x1="2381" y1="57263" x2="2381" y2="58939"/>
                        <a14:backgroundMark x1="2747" y1="54469" x2="2747" y2="58659"/>
                        <a14:backgroundMark x1="2747" y1="53911" x2="2747" y2="55307"/>
                        <a14:backgroundMark x1="62821" y1="92458" x2="63004" y2="95810"/>
                        <a14:backgroundMark x1="75092" y1="92179" x2="75458" y2="96369"/>
                        <a14:backgroundMark x1="71978" y1="92458" x2="71978" y2="95251"/>
                        <a14:backgroundMark x1="75275" y1="91899" x2="75458" y2="94413"/>
                        <a14:backgroundMark x1="72161" y1="91899" x2="72161" y2="94413"/>
                        <a14:backgroundMark x1="77994" y1="95571" x2="77289" y2="95531"/>
                        <a14:backgroundMark x1="82234" y1="95810" x2="82069" y2="95801"/>
                        <a14:backgroundMark x1="2747" y1="73743" x2="2747" y2="74860"/>
                        <a14:backgroundMark x1="2381" y1="42458" x2="2381" y2="44972"/>
                        <a14:backgroundMark x1="0" y1="559" x2="549" y2="326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19863" y="989588"/>
            <a:ext cx="4555044" cy="2986642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854066" y="1730900"/>
            <a:ext cx="2178148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【02-01】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A7EF215-8EFD-9F8E-E6D7-C0B5380B9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27" t="8026" r="8615" b="9094"/>
          <a:stretch>
            <a:fillRect/>
          </a:stretch>
        </p:blipFill>
        <p:spPr>
          <a:xfrm>
            <a:off x="661850" y="975359"/>
            <a:ext cx="3330591" cy="4136572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B491DB78-EDC6-4471-5FA5-3A96BFE6B66D}"/>
              </a:ext>
            </a:extLst>
          </p:cNvPr>
          <p:cNvSpPr txBox="1"/>
          <p:nvPr/>
        </p:nvSpPr>
        <p:spPr>
          <a:xfrm>
            <a:off x="4267199" y="1862540"/>
            <a:ext cx="4972596" cy="236221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6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直流有刷电机</a:t>
            </a:r>
            <a:endParaRPr kumimoji="1" lang="en-US" altLang="zh-CN" sz="6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kumimoji="1" lang="zh-CN" altLang="en-US" sz="6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快速入门</a:t>
            </a:r>
            <a:endParaRPr kumimoji="1" lang="en-US" altLang="zh-CN" sz="6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1571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B134942-3E80-939C-3E88-5B5D5468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79A089-F6A9-4016-56A4-4543CDC9AA5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1 </a:t>
            </a:r>
            <a:r>
              <a:rPr lang="zh-CN" altLang="en-US" dirty="0"/>
              <a:t>切割磁力线的线圈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 </a:t>
            </a:r>
            <a:r>
              <a:rPr lang="zh-CN" altLang="en-US" dirty="0"/>
              <a:t>加上碳刷之后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3 </a:t>
            </a:r>
            <a:r>
              <a:rPr lang="zh-CN" altLang="en-US" dirty="0"/>
              <a:t>直流有刷电机拆解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4 H</a:t>
            </a:r>
            <a:r>
              <a:rPr lang="zh-CN" altLang="en-US" dirty="0"/>
              <a:t>桥电路初探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51845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B134942-3E80-939C-3E88-5B5D5468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切割磁力线的线圈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62DC2763-6A0A-C190-EF7C-5AEB6096C84A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219" b="93777" l="5079" r="95797">
                        <a14:foregroundMark x1="8932" y1="46137" x2="12025" y2="48269"/>
                        <a14:foregroundMark x1="24050" y1="58653" x2="27846" y2="63305"/>
                        <a14:foregroundMark x1="20140" y1="53863" x2="22375" y2="56601"/>
                        <a14:foregroundMark x1="27846" y1="63305" x2="40806" y2="87339"/>
                        <a14:foregroundMark x1="40806" y1="87339" x2="54116" y2="91416"/>
                        <a14:foregroundMark x1="54116" y1="91416" x2="63748" y2="98498"/>
                        <a14:foregroundMark x1="63748" y1="98498" x2="91594" y2="89485"/>
                        <a14:foregroundMark x1="91594" y1="89485" x2="96147" y2="70601"/>
                        <a14:foregroundMark x1="96147" y1="70601" x2="93695" y2="39056"/>
                        <a14:foregroundMark x1="93695" y1="39056" x2="79860" y2="17811"/>
                        <a14:foregroundMark x1="79860" y1="17811" x2="60771" y2="6867"/>
                        <a14:foregroundMark x1="60771" y1="6867" x2="38179" y2="858"/>
                        <a14:foregroundMark x1="38179" y1="858" x2="11033" y2="7082"/>
                        <a14:foregroundMark x1="11033" y1="7082" x2="3503" y2="17597"/>
                        <a14:foregroundMark x1="3503" y1="17597" x2="1401" y2="35193"/>
                        <a14:foregroundMark x1="1401" y1="35193" x2="5079" y2="45923"/>
                        <a14:foregroundMark x1="5079" y1="45923" x2="9107" y2="46567"/>
                        <a14:foregroundMark x1="19089" y1="6867" x2="27671" y2="1073"/>
                        <a14:foregroundMark x1="27671" y1="1073" x2="45359" y2="3433"/>
                        <a14:foregroundMark x1="45359" y1="3433" x2="56567" y2="14807"/>
                        <a14:foregroundMark x1="61296" y1="15665" x2="74431" y2="31330"/>
                        <a14:foregroundMark x1="74431" y1="31330" x2="77583" y2="48927"/>
                        <a14:foregroundMark x1="77583" y1="48927" x2="93520" y2="45064"/>
                        <a14:foregroundMark x1="93520" y1="45064" x2="95797" y2="46996"/>
                        <a14:foregroundMark x1="28371" y1="42275" x2="29422" y2="57296"/>
                        <a14:foregroundMark x1="29422" y1="57296" x2="53940" y2="62446"/>
                        <a14:foregroundMark x1="53940" y1="62446" x2="72855" y2="60730"/>
                        <a14:foregroundMark x1="72855" y1="60730" x2="76883" y2="40129"/>
                        <a14:foregroundMark x1="76883" y1="40129" x2="68126" y2="16094"/>
                        <a14:foregroundMark x1="68126" y1="16094" x2="45709" y2="18026"/>
                        <a14:foregroundMark x1="45709" y1="18026" x2="27496" y2="32403"/>
                        <a14:foregroundMark x1="27496" y1="32403" x2="26970" y2="41202"/>
                        <a14:foregroundMark x1="39229" y1="38841" x2="49387" y2="41416"/>
                        <a14:foregroundMark x1="49387" y1="41416" x2="39054" y2="37554"/>
                        <a14:foregroundMark x1="39054" y1="37554" x2="38529" y2="39270"/>
                        <a14:foregroundMark x1="59720" y1="28326" x2="48687" y2="29828"/>
                        <a14:foregroundMark x1="48687" y1="29828" x2="48161" y2="31116"/>
                        <a14:foregroundMark x1="60070" y1="37339" x2="57443" y2="40987"/>
                        <a14:foregroundMark x1="62872" y1="56223" x2="60420" y2="55150"/>
                        <a14:foregroundMark x1="37478" y1="30258" x2="39405" y2="30901"/>
                        <a14:foregroundMark x1="25744" y1="47639" x2="24694" y2="46352"/>
                        <a14:foregroundMark x1="24869" y1="48927" x2="20490" y2="49785"/>
                        <a14:foregroundMark x1="22067" y1="50644" x2="21191" y2="51073"/>
                        <a14:foregroundMark x1="18914" y1="50429" x2="19264" y2="50429"/>
                        <a14:foregroundMark x1="18214" y1="50644" x2="18214" y2="51502"/>
                        <a14:foregroundMark x1="19790" y1="51717" x2="18914" y2="52361"/>
                        <a14:foregroundMark x1="57618" y1="93777" x2="54816" y2="91416"/>
                        <a14:foregroundMark x1="15937" y1="48283" x2="15937" y2="48927"/>
                        <a14:foregroundMark x1="17163" y1="48712" x2="15412" y2="47210"/>
                        <a14:foregroundMark x1="13310" y1="44635" x2="12609" y2="45279"/>
                        <a14:foregroundMark x1="24869" y1="48712" x2="20140" y2="47210"/>
                        <a14:foregroundMark x1="22942" y1="49571" x2="18214" y2="50215"/>
                        <a14:foregroundMark x1="11559" y1="47854" x2="10858" y2="46996"/>
                        <a14:foregroundMark x1="15061" y1="49142" x2="13835" y2="47854"/>
                        <a14:backgroundMark x1="14186" y1="52361" x2="14361" y2="52146"/>
                        <a14:backgroundMark x1="8231" y1="55794" x2="7531" y2="59227"/>
                        <a14:backgroundMark x1="19615" y1="66738" x2="18214" y2="66738"/>
                        <a14:backgroundMark x1="13310" y1="50644" x2="13310" y2="50644"/>
                        <a14:backgroundMark x1="16112" y1="50429" x2="15538" y2="50473"/>
                        <a14:backgroundMark x1="20315" y1="55579" x2="19790" y2="57082"/>
                        <a14:backgroundMark x1="23117" y1="63090" x2="22942" y2="76609"/>
                        <a14:backgroundMark x1="22942" y1="76609" x2="16287" y2="67597"/>
                        <a14:backgroundMark x1="16749" y1="51502" x2="16462" y2="53433"/>
                        <a14:backgroundMark x1="22592" y1="57296" x2="22417" y2="57725"/>
                        <a14:backgroundMark x1="22067" y1="60300" x2="22417" y2="61373"/>
                        <a14:backgroundMark x1="21191" y1="57511" x2="21366" y2="58798"/>
                        <a14:backgroundMark x1="25219" y1="71674" x2="26620" y2="84120"/>
                        <a14:backgroundMark x1="26620" y1="84120" x2="25744" y2="70815"/>
                        <a14:backgroundMark x1="25744" y1="70815" x2="23117" y2="72103"/>
                        <a14:backgroundMark x1="20140" y1="54077" x2="18739" y2="532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93488" y="1426324"/>
            <a:ext cx="4361190" cy="3559220"/>
          </a:xfr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57C1486-1D11-B8B4-E8F9-AB19BA8482ED}"/>
              </a:ext>
            </a:extLst>
          </p:cNvPr>
          <p:cNvSpPr/>
          <p:nvPr/>
        </p:nvSpPr>
        <p:spPr>
          <a:xfrm rot="3073382">
            <a:off x="7354152" y="4053783"/>
            <a:ext cx="971242" cy="420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4B7843E-2A98-BC77-2FDF-F35924F01FDA}"/>
              </a:ext>
            </a:extLst>
          </p:cNvPr>
          <p:cNvSpPr/>
          <p:nvPr/>
        </p:nvSpPr>
        <p:spPr>
          <a:xfrm rot="3154208">
            <a:off x="7428173" y="3771421"/>
            <a:ext cx="130628" cy="174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85BBBE-8245-1516-286D-EA923F4FE910}"/>
              </a:ext>
            </a:extLst>
          </p:cNvPr>
          <p:cNvSpPr txBox="1"/>
          <p:nvPr/>
        </p:nvSpPr>
        <p:spPr>
          <a:xfrm>
            <a:off x="7441771" y="3814674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260C0DE-4F97-BD7F-BF48-35FCC448FAFE}"/>
              </a:ext>
            </a:extLst>
          </p:cNvPr>
          <p:cNvSpPr txBox="1"/>
          <p:nvPr/>
        </p:nvSpPr>
        <p:spPr>
          <a:xfrm>
            <a:off x="7892027" y="433450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-</a:t>
            </a:r>
            <a:endParaRPr lang="zh-CN" altLang="en-US" dirty="0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0AB74533-9B20-A0EE-C819-B2F4747E947C}"/>
              </a:ext>
            </a:extLst>
          </p:cNvPr>
          <p:cNvSpPr/>
          <p:nvPr/>
        </p:nvSpPr>
        <p:spPr>
          <a:xfrm>
            <a:off x="7498080" y="3360294"/>
            <a:ext cx="896983" cy="419226"/>
          </a:xfrm>
          <a:custGeom>
            <a:avLst/>
            <a:gdLst>
              <a:gd name="connsiteX0" fmla="*/ 0 w 896983"/>
              <a:gd name="connsiteY0" fmla="*/ 419226 h 419226"/>
              <a:gd name="connsiteX1" fmla="*/ 26126 w 896983"/>
              <a:gd name="connsiteY1" fmla="*/ 253763 h 419226"/>
              <a:gd name="connsiteX2" fmla="*/ 130628 w 896983"/>
              <a:gd name="connsiteY2" fmla="*/ 140552 h 419226"/>
              <a:gd name="connsiteX3" fmla="*/ 226423 w 896983"/>
              <a:gd name="connsiteY3" fmla="*/ 88300 h 419226"/>
              <a:gd name="connsiteX4" fmla="*/ 400594 w 896983"/>
              <a:gd name="connsiteY4" fmla="*/ 18632 h 419226"/>
              <a:gd name="connsiteX5" fmla="*/ 444137 w 896983"/>
              <a:gd name="connsiteY5" fmla="*/ 9923 h 419226"/>
              <a:gd name="connsiteX6" fmla="*/ 470263 w 896983"/>
              <a:gd name="connsiteY6" fmla="*/ 1215 h 419226"/>
              <a:gd name="connsiteX7" fmla="*/ 896983 w 896983"/>
              <a:gd name="connsiteY7" fmla="*/ 1215 h 419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6983" h="419226">
                <a:moveTo>
                  <a:pt x="0" y="419226"/>
                </a:moveTo>
                <a:cubicBezTo>
                  <a:pt x="3291" y="379731"/>
                  <a:pt x="3441" y="296298"/>
                  <a:pt x="26126" y="253763"/>
                </a:cubicBezTo>
                <a:cubicBezTo>
                  <a:pt x="48451" y="211905"/>
                  <a:pt x="90075" y="166793"/>
                  <a:pt x="130628" y="140552"/>
                </a:cubicBezTo>
                <a:cubicBezTo>
                  <a:pt x="161166" y="120792"/>
                  <a:pt x="193890" y="104566"/>
                  <a:pt x="226423" y="88300"/>
                </a:cubicBezTo>
                <a:cubicBezTo>
                  <a:pt x="290044" y="56490"/>
                  <a:pt x="333886" y="37692"/>
                  <a:pt x="400594" y="18632"/>
                </a:cubicBezTo>
                <a:cubicBezTo>
                  <a:pt x="414826" y="14566"/>
                  <a:pt x="429777" y="13513"/>
                  <a:pt x="444137" y="9923"/>
                </a:cubicBezTo>
                <a:cubicBezTo>
                  <a:pt x="453043" y="7697"/>
                  <a:pt x="461085" y="1391"/>
                  <a:pt x="470263" y="1215"/>
                </a:cubicBezTo>
                <a:cubicBezTo>
                  <a:pt x="612477" y="-1520"/>
                  <a:pt x="754743" y="1215"/>
                  <a:pt x="896983" y="1215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1CD7CF9-2F25-1D1C-F431-C1DF4BA9A5F4}"/>
              </a:ext>
            </a:extLst>
          </p:cNvPr>
          <p:cNvSpPr/>
          <p:nvPr/>
        </p:nvSpPr>
        <p:spPr>
          <a:xfrm>
            <a:off x="8125097" y="3640183"/>
            <a:ext cx="539958" cy="1271451"/>
          </a:xfrm>
          <a:custGeom>
            <a:avLst/>
            <a:gdLst>
              <a:gd name="connsiteX0" fmla="*/ 409303 w 539958"/>
              <a:gd name="connsiteY0" fmla="*/ 0 h 1271451"/>
              <a:gd name="connsiteX1" fmla="*/ 383177 w 539958"/>
              <a:gd name="connsiteY1" fmla="*/ 156754 h 1271451"/>
              <a:gd name="connsiteX2" fmla="*/ 391886 w 539958"/>
              <a:gd name="connsiteY2" fmla="*/ 357051 h 1271451"/>
              <a:gd name="connsiteX3" fmla="*/ 426720 w 539958"/>
              <a:gd name="connsiteY3" fmla="*/ 444137 h 1271451"/>
              <a:gd name="connsiteX4" fmla="*/ 461554 w 539958"/>
              <a:gd name="connsiteY4" fmla="*/ 522514 h 1271451"/>
              <a:gd name="connsiteX5" fmla="*/ 522514 w 539958"/>
              <a:gd name="connsiteY5" fmla="*/ 679269 h 1271451"/>
              <a:gd name="connsiteX6" fmla="*/ 539931 w 539958"/>
              <a:gd name="connsiteY6" fmla="*/ 870857 h 1271451"/>
              <a:gd name="connsiteX7" fmla="*/ 487680 w 539958"/>
              <a:gd name="connsiteY7" fmla="*/ 1140823 h 1271451"/>
              <a:gd name="connsiteX8" fmla="*/ 435429 w 539958"/>
              <a:gd name="connsiteY8" fmla="*/ 1201783 h 1271451"/>
              <a:gd name="connsiteX9" fmla="*/ 322217 w 539958"/>
              <a:gd name="connsiteY9" fmla="*/ 1271451 h 1271451"/>
              <a:gd name="connsiteX10" fmla="*/ 226423 w 539958"/>
              <a:gd name="connsiteY10" fmla="*/ 1227909 h 1271451"/>
              <a:gd name="connsiteX11" fmla="*/ 174171 w 539958"/>
              <a:gd name="connsiteY11" fmla="*/ 1210491 h 1271451"/>
              <a:gd name="connsiteX12" fmla="*/ 139337 w 539958"/>
              <a:gd name="connsiteY12" fmla="*/ 1184366 h 1271451"/>
              <a:gd name="connsiteX13" fmla="*/ 95794 w 539958"/>
              <a:gd name="connsiteY13" fmla="*/ 1166949 h 1271451"/>
              <a:gd name="connsiteX14" fmla="*/ 78377 w 539958"/>
              <a:gd name="connsiteY14" fmla="*/ 1132114 h 1271451"/>
              <a:gd name="connsiteX15" fmla="*/ 60960 w 539958"/>
              <a:gd name="connsiteY15" fmla="*/ 1105989 h 1271451"/>
              <a:gd name="connsiteX16" fmla="*/ 43543 w 539958"/>
              <a:gd name="connsiteY16" fmla="*/ 1053737 h 1271451"/>
              <a:gd name="connsiteX17" fmla="*/ 17417 w 539958"/>
              <a:gd name="connsiteY17" fmla="*/ 1036320 h 1271451"/>
              <a:gd name="connsiteX18" fmla="*/ 0 w 539958"/>
              <a:gd name="connsiteY18" fmla="*/ 1010194 h 1271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9958" h="1271451">
                <a:moveTo>
                  <a:pt x="409303" y="0"/>
                </a:moveTo>
                <a:cubicBezTo>
                  <a:pt x="400361" y="44706"/>
                  <a:pt x="384129" y="122489"/>
                  <a:pt x="383177" y="156754"/>
                </a:cubicBezTo>
                <a:cubicBezTo>
                  <a:pt x="381321" y="223557"/>
                  <a:pt x="381875" y="290976"/>
                  <a:pt x="391886" y="357051"/>
                </a:cubicBezTo>
                <a:cubicBezTo>
                  <a:pt x="396570" y="387963"/>
                  <a:pt x="414588" y="415322"/>
                  <a:pt x="426720" y="444137"/>
                </a:cubicBezTo>
                <a:cubicBezTo>
                  <a:pt x="437814" y="470486"/>
                  <a:pt x="450767" y="496037"/>
                  <a:pt x="461554" y="522514"/>
                </a:cubicBezTo>
                <a:cubicBezTo>
                  <a:pt x="482707" y="574434"/>
                  <a:pt x="522514" y="679269"/>
                  <a:pt x="522514" y="679269"/>
                </a:cubicBezTo>
                <a:cubicBezTo>
                  <a:pt x="524760" y="701723"/>
                  <a:pt x="540713" y="856397"/>
                  <a:pt x="539931" y="870857"/>
                </a:cubicBezTo>
                <a:cubicBezTo>
                  <a:pt x="535632" y="950388"/>
                  <a:pt x="540061" y="1065161"/>
                  <a:pt x="487680" y="1140823"/>
                </a:cubicBezTo>
                <a:cubicBezTo>
                  <a:pt x="472446" y="1162827"/>
                  <a:pt x="455094" y="1183630"/>
                  <a:pt x="435429" y="1201783"/>
                </a:cubicBezTo>
                <a:cubicBezTo>
                  <a:pt x="396526" y="1237694"/>
                  <a:pt x="367247" y="1248937"/>
                  <a:pt x="322217" y="1271451"/>
                </a:cubicBezTo>
                <a:cubicBezTo>
                  <a:pt x="245725" y="1252329"/>
                  <a:pt x="334835" y="1277946"/>
                  <a:pt x="226423" y="1227909"/>
                </a:cubicBezTo>
                <a:cubicBezTo>
                  <a:pt x="209753" y="1220215"/>
                  <a:pt x="191588" y="1216297"/>
                  <a:pt x="174171" y="1210491"/>
                </a:cubicBezTo>
                <a:cubicBezTo>
                  <a:pt x="162560" y="1201783"/>
                  <a:pt x="152025" y="1191415"/>
                  <a:pt x="139337" y="1184366"/>
                </a:cubicBezTo>
                <a:cubicBezTo>
                  <a:pt x="125672" y="1176774"/>
                  <a:pt x="107663" y="1177122"/>
                  <a:pt x="95794" y="1166949"/>
                </a:cubicBezTo>
                <a:cubicBezTo>
                  <a:pt x="85937" y="1158500"/>
                  <a:pt x="84818" y="1143386"/>
                  <a:pt x="78377" y="1132114"/>
                </a:cubicBezTo>
                <a:cubicBezTo>
                  <a:pt x="73184" y="1123027"/>
                  <a:pt x="65211" y="1115553"/>
                  <a:pt x="60960" y="1105989"/>
                </a:cubicBezTo>
                <a:cubicBezTo>
                  <a:pt x="53504" y="1089212"/>
                  <a:pt x="58819" y="1063921"/>
                  <a:pt x="43543" y="1053737"/>
                </a:cubicBezTo>
                <a:lnTo>
                  <a:pt x="17417" y="1036320"/>
                </a:lnTo>
                <a:cubicBezTo>
                  <a:pt x="7791" y="1007440"/>
                  <a:pt x="17889" y="1010194"/>
                  <a:pt x="0" y="1010194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9097F525-C46B-9EAB-4EB7-0A3ABC941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13" y="2194306"/>
            <a:ext cx="4637977" cy="222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626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1D8D4-C8D3-DEF9-D2A5-9B668B1A7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66C5EB8B-62A7-8475-BACC-A7222A44C8B9}"/>
              </a:ext>
            </a:extLst>
          </p:cNvPr>
          <p:cNvSpPr txBox="1"/>
          <p:nvPr/>
        </p:nvSpPr>
        <p:spPr>
          <a:xfrm rot="2544951">
            <a:off x="415546" y="374372"/>
            <a:ext cx="134622" cy="197908"/>
          </a:xfrm>
          <a:custGeom>
            <a:avLst/>
            <a:gdLst>
              <a:gd name="connsiteX0" fmla="*/ 265175 w 356639"/>
              <a:gd name="connsiteY0" fmla="*/ 0 h 524296"/>
              <a:gd name="connsiteX1" fmla="*/ 356639 w 356639"/>
              <a:gd name="connsiteY1" fmla="*/ 0 h 524296"/>
              <a:gd name="connsiteX2" fmla="*/ 356639 w 356639"/>
              <a:gd name="connsiteY2" fmla="*/ 521734 h 524296"/>
              <a:gd name="connsiteX3" fmla="*/ 345917 w 356639"/>
              <a:gd name="connsiteY3" fmla="*/ 521734 h 524296"/>
              <a:gd name="connsiteX4" fmla="*/ 345921 w 356639"/>
              <a:gd name="connsiteY4" fmla="*/ 522433 h 524296"/>
              <a:gd name="connsiteX5" fmla="*/ 493 w 356639"/>
              <a:gd name="connsiteY5" fmla="*/ 524296 h 524296"/>
              <a:gd name="connsiteX6" fmla="*/ 0 w 356639"/>
              <a:gd name="connsiteY6" fmla="*/ 432834 h 524296"/>
              <a:gd name="connsiteX7" fmla="*/ 265175 w 356639"/>
              <a:gd name="connsiteY7" fmla="*/ 431403 h 524296"/>
            </a:gdLst>
            <a:ahLst/>
            <a:cxnLst/>
            <a:rect l="l" t="t" r="r" b="b"/>
            <a:pathLst>
              <a:path w="356639" h="524296">
                <a:moveTo>
                  <a:pt x="265175" y="0"/>
                </a:moveTo>
                <a:lnTo>
                  <a:pt x="356639" y="0"/>
                </a:lnTo>
                <a:lnTo>
                  <a:pt x="356639" y="521734"/>
                </a:lnTo>
                <a:lnTo>
                  <a:pt x="345917" y="521734"/>
                </a:lnTo>
                <a:lnTo>
                  <a:pt x="345921" y="522433"/>
                </a:lnTo>
                <a:lnTo>
                  <a:pt x="493" y="524296"/>
                </a:lnTo>
                <a:lnTo>
                  <a:pt x="0" y="432834"/>
                </a:lnTo>
                <a:lnTo>
                  <a:pt x="265175" y="431403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97A6495-4001-1ED7-C76C-4CA0F2C65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加上碳刷之后的线圈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816C1FC-E309-E0B2-E5C5-3AE7EB295855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2001373" y="1742394"/>
            <a:ext cx="5334000" cy="40195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864B7D1-CC78-B03E-6C78-93A048224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7" y="3760606"/>
            <a:ext cx="1322173" cy="902834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8BA7ECA0-D52E-AD43-D446-8993B8D52486}"/>
              </a:ext>
            </a:extLst>
          </p:cNvPr>
          <p:cNvSpPr/>
          <p:nvPr/>
        </p:nvSpPr>
        <p:spPr>
          <a:xfrm>
            <a:off x="4093026" y="4502331"/>
            <a:ext cx="330925" cy="322218"/>
          </a:xfrm>
          <a:prstGeom prst="ellipse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627F6-8C95-A2D4-5B9D-70534911FF05}"/>
              </a:ext>
            </a:extLst>
          </p:cNvPr>
          <p:cNvCxnSpPr>
            <a:stCxn id="7" idx="2"/>
            <a:endCxn id="6" idx="3"/>
          </p:cNvCxnSpPr>
          <p:nvPr/>
        </p:nvCxnSpPr>
        <p:spPr>
          <a:xfrm flipH="1" flipV="1">
            <a:off x="1337990" y="4212023"/>
            <a:ext cx="2755036" cy="451417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B5079780-3F68-E0FC-11B6-8CCCB587BD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9956" y="2467261"/>
            <a:ext cx="3796227" cy="286238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8C52AFE2-B4F4-252E-FF6B-573C7EE27393}"/>
              </a:ext>
            </a:extLst>
          </p:cNvPr>
          <p:cNvSpPr txBox="1"/>
          <p:nvPr/>
        </p:nvSpPr>
        <p:spPr>
          <a:xfrm>
            <a:off x="8307977" y="1872343"/>
            <a:ext cx="2073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再加多一个线圈后</a:t>
            </a:r>
          </a:p>
        </p:txBody>
      </p:sp>
    </p:spTree>
    <p:extLst>
      <p:ext uri="{BB962C8B-B14F-4D97-AF65-F5344CB8AC3E}">
        <p14:creationId xmlns:p14="http://schemas.microsoft.com/office/powerpoint/2010/main" val="3475483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B67C3-7F25-CE38-3717-66DB1DEE6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807CA184-C1FE-E290-F512-4AC0A8335810}"/>
              </a:ext>
            </a:extLst>
          </p:cNvPr>
          <p:cNvSpPr txBox="1"/>
          <p:nvPr/>
        </p:nvSpPr>
        <p:spPr>
          <a:xfrm rot="2544951">
            <a:off x="415546" y="374372"/>
            <a:ext cx="134622" cy="197908"/>
          </a:xfrm>
          <a:custGeom>
            <a:avLst/>
            <a:gdLst>
              <a:gd name="connsiteX0" fmla="*/ 265175 w 356639"/>
              <a:gd name="connsiteY0" fmla="*/ 0 h 524296"/>
              <a:gd name="connsiteX1" fmla="*/ 356639 w 356639"/>
              <a:gd name="connsiteY1" fmla="*/ 0 h 524296"/>
              <a:gd name="connsiteX2" fmla="*/ 356639 w 356639"/>
              <a:gd name="connsiteY2" fmla="*/ 521734 h 524296"/>
              <a:gd name="connsiteX3" fmla="*/ 345917 w 356639"/>
              <a:gd name="connsiteY3" fmla="*/ 521734 h 524296"/>
              <a:gd name="connsiteX4" fmla="*/ 345921 w 356639"/>
              <a:gd name="connsiteY4" fmla="*/ 522433 h 524296"/>
              <a:gd name="connsiteX5" fmla="*/ 493 w 356639"/>
              <a:gd name="connsiteY5" fmla="*/ 524296 h 524296"/>
              <a:gd name="connsiteX6" fmla="*/ 0 w 356639"/>
              <a:gd name="connsiteY6" fmla="*/ 432834 h 524296"/>
              <a:gd name="connsiteX7" fmla="*/ 265175 w 356639"/>
              <a:gd name="connsiteY7" fmla="*/ 431403 h 524296"/>
            </a:gdLst>
            <a:ahLst/>
            <a:cxnLst/>
            <a:rect l="l" t="t" r="r" b="b"/>
            <a:pathLst>
              <a:path w="356639" h="524296">
                <a:moveTo>
                  <a:pt x="265175" y="0"/>
                </a:moveTo>
                <a:lnTo>
                  <a:pt x="356639" y="0"/>
                </a:lnTo>
                <a:lnTo>
                  <a:pt x="356639" y="521734"/>
                </a:lnTo>
                <a:lnTo>
                  <a:pt x="345917" y="521734"/>
                </a:lnTo>
                <a:lnTo>
                  <a:pt x="345921" y="522433"/>
                </a:lnTo>
                <a:lnTo>
                  <a:pt x="493" y="524296"/>
                </a:lnTo>
                <a:lnTo>
                  <a:pt x="0" y="432834"/>
                </a:lnTo>
                <a:lnTo>
                  <a:pt x="265175" y="431403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F20426E-DC1C-17E2-66D2-E9B550D1D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直流有刷电机拆解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28647BB-5F21-5E1B-2D89-F8F20356C012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7443037" y="1445478"/>
            <a:ext cx="4601189" cy="329751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43E7E28-6866-76C7-D711-74A44103DE89}"/>
              </a:ext>
            </a:extLst>
          </p:cNvPr>
          <p:cNvSpPr txBox="1"/>
          <p:nvPr/>
        </p:nvSpPr>
        <p:spPr>
          <a:xfrm>
            <a:off x="366418" y="1539480"/>
            <a:ext cx="65449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①定子：</a:t>
            </a:r>
            <a:r>
              <a:rPr lang="zh-CN" altLang="en-US" dirty="0"/>
              <a:t>静止部分，通常由永磁体或电磁铁构成，产生固定磁场。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②转子（电枢）：</a:t>
            </a:r>
            <a:r>
              <a:rPr lang="zh-CN" altLang="en-US" dirty="0"/>
              <a:t>旋转部分，包含绕有线圈的铁芯，通过电流时产生磁场。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③电刷：</a:t>
            </a:r>
            <a:r>
              <a:rPr lang="zh-CN" altLang="en-US" dirty="0"/>
              <a:t>固定于外壳，通常由碳或石墨制成，负责将外部电流导入转子线圈。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④换向器（整流子）：</a:t>
            </a:r>
            <a:r>
              <a:rPr lang="zh-CN" altLang="en-US" dirty="0"/>
              <a:t>安装在转轴上，由多个铜片组成，随转子旋转时与电刷接触，周期性切换线圈电流方向。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D74EF05-F858-7025-BB3A-6017B1BF4D3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" t="4511" r="4553" b="6521"/>
          <a:stretch>
            <a:fillRect/>
          </a:stretch>
        </p:blipFill>
        <p:spPr bwMode="auto">
          <a:xfrm>
            <a:off x="599296" y="4795501"/>
            <a:ext cx="2713355" cy="15481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9A63637-CE58-DE91-61E0-AC908273CFED}"/>
              </a:ext>
            </a:extLst>
          </p:cNvPr>
          <p:cNvSpPr txBox="1"/>
          <p:nvPr/>
        </p:nvSpPr>
        <p:spPr>
          <a:xfrm>
            <a:off x="3638898" y="5318520"/>
            <a:ext cx="31799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速度与力矩成反比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还可加上若干</a:t>
            </a:r>
            <a:r>
              <a:rPr lang="zh-CN" altLang="en-US" b="1"/>
              <a:t>减速齿轮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6252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E8484-2992-5C7E-4075-FEEDE972E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88B10F6B-9E37-B630-B493-2CCCC5F20379}"/>
              </a:ext>
            </a:extLst>
          </p:cNvPr>
          <p:cNvSpPr txBox="1"/>
          <p:nvPr/>
        </p:nvSpPr>
        <p:spPr>
          <a:xfrm rot="2544951">
            <a:off x="415546" y="374372"/>
            <a:ext cx="134622" cy="197908"/>
          </a:xfrm>
          <a:custGeom>
            <a:avLst/>
            <a:gdLst>
              <a:gd name="connsiteX0" fmla="*/ 265175 w 356639"/>
              <a:gd name="connsiteY0" fmla="*/ 0 h 524296"/>
              <a:gd name="connsiteX1" fmla="*/ 356639 w 356639"/>
              <a:gd name="connsiteY1" fmla="*/ 0 h 524296"/>
              <a:gd name="connsiteX2" fmla="*/ 356639 w 356639"/>
              <a:gd name="connsiteY2" fmla="*/ 521734 h 524296"/>
              <a:gd name="connsiteX3" fmla="*/ 345917 w 356639"/>
              <a:gd name="connsiteY3" fmla="*/ 521734 h 524296"/>
              <a:gd name="connsiteX4" fmla="*/ 345921 w 356639"/>
              <a:gd name="connsiteY4" fmla="*/ 522433 h 524296"/>
              <a:gd name="connsiteX5" fmla="*/ 493 w 356639"/>
              <a:gd name="connsiteY5" fmla="*/ 524296 h 524296"/>
              <a:gd name="connsiteX6" fmla="*/ 0 w 356639"/>
              <a:gd name="connsiteY6" fmla="*/ 432834 h 524296"/>
              <a:gd name="connsiteX7" fmla="*/ 265175 w 356639"/>
              <a:gd name="connsiteY7" fmla="*/ 431403 h 524296"/>
            </a:gdLst>
            <a:ahLst/>
            <a:cxnLst/>
            <a:rect l="l" t="t" r="r" b="b"/>
            <a:pathLst>
              <a:path w="356639" h="524296">
                <a:moveTo>
                  <a:pt x="265175" y="0"/>
                </a:moveTo>
                <a:lnTo>
                  <a:pt x="356639" y="0"/>
                </a:lnTo>
                <a:lnTo>
                  <a:pt x="356639" y="521734"/>
                </a:lnTo>
                <a:lnTo>
                  <a:pt x="345917" y="521734"/>
                </a:lnTo>
                <a:lnTo>
                  <a:pt x="345921" y="522433"/>
                </a:lnTo>
                <a:lnTo>
                  <a:pt x="493" y="524296"/>
                </a:lnTo>
                <a:lnTo>
                  <a:pt x="0" y="432834"/>
                </a:lnTo>
                <a:lnTo>
                  <a:pt x="265175" y="431403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F4E49EF-8965-8ED1-174B-55D67DAB4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桥电路初探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A0C40EB-3B22-5A84-1A6F-AFBD870178BF}"/>
              </a:ext>
            </a:extLst>
          </p:cNvPr>
          <p:cNvSpPr txBox="1"/>
          <p:nvPr/>
        </p:nvSpPr>
        <p:spPr>
          <a:xfrm>
            <a:off x="5695406" y="1584849"/>
            <a:ext cx="62962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Q1</a:t>
            </a: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Q4 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导通，电机电流方向从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，假设此时电机正转；</a:t>
            </a:r>
            <a:endParaRPr lang="en-US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Q2 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Q3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导通，电机电流方向从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，此时电机就反转。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54E72B-A263-40B4-56B3-89D40A324C85}"/>
              </a:ext>
            </a:extLst>
          </p:cNvPr>
          <p:cNvSpPr txBox="1"/>
          <p:nvPr/>
        </p:nvSpPr>
        <p:spPr>
          <a:xfrm>
            <a:off x="5826036" y="3281795"/>
            <a:ext cx="42410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那如果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Q1</a:t>
            </a: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Q2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同时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导通</a:t>
            </a: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呢？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内容占位符 17">
            <a:extLst>
              <a:ext uri="{FF2B5EF4-FFF2-40B4-BE49-F238E27FC236}">
                <a16:creationId xmlns:a16="http://schemas.microsoft.com/office/drawing/2014/main" id="{E8EEFC56-E854-6197-38CA-41028279F2FA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923243" y="1501412"/>
            <a:ext cx="3674748" cy="4867275"/>
          </a:xfrm>
        </p:spPr>
      </p:pic>
    </p:spTree>
    <p:extLst>
      <p:ext uri="{BB962C8B-B14F-4D97-AF65-F5344CB8AC3E}">
        <p14:creationId xmlns:p14="http://schemas.microsoft.com/office/powerpoint/2010/main" val="1254531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2025.5</a:t>
            </a:r>
            <a:endParaRPr kumimoji="1" lang="zh-CN" altLang="en-US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1147</TotalTime>
  <Words>247</Words>
  <Application>Microsoft Office PowerPoint</Application>
  <PresentationFormat>宽屏</PresentationFormat>
  <Paragraphs>39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Source Han Sans</vt:lpstr>
      <vt:lpstr>Source Han Sans CN Regular</vt:lpstr>
      <vt:lpstr>等线</vt:lpstr>
      <vt:lpstr>微软雅黑</vt:lpstr>
      <vt:lpstr>Arial</vt:lpstr>
      <vt:lpstr>Office 主题​​</vt:lpstr>
      <vt:lpstr>PowerPoint 演示文稿</vt:lpstr>
      <vt:lpstr>PowerPoint 演示文稿</vt:lpstr>
      <vt:lpstr>目录</vt:lpstr>
      <vt:lpstr>1. 切割磁力线的线圈</vt:lpstr>
      <vt:lpstr>2. 加上碳刷之后的线圈</vt:lpstr>
      <vt:lpstr>3. 直流有刷电机拆解</vt:lpstr>
      <vt:lpstr>4. H桥电路初探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35</cp:revision>
  <dcterms:created xsi:type="dcterms:W3CDTF">2025-05-21T06:55:53Z</dcterms:created>
  <dcterms:modified xsi:type="dcterms:W3CDTF">2025-08-06T14:22:06Z</dcterms:modified>
</cp:coreProperties>
</file>