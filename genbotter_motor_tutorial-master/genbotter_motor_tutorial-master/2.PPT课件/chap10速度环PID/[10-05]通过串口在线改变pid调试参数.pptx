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9" r:id="rId2"/>
    <p:sldId id="827" r:id="rId3"/>
    <p:sldId id="804" r:id="rId4"/>
    <p:sldId id="813" r:id="rId5"/>
    <p:sldId id="260" r:id="rId6"/>
    <p:sldId id="261" r:id="rId7"/>
    <p:sldId id="828" r:id="rId8"/>
    <p:sldId id="829" r:id="rId9"/>
    <p:sldId id="830" r:id="rId10"/>
    <p:sldId id="263" r:id="rId11"/>
    <p:sldId id="264" r:id="rId12"/>
    <p:sldId id="265" r:id="rId13"/>
    <p:sldId id="831" r:id="rId14"/>
    <p:sldId id="267" r:id="rId15"/>
    <p:sldId id="268" r:id="rId16"/>
    <p:sldId id="269" r:id="rId17"/>
    <p:sldId id="270" r:id="rId18"/>
    <p:sldId id="271" r:id="rId19"/>
    <p:sldId id="832" r:id="rId20"/>
    <p:sldId id="273" r:id="rId21"/>
    <p:sldId id="274" r:id="rId22"/>
    <p:sldId id="286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C431"/>
    <a:srgbClr val="098F4A"/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10" d="100"/>
          <a:sy n="110" d="100"/>
        </p:scale>
        <p:origin x="1266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大家可以思考一下，我们之前是怎么调试PID参数的？是不是每次改一个参数，都要重新编译、下载、测试？这个过程非常繁琐，效率很低。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而在线调参，就是为了解决这个痛点。它允许我们在系统运行的过程中，通过串口发送指令来实时修改PID参数，参数一旦更新，控制系统立刻使用新参数进行计算，效果立竿见影。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这极大地提高了调试效率，让我们可以更快地找到最优的参数组合，尤其对于那些不便于频繁断电重启的设备来说，优势更加明显。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图清晰地展示了我们在线调参系统的工作流程。整个过程可以分为六个步骤：首先，我们在上位机发送指令；然后，单片机通过串口接收这些指令；接着，由参数解析器对指令进行解析，提取出我们需要的参数；之后，调用参数更新函数，把新的参数写入PID控制器；最后，速度环任务就会使用新的参数来控制电机，同时我们可以通过VOFA+实时看到调整后的效果。这个闭环流程就是我们实现在线调参的核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1EFD5-A410-4B0F-5611-C4CC5CEF9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C20954-604C-FCD9-F677-EDBE2F83CE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AD535E-249C-9A71-4FC1-87254D97E50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6E73052-9431-B09A-E268-22B56495F3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CBA099F-FF17-0D98-84A9-CE4C24CD4A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首先我们来看`pid_param_parse.c`这个文件，它是我们的参数解析器。它主要包含三个核心函数：初始化函数、接收字节的回调函数，以及最重要的解析函数。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析函数会按照我们约定好的指令格式，比如“PID:SPEED,KP=20.0...”，从中提取出控制器类型和各个参数值。这个模块就像是系统的“翻译官”，负责把上位机发来的人类可读的指令，转换成单片机可以理解的数值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6B612-50CE-787E-9694-0BFFCBFB4B4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AEB64-C4C7-03AD-4CAC-385E85756B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532861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首先我们来看`pid_param_parse.c`这个文件，它是我们的参数解析器。它主要包含三个核心函数：初始化函数、接收字节的回调函数，以及最重要的解析函数。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解析函数会按照我们约定好的指令格式，比如“PID:SPEED,KP=20.0...”，从中提取出控制器类型和各个参数值。这个模块就像是系统的“翻译官”，负责把上位机发来的人类可读的指令，转换成单片机可以理解的数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接下来看`pid_controller.c`中的`PID_UpdateParam`函数。这个函数的作用很简单，就是把新的参数值赋值给PID控制器的结构体成员。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但这里有一个非常关键的细节，就是临界区保护。大家看左侧的代码，在更新参数前后，分别调用了`__disable_irq()`和`__enable_irq()`，也就是关闭和开启全局中断。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因为参数更新不是一个瞬间完成的操作，它需要依次修改Kp、Ki、Kd等多个值。如果在更新一半的时候，定时器中断来了，就会导致PID计算使用了一半新、一半旧的参数，这会非常危险，可能导致系统输出异常震荡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所以，我们必须保证参数更新的过程是“原子”的，不可分割的，这就是临界区保护的意义。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最后，我们来看这些模块是如何在速度环任务中集成的。在speed_loop.c的SpeedLoop_Task函数里，我们在执行原有PID计算之前，首先检查是否有新的参数指令需要解析。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如果解析成功，并且指令是针对速度环的，我们就调用PID_UpdateParam来更新全局的速度环PID实例hspeed_pid的参数。更新完成后，重置解析器，等待下一次指令。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整个过程在定时器中断中周期性执行，确保了我们能及时响应上位机的调参指令。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始操作之前，我们需要做好准备工作。首先，确保硬件连接正确，单片机通过USB线与电脑相连。然后，打开我们需要的软件：一个串口助手用于发送指令，以及VOFA+用于监控数据。最后，把我们写好的最新代码烧录到单片机里。这些准备工作完成后，我们就可以开始调试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准备工作就绪后，我们就可以在串口助手中输入指令了。指令的格式必须严格按照我们代码中约定的来写，比如“PID:SPEED,KP=30.0,KI=2.0...”。输入完成后，点击发送，这条指令就会通过串口发送给单片机。这里要特别注意，指令中的关键字是区分大小写的，大家一定要仔细检查，避免因为格式错误导致解析失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发送指令后，我们的目光要转移到VOFA+软件上。在这里，我们可以实时看到目标转速、实际转速和PID输出的曲线变化。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我们修改PID参数并发送后，大家可以仔细观察这些曲线的变化。比如，增大比例系数KP，电机的响应速度会明显加快，但可能会出现超调；增大积分系数KI，可以帮助系统更快地消除稳态误差，但也可能让系统变得不稳定，出现震荡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通过反复调整和观察，我们就能找到一组最优的参数。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VOFA+，我们还可以通过单片机自带的LCD屏幕来直观地确认参数是否更新。大家可以看到，屏幕上实时显示着当前的KP、KI、KD值。当我们发送新的参数指令后，这些数值会立刻发生变化，这就证明我们的指令已经被成功解析并应用了。LCD屏幕就像一个本地的监控面板，让我们无需连接电脑也能了解系统的关键状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对比调整参数前后的VOFA+曲线，我们可以清晰地看到系统性能的提升。调整前，系统可能响应缓慢、存在稳态误差甚至震荡；而调整后，系统能够快速、平稳地达到目标转速，并且稳态误差很小。这就是在线调参的魅力所在，它让我们能够在真实的运行环境中，实时地优化控制系统的性能，找到最佳的控制参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的核心内容可以总结为四点：首先，我们理解了在线调参的基本原理；其次，我们深入分析了实现这一功能的三个核心代码模块，特别是参数解析和安全更新的机制；再次，我们通过实操掌握了具体的操作方法；最后，我们认识到这项技术在实际工程中的重要价值。希望大家通过这次学习，能够真正掌握在线PID参数调试的技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的最后，我给大家留下几个思考和拓展的方向。比如，我们如何让参数输入更安全？如何设计更友好的上位机界面？除了串口，还有哪些通信方式可以实现远程调参？甚至，我们能否让系统自己找到最优的参数？这些问题都值得大家在课后去深入研究和探索，希望能激发大家更多的创新思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3" y="374795"/>
            <a:ext cx="10586281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24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2026/3/24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2" r:id="rId3"/>
    <p:sldLayoutId id="214748366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1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11" Type="http://schemas.openxmlformats.org/officeDocument/2006/relationships/image" Target="../media/image7.svg"/><Relationship Id="rId5" Type="http://schemas.openxmlformats.org/officeDocument/2006/relationships/image" Target="../media/image15.svg"/><Relationship Id="rId10" Type="http://schemas.openxmlformats.org/officeDocument/2006/relationships/image" Target="../media/image6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png"/><Relationship Id="rId18" Type="http://schemas.openxmlformats.org/officeDocument/2006/relationships/image" Target="../media/image1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svg"/><Relationship Id="rId20" Type="http://schemas.openxmlformats.org/officeDocument/2006/relationships/image" Target="../media/image35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14.png"/><Relationship Id="rId10" Type="http://schemas.openxmlformats.org/officeDocument/2006/relationships/image" Target="../media/image29.svg"/><Relationship Id="rId19" Type="http://schemas.openxmlformats.org/officeDocument/2006/relationships/image" Target="../media/image34.png"/><Relationship Id="rId4" Type="http://schemas.openxmlformats.org/officeDocument/2006/relationships/image" Target="../media/image23.svg"/><Relationship Id="rId9" Type="http://schemas.openxmlformats.org/officeDocument/2006/relationships/image" Target="../media/image28.png"/><Relationship Id="rId14" Type="http://schemas.openxmlformats.org/officeDocument/2006/relationships/image" Target="../media/image3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4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12" Type="http://schemas.openxmlformats.org/officeDocument/2006/relationships/image" Target="../media/image33.sv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svg"/><Relationship Id="rId11" Type="http://schemas.openxmlformats.org/officeDocument/2006/relationships/image" Target="../media/image32.png"/><Relationship Id="rId5" Type="http://schemas.openxmlformats.org/officeDocument/2006/relationships/image" Target="../media/image12.png"/><Relationship Id="rId15" Type="http://schemas.openxmlformats.org/officeDocument/2006/relationships/image" Target="../media/image38.png"/><Relationship Id="rId10" Type="http://schemas.openxmlformats.org/officeDocument/2006/relationships/image" Target="../media/image37.svg"/><Relationship Id="rId4" Type="http://schemas.openxmlformats.org/officeDocument/2006/relationships/image" Target="../media/image9.svg"/><Relationship Id="rId9" Type="http://schemas.openxmlformats.org/officeDocument/2006/relationships/image" Target="../media/image36.png"/><Relationship Id="rId1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4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46.svg"/><Relationship Id="rId4" Type="http://schemas.openxmlformats.org/officeDocument/2006/relationships/image" Target="../media/image44.svg"/><Relationship Id="rId9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6.png"/><Relationship Id="rId7" Type="http://schemas.openxmlformats.org/officeDocument/2006/relationships/image" Target="../media/image51.png"/><Relationship Id="rId12" Type="http://schemas.openxmlformats.org/officeDocument/2006/relationships/image" Target="../media/image5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0.sv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svg"/><Relationship Id="rId4" Type="http://schemas.openxmlformats.org/officeDocument/2006/relationships/image" Target="../media/image7.svg"/><Relationship Id="rId9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12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60.svg"/><Relationship Id="rId4" Type="http://schemas.openxmlformats.org/officeDocument/2006/relationships/image" Target="../media/image13.svg"/><Relationship Id="rId9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3" Type="http://schemas.openxmlformats.org/officeDocument/2006/relationships/image" Target="../media/image2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svg"/><Relationship Id="rId11" Type="http://schemas.openxmlformats.org/officeDocument/2006/relationships/image" Target="../media/image69.pn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.svg"/><Relationship Id="rId9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sv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3.svg"/><Relationship Id="rId5" Type="http://schemas.openxmlformats.org/officeDocument/2006/relationships/image" Target="../media/image72.png"/><Relationship Id="rId10" Type="http://schemas.openxmlformats.org/officeDocument/2006/relationships/image" Target="../media/image77.svg"/><Relationship Id="rId4" Type="http://schemas.openxmlformats.org/officeDocument/2006/relationships/image" Target="../media/image71.svg"/><Relationship Id="rId9" Type="http://schemas.openxmlformats.org/officeDocument/2006/relationships/image" Target="../media/image7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3" Type="http://schemas.openxmlformats.org/officeDocument/2006/relationships/image" Target="../media/image78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79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72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5.svg"/><Relationship Id="rId4" Type="http://schemas.openxmlformats.org/officeDocument/2006/relationships/image" Target="../media/image73.svg"/><Relationship Id="rId9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svg"/><Relationship Id="rId3" Type="http://schemas.openxmlformats.org/officeDocument/2006/relationships/image" Target="../media/image47.png"/><Relationship Id="rId7" Type="http://schemas.openxmlformats.org/officeDocument/2006/relationships/image" Target="../media/image7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9.svg"/><Relationship Id="rId4" Type="http://schemas.openxmlformats.org/officeDocument/2006/relationships/image" Target="../media/image48.svg"/><Relationship Id="rId9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1942742" y="2679323"/>
            <a:ext cx="7951268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通过串口在线改变</a:t>
            </a:r>
            <a:r>
              <a:rPr lang="en-US" altLang="zh-CN" sz="4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4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调试参数</a:t>
            </a:r>
            <a:endParaRPr kumimoji="1" lang="zh-CN" altLang="en-US" sz="44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r>
              <a:rPr kumimoji="1" lang="en-US" altLang="zh-CN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_</a:t>
            </a:r>
            <a:r>
              <a:rPr kumimoji="1" lang="zh-CN" altLang="en-US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嵌入式 电机开发教程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1263" y="212192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【10-05】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>
            <a:extLst>
              <a:ext uri="{FF2B5EF4-FFF2-40B4-BE49-F238E27FC236}">
                <a16:creationId xmlns:a16="http://schemas.microsoft.com/office/drawing/2014/main" id="{6D18F656-6B2A-7F12-EE70-5F50CAC6A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</a:p>
        </p:txBody>
      </p:sp>
      <p:sp>
        <p:nvSpPr>
          <p:cNvPr id="2" name="AutoShape 5">
            <a:extLst>
              <a:ext uri="{FF2B5EF4-FFF2-40B4-BE49-F238E27FC236}">
                <a16:creationId xmlns:a16="http://schemas.microsoft.com/office/drawing/2014/main" id="{879B828A-B808-92AC-2DE9-2164D7DB6E26}"/>
              </a:ext>
            </a:extLst>
          </p:cNvPr>
          <p:cNvSpPr/>
          <p:nvPr/>
        </p:nvSpPr>
        <p:spPr>
          <a:xfrm>
            <a:off x="762000" y="152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3" name="AutoShape 6">
            <a:extLst>
              <a:ext uri="{FF2B5EF4-FFF2-40B4-BE49-F238E27FC236}">
                <a16:creationId xmlns:a16="http://schemas.microsoft.com/office/drawing/2014/main" id="{C2424B29-959C-E6E0-74A7-87CC40749CC4}"/>
              </a:ext>
            </a:extLst>
          </p:cNvPr>
          <p:cNvSpPr/>
          <p:nvPr/>
        </p:nvSpPr>
        <p:spPr>
          <a:xfrm>
            <a:off x="952500" y="1714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>
              <a:solidFill>
                <a:srgbClr val="FF0000"/>
              </a:solidFill>
            </a:endParaRP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077880D7-96AB-4470-C31C-62070BC112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7500" y="1752600"/>
            <a:ext cx="304800" cy="304800"/>
          </a:xfrm>
          <a:prstGeom prst="rect">
            <a:avLst/>
          </a:prstGeom>
        </p:spPr>
      </p:pic>
      <p:sp>
        <p:nvSpPr>
          <p:cNvPr id="5" name="AutoShape 8">
            <a:extLst>
              <a:ext uri="{FF2B5EF4-FFF2-40B4-BE49-F238E27FC236}">
                <a16:creationId xmlns:a16="http://schemas.microsoft.com/office/drawing/2014/main" id="{97F70839-3436-5EC7-A8A9-0475DA3B94A3}"/>
              </a:ext>
            </a:extLst>
          </p:cNvPr>
          <p:cNvSpPr/>
          <p:nvPr/>
        </p:nvSpPr>
        <p:spPr>
          <a:xfrm>
            <a:off x="2032000" y="1676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课程回顾与目标</a:t>
            </a:r>
            <a:endParaRPr lang="en-US" sz="11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AutoShape 9">
            <a:extLst>
              <a:ext uri="{FF2B5EF4-FFF2-40B4-BE49-F238E27FC236}">
                <a16:creationId xmlns:a16="http://schemas.microsoft.com/office/drawing/2014/main" id="{28C0B5E8-9CA5-1508-9268-B51C0D7E5E77}"/>
              </a:ext>
            </a:extLst>
          </p:cNvPr>
          <p:cNvSpPr/>
          <p:nvPr/>
        </p:nvSpPr>
        <p:spPr>
          <a:xfrm>
            <a:off x="4826000" y="17145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回顾前序知识，明确本次学习目标</a:t>
            </a:r>
            <a:endParaRPr lang="en-US" sz="11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AutoShape 10">
            <a:extLst>
              <a:ext uri="{FF2B5EF4-FFF2-40B4-BE49-F238E27FC236}">
                <a16:creationId xmlns:a16="http://schemas.microsoft.com/office/drawing/2014/main" id="{69893C8E-66B7-7904-76E5-F3DDE6EA7C0E}"/>
              </a:ext>
            </a:extLst>
          </p:cNvPr>
          <p:cNvSpPr/>
          <p:nvPr/>
        </p:nvSpPr>
        <p:spPr>
          <a:xfrm>
            <a:off x="762000" y="2413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8" name="AutoShape 11">
            <a:extLst>
              <a:ext uri="{FF2B5EF4-FFF2-40B4-BE49-F238E27FC236}">
                <a16:creationId xmlns:a16="http://schemas.microsoft.com/office/drawing/2014/main" id="{4DE059B3-09C0-F194-356A-3879FA1D666F}"/>
              </a:ext>
            </a:extLst>
          </p:cNvPr>
          <p:cNvSpPr/>
          <p:nvPr/>
        </p:nvSpPr>
        <p:spPr>
          <a:xfrm>
            <a:off x="952500" y="2603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>
              <a:solidFill>
                <a:srgbClr val="FF0000"/>
              </a:solidFill>
            </a:endParaRPr>
          </a:p>
        </p:txBody>
      </p:sp>
      <p:pic>
        <p:nvPicPr>
          <p:cNvPr id="9" name="Picture 12">
            <a:extLst>
              <a:ext uri="{FF2B5EF4-FFF2-40B4-BE49-F238E27FC236}">
                <a16:creationId xmlns:a16="http://schemas.microsoft.com/office/drawing/2014/main" id="{981E91AD-A90F-D386-CCCC-D74CAC6660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7500" y="2641600"/>
            <a:ext cx="304800" cy="304800"/>
          </a:xfrm>
          <a:prstGeom prst="rect">
            <a:avLst/>
          </a:prstGeom>
        </p:spPr>
      </p:pic>
      <p:sp>
        <p:nvSpPr>
          <p:cNvPr id="10" name="AutoShape 13">
            <a:extLst>
              <a:ext uri="{FF2B5EF4-FFF2-40B4-BE49-F238E27FC236}">
                <a16:creationId xmlns:a16="http://schemas.microsoft.com/office/drawing/2014/main" id="{B21EFD35-CAE9-6075-DC64-55692EDD641A}"/>
              </a:ext>
            </a:extLst>
          </p:cNvPr>
          <p:cNvSpPr/>
          <p:nvPr/>
        </p:nvSpPr>
        <p:spPr>
          <a:xfrm>
            <a:off x="2032000" y="2565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在线调参系统架构</a:t>
            </a:r>
            <a:endParaRPr lang="en-US" sz="11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14">
            <a:extLst>
              <a:ext uri="{FF2B5EF4-FFF2-40B4-BE49-F238E27FC236}">
                <a16:creationId xmlns:a16="http://schemas.microsoft.com/office/drawing/2014/main" id="{5C80AE91-90D5-6EF3-846D-B57B9AEFE8F8}"/>
              </a:ext>
            </a:extLst>
          </p:cNvPr>
          <p:cNvSpPr/>
          <p:nvPr/>
        </p:nvSpPr>
        <p:spPr>
          <a:xfrm>
            <a:off x="4826000" y="26035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理解在线调参的原理和系统组成</a:t>
            </a:r>
            <a:endParaRPr lang="en-US" sz="11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5">
            <a:extLst>
              <a:ext uri="{FF2B5EF4-FFF2-40B4-BE49-F238E27FC236}">
                <a16:creationId xmlns:a16="http://schemas.microsoft.com/office/drawing/2014/main" id="{A97F5980-0B00-ABAD-829A-1DCC1B6B0C18}"/>
              </a:ext>
            </a:extLst>
          </p:cNvPr>
          <p:cNvSpPr/>
          <p:nvPr/>
        </p:nvSpPr>
        <p:spPr>
          <a:xfrm>
            <a:off x="762000" y="3302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14" name="AutoShape 16">
            <a:extLst>
              <a:ext uri="{FF2B5EF4-FFF2-40B4-BE49-F238E27FC236}">
                <a16:creationId xmlns:a16="http://schemas.microsoft.com/office/drawing/2014/main" id="{1C28BC69-ABA3-9343-47AA-ED1A09561F30}"/>
              </a:ext>
            </a:extLst>
          </p:cNvPr>
          <p:cNvSpPr/>
          <p:nvPr/>
        </p:nvSpPr>
        <p:spPr>
          <a:xfrm>
            <a:off x="952500" y="3492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>
              <a:solidFill>
                <a:srgbClr val="FF0000"/>
              </a:solidFill>
            </a:endParaRPr>
          </a:p>
        </p:txBody>
      </p:sp>
      <p:pic>
        <p:nvPicPr>
          <p:cNvPr id="15" name="Picture 17">
            <a:extLst>
              <a:ext uri="{FF2B5EF4-FFF2-40B4-BE49-F238E27FC236}">
                <a16:creationId xmlns:a16="http://schemas.microsoft.com/office/drawing/2014/main" id="{32692C0A-F866-474A-919D-E6F6A5EACF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87500" y="3530600"/>
            <a:ext cx="304800" cy="304800"/>
          </a:xfrm>
          <a:prstGeom prst="rect">
            <a:avLst/>
          </a:prstGeom>
        </p:spPr>
      </p:pic>
      <p:sp>
        <p:nvSpPr>
          <p:cNvPr id="17" name="AutoShape 18">
            <a:extLst>
              <a:ext uri="{FF2B5EF4-FFF2-40B4-BE49-F238E27FC236}">
                <a16:creationId xmlns:a16="http://schemas.microsoft.com/office/drawing/2014/main" id="{3A1A7CB5-E441-C10A-4D9E-28AC39CF61EB}"/>
              </a:ext>
            </a:extLst>
          </p:cNvPr>
          <p:cNvSpPr/>
          <p:nvPr/>
        </p:nvSpPr>
        <p:spPr>
          <a:xfrm>
            <a:off x="2032000" y="3454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核心代码解析</a:t>
            </a:r>
            <a:endParaRPr lang="en-US" sz="11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F1A0E077-54D4-0C39-96D2-ECC378DFA185}"/>
              </a:ext>
            </a:extLst>
          </p:cNvPr>
          <p:cNvSpPr/>
          <p:nvPr/>
        </p:nvSpPr>
        <p:spPr>
          <a:xfrm>
            <a:off x="4826000" y="34925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深入分析参数解析与更新的关键代码</a:t>
            </a:r>
            <a:endParaRPr lang="en-US" sz="11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AutoShape 20">
            <a:extLst>
              <a:ext uri="{FF2B5EF4-FFF2-40B4-BE49-F238E27FC236}">
                <a16:creationId xmlns:a16="http://schemas.microsoft.com/office/drawing/2014/main" id="{1A35024A-26C6-2EE7-F2B5-3274CD560B8A}"/>
              </a:ext>
            </a:extLst>
          </p:cNvPr>
          <p:cNvSpPr/>
          <p:nvPr/>
        </p:nvSpPr>
        <p:spPr>
          <a:xfrm>
            <a:off x="762000" y="4191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22" name="AutoShape 21">
            <a:extLst>
              <a:ext uri="{FF2B5EF4-FFF2-40B4-BE49-F238E27FC236}">
                <a16:creationId xmlns:a16="http://schemas.microsoft.com/office/drawing/2014/main" id="{59D7211A-1D66-F04B-A2F7-0AEC27C01B2D}"/>
              </a:ext>
            </a:extLst>
          </p:cNvPr>
          <p:cNvSpPr/>
          <p:nvPr/>
        </p:nvSpPr>
        <p:spPr>
          <a:xfrm>
            <a:off x="952500" y="4381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lang="en-US" sz="1100">
              <a:solidFill>
                <a:srgbClr val="FF0000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A24ACE1-6951-E5FA-AF31-FAEB64DAC8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7500" y="4419600"/>
            <a:ext cx="304800" cy="304800"/>
          </a:xfrm>
          <a:prstGeom prst="rect">
            <a:avLst/>
          </a:prstGeom>
        </p:spPr>
      </p:pic>
      <p:sp>
        <p:nvSpPr>
          <p:cNvPr id="24" name="AutoShape 23">
            <a:extLst>
              <a:ext uri="{FF2B5EF4-FFF2-40B4-BE49-F238E27FC236}">
                <a16:creationId xmlns:a16="http://schemas.microsoft.com/office/drawing/2014/main" id="{8B9FF008-269D-E501-8F16-7C5451A43C2E}"/>
              </a:ext>
            </a:extLst>
          </p:cNvPr>
          <p:cNvSpPr/>
          <p:nvPr/>
        </p:nvSpPr>
        <p:spPr>
          <a:xfrm>
            <a:off x="2032000" y="4343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实操演示与效果</a:t>
            </a:r>
            <a:endParaRPr lang="en-US" sz="11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AutoShape 24">
            <a:extLst>
              <a:ext uri="{FF2B5EF4-FFF2-40B4-BE49-F238E27FC236}">
                <a16:creationId xmlns:a16="http://schemas.microsoft.com/office/drawing/2014/main" id="{C1DEC918-F9CC-5294-5B63-9C05BBAA81B6}"/>
              </a:ext>
            </a:extLst>
          </p:cNvPr>
          <p:cNvSpPr/>
          <p:nvPr/>
        </p:nvSpPr>
        <p:spPr>
          <a:xfrm>
            <a:off x="4826000" y="43815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通过实际操作演示在线调参的过程和效果</a:t>
            </a:r>
            <a:endParaRPr lang="en-US" sz="11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25">
            <a:extLst>
              <a:ext uri="{FF2B5EF4-FFF2-40B4-BE49-F238E27FC236}">
                <a16:creationId xmlns:a16="http://schemas.microsoft.com/office/drawing/2014/main" id="{00E40A70-528E-34A0-39A3-F9E18C4A2557}"/>
              </a:ext>
            </a:extLst>
          </p:cNvPr>
          <p:cNvSpPr/>
          <p:nvPr/>
        </p:nvSpPr>
        <p:spPr>
          <a:xfrm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FF0000"/>
              </a:solidFill>
            </a:endParaRPr>
          </a:p>
        </p:txBody>
      </p:sp>
      <p:sp>
        <p:nvSpPr>
          <p:cNvPr id="27" name="AutoShape 26">
            <a:extLst>
              <a:ext uri="{FF2B5EF4-FFF2-40B4-BE49-F238E27FC236}">
                <a16:creationId xmlns:a16="http://schemas.microsoft.com/office/drawing/2014/main" id="{47393A87-3CFD-904A-A6E7-EF3545914F88}"/>
              </a:ext>
            </a:extLst>
          </p:cNvPr>
          <p:cNvSpPr/>
          <p:nvPr/>
        </p:nvSpPr>
        <p:spPr>
          <a:xfrm>
            <a:off x="952500" y="5270500"/>
            <a:ext cx="50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lang="en-US" sz="1100">
              <a:solidFill>
                <a:srgbClr val="FF0000"/>
              </a:solidFill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102C1EF-D5A8-B36A-2F02-84D1ACDBC1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87500" y="5308600"/>
            <a:ext cx="304800" cy="304800"/>
          </a:xfrm>
          <a:prstGeom prst="rect">
            <a:avLst/>
          </a:prstGeom>
        </p:spPr>
      </p:pic>
      <p:sp>
        <p:nvSpPr>
          <p:cNvPr id="29" name="AutoShape 28">
            <a:extLst>
              <a:ext uri="{FF2B5EF4-FFF2-40B4-BE49-F238E27FC236}">
                <a16:creationId xmlns:a16="http://schemas.microsoft.com/office/drawing/2014/main" id="{2313C131-09F7-FCB7-8F36-C4CD66ACB883}"/>
              </a:ext>
            </a:extLst>
          </p:cNvPr>
          <p:cNvSpPr/>
          <p:nvPr/>
        </p:nvSpPr>
        <p:spPr>
          <a:xfrm>
            <a:off x="2032000" y="52324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总结与思考</a:t>
            </a:r>
            <a:endParaRPr lang="en-US" sz="11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AutoShape 29">
            <a:extLst>
              <a:ext uri="{FF2B5EF4-FFF2-40B4-BE49-F238E27FC236}">
                <a16:creationId xmlns:a16="http://schemas.microsoft.com/office/drawing/2014/main" id="{44D58AEA-4D4C-9107-C053-266CEB153B32}"/>
              </a:ext>
            </a:extLst>
          </p:cNvPr>
          <p:cNvSpPr/>
          <p:nvPr/>
        </p:nvSpPr>
        <p:spPr>
          <a:xfrm>
            <a:off x="4826000" y="52705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总结课程重点，并进行拓展思考</a:t>
            </a:r>
            <a:endParaRPr lang="en-US" sz="11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21023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EE33E338-E8AF-591D-25DD-39918C8EE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课程回顾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B36F425B-A7BE-AE87-910B-2E24ECDB8BF0}"/>
              </a:ext>
            </a:extLst>
          </p:cNvPr>
          <p:cNvSpPr/>
          <p:nvPr/>
        </p:nvSpPr>
        <p:spPr>
          <a:xfrm>
            <a:off x="762000" y="10414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7B96758C-9CBD-177C-01FE-E0C7E1F1D510}"/>
              </a:ext>
            </a:extLst>
          </p:cNvPr>
          <p:cNvSpPr/>
          <p:nvPr/>
        </p:nvSpPr>
        <p:spPr>
          <a:xfrm>
            <a:off x="1016000" y="12319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📝 课程回顾</a:t>
            </a:r>
            <a:endParaRPr lang="en-US" sz="11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36BBD1-0791-6429-47D3-7F8DD44B4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03400"/>
            <a:ext cx="254000" cy="254000"/>
          </a:xfrm>
          <a:prstGeom prst="rect">
            <a:avLst/>
          </a:prstGeom>
        </p:spPr>
      </p:pic>
      <p:sp>
        <p:nvSpPr>
          <p:cNvPr id="9" name="AutoShape 8">
            <a:extLst>
              <a:ext uri="{FF2B5EF4-FFF2-40B4-BE49-F238E27FC236}">
                <a16:creationId xmlns:a16="http://schemas.microsoft.com/office/drawing/2014/main" id="{317F6636-4E1C-EABE-B3B5-DC337F7A877A}"/>
              </a:ext>
            </a:extLst>
          </p:cNvPr>
          <p:cNvSpPr/>
          <p:nvPr/>
        </p:nvSpPr>
        <p:spPr>
          <a:xfrm>
            <a:off x="1397000" y="17399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实现了基于位置式PID的速度环控制，建立闭环反馈机制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317CEE-0482-5229-B68A-E8D09C41F9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438400"/>
            <a:ext cx="254000" cy="254000"/>
          </a:xfrm>
          <a:prstGeom prst="rect">
            <a:avLst/>
          </a:prstGeom>
        </p:spPr>
      </p:pic>
      <p:sp>
        <p:nvSpPr>
          <p:cNvPr id="11" name="AutoShape 10">
            <a:extLst>
              <a:ext uri="{FF2B5EF4-FFF2-40B4-BE49-F238E27FC236}">
                <a16:creationId xmlns:a16="http://schemas.microsoft.com/office/drawing/2014/main" id="{F139F55A-5758-F281-C51F-E3E17713A873}"/>
              </a:ext>
            </a:extLst>
          </p:cNvPr>
          <p:cNvSpPr/>
          <p:nvPr/>
        </p:nvSpPr>
        <p:spPr>
          <a:xfrm>
            <a:off x="1397000" y="23749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使用VOFA+工具实时监控目标转速、实际转速及PID输出波形。</a:t>
            </a:r>
            <a:endParaRPr lang="en-US" sz="11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EF56DB5-85D9-9A2F-801C-80F17BC1E5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073400"/>
            <a:ext cx="254000" cy="254000"/>
          </a:xfrm>
          <a:prstGeom prst="rect">
            <a:avLst/>
          </a:prstGeom>
        </p:spPr>
      </p:pic>
      <p:sp>
        <p:nvSpPr>
          <p:cNvPr id="13" name="AutoShape 12">
            <a:extLst>
              <a:ext uri="{FF2B5EF4-FFF2-40B4-BE49-F238E27FC236}">
                <a16:creationId xmlns:a16="http://schemas.microsoft.com/office/drawing/2014/main" id="{71BFE462-77C3-9972-0BFE-8020A1A307AB}"/>
              </a:ext>
            </a:extLst>
          </p:cNvPr>
          <p:cNvSpPr/>
          <p:nvPr/>
        </p:nvSpPr>
        <p:spPr>
          <a:xfrm>
            <a:off x="1397000" y="30099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掌握通过按键输入动态调整目标转速的人机交互方法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A1592DD1-BE50-579D-2A44-B508B3F20EC2}"/>
              </a:ext>
            </a:extLst>
          </p:cNvPr>
          <p:cNvSpPr/>
          <p:nvPr/>
        </p:nvSpPr>
        <p:spPr>
          <a:xfrm>
            <a:off x="6350000" y="10414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6E106265-FF7A-F5A1-E80F-C7F4C088E588}"/>
              </a:ext>
            </a:extLst>
          </p:cNvPr>
          <p:cNvSpPr/>
          <p:nvPr/>
        </p:nvSpPr>
        <p:spPr>
          <a:xfrm>
            <a:off x="6604000" y="12319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🎯 学习目标</a:t>
            </a:r>
            <a:endParaRPr lang="en-US" sz="11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2E88B9A-F366-648D-DC54-ADCA049E862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1803400"/>
            <a:ext cx="254000" cy="254000"/>
          </a:xfrm>
          <a:prstGeom prst="rect">
            <a:avLst/>
          </a:prstGeom>
        </p:spPr>
      </p:pic>
      <p:sp>
        <p:nvSpPr>
          <p:cNvPr id="17" name="AutoShape 16">
            <a:extLst>
              <a:ext uri="{FF2B5EF4-FFF2-40B4-BE49-F238E27FC236}">
                <a16:creationId xmlns:a16="http://schemas.microsoft.com/office/drawing/2014/main" id="{530642F2-0FCD-CCD3-D74D-E49102544D13}"/>
              </a:ext>
            </a:extLst>
          </p:cNvPr>
          <p:cNvSpPr/>
          <p:nvPr/>
        </p:nvSpPr>
        <p:spPr>
          <a:xfrm>
            <a:off x="6985000" y="17399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理解优势：</a:t>
            </a: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对比传统调试，掌握在线调参在效率与实时性上的核心意义。</a:t>
            </a:r>
            <a:endParaRPr lang="en-US" sz="11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1D39369-16C6-5645-9C60-C1FE51CC13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2438400"/>
            <a:ext cx="254000" cy="254000"/>
          </a:xfrm>
          <a:prstGeom prst="rect">
            <a:avLst/>
          </a:prstGeom>
        </p:spPr>
      </p:pic>
      <p:sp>
        <p:nvSpPr>
          <p:cNvPr id="19" name="AutoShape 18">
            <a:extLst>
              <a:ext uri="{FF2B5EF4-FFF2-40B4-BE49-F238E27FC236}">
                <a16:creationId xmlns:a16="http://schemas.microsoft.com/office/drawing/2014/main" id="{25769274-1FD6-F583-65C8-8F065A72908D}"/>
              </a:ext>
            </a:extLst>
          </p:cNvPr>
          <p:cNvSpPr/>
          <p:nvPr/>
        </p:nvSpPr>
        <p:spPr>
          <a:xfrm>
            <a:off x="6985000" y="23749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掌握逻辑：</a:t>
            </a: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深入解析参数解析器代码，理解PID参数动态更新的底层实现。</a:t>
            </a:r>
            <a:endParaRPr lang="en-US" sz="110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D5C6AF9-A06A-CCC0-40B9-2E5F77B026E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3073400"/>
            <a:ext cx="254000" cy="254000"/>
          </a:xfrm>
          <a:prstGeom prst="rect">
            <a:avLst/>
          </a:prstGeom>
        </p:spPr>
      </p:pic>
      <p:sp>
        <p:nvSpPr>
          <p:cNvPr id="21" name="AutoShape 20">
            <a:extLst>
              <a:ext uri="{FF2B5EF4-FFF2-40B4-BE49-F238E27FC236}">
                <a16:creationId xmlns:a16="http://schemas.microsoft.com/office/drawing/2014/main" id="{E6EBB22D-43ED-CD09-ADE5-DC22AA9042B6}"/>
              </a:ext>
            </a:extLst>
          </p:cNvPr>
          <p:cNvSpPr/>
          <p:nvPr/>
        </p:nvSpPr>
        <p:spPr>
          <a:xfrm>
            <a:off x="6985000" y="30099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动手实操：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通过串口工具发送指令，实时修改参数并观察系统响应变化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2" name="AutoShape 21">
            <a:extLst>
              <a:ext uri="{FF2B5EF4-FFF2-40B4-BE49-F238E27FC236}">
                <a16:creationId xmlns:a16="http://schemas.microsoft.com/office/drawing/2014/main" id="{4D5772B4-D568-928C-4249-226E24D486B8}"/>
              </a:ext>
            </a:extLst>
          </p:cNvPr>
          <p:cNvSpPr/>
          <p:nvPr/>
        </p:nvSpPr>
        <p:spPr>
          <a:xfrm>
            <a:off x="762000" y="4637313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AB2CF61C-1749-AB78-FB13-608BBE76C24B}"/>
              </a:ext>
            </a:extLst>
          </p:cNvPr>
          <p:cNvSpPr/>
          <p:nvPr/>
        </p:nvSpPr>
        <p:spPr>
          <a:xfrm>
            <a:off x="762000" y="4903954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b="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PID</a:t>
            </a:r>
            <a:r>
              <a:rPr lang="zh-CN" altLang="en-US" b="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算法很好，但控制效果受</a:t>
            </a:r>
            <a:r>
              <a:rPr lang="en-US" altLang="zh-CN" b="0" i="0" u="none" strike="noStrike" dirty="0" err="1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kp</a:t>
            </a:r>
            <a:r>
              <a:rPr lang="en-US" altLang="zh-CN" b="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\ki\</a:t>
            </a:r>
            <a:r>
              <a:rPr lang="en-US" altLang="zh-CN" b="0" i="0" u="none" strike="noStrike" dirty="0" err="1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kd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Noto Sans SC"/>
                <a:sym typeface="Noto Sans SC"/>
              </a:rPr>
              <a:t>的影响非常大，怎样找到合适的参数呢？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AutoShape 12">
            <a:extLst>
              <a:ext uri="{FF2B5EF4-FFF2-40B4-BE49-F238E27FC236}">
                <a16:creationId xmlns:a16="http://schemas.microsoft.com/office/drawing/2014/main" id="{D949F705-E087-4B9E-004F-2BD3CBC1F688}"/>
              </a:ext>
            </a:extLst>
          </p:cNvPr>
          <p:cNvSpPr/>
          <p:nvPr/>
        </p:nvSpPr>
        <p:spPr>
          <a:xfrm>
            <a:off x="762000" y="5391941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需要多尝试啊！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AutoShape 12">
            <a:extLst>
              <a:ext uri="{FF2B5EF4-FFF2-40B4-BE49-F238E27FC236}">
                <a16:creationId xmlns:a16="http://schemas.microsoft.com/office/drawing/2014/main" id="{0D16263A-25E0-52E1-34D9-FE96F73165F5}"/>
              </a:ext>
            </a:extLst>
          </p:cNvPr>
          <p:cNvSpPr/>
          <p:nvPr/>
        </p:nvSpPr>
        <p:spPr>
          <a:xfrm>
            <a:off x="762000" y="5929391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上节课已经能通过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vofa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+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看到效果了，如果能马上调整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PID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Noto Sans SC"/>
              </a:rPr>
              <a:t>的参数就好了。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6303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56A83C7-3A6B-43E9-E974-19A6B9B45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10.5.1  </a:t>
            </a:r>
            <a:r>
              <a:rPr lang="zh-CN" altLang="en-US" dirty="0"/>
              <a:t>在线调参系统架构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2CD30A-8C4D-36C1-CEC5-BB8E4E405CC8}"/>
              </a:ext>
            </a:extLst>
          </p:cNvPr>
          <p:cNvSpPr txBox="1"/>
          <p:nvPr/>
        </p:nvSpPr>
        <p:spPr>
          <a:xfrm>
            <a:off x="4310743" y="35558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SYSTEM ARCHITECTURE OF ONLINE TUNING</a:t>
            </a:r>
          </a:p>
        </p:txBody>
      </p:sp>
    </p:spTree>
    <p:extLst>
      <p:ext uri="{BB962C8B-B14F-4D97-AF65-F5344CB8AC3E}">
        <p14:creationId xmlns:p14="http://schemas.microsoft.com/office/powerpoint/2010/main" val="2697588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6350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DBD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841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传统调试流程（低效繁琐</a:t>
            </a:r>
            <a:r>
              <a:rPr lang="en-US" sz="2000" b="1" i="0" u="none" strike="noStrike" dirty="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）</a:t>
            </a:r>
            <a:endParaRPr lang="en-US" sz="1100" dirty="0">
              <a:solidFill>
                <a:srgbClr val="C00000"/>
              </a:solidFill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413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3876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修改代码中的PID参数值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28575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28321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重新编译整个工程（耗时）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302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2766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下载程序到单片机（等待）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37465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37211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运行测试，观察效果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6000" y="41910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41656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若不佳则反复迭代，效率极低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604000" y="1841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在线调参核心优势</a:t>
            </a:r>
            <a:endParaRPr lang="en-US" sz="1100">
              <a:solidFill>
                <a:srgbClr val="C00000"/>
              </a:solidFill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4000" y="2413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048500" y="2387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实时性：</a:t>
            </a: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修改立即生效，无需重新下载程序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04000" y="29845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048500" y="29591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高效性：</a:t>
            </a: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大幅缩短调试周期，提升开发效率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04000" y="3556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048500" y="35306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便捷性：</a:t>
            </a: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运行中优化，适用于不便断电场景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04000" y="4127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048500" y="41021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灵活性：</a:t>
            </a: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根据实际工况动态调整控制策略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5461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00BFFF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89000" y="55626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核心价值：从“编译-下载-测试”的循环中解放，聚焦于“参数-效果”的直接优化</a:t>
            </a:r>
            <a:endParaRPr lang="en-US" sz="1100"/>
          </a:p>
        </p:txBody>
      </p:sp>
      <p:sp>
        <p:nvSpPr>
          <p:cNvPr id="29" name="标题 28">
            <a:extLst>
              <a:ext uri="{FF2B5EF4-FFF2-40B4-BE49-F238E27FC236}">
                <a16:creationId xmlns:a16="http://schemas.microsoft.com/office/drawing/2014/main" id="{AD67693B-3253-21C7-7D4F-2C3045CD6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为什么需要在线调参？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6350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93766" y="1201783"/>
            <a:ext cx="3870234" cy="4502331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7" name="AutoShape 7"/>
          <p:cNvSpPr/>
          <p:nvPr/>
        </p:nvSpPr>
        <p:spPr>
          <a:xfrm>
            <a:off x="254181" y="5778500"/>
            <a:ext cx="3906883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系统硬件与逻辑交互示意图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4572000" y="1651000"/>
            <a:ext cx="6604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2500" y="18161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1714500"/>
            <a:ext cx="6340566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上位机发送指令：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通过串口助手（如SecureCRT）输入特定格式指令发送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4572000" y="2413000"/>
            <a:ext cx="6604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2500" y="25781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07000" y="2476500"/>
            <a:ext cx="6340566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单片机串口接收：</a:t>
            </a: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单片机通过串口中断实时捕获并接收上位机字节流。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3175000"/>
            <a:ext cx="6604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62500" y="33401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207000" y="3238500"/>
            <a:ext cx="6340566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参数解析器解析：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解析器提取控制器类型及具体参数值（如KP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/KI/KD）。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4572000" y="3937000"/>
            <a:ext cx="6604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62500" y="41021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207000" y="4000500"/>
            <a:ext cx="6340566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更新PID参数：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调用更新函数，将解析出的新参数写入PID控制器实例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4572000" y="4699000"/>
            <a:ext cx="6604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62500" y="48641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207000" y="4762500"/>
            <a:ext cx="6340566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速度环执行新参数：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定时器中断任务使用新参数计算输出，实时控制电机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3" name="AutoShape 23"/>
          <p:cNvSpPr/>
          <p:nvPr/>
        </p:nvSpPr>
        <p:spPr>
          <a:xfrm>
            <a:off x="4572000" y="5461000"/>
            <a:ext cx="6604000" cy="635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62500" y="56261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5207000" y="5524500"/>
            <a:ext cx="6340566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VOFA+实时监控：</a:t>
            </a: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系统回传目标与实际转速数据，直观展示参数调整效果。</a:t>
            </a:r>
            <a:endParaRPr lang="en-US" sz="1100"/>
          </a:p>
        </p:txBody>
      </p:sp>
      <p:sp>
        <p:nvSpPr>
          <p:cNvPr id="26" name="标题 25">
            <a:extLst>
              <a:ext uri="{FF2B5EF4-FFF2-40B4-BE49-F238E27FC236}">
                <a16:creationId xmlns:a16="http://schemas.microsoft.com/office/drawing/2014/main" id="{86CB1FA7-27B4-876B-B383-4432E7819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系统整体架构图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299BFC1-043E-3D06-AF06-EB846F3BF898}"/>
              </a:ext>
            </a:extLst>
          </p:cNvPr>
          <p:cNvSpPr/>
          <p:nvPr/>
        </p:nvSpPr>
        <p:spPr>
          <a:xfrm>
            <a:off x="496389" y="1454331"/>
            <a:ext cx="3422468" cy="1593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040B39A-4195-C064-95FC-11F7FFD1B394}"/>
              </a:ext>
            </a:extLst>
          </p:cNvPr>
          <p:cNvSpPr/>
          <p:nvPr/>
        </p:nvSpPr>
        <p:spPr>
          <a:xfrm>
            <a:off x="496389" y="3460932"/>
            <a:ext cx="3422468" cy="10475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81DA7D3D-B259-4CCB-7AAE-FCA40603879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89" y="1454331"/>
            <a:ext cx="598511" cy="577136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53413179-C873-49A1-3289-26420765ADE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90" y="3429000"/>
            <a:ext cx="660434" cy="846909"/>
          </a:xfrm>
          <a:prstGeom prst="rect">
            <a:avLst/>
          </a:prstGeom>
        </p:spPr>
      </p:pic>
      <p:sp>
        <p:nvSpPr>
          <p:cNvPr id="34" name="箭头: 上下 33">
            <a:extLst>
              <a:ext uri="{FF2B5EF4-FFF2-40B4-BE49-F238E27FC236}">
                <a16:creationId xmlns:a16="http://schemas.microsoft.com/office/drawing/2014/main" id="{674C1B1C-CFAA-EBDB-06BE-77CFD4B40D8B}"/>
              </a:ext>
            </a:extLst>
          </p:cNvPr>
          <p:cNvSpPr/>
          <p:nvPr/>
        </p:nvSpPr>
        <p:spPr>
          <a:xfrm>
            <a:off x="2120537" y="3048000"/>
            <a:ext cx="161109" cy="412932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DCDF1F3-E6F5-F45E-C581-F08E80B8EFE5}"/>
              </a:ext>
            </a:extLst>
          </p:cNvPr>
          <p:cNvSpPr txBox="1"/>
          <p:nvPr/>
        </p:nvSpPr>
        <p:spPr>
          <a:xfrm>
            <a:off x="2281646" y="3084822"/>
            <a:ext cx="16658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串口（</a:t>
            </a:r>
            <a:r>
              <a:rPr lang="en-US" altLang="zh-CN" sz="1400" dirty="0"/>
              <a:t>USB</a:t>
            </a:r>
            <a:r>
              <a:rPr lang="zh-CN" altLang="en-US" sz="1400" dirty="0"/>
              <a:t>转</a:t>
            </a:r>
            <a:r>
              <a:rPr lang="en-US" altLang="zh-CN" sz="1400" dirty="0"/>
              <a:t>TTL</a:t>
            </a:r>
            <a:r>
              <a:rPr lang="zh-CN" altLang="en-US" sz="1400" dirty="0"/>
              <a:t>）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D8557075-9D99-0ECA-B2ED-F634E55D50C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237" y="4814488"/>
            <a:ext cx="962025" cy="619125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A6977C76-FDD5-CFC9-13C0-D7A91D3C3574}"/>
              </a:ext>
            </a:extLst>
          </p:cNvPr>
          <p:cNvSpPr/>
          <p:nvPr/>
        </p:nvSpPr>
        <p:spPr>
          <a:xfrm>
            <a:off x="1992557" y="4850485"/>
            <a:ext cx="1826950" cy="5471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驱动板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F3C6C2A-C15F-C684-1485-D6622E6A3646}"/>
              </a:ext>
            </a:extLst>
          </p:cNvPr>
          <p:cNvSpPr txBox="1"/>
          <p:nvPr/>
        </p:nvSpPr>
        <p:spPr>
          <a:xfrm>
            <a:off x="1143000" y="152900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上位机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17A3C554-1011-3EC3-B2DF-70815D22C9E7}"/>
              </a:ext>
            </a:extLst>
          </p:cNvPr>
          <p:cNvSpPr txBox="1"/>
          <p:nvPr/>
        </p:nvSpPr>
        <p:spPr>
          <a:xfrm>
            <a:off x="1156824" y="350694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控制板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E0024EBB-1C8B-C0A1-5987-C59925E3BC7C}"/>
              </a:ext>
            </a:extLst>
          </p:cNvPr>
          <p:cNvSpPr/>
          <p:nvPr/>
        </p:nvSpPr>
        <p:spPr>
          <a:xfrm>
            <a:off x="555011" y="2148133"/>
            <a:ext cx="1573872" cy="53991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err="1"/>
              <a:t>Vofa</a:t>
            </a:r>
            <a:r>
              <a:rPr lang="en-US" altLang="zh-CN" sz="1600" dirty="0"/>
              <a:t>+</a:t>
            </a:r>
          </a:p>
          <a:p>
            <a:pPr algn="ctr"/>
            <a:r>
              <a:rPr lang="zh-CN" altLang="en-US" sz="1600" dirty="0"/>
              <a:t>显示波形图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A3E71073-DBDA-F004-270F-EC4BA08AF6DF}"/>
              </a:ext>
            </a:extLst>
          </p:cNvPr>
          <p:cNvSpPr/>
          <p:nvPr/>
        </p:nvSpPr>
        <p:spPr>
          <a:xfrm>
            <a:off x="2245635" y="2148133"/>
            <a:ext cx="1573872" cy="53991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发送</a:t>
            </a:r>
            <a:r>
              <a:rPr lang="en-US" altLang="zh-CN" sz="1600" dirty="0"/>
              <a:t>PID</a:t>
            </a:r>
            <a:r>
              <a:rPr lang="zh-CN" altLang="en-US" sz="1600" dirty="0"/>
              <a:t>参数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585D9993-B480-2423-BFC3-28D30661435C}"/>
              </a:ext>
            </a:extLst>
          </p:cNvPr>
          <p:cNvSpPr txBox="1"/>
          <p:nvPr/>
        </p:nvSpPr>
        <p:spPr>
          <a:xfrm>
            <a:off x="1016000" y="271413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接收数据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0311ED0-DAB6-B01A-D906-498C74858072}"/>
              </a:ext>
            </a:extLst>
          </p:cNvPr>
          <p:cNvSpPr txBox="1"/>
          <p:nvPr/>
        </p:nvSpPr>
        <p:spPr>
          <a:xfrm>
            <a:off x="2752928" y="269901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bg1"/>
                </a:solidFill>
              </a:rPr>
              <a:t>发送数据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9394E6B6-D85F-D594-382A-85C4938CFF4E}"/>
              </a:ext>
            </a:extLst>
          </p:cNvPr>
          <p:cNvSpPr/>
          <p:nvPr/>
        </p:nvSpPr>
        <p:spPr>
          <a:xfrm>
            <a:off x="1152219" y="4156702"/>
            <a:ext cx="1296209" cy="27176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检测电机参数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67C3471C-D70C-A4F7-EFE8-FCE1E3DC89F3}"/>
              </a:ext>
            </a:extLst>
          </p:cNvPr>
          <p:cNvSpPr/>
          <p:nvPr/>
        </p:nvSpPr>
        <p:spPr>
          <a:xfrm>
            <a:off x="1947532" y="3496442"/>
            <a:ext cx="1261496" cy="27176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解析</a:t>
            </a:r>
            <a:r>
              <a:rPr lang="en-US" altLang="zh-CN" sz="1400" dirty="0"/>
              <a:t>PID</a:t>
            </a:r>
            <a:r>
              <a:rPr lang="zh-CN" altLang="en-US" sz="1400" dirty="0"/>
              <a:t>参数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B390438D-F510-8653-0EAF-A011F52597F0}"/>
              </a:ext>
            </a:extLst>
          </p:cNvPr>
          <p:cNvSpPr/>
          <p:nvPr/>
        </p:nvSpPr>
        <p:spPr>
          <a:xfrm>
            <a:off x="2584506" y="3845560"/>
            <a:ext cx="1261496" cy="27176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PID</a:t>
            </a:r>
            <a:r>
              <a:rPr lang="zh-CN" altLang="en-US" sz="1400" dirty="0"/>
              <a:t>控制计算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03606E99-18C2-0868-B2BD-25C35DEAF34F}"/>
              </a:ext>
            </a:extLst>
          </p:cNvPr>
          <p:cNvSpPr/>
          <p:nvPr/>
        </p:nvSpPr>
        <p:spPr>
          <a:xfrm>
            <a:off x="1161076" y="3836537"/>
            <a:ext cx="1296208" cy="27176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发送电机参数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9D28EC33-A1EB-DF70-4099-D48885F12A03}"/>
              </a:ext>
            </a:extLst>
          </p:cNvPr>
          <p:cNvSpPr/>
          <p:nvPr/>
        </p:nvSpPr>
        <p:spPr>
          <a:xfrm>
            <a:off x="2588128" y="4152020"/>
            <a:ext cx="1261496" cy="27176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速度环控制</a:t>
            </a:r>
          </a:p>
        </p:txBody>
      </p:sp>
      <p:sp>
        <p:nvSpPr>
          <p:cNvPr id="50" name="箭头: 上下 49">
            <a:extLst>
              <a:ext uri="{FF2B5EF4-FFF2-40B4-BE49-F238E27FC236}">
                <a16:creationId xmlns:a16="http://schemas.microsoft.com/office/drawing/2014/main" id="{3F54259E-2F78-74C6-1BBB-86F2832238BE}"/>
              </a:ext>
            </a:extLst>
          </p:cNvPr>
          <p:cNvSpPr/>
          <p:nvPr/>
        </p:nvSpPr>
        <p:spPr>
          <a:xfrm>
            <a:off x="2884261" y="4501950"/>
            <a:ext cx="181156" cy="348535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D1C8C7A-4AC5-54CB-616D-E7864DAE9B61}"/>
              </a:ext>
            </a:extLst>
          </p:cNvPr>
          <p:cNvSpPr txBox="1"/>
          <p:nvPr/>
        </p:nvSpPr>
        <p:spPr>
          <a:xfrm>
            <a:off x="1013350" y="530997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电机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BA8EC4C-48AA-C763-110A-93AC6D79B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4795" y="-139338"/>
            <a:ext cx="6410640" cy="6104709"/>
          </a:xfrm>
          <a:prstGeom prst="rect">
            <a:avLst/>
          </a:prstGeom>
        </p:spPr>
      </p:pic>
      <p:sp>
        <p:nvSpPr>
          <p:cNvPr id="6" name="标题 5">
            <a:extLst>
              <a:ext uri="{FF2B5EF4-FFF2-40B4-BE49-F238E27FC236}">
                <a16:creationId xmlns:a16="http://schemas.microsoft.com/office/drawing/2014/main" id="{B779BE23-6BC8-6953-F295-9CA622B25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784" y="374795"/>
            <a:ext cx="3099206" cy="443811"/>
          </a:xfrm>
        </p:spPr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系统架构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5485895-7A9F-8B46-D9C8-359977663310}"/>
              </a:ext>
            </a:extLst>
          </p:cNvPr>
          <p:cNvSpPr txBox="1"/>
          <p:nvPr/>
        </p:nvSpPr>
        <p:spPr>
          <a:xfrm>
            <a:off x="174173" y="1402080"/>
            <a:ext cx="56706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usart1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的接收中断打开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添加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pid_param_parse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模块，解析串口接收到的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SpeedLoop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模块，在速度环控制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中及时更新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Main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函数中添加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LCD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屏上显示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参数的代码，确认上位机下发的参数已经接收成功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7A1EAA-FFA7-E2D3-A7D6-C48D3BBE6A6C}"/>
              </a:ext>
            </a:extLst>
          </p:cNvPr>
          <p:cNvSpPr txBox="1"/>
          <p:nvPr/>
        </p:nvSpPr>
        <p:spPr>
          <a:xfrm>
            <a:off x="0" y="4304988"/>
            <a:ext cx="61264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effectLst/>
              </a:rPr>
              <a:t>PID:SPEED,KP=2.53,KI=0.56,KD=0.15,MAX_OUT=100.0,MAX_INT=80.0\r</a:t>
            </a:r>
            <a:endParaRPr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9A0B38B-AA87-D35F-620E-0D3213940B95}"/>
              </a:ext>
            </a:extLst>
          </p:cNvPr>
          <p:cNvSpPr txBox="1"/>
          <p:nvPr/>
        </p:nvSpPr>
        <p:spPr>
          <a:xfrm>
            <a:off x="235133" y="3904878"/>
            <a:ext cx="4763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20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下发参数的协议定义如下：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2830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5F8B9-277A-E1CF-F58C-BBA14E036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167947D-FAB8-BFC1-8AF9-68742454E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10.5.2  </a:t>
            </a:r>
            <a:r>
              <a:rPr lang="zh-CN" altLang="en-US" dirty="0"/>
              <a:t>核心代码解析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825AA5-F606-C393-F36E-FC2E7B9A852D}"/>
              </a:ext>
            </a:extLst>
          </p:cNvPr>
          <p:cNvSpPr txBox="1"/>
          <p:nvPr/>
        </p:nvSpPr>
        <p:spPr>
          <a:xfrm>
            <a:off x="4310743" y="35558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CORE CODE ANALYSIS &amp;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221527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DAE2F-4C8C-7208-48D1-4ADFE867B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763777C9-B863-0314-BDAB-7AC025248AFD}"/>
              </a:ext>
            </a:extLst>
          </p:cNvPr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33" name="标题 32">
            <a:extLst>
              <a:ext uri="{FF2B5EF4-FFF2-40B4-BE49-F238E27FC236}">
                <a16:creationId xmlns:a16="http://schemas.microsoft.com/office/drawing/2014/main" id="{B82FC5DC-7533-3CB6-E2ED-C116EDC5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串口配置的更改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030409C6-B834-4A48-4DDF-377318FB8E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51" y="898527"/>
            <a:ext cx="5972800" cy="3683227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C4880727-E801-E249-1656-13E3E74396E3}"/>
              </a:ext>
            </a:extLst>
          </p:cNvPr>
          <p:cNvSpPr txBox="1"/>
          <p:nvPr/>
        </p:nvSpPr>
        <p:spPr>
          <a:xfrm>
            <a:off x="6453051" y="963727"/>
            <a:ext cx="4763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CubeMX</a:t>
            </a:r>
            <a:r>
              <a:rPr lang="zh-CN" altLang="en-US" sz="20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中开启</a:t>
            </a:r>
            <a:r>
              <a:rPr lang="en-US" altLang="zh-CN" sz="20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USART1</a:t>
            </a:r>
            <a:r>
              <a:rPr lang="zh-CN" altLang="en-US" sz="20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的中断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67EE9F5-27F7-66CE-FB5D-49A78BEEDF40}"/>
              </a:ext>
            </a:extLst>
          </p:cNvPr>
          <p:cNvSpPr txBox="1"/>
          <p:nvPr/>
        </p:nvSpPr>
        <p:spPr>
          <a:xfrm>
            <a:off x="6653349" y="2457529"/>
            <a:ext cx="465971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/* USER CODE BEGIN 0 */</a:t>
            </a:r>
          </a:p>
          <a:p>
            <a:r>
              <a:rPr lang="en-US" altLang="zh-CN" sz="1200" dirty="0"/>
              <a:t>#include "</a:t>
            </a:r>
            <a:r>
              <a:rPr lang="en-US" altLang="zh-CN" sz="1200" dirty="0" err="1"/>
              <a:t>pid_param_parse.h</a:t>
            </a:r>
            <a:r>
              <a:rPr lang="en-US" altLang="zh-CN" sz="1200" dirty="0"/>
              <a:t>"</a:t>
            </a:r>
          </a:p>
          <a:p>
            <a:r>
              <a:rPr lang="en-US" altLang="zh-CN" sz="1200" dirty="0"/>
              <a:t>#include "</a:t>
            </a:r>
            <a:r>
              <a:rPr lang="en-US" altLang="zh-CN" sz="1200" dirty="0" err="1"/>
              <a:t>speed_loop.h</a:t>
            </a:r>
            <a:r>
              <a:rPr lang="en-US" altLang="zh-CN" sz="1200" dirty="0"/>
              <a:t>"</a:t>
            </a:r>
          </a:p>
          <a:p>
            <a:r>
              <a:rPr lang="en-US" altLang="zh-CN" sz="1200" dirty="0"/>
              <a:t>// </a:t>
            </a:r>
            <a:r>
              <a:rPr lang="zh-CN" altLang="en-US" sz="1200" dirty="0"/>
              <a:t>声明外部的</a:t>
            </a:r>
            <a:r>
              <a:rPr lang="en-US" altLang="zh-CN" sz="1200" dirty="0"/>
              <a:t>PID</a:t>
            </a:r>
            <a:r>
              <a:rPr lang="zh-CN" altLang="en-US" sz="1200" dirty="0"/>
              <a:t>参数解析器（从</a:t>
            </a:r>
            <a:r>
              <a:rPr lang="en-US" altLang="zh-CN" sz="1200" dirty="0" err="1"/>
              <a:t>speed_loop.c</a:t>
            </a:r>
            <a:r>
              <a:rPr lang="zh-CN" altLang="en-US" sz="1200" dirty="0"/>
              <a:t>中引入）</a:t>
            </a:r>
          </a:p>
          <a:p>
            <a:r>
              <a:rPr lang="en-US" altLang="zh-CN" sz="1200" dirty="0"/>
              <a:t>extern </a:t>
            </a:r>
            <a:r>
              <a:rPr lang="en-US" altLang="zh-CN" sz="1200" dirty="0" err="1"/>
              <a:t>PID_ParamParser_t</a:t>
            </a:r>
            <a:r>
              <a:rPr lang="en-US" altLang="zh-CN" sz="1200" dirty="0"/>
              <a:t> </a:t>
            </a:r>
            <a:r>
              <a:rPr lang="en-US" altLang="zh-CN" sz="1200" dirty="0" err="1"/>
              <a:t>speed_pid_parser</a:t>
            </a:r>
            <a:r>
              <a:rPr lang="en-US" altLang="zh-CN" sz="1200" dirty="0"/>
              <a:t>;</a:t>
            </a:r>
          </a:p>
          <a:p>
            <a:endParaRPr lang="en-US" altLang="zh-CN" sz="1200" dirty="0"/>
          </a:p>
          <a:p>
            <a:r>
              <a:rPr lang="en-US" altLang="zh-CN" sz="1200" dirty="0"/>
              <a:t>// </a:t>
            </a:r>
            <a:r>
              <a:rPr lang="zh-CN" altLang="en-US" sz="1200" dirty="0"/>
              <a:t>临时变量：存储中断中接收到的</a:t>
            </a:r>
            <a:r>
              <a:rPr lang="en-US" altLang="zh-CN" sz="1200" dirty="0"/>
              <a:t>1</a:t>
            </a:r>
            <a:r>
              <a:rPr lang="zh-CN" altLang="en-US" sz="1200" dirty="0"/>
              <a:t>个字节</a:t>
            </a:r>
          </a:p>
          <a:p>
            <a:r>
              <a:rPr lang="en-US" altLang="zh-CN" sz="1200" dirty="0"/>
              <a:t>uint8_t uart1_recv_byte = 0;</a:t>
            </a:r>
          </a:p>
          <a:p>
            <a:endParaRPr lang="zh-CN" altLang="en-US" sz="12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142D08D-E796-3EEC-7B3A-BECBE817FCE3}"/>
              </a:ext>
            </a:extLst>
          </p:cNvPr>
          <p:cNvSpPr txBox="1"/>
          <p:nvPr/>
        </p:nvSpPr>
        <p:spPr>
          <a:xfrm>
            <a:off x="6853646" y="1908352"/>
            <a:ext cx="4763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0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en-US" altLang="zh-CN" sz="2000" b="1" dirty="0" err="1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sart.c</a:t>
            </a:r>
            <a:r>
              <a:rPr lang="zh-CN" altLang="en-US" sz="2000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中增加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552E459A-368C-E420-1171-91D39CD612A0}"/>
              </a:ext>
            </a:extLst>
          </p:cNvPr>
          <p:cNvSpPr txBox="1"/>
          <p:nvPr/>
        </p:nvSpPr>
        <p:spPr>
          <a:xfrm>
            <a:off x="6653349" y="4761032"/>
            <a:ext cx="55386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void </a:t>
            </a:r>
            <a:r>
              <a:rPr lang="en-US" altLang="zh-CN" sz="1200" dirty="0" err="1"/>
              <a:t>HAL_UART_RxCpltCallback</a:t>
            </a:r>
            <a:r>
              <a:rPr lang="en-US" altLang="zh-CN" sz="1200" dirty="0"/>
              <a:t>(</a:t>
            </a:r>
            <a:r>
              <a:rPr lang="en-US" altLang="zh-CN" sz="1200" dirty="0" err="1"/>
              <a:t>UART_HandleTypeDef</a:t>
            </a:r>
            <a:r>
              <a:rPr lang="en-US" altLang="zh-CN" sz="1200" dirty="0"/>
              <a:t> *</a:t>
            </a:r>
            <a:r>
              <a:rPr lang="en-US" altLang="zh-CN" sz="1200" dirty="0" err="1"/>
              <a:t>huart</a:t>
            </a:r>
            <a:r>
              <a:rPr lang="en-US" altLang="zh-CN" sz="1200" dirty="0"/>
              <a:t>) {</a:t>
            </a:r>
          </a:p>
          <a:p>
            <a:r>
              <a:rPr lang="en-US" altLang="zh-CN" sz="1200" dirty="0"/>
              <a:t>  if (</a:t>
            </a:r>
            <a:r>
              <a:rPr lang="en-US" altLang="zh-CN" sz="1200" dirty="0" err="1"/>
              <a:t>huart</a:t>
            </a:r>
            <a:r>
              <a:rPr lang="en-US" altLang="zh-CN" sz="1200" dirty="0"/>
              <a:t>-&gt;Instance == USART1)  // </a:t>
            </a:r>
            <a:r>
              <a:rPr lang="zh-CN" altLang="en-US" sz="1200" dirty="0"/>
              <a:t>只处理</a:t>
            </a:r>
            <a:r>
              <a:rPr lang="en-US" altLang="zh-CN" sz="1200" dirty="0"/>
              <a:t>USART1</a:t>
            </a:r>
            <a:r>
              <a:rPr lang="zh-CN" altLang="en-US" sz="1200" dirty="0"/>
              <a:t>的接收中断</a:t>
            </a:r>
          </a:p>
          <a:p>
            <a:r>
              <a:rPr lang="zh-CN" altLang="en-US" sz="1200" dirty="0"/>
              <a:t>  </a:t>
            </a:r>
            <a:r>
              <a:rPr lang="en-US" altLang="zh-CN" sz="1200" dirty="0"/>
              <a:t>{</a:t>
            </a:r>
          </a:p>
          <a:p>
            <a:r>
              <a:rPr lang="en-US" altLang="zh-CN" sz="1200" dirty="0"/>
              <a:t>    // 1. </a:t>
            </a:r>
            <a:r>
              <a:rPr lang="zh-CN" altLang="en-US" sz="1200" dirty="0"/>
              <a:t>把收到的字节传给</a:t>
            </a:r>
            <a:r>
              <a:rPr lang="en-US" altLang="zh-CN" sz="1200" dirty="0"/>
              <a:t>PID</a:t>
            </a:r>
            <a:r>
              <a:rPr lang="zh-CN" altLang="en-US" sz="1200" dirty="0"/>
              <a:t>参数解析器</a:t>
            </a:r>
          </a:p>
          <a:p>
            <a:r>
              <a:rPr lang="zh-CN" altLang="en-US" sz="1200" dirty="0"/>
              <a:t>    </a:t>
            </a:r>
            <a:r>
              <a:rPr lang="en-US" altLang="zh-CN" sz="1200" dirty="0" err="1"/>
              <a:t>PID_ParamParser_RecvByte</a:t>
            </a:r>
            <a:r>
              <a:rPr lang="en-US" altLang="zh-CN" sz="1200" dirty="0"/>
              <a:t>(&amp;</a:t>
            </a:r>
            <a:r>
              <a:rPr lang="en-US" altLang="zh-CN" sz="1200" dirty="0" err="1"/>
              <a:t>speed_pid_parser</a:t>
            </a:r>
            <a:r>
              <a:rPr lang="en-US" altLang="zh-CN" sz="1200" dirty="0"/>
              <a:t>, uart1_recv_byte);</a:t>
            </a:r>
          </a:p>
          <a:p>
            <a:r>
              <a:rPr lang="en-US" altLang="zh-CN" sz="1200" dirty="0"/>
              <a:t>    </a:t>
            </a:r>
          </a:p>
          <a:p>
            <a:r>
              <a:rPr lang="en-US" altLang="zh-CN" sz="1200" dirty="0"/>
              <a:t>    // 2. </a:t>
            </a:r>
            <a:r>
              <a:rPr lang="zh-CN" altLang="en-US" sz="1200" dirty="0"/>
              <a:t>重新开启</a:t>
            </a:r>
            <a:r>
              <a:rPr lang="en-US" altLang="zh-CN" sz="1200" dirty="0"/>
              <a:t>USART1</a:t>
            </a:r>
            <a:r>
              <a:rPr lang="zh-CN" altLang="en-US" sz="1200" dirty="0"/>
              <a:t>的字节接收中断（关键！否则只接收</a:t>
            </a:r>
            <a:r>
              <a:rPr lang="en-US" altLang="zh-CN" sz="1200" dirty="0"/>
              <a:t>1</a:t>
            </a:r>
            <a:r>
              <a:rPr lang="zh-CN" altLang="en-US" sz="1200" dirty="0"/>
              <a:t>个字节就停止）</a:t>
            </a:r>
          </a:p>
          <a:p>
            <a:r>
              <a:rPr lang="zh-CN" altLang="en-US" sz="1200" dirty="0"/>
              <a:t>    </a:t>
            </a:r>
            <a:r>
              <a:rPr lang="en-US" altLang="zh-CN" sz="1200" dirty="0" err="1"/>
              <a:t>HAL_UART_Receive_IT</a:t>
            </a:r>
            <a:r>
              <a:rPr lang="en-US" altLang="zh-CN" sz="1200" dirty="0"/>
              <a:t>(&amp;huart1, &amp;uart1_recv_byte, 1);</a:t>
            </a:r>
          </a:p>
          <a:p>
            <a:r>
              <a:rPr lang="en-US" altLang="zh-CN" sz="1200" dirty="0"/>
              <a:t>  }</a:t>
            </a:r>
          </a:p>
          <a:p>
            <a:r>
              <a:rPr lang="en-US" altLang="zh-CN" sz="1200" dirty="0"/>
              <a:t>}</a:t>
            </a:r>
            <a:endParaRPr lang="zh-CN" altLang="en-US" sz="12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FDDD222-CC9F-4D4A-8B3E-743BD651CFEF}"/>
              </a:ext>
            </a:extLst>
          </p:cNvPr>
          <p:cNvSpPr txBox="1"/>
          <p:nvPr/>
        </p:nvSpPr>
        <p:spPr>
          <a:xfrm>
            <a:off x="480251" y="549969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//</a:t>
            </a:r>
            <a:r>
              <a:rPr lang="zh-CN" altLang="en-US" sz="1200" dirty="0"/>
              <a:t> 在</a:t>
            </a:r>
            <a:r>
              <a:rPr lang="en-US" altLang="zh-CN" sz="1200" dirty="0"/>
              <a:t>MX_USART1_UART_Init(void)</a:t>
            </a:r>
            <a:r>
              <a:rPr lang="zh-CN" altLang="en-US" sz="1200" dirty="0"/>
              <a:t>函数中新增如下代码： </a:t>
            </a:r>
            <a:endParaRPr lang="en-US" altLang="zh-CN" sz="1200" dirty="0"/>
          </a:p>
          <a:p>
            <a:r>
              <a:rPr lang="en-US" altLang="zh-CN" sz="1200" dirty="0"/>
              <a:t>// </a:t>
            </a:r>
            <a:r>
              <a:rPr lang="zh-CN" altLang="en-US" sz="1200" dirty="0"/>
              <a:t>新增：开启</a:t>
            </a:r>
            <a:r>
              <a:rPr lang="en-US" altLang="zh-CN" sz="1200" dirty="0"/>
              <a:t>USART1</a:t>
            </a:r>
            <a:r>
              <a:rPr lang="zh-CN" altLang="en-US" sz="1200" dirty="0"/>
              <a:t>的</a:t>
            </a:r>
            <a:r>
              <a:rPr lang="en-US" altLang="zh-CN" sz="1200" dirty="0"/>
              <a:t>1</a:t>
            </a:r>
            <a:r>
              <a:rPr lang="zh-CN" altLang="en-US" sz="1200" dirty="0"/>
              <a:t>字节接收中断（首次触发需要手动开启）</a:t>
            </a:r>
          </a:p>
          <a:p>
            <a:r>
              <a:rPr lang="zh-CN" altLang="en-US" sz="1200" dirty="0"/>
              <a:t>  </a:t>
            </a:r>
            <a:r>
              <a:rPr lang="en-US" altLang="zh-CN" sz="1200" dirty="0" err="1"/>
              <a:t>HAL_UART_Receive_IT</a:t>
            </a:r>
            <a:r>
              <a:rPr lang="en-US" altLang="zh-CN" sz="1200" dirty="0"/>
              <a:t>(&amp;huart1, &amp;uart1_recv_byte, 1);</a:t>
            </a:r>
            <a:endParaRPr lang="zh-CN" altLang="en-US" sz="1200" dirty="0"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9B518356-286E-CF24-9ED3-D5ABA53B20DB}"/>
              </a:ext>
            </a:extLst>
          </p:cNvPr>
          <p:cNvSpPr/>
          <p:nvPr/>
        </p:nvSpPr>
        <p:spPr>
          <a:xfrm>
            <a:off x="9274629" y="2407840"/>
            <a:ext cx="400595" cy="4001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1</a:t>
            </a:r>
            <a:endParaRPr lang="zh-CN" altLang="en-US" b="1" dirty="0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9D37B5AA-A4AE-8A98-9C81-6A71C5184D2C}"/>
              </a:ext>
            </a:extLst>
          </p:cNvPr>
          <p:cNvSpPr/>
          <p:nvPr/>
        </p:nvSpPr>
        <p:spPr>
          <a:xfrm>
            <a:off x="4319451" y="5200093"/>
            <a:ext cx="400595" cy="4001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2</a:t>
            </a:r>
            <a:endParaRPr lang="zh-CN" altLang="en-US" b="1" dirty="0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5DE820CD-5A6B-25CD-CE46-4ECD8E23CFD2}"/>
              </a:ext>
            </a:extLst>
          </p:cNvPr>
          <p:cNvSpPr/>
          <p:nvPr/>
        </p:nvSpPr>
        <p:spPr>
          <a:xfrm>
            <a:off x="11216639" y="5000038"/>
            <a:ext cx="400595" cy="4001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3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193565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63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762000" y="1524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核心函数解析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032000"/>
            <a:ext cx="5080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222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1844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chemeClr val="bg2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PID_ParamParser_Init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397000" y="2540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初始化解析器，清空缓冲区和状态，为接收数据做准备</a:t>
            </a:r>
            <a:r>
              <a:rPr lang="en-US" sz="13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238500"/>
            <a:ext cx="5080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429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33909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chemeClr val="bg2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PID_ParamParser_RecvByte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397000" y="3746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串口接收回调函数（中断调用），存储字节至缓冲区，以换行符判断接收完成。</a:t>
            </a:r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445000"/>
            <a:ext cx="5080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4635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4597400"/>
            <a:ext cx="4318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2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PID_ParamParser_Parse</a:t>
            </a:r>
            <a:endParaRPr lang="en-US" sz="11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397000" y="4953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1. 校验指令头“PID:”；2. 解析控制器类型；3. 提取KP/KI/KD等参数值；4. 有效性校验。</a:t>
            </a:r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350000" y="1524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指令格式示例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2032000"/>
            <a:ext cx="5080000" cy="1524000"/>
          </a:xfrm>
          <a:prstGeom prst="roundRect">
            <a:avLst>
              <a:gd name="adj" fmla="val 833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77000" y="21590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chemeClr val="bg2">
                    <a:lumMod val="5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PID:SPEED,KP=20.0,KI=1.0,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>
                <a:solidFill>
                  <a:schemeClr val="bg2">
                    <a:lumMod val="5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KD=0.5,MAX_OUT=100.0,</a:t>
            </a: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>
                <a:solidFill>
                  <a:schemeClr val="bg2">
                    <a:lumMod val="5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MAX_INT=50.0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350000" y="3810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chemeClr val="bg2">
                    <a:lumMod val="5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解析流程</a:t>
            </a:r>
            <a:endParaRPr lang="en-US" sz="11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350000" y="4318000"/>
            <a:ext cx="1524000" cy="762000"/>
          </a:xfrm>
          <a:prstGeom prst="roundRect">
            <a:avLst>
              <a:gd name="adj" fmla="val 8333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350000" y="44196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接收字节流</a:t>
            </a:r>
            <a:br>
              <a:rPr lang="en-US" sz="1600" b="0" i="0" u="none" strike="noStrike"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UART中断回调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500" y="45466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318500" y="4318000"/>
            <a:ext cx="1524000" cy="762000"/>
          </a:xfrm>
          <a:prstGeom prst="roundRect">
            <a:avLst>
              <a:gd name="adj" fmla="val 8333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318500" y="4419600"/>
            <a:ext cx="152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格式校验</a:t>
            </a:r>
            <a:br>
              <a:rPr lang="en-US" sz="1600" b="0" i="0" u="none" strike="noStrike"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匹配PID头标识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06000" y="45466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0287000" y="4318000"/>
            <a:ext cx="1143000" cy="762000"/>
          </a:xfrm>
          <a:prstGeom prst="roundRect">
            <a:avLst>
              <a:gd name="adj" fmla="val 8333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10287000" y="4419600"/>
            <a:ext cx="114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数值转换</a:t>
            </a:r>
            <a:br>
              <a:rPr lang="en-US" sz="1600" b="0" i="0" u="none" strike="noStrike"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字符串转浮点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6350000" y="5334000"/>
            <a:ext cx="5080000" cy="508000"/>
          </a:xfrm>
          <a:prstGeom prst="roundRect">
            <a:avLst>
              <a:gd name="adj" fmla="val 2500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6477000" y="54356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作用：充当系统“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翻译官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将上位机指令转为单片机可执行参数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33" name="标题 32">
            <a:extLst>
              <a:ext uri="{FF2B5EF4-FFF2-40B4-BE49-F238E27FC236}">
                <a16:creationId xmlns:a16="http://schemas.microsoft.com/office/drawing/2014/main" id="{2B5A144C-004C-48EA-5C11-E577D2E9B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参数解析器模块 </a:t>
            </a:r>
            <a:r>
              <a:rPr lang="en-US" altLang="zh-CN" dirty="0"/>
              <a:t>(</a:t>
            </a:r>
            <a:r>
              <a:rPr lang="en-US" altLang="zh-CN" dirty="0" err="1"/>
              <a:t>pid_param_parse.c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2667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2794000"/>
          </a:xfrm>
          <a:prstGeom prst="roundRect">
            <a:avLst>
              <a:gd name="adj" fmla="val 4545"/>
            </a:avLst>
          </a:prstGeom>
          <a:solidFill>
            <a:srgbClr val="282C34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  <a:effectLst>
            <a:outerShdw blurRad="127000" dist="63500" dir="2700000" algn="tl" rotWithShape="0">
              <a:srgbClr val="00BFFF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1778000"/>
            <a:ext cx="4826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__disable_irq</a:t>
            </a:r>
            <a:r>
              <a:rPr lang="en-US" sz="14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r>
              <a:rPr lang="en-US" sz="1400" b="0" i="0" u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1. 关闭全局中断，进入临界区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pid-&gt;Kp = kp;</a:t>
            </a:r>
            <a:r>
              <a:rPr lang="en-US" sz="1400" b="0" i="0" u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更新比例系数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pid-&gt;Ki = ki;</a:t>
            </a:r>
            <a:r>
              <a:rPr lang="en-US" sz="1400" b="0" i="0" u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更新积分系数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pid-&gt;Kd = kd;</a:t>
            </a:r>
            <a:r>
              <a:rPr lang="en-US" sz="1400" b="0" i="0" u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更新微分系数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// ... 其他参数更新操作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C586C0"/>
                </a:solidFill>
                <a:latin typeface="Consolas"/>
                <a:ea typeface="Consolas"/>
                <a:cs typeface="Consolas"/>
                <a:sym typeface="Consolas"/>
              </a:rPr>
              <a:t>__enable_irq</a:t>
            </a:r>
            <a:r>
              <a:rPr lang="en-US" sz="1400" b="0" i="0" u="none" strike="noStrike">
                <a:solidFill>
                  <a:srgbClr val="DCDFE4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r>
              <a:rPr lang="en-US" sz="1400" b="0" i="0" u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// 2. 开启全局中断，退出临界区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1651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731000" y="1600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bg2">
                    <a:lumMod val="5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核心函数：PID_UpdateParam</a:t>
            </a:r>
            <a:endParaRPr lang="en-US" sz="11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156960" y="2032000"/>
            <a:ext cx="603504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负责将新的控制参数（Kp</a:t>
            </a:r>
            <a:r>
              <a:rPr lang="en-US" sz="14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, Ki, </a:t>
            </a:r>
            <a:r>
              <a:rPr lang="en-US" sz="14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Kd）赋值给PID控制器结构体，是系统动态调参的核心接口</a:t>
            </a:r>
            <a:r>
              <a:rPr lang="en-US" sz="14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2794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731000" y="2743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bg2">
                    <a:lumMod val="5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为什么需要临界区保护？</a:t>
            </a:r>
            <a:endParaRPr lang="en-US" sz="110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096000" y="3175000"/>
            <a:ext cx="609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333"/>
              </a:lnSpc>
              <a:buClr>
                <a:srgbClr val="BDBDBD"/>
              </a:buClr>
              <a:buFont typeface="Wingdings"/>
              <a:buChar char="v"/>
              <a:defRPr/>
            </a:pPr>
            <a:r>
              <a:rPr lang="en-US" sz="1400" b="1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多步操作风险：</a:t>
            </a:r>
            <a:r>
              <a:rPr lang="en-US" sz="14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参数更新非原子性，需依次修改多个值</a:t>
            </a:r>
            <a:r>
              <a:rPr lang="en-US" sz="14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77800" indent="-177800" algn="l">
              <a:lnSpc>
                <a:spcPct val="108333"/>
              </a:lnSpc>
              <a:buClr>
                <a:srgbClr val="BDBDBD"/>
              </a:buClr>
              <a:buFont typeface="Wingdings"/>
              <a:buChar char="v"/>
            </a:pPr>
            <a:r>
              <a:rPr lang="en-US" sz="1400" b="1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中断抢占：</a:t>
            </a:r>
            <a:r>
              <a:rPr lang="en-US" sz="14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若定时器中断在更新中途触发，会读取到“新旧混杂”的参数</a:t>
            </a:r>
            <a:r>
              <a:rPr lang="en-US" sz="14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177800" indent="-177800" algn="l">
              <a:lnSpc>
                <a:spcPct val="108333"/>
              </a:lnSpc>
              <a:buClr>
                <a:srgbClr val="BDBDBD"/>
              </a:buClr>
              <a:buFont typeface="Wingdings"/>
              <a:buChar char="v"/>
            </a:pPr>
            <a:r>
              <a:rPr lang="en-US" sz="1400" b="1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严重后果：</a:t>
            </a:r>
            <a:r>
              <a:rPr lang="en-US" sz="14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可能导致计算结果异常，甚至引发系统震荡或崩溃</a:t>
            </a:r>
            <a:r>
              <a:rPr lang="en-US" sz="14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177800" indent="-177800" algn="l">
              <a:lnSpc>
                <a:spcPct val="108333"/>
              </a:lnSpc>
              <a:buClr>
                <a:srgbClr val="BDBDBD"/>
              </a:buClr>
              <a:buFont typeface="Wingdings"/>
              <a:buChar char="v"/>
            </a:pPr>
            <a:r>
              <a:rPr lang="en-US" sz="1400" b="1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原子性保证：</a:t>
            </a:r>
            <a:r>
              <a:rPr lang="en-US" sz="14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关中断确保更新过程不可分割，数据绝对一致</a:t>
            </a:r>
            <a:r>
              <a:rPr lang="en-US" sz="14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5588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b="1" i="0" u="none" strike="noStrike" dirty="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注意</a:t>
            </a:r>
            <a:r>
              <a:rPr lang="en-US" b="1" i="0" u="none" strike="noStrike" dirty="0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任何对共享资源（如PID参数）的非原子性操作，都必须在临界区内完成</a:t>
            </a:r>
            <a:r>
              <a:rPr lang="en-US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标题 14">
            <a:extLst>
              <a:ext uri="{FF2B5EF4-FFF2-40B4-BE49-F238E27FC236}">
                <a16:creationId xmlns:a16="http://schemas.microsoft.com/office/drawing/2014/main" id="{64A09422-7A52-794E-2C02-98AF9F68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PID</a:t>
            </a:r>
            <a:r>
              <a:rPr lang="zh-CN" altLang="en-US" dirty="0"/>
              <a:t>参数更新函数 </a:t>
            </a:r>
            <a:r>
              <a:rPr lang="en-US" altLang="zh-CN" dirty="0"/>
              <a:t>(</a:t>
            </a:r>
            <a:r>
              <a:rPr lang="en-US" altLang="zh-CN" dirty="0" err="1"/>
              <a:t>pid_controller.c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508000"/>
            <a:ext cx="10566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2921000"/>
          </a:xfrm>
          <a:prstGeom prst="roundRect">
            <a:avLst>
              <a:gd name="adj" fmla="val 434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397000"/>
            <a:ext cx="5080000" cy="381000"/>
          </a:xfrm>
          <a:prstGeom prst="roundRect">
            <a:avLst>
              <a:gd name="adj" fmla="val 0"/>
            </a:avLst>
          </a:prstGeom>
          <a:solidFill>
            <a:srgbClr val="00BF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rgbClr val="C00000"/>
              </a:solidFill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89000" y="14351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1" i="0" u="none" strike="noStrike" dirty="0" err="1">
                <a:solidFill>
                  <a:srgbClr val="C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speed_loop.c</a:t>
            </a:r>
            <a:r>
              <a:rPr lang="en-US" sz="1200" b="1" i="0" u="none" strike="noStrike" dirty="0">
                <a:solidFill>
                  <a:srgbClr val="C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- </a:t>
            </a:r>
            <a:r>
              <a:rPr lang="en-US" sz="1200" b="1" i="0" u="none" strike="noStrike" dirty="0" err="1">
                <a:solidFill>
                  <a:srgbClr val="C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SpeedLoop_Task</a:t>
            </a:r>
            <a:r>
              <a:rPr lang="zh-CN" altLang="en-US" sz="1200" b="1" i="0" u="none" strike="noStrike" dirty="0">
                <a:solidFill>
                  <a:srgbClr val="C0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的主要逻辑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89000" y="1841500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2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PID_ParseState_tparse_state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=</a:t>
            </a:r>
            <a:r>
              <a:rPr lang="en-US" sz="12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PID_ParamParser_Parse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(&amp;</a:t>
            </a:r>
            <a:r>
              <a:rPr lang="en-US" sz="12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speed_pid_parser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);</a:t>
            </a: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lang="en-US" sz="12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检查解析状态并更新参数</a:t>
            </a:r>
            <a:endParaRPr lang="en-US" sz="12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if(</a:t>
            </a:r>
            <a:r>
              <a:rPr lang="en-US" sz="12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parse_state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==PARSE_STATE_COMPLETE) {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PID_Param_tnew_p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=</a:t>
            </a:r>
            <a:r>
              <a:rPr lang="en-US" sz="12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PID_ParamParser_GetParam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(&amp;</a:t>
            </a:r>
            <a:r>
              <a:rPr lang="en-US" sz="12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speed_pid_parser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);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PID_UpdateParam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(&amp;</a:t>
            </a:r>
            <a:r>
              <a:rPr lang="en-US" sz="12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hspeed_pid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, new_p.kp, new_p.ki, ...);</a:t>
            </a: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  <a:p>
            <a:pPr indent="0" algn="l">
              <a:lnSpc>
                <a:spcPct val="100000"/>
              </a:lnSpc>
            </a:pPr>
            <a:endParaRPr lang="en-US" sz="1200" b="0" i="0" u="none" strike="noStrike" dirty="0">
              <a:solidFill>
                <a:schemeClr val="tx1">
                  <a:lumMod val="75000"/>
                  <a:lumOff val="25000"/>
                </a:schemeClr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PID_ParamParser_Reset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(&amp;</a:t>
            </a:r>
            <a:r>
              <a:rPr lang="en-US" sz="1200" b="0" i="0" u="none" strike="noStrike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speed_pid_parser</a:t>
            </a:r>
            <a:r>
              <a:rPr 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);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1397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核心逻辑解析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841500"/>
            <a:ext cx="5207000" cy="5715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000" y="1968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731000" y="18796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调用解析函数：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解析接收到的参数指令流，获取当前状态</a:t>
            </a: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6223000" y="2476500"/>
            <a:ext cx="5207000" cy="5715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2603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731000" y="25146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判断解析状态：</a:t>
            </a: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若状态为</a:t>
            </a:r>
            <a:r>
              <a:rPr lang="en-US" sz="1400" b="0" i="0" u="none" strike="noStrike">
                <a:latin typeface="Source Code Pro"/>
                <a:ea typeface="Source Code Pro"/>
                <a:cs typeface="Source Code Pro"/>
                <a:sym typeface="Source Code Pro"/>
              </a:rPr>
              <a:t>COMPLETE</a:t>
            </a: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，说明指令接收完整。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3111500"/>
            <a:ext cx="5207000" cy="5715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00" y="3238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731000" y="31496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更新PID参数：</a:t>
            </a: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提取新参数并更新至全局速度环PID实例。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3746500"/>
            <a:ext cx="5207000" cy="5715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0" y="3873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731000" y="37846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重置解析器：</a:t>
            </a: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清理缓冲区，准备接收下一条指令。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699000"/>
            <a:ext cx="10668000" cy="7620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00BFFF">
                  <a:alpha val="20000"/>
                </a:srgbClr>
              </a:gs>
              <a:gs pos="100000">
                <a:srgbClr val="00BFFF">
                  <a:alpha val="5000"/>
                </a:srgbClr>
              </a:gs>
            </a:gsLst>
            <a:lin ang="0"/>
          </a:gra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16000" y="48768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587500" y="4826000"/>
            <a:ext cx="9842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执行时机保障：</a:t>
            </a:r>
            <a:r>
              <a:rPr lang="en-US" sz="15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该任务在定时器6中断中被周期性调用（如每10ms一次），</a:t>
            </a:r>
            <a:r>
              <a:rPr lang="en-US" sz="15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确保参数更新的实时性与响应速度</a:t>
            </a:r>
            <a:r>
              <a:rPr lang="en-US" sz="15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5" name="标题 24">
            <a:extLst>
              <a:ext uri="{FF2B5EF4-FFF2-40B4-BE49-F238E27FC236}">
                <a16:creationId xmlns:a16="http://schemas.microsoft.com/office/drawing/2014/main" id="{B2E36CC9-0A7D-A397-D0B1-CC1E4BB88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速度环任务中的集成 </a:t>
            </a:r>
            <a:r>
              <a:rPr lang="en-US" altLang="zh-CN" dirty="0"/>
              <a:t>(</a:t>
            </a:r>
            <a:r>
              <a:rPr lang="en-US" altLang="zh-CN" dirty="0" err="1"/>
              <a:t>speed_loop.c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5EA71-7E84-05E8-6BDA-47D2E5461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00B7AA0-18F6-15F7-48B9-6879F40B4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10.5.3  </a:t>
            </a:r>
            <a:r>
              <a:rPr lang="zh-CN" altLang="en-US" dirty="0"/>
              <a:t>实操演示与效果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38BD94-C60C-E0F5-EFFD-BC54FA54232F}"/>
              </a:ext>
            </a:extLst>
          </p:cNvPr>
          <p:cNvSpPr txBox="1"/>
          <p:nvPr/>
        </p:nvSpPr>
        <p:spPr>
          <a:xfrm>
            <a:off x="4310743" y="35558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PRACTICAL DEMONSTRATION AND EFFECTS</a:t>
            </a:r>
          </a:p>
        </p:txBody>
      </p:sp>
    </p:spTree>
    <p:extLst>
      <p:ext uri="{BB962C8B-B14F-4D97-AF65-F5344CB8AC3E}">
        <p14:creationId xmlns:p14="http://schemas.microsoft.com/office/powerpoint/2010/main" val="3934123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635000"/>
            <a:ext cx="8559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90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latin typeface="Poppins"/>
                <a:ea typeface="Poppins"/>
                <a:cs typeface="Poppins"/>
                <a:sym typeface="Poppins"/>
              </a:rPr>
              <a:t>硬件连接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413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latin typeface="Poppins"/>
                <a:ea typeface="Poppins"/>
                <a:cs typeface="Poppins"/>
                <a:sym typeface="Poppins"/>
              </a:rPr>
              <a:t>使用USB数据线将单片机开发板与电脑主机连接</a:t>
            </a:r>
            <a:r>
              <a:rPr lang="en-US" sz="1400" b="0" i="0" u="none" strike="noStrike" dirty="0">
                <a:latin typeface="Poppins"/>
                <a:ea typeface="Poppins"/>
                <a:cs typeface="Poppins"/>
                <a:sym typeface="Poppins"/>
              </a:rPr>
              <a:t>。</a:t>
            </a:r>
          </a:p>
          <a:p>
            <a:pPr indent="0" algn="l">
              <a:lnSpc>
                <a:spcPct val="108333"/>
              </a:lnSpc>
              <a:defRPr/>
            </a:pP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 dirty="0" err="1">
                <a:latin typeface="Poppins"/>
                <a:ea typeface="Poppins"/>
                <a:cs typeface="Poppins"/>
                <a:sym typeface="Poppins"/>
              </a:rPr>
              <a:t>检查设备管理器，确保驱动安装正常，串口通信无异常</a:t>
            </a:r>
            <a:r>
              <a:rPr lang="en-US" sz="1400" b="0" i="0" u="none" strike="noStrike" dirty="0">
                <a:latin typeface="Poppins"/>
                <a:ea typeface="Poppins"/>
                <a:cs typeface="Poppins"/>
                <a:sym typeface="Poppins"/>
              </a:rPr>
              <a:t>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9000" y="190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190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latin typeface="Poppins"/>
                <a:ea typeface="Poppins"/>
                <a:cs typeface="Poppins"/>
                <a:sym typeface="Poppins"/>
              </a:rPr>
              <a:t>软件准备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1" y="2413000"/>
            <a:ext cx="303929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177800" indent="-177800" algn="l">
              <a:lnSpc>
                <a:spcPct val="108333"/>
              </a:lnSpc>
              <a:buClr>
                <a:srgbClr val="DCDCDC"/>
              </a:buClr>
              <a:buChar char="•"/>
              <a:defRPr/>
            </a:pPr>
            <a:r>
              <a:rPr lang="zh-CN" altLang="en-US" sz="1400" b="0" i="0" u="none" strike="noStrike" dirty="0">
                <a:latin typeface="Poppins"/>
                <a:ea typeface="Poppins"/>
                <a:cs typeface="Poppins"/>
                <a:sym typeface="Poppins"/>
              </a:rPr>
              <a:t>打开</a:t>
            </a:r>
            <a:r>
              <a:rPr lang="en-US" altLang="zh-CN" sz="1400" b="0" i="0" u="none" strike="noStrike" dirty="0" err="1">
                <a:latin typeface="Poppins"/>
                <a:ea typeface="Poppins"/>
                <a:cs typeface="Poppins"/>
                <a:sym typeface="Poppins"/>
              </a:rPr>
              <a:t>Vofa</a:t>
            </a:r>
            <a:r>
              <a:rPr lang="en-US" altLang="zh-CN" sz="1400" b="0" i="0" u="none" strike="noStrike" dirty="0">
                <a:latin typeface="Poppins"/>
                <a:ea typeface="Poppins"/>
                <a:cs typeface="Poppins"/>
                <a:sym typeface="Poppins"/>
              </a:rPr>
              <a:t>+</a:t>
            </a:r>
            <a:r>
              <a:rPr lang="en-US" sz="1400" b="0" i="0" u="none" strike="noStrike" dirty="0">
                <a:latin typeface="Poppins"/>
                <a:ea typeface="Poppins"/>
                <a:cs typeface="Poppins"/>
                <a:sym typeface="Poppins"/>
              </a:rPr>
              <a:t>，</a:t>
            </a:r>
            <a:r>
              <a:rPr lang="en-US" sz="1400" b="0" i="0" u="none" strike="noStrike" dirty="0" err="1">
                <a:latin typeface="Poppins"/>
                <a:ea typeface="Poppins"/>
                <a:cs typeface="Poppins"/>
                <a:sym typeface="Poppins"/>
              </a:rPr>
              <a:t>配置参数与代码一致</a:t>
            </a:r>
            <a:r>
              <a:rPr lang="en-US" sz="1400" b="0" i="0" u="none" strike="noStrike" dirty="0">
                <a:latin typeface="Poppins"/>
                <a:ea typeface="Poppins"/>
                <a:cs typeface="Poppins"/>
                <a:sym typeface="Poppins"/>
              </a:rPr>
              <a:t>。</a:t>
            </a:r>
          </a:p>
          <a:p>
            <a:pPr marL="177800" indent="-177800" algn="l">
              <a:lnSpc>
                <a:spcPct val="108333"/>
              </a:lnSpc>
              <a:buClr>
                <a:srgbClr val="DCDCDC"/>
              </a:buClr>
              <a:buChar char="•"/>
              <a:defRPr/>
            </a:pPr>
            <a:endParaRPr lang="en-US" sz="1100" dirty="0"/>
          </a:p>
          <a:p>
            <a:pPr marL="177800" indent="-177800" algn="l">
              <a:lnSpc>
                <a:spcPct val="108333"/>
              </a:lnSpc>
              <a:buClr>
                <a:srgbClr val="DCDCDC"/>
              </a:buClr>
              <a:buChar char="•"/>
            </a:pPr>
            <a:r>
              <a:rPr lang="en-US" sz="1400" b="0" i="0" u="none" strike="noStrike" dirty="0" err="1">
                <a:latin typeface="Poppins"/>
                <a:ea typeface="Poppins"/>
                <a:cs typeface="Poppins"/>
                <a:sym typeface="Poppins"/>
              </a:rPr>
              <a:t>选择对应串口及FireWater协议</a:t>
            </a:r>
            <a:r>
              <a:rPr lang="en-US" sz="1400" b="0" i="0" u="none" strike="noStrike" dirty="0">
                <a:latin typeface="Poppins"/>
                <a:ea typeface="Poppins"/>
                <a:cs typeface="Poppins"/>
                <a:sym typeface="Poppins"/>
              </a:rPr>
              <a:t>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0" y="1905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1905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latin typeface="Poppins"/>
                <a:ea typeface="Poppins"/>
                <a:cs typeface="Poppins"/>
                <a:sym typeface="Poppins"/>
              </a:rPr>
              <a:t>烧录程序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2413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latin typeface="Poppins"/>
                <a:ea typeface="Poppins"/>
                <a:cs typeface="Poppins"/>
                <a:sym typeface="Poppins"/>
              </a:rPr>
              <a:t>通过编程软件将包含在线调参功能的最新固件代码烧录至单片机</a:t>
            </a:r>
            <a:r>
              <a:rPr lang="en-US" sz="1400" b="0" i="0" u="none" strike="noStrike" dirty="0">
                <a:latin typeface="Poppins"/>
                <a:ea typeface="Poppins"/>
                <a:cs typeface="Poppins"/>
                <a:sym typeface="Poppins"/>
              </a:rPr>
              <a:t>。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400" b="0" i="0" u="none" strike="noStrike" dirty="0" err="1">
                <a:latin typeface="Poppins"/>
                <a:ea typeface="Poppins"/>
                <a:cs typeface="Poppins"/>
                <a:sym typeface="Poppins"/>
              </a:rPr>
              <a:t>等待烧录进度条完成，确保无报错信息</a:t>
            </a:r>
            <a:r>
              <a:rPr lang="en-US" sz="1400" b="0" i="0" u="none" strike="noStrike" dirty="0">
                <a:latin typeface="Poppins"/>
                <a:ea typeface="Poppins"/>
                <a:cs typeface="Poppins"/>
                <a:sym typeface="Poppins"/>
              </a:rPr>
              <a:t>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5080000"/>
            <a:ext cx="10668000" cy="508000"/>
          </a:xfrm>
          <a:prstGeom prst="roundRect">
            <a:avLst>
              <a:gd name="adj" fmla="val 12500"/>
            </a:avLst>
          </a:prstGeom>
          <a:solidFill>
            <a:srgbClr val="00BF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52500" y="52070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270000" y="5143500"/>
            <a:ext cx="990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latin typeface="Poppins"/>
                <a:ea typeface="Poppins"/>
                <a:cs typeface="Poppins"/>
                <a:sym typeface="Poppins"/>
              </a:rPr>
              <a:t>关键提示：所有准备工作完成后，请务必复位单片机，确保程序从初始状态开始运行。</a:t>
            </a:r>
            <a:endParaRPr lang="en-US" sz="1100"/>
          </a:p>
        </p:txBody>
      </p:sp>
      <p:sp>
        <p:nvSpPr>
          <p:cNvPr id="20" name="标题 19">
            <a:extLst>
              <a:ext uri="{FF2B5EF4-FFF2-40B4-BE49-F238E27FC236}">
                <a16:creationId xmlns:a16="http://schemas.microsoft.com/office/drawing/2014/main" id="{67E0AAD3-DD42-8BBA-03C7-00363125A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实操步骤</a:t>
            </a:r>
            <a:r>
              <a:rPr lang="en-US" altLang="zh-CN" dirty="0"/>
              <a:t>1</a:t>
            </a:r>
            <a:r>
              <a:rPr lang="zh-CN" altLang="en-US" dirty="0"/>
              <a:t>：硬件连接与软件准备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635000"/>
            <a:ext cx="603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55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778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输入指令格式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在串口助手的发送框中，输入符合约定格式的字符串指令。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28575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1623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2984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发送至单片机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确认参数无误后，点击发送按钮，指令将通过串口下发。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52754" y="1651000"/>
            <a:ext cx="5451566" cy="2222500"/>
          </a:xfrm>
          <a:prstGeom prst="roundRect">
            <a:avLst>
              <a:gd name="adj" fmla="val 5714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477000" y="177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指令格式示例：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65966" y="2159000"/>
            <a:ext cx="5275098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altLang="zh-CN" sz="1200" dirty="0">
                <a:highlight>
                  <a:srgbClr val="FFFFFF">
                    <a:alpha val="0"/>
                  </a:srgbClr>
                </a:highlight>
              </a:rPr>
              <a:t>PID:SPEED,KP=2.53,KI=0.56,KD=0.15,MAX_OUT=100.0,MAX_INT=80.0\r\n</a:t>
            </a:r>
          </a:p>
          <a:p>
            <a:pPr>
              <a:defRPr/>
            </a:pPr>
            <a:endParaRPr lang="en-US" sz="1200" b="0" i="0" u="none" strike="noStrike" dirty="0">
              <a:highlight>
                <a:srgbClr val="FFFFFF">
                  <a:alpha val="0"/>
                </a:srgbClr>
              </a:highlight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defRPr/>
            </a:pPr>
            <a:r>
              <a:rPr lang="en-US" sz="11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说明：SPEED为模式关键字，KP</a:t>
            </a:r>
            <a:r>
              <a:rPr lang="en-US" sz="11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/KI/</a:t>
            </a:r>
            <a:r>
              <a:rPr lang="en-US" sz="11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KD为PID参数，数值可按需调整</a:t>
            </a:r>
            <a:r>
              <a:rPr lang="en-US" sz="11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453A">
              <a:alpha val="10000"/>
            </a:srgbClr>
          </a:solidFill>
          <a:ln w="12700" cap="flat" cmpd="sng">
            <a:solidFill>
              <a:srgbClr val="FF453A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381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3180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关键注意事项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BDBDBD"/>
              </a:buClr>
              <a:buChar char="•"/>
            </a:pPr>
            <a:r>
              <a:rPr lang="en-US" sz="14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格式严格：</a:t>
            </a: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关键字（如SPEED, KP）区分大小写，必须与代码约定完全一致。</a:t>
            </a:r>
          </a:p>
          <a:p>
            <a:pPr marL="177800" indent="-177800" algn="l">
              <a:lnSpc>
                <a:spcPct val="125000"/>
              </a:lnSpc>
              <a:buClr>
                <a:srgbClr val="BDBDBD"/>
              </a:buClr>
              <a:buChar char="•"/>
            </a:pPr>
            <a:r>
              <a:rPr lang="en-US" sz="14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连接确认：</a:t>
            </a: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发送前务必确保串口助手已正确连接到对应COM口，波特率匹配。</a:t>
            </a:r>
          </a:p>
        </p:txBody>
      </p:sp>
      <p:cxnSp>
        <p:nvCxnSpPr>
          <p:cNvPr id="17" name="Connector 17"/>
          <p:cNvCxnSpPr/>
          <p:nvPr/>
        </p:nvCxnSpPr>
        <p:spPr>
          <a:xfrm rot="-4092">
            <a:off x="762004" y="1263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标题 17">
            <a:extLst>
              <a:ext uri="{FF2B5EF4-FFF2-40B4-BE49-F238E27FC236}">
                <a16:creationId xmlns:a16="http://schemas.microsoft.com/office/drawing/2014/main" id="{C9116BDD-7F0B-1C49-0B3E-F6D9A0360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实操步骤</a:t>
            </a:r>
            <a:r>
              <a:rPr lang="en-US" altLang="zh-CN" dirty="0"/>
              <a:t>2</a:t>
            </a:r>
            <a:r>
              <a:rPr lang="zh-CN" altLang="en-US" dirty="0"/>
              <a:t>：发送调参指令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973253" y="5135156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VOFA+ </a:t>
            </a:r>
            <a:r>
              <a:rPr lang="en-US" sz="1400" b="0" i="0" u="none" strike="noStrike" dirty="0" err="1">
                <a:latin typeface="Noto Sans SC"/>
                <a:ea typeface="Noto Sans SC"/>
                <a:cs typeface="Noto Sans SC"/>
                <a:sym typeface="Noto Sans SC"/>
              </a:rPr>
              <a:t>实时数据监测界面示例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653349" y="1524000"/>
            <a:ext cx="5492931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5695" y="1765300"/>
            <a:ext cx="399486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338885" y="1587500"/>
            <a:ext cx="474389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目标转速 (Target RPM)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观察曲线是否稳定在设定值，作为系统响应的基准参考。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653349" y="2540000"/>
            <a:ext cx="5492931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55695" y="2781300"/>
            <a:ext cx="399486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338885" y="2603500"/>
            <a:ext cx="474389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实际转速 (Actual RPM)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确认是否能快速、平稳地跟踪目标转速，无明显延迟。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653349" y="3556000"/>
            <a:ext cx="5492931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55695" y="3797300"/>
            <a:ext cx="399486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338885" y="3619500"/>
            <a:ext cx="474389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PID输出 (PID Output)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关注输出变化趋势，检查是否存在不必要的震荡或超调现象。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653349" y="4572000"/>
            <a:ext cx="5492931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55695" y="4940300"/>
            <a:ext cx="399486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338885" y="4635500"/>
            <a:ext cx="474389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参数调整效果验证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修改KP/KI/KD后观察曲线变化：KP增快响应但易超调；KI消误差但易震荡；KD抑超调但敏感。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62000" y="5969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4501877-0CA8-5CC8-C9B8-0BAFB720900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4972"/>
            <a:ext cx="6562735" cy="3617411"/>
          </a:xfrm>
          <a:prstGeom prst="rect">
            <a:avLst/>
          </a:prstGeom>
        </p:spPr>
      </p:pic>
      <p:sp>
        <p:nvSpPr>
          <p:cNvPr id="22" name="标题 21">
            <a:extLst>
              <a:ext uri="{FF2B5EF4-FFF2-40B4-BE49-F238E27FC236}">
                <a16:creationId xmlns:a16="http://schemas.microsoft.com/office/drawing/2014/main" id="{A0A2EE26-CC6A-9E1D-8572-92E12D169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实操步骤</a:t>
            </a:r>
            <a:r>
              <a:rPr lang="en-US" altLang="zh-CN" dirty="0"/>
              <a:t>3</a:t>
            </a:r>
            <a:r>
              <a:rPr lang="zh-CN" altLang="en-US" dirty="0"/>
              <a:t>：观察</a:t>
            </a:r>
            <a:r>
              <a:rPr lang="en-US" altLang="zh-CN" dirty="0"/>
              <a:t>VOFA+</a:t>
            </a:r>
            <a:r>
              <a:rPr lang="zh-CN" altLang="en-US" dirty="0"/>
              <a:t>实时曲线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762000" y="1778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159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905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实时参数监控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在LCD屏幕上实时查看KP、KI、KD当前参数值，掌握控制器状态。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350000" y="1778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21590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1905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指令即时响应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通过串口发送新指令后，LCD数值秒级更新，验证指令传输有效性。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3429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810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3556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闭环应用确认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数值更新直观证明参数已被单片机成功接收并应用到PID算法中。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350000" y="3429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38100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239000" y="3556000"/>
            <a:ext cx="393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latin typeface="Noto Sans SC"/>
                <a:ea typeface="Noto Sans SC"/>
                <a:cs typeface="Noto Sans SC"/>
                <a:sym typeface="Noto Sans SC"/>
              </a:rPr>
              <a:t>多维状态展示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同步显示目标转速、实际转速及PWM占空比，全面掌握系统运行情况。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5334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558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LCD屏幕作为本地监控面板，让调试过程脱离电脑连接也能精准判断系统状态。</a:t>
            </a:r>
            <a:endParaRPr lang="en-US" sz="1100"/>
          </a:p>
        </p:txBody>
      </p:sp>
      <p:sp>
        <p:nvSpPr>
          <p:cNvPr id="19" name="标题 18">
            <a:extLst>
              <a:ext uri="{FF2B5EF4-FFF2-40B4-BE49-F238E27FC236}">
                <a16:creationId xmlns:a16="http://schemas.microsoft.com/office/drawing/2014/main" id="{92704BB5-0D9D-C780-9FCE-2218114C3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实操步骤</a:t>
            </a:r>
            <a:r>
              <a:rPr lang="en-US" altLang="zh-CN" dirty="0"/>
              <a:t>4</a:t>
            </a:r>
            <a:r>
              <a:rPr lang="zh-CN" altLang="en-US" dirty="0"/>
              <a:t>：观察</a:t>
            </a:r>
            <a:r>
              <a:rPr lang="en-US" altLang="zh-CN" dirty="0"/>
              <a:t>LCD</a:t>
            </a:r>
            <a:r>
              <a:rPr lang="zh-CN" altLang="en-US" dirty="0"/>
              <a:t>显示更新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635000"/>
            <a:ext cx="3517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DBDBD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676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latin typeface="Poppins"/>
                <a:ea typeface="Poppins"/>
                <a:cs typeface="Poppins"/>
                <a:sym typeface="Poppins"/>
              </a:rPr>
              <a:t>调整前 (参数不当)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1590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333"/>
              </a:lnSpc>
              <a:buClr>
                <a:srgbClr val="DCDCDC"/>
              </a:buClr>
              <a:buChar char="•"/>
              <a:defRPr/>
            </a:pPr>
            <a:r>
              <a:rPr lang="en-US" sz="1600" b="0" i="0" u="none" strike="noStrike" dirty="0" err="1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响应速度慢，实际转速迟迟达不到目标值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7800" indent="-177800" algn="l">
              <a:lnSpc>
                <a:spcPct val="108333"/>
              </a:lnSpc>
              <a:buClr>
                <a:srgbClr val="DCDCDC"/>
              </a:buClr>
              <a:buChar char="•"/>
            </a:pPr>
            <a:r>
              <a:rPr lang="en-US" sz="1600" b="0" i="0" u="none" strike="noStrike" dirty="0" err="1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存在明显的稳态误差，控制精度不足</a:t>
            </a:r>
            <a:endParaRPr lang="en-US" sz="1600" b="0" i="0" u="none" strike="noStrike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  <a:p>
            <a:pPr marL="177800" indent="-177800" algn="l">
              <a:lnSpc>
                <a:spcPct val="108333"/>
              </a:lnSpc>
              <a:buClr>
                <a:srgbClr val="DCDCDC"/>
              </a:buClr>
              <a:buChar char="•"/>
            </a:pPr>
            <a:r>
              <a:rPr lang="en-US" sz="1600" b="0" i="0" u="none" strike="noStrike" dirty="0" err="1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可能出现较大的超调和震荡，系统不稳定</a:t>
            </a:r>
            <a:endParaRPr lang="en-US" sz="1600" b="0" i="0" u="none" strike="noStrike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1714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1676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latin typeface="Poppins"/>
                <a:ea typeface="Poppins"/>
                <a:cs typeface="Poppins"/>
                <a:sym typeface="Poppins"/>
              </a:rPr>
              <a:t>调整后 (参数优化)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1590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08333"/>
              </a:lnSpc>
              <a:buClr>
                <a:srgbClr val="DCDCDC"/>
              </a:buClr>
              <a:buChar char="•"/>
              <a:defRPr/>
            </a:pPr>
            <a:r>
              <a:rPr lang="en-US" sz="1600" b="0" i="0" u="none" strike="noStrike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响应速度快，实际转速能迅速跟踪目标值</a:t>
            </a: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7800" indent="-177800" algn="l">
              <a:lnSpc>
                <a:spcPct val="108333"/>
              </a:lnSpc>
              <a:buClr>
                <a:srgbClr val="DCDCDC"/>
              </a:buClr>
              <a:buChar char="•"/>
            </a:pPr>
            <a:r>
              <a:rPr lang="en-US" sz="1600" b="0" i="0" u="none" strike="noStrike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稳态误差极小或无，控制精度显著提升</a:t>
            </a:r>
          </a:p>
          <a:p>
            <a:pPr marL="177800" indent="-177800" algn="l">
              <a:lnSpc>
                <a:spcPct val="108333"/>
              </a:lnSpc>
              <a:buClr>
                <a:srgbClr val="DCDCDC"/>
              </a:buClr>
              <a:buChar char="•"/>
            </a:pPr>
            <a:r>
              <a:rPr lang="en-US" sz="1600" b="0" i="0" u="none" strike="noStrike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超调量小，系统运行平稳，鲁棒性强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10668000" cy="1524000"/>
          </a:xfrm>
          <a:prstGeom prst="roundRect">
            <a:avLst>
              <a:gd name="adj" fmla="val 8333"/>
            </a:avLst>
          </a:prstGeom>
          <a:gradFill rotWithShape="1">
            <a:gsLst>
              <a:gs pos="0">
                <a:srgbClr val="00BFFF">
                  <a:alpha val="10000"/>
                </a:srgbClr>
              </a:gs>
              <a:gs pos="100000">
                <a:srgbClr val="00BFFF">
                  <a:alpha val="2000"/>
                </a:srgbClr>
              </a:gs>
            </a:gsLst>
            <a:lin ang="0"/>
          </a:gra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381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460500" y="4343400"/>
            <a:ext cx="127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latin typeface="Poppins"/>
                <a:ea typeface="Poppins"/>
                <a:cs typeface="Poppins"/>
                <a:sym typeface="Poppins"/>
              </a:rPr>
              <a:t>核心分析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972455" y="4762500"/>
            <a:ext cx="1041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500" b="0" i="0" u="none" strike="noStrike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通过在线调整参数，我们可以快速找到一组能够兼顾响应速度、稳定性和控制精度的PID参数，实现对电机转速的精准、平稳控制。这充分体现了在线调参在实际工程调试中的巨大优势，能够在真实运行环境中实时优化系统性能。</a:t>
            </a:r>
            <a:endParaRPr 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标题 16">
            <a:extLst>
              <a:ext uri="{FF2B5EF4-FFF2-40B4-BE49-F238E27FC236}">
                <a16:creationId xmlns:a16="http://schemas.microsoft.com/office/drawing/2014/main" id="{C8449736-C4F1-8EB0-E67F-EECC86E6B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效果对比与分析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67E15-D5F1-E86C-E7BB-9AAA82B2C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EA46AF9-F09B-993B-9558-3B12A0869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10.5.4  </a:t>
            </a:r>
            <a:r>
              <a:rPr lang="zh-CN" altLang="en-US" dirty="0"/>
              <a:t>总结与思考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51151B2-5AD2-5334-10FB-00373867443F}"/>
              </a:ext>
            </a:extLst>
          </p:cNvPr>
          <p:cNvSpPr txBox="1"/>
          <p:nvPr/>
        </p:nvSpPr>
        <p:spPr>
          <a:xfrm>
            <a:off x="4241074" y="35718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u="none" strike="noStrike" spc="200" dirty="0">
                <a:latin typeface="Noto Sans SC"/>
                <a:ea typeface="Noto Sans SC"/>
                <a:cs typeface="Noto Sans SC"/>
                <a:sym typeface="Noto Sans SC"/>
              </a:rPr>
              <a:t>SUMMARY AND REFLECTION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4437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508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625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在线调参原理</a:t>
            </a:r>
            <a:endParaRPr lang="en-US" sz="11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2095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latin typeface="Poppins"/>
                <a:ea typeface="Poppins"/>
                <a:cs typeface="Poppins"/>
                <a:sym typeface="Poppins"/>
              </a:rPr>
              <a:t>通过串口通信，上位机发送指令，单片机解析并更新PID参数，实现控制系统的实时动态调整</a:t>
            </a:r>
            <a:r>
              <a:rPr lang="en-US" sz="1400" b="0" i="0" u="none" strike="noStrike" dirty="0">
                <a:latin typeface="Poppins"/>
                <a:ea typeface="Poppins"/>
                <a:cs typeface="Poppins"/>
                <a:sym typeface="Poppins"/>
              </a:rPr>
              <a:t>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350000" y="1397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1651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625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核心代码模块</a:t>
            </a:r>
            <a:endParaRPr lang="en-US" sz="11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604000" y="2095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 dirty="0" err="1">
                <a:latin typeface="Poppins"/>
                <a:ea typeface="Poppins"/>
                <a:cs typeface="Poppins"/>
                <a:sym typeface="Poppins"/>
              </a:rPr>
              <a:t>包含参数解析器、临界区保护的更新函数及速度环集成，确保参数安全、准确地应用到系统中</a:t>
            </a:r>
            <a:r>
              <a:rPr lang="en-US" sz="1400" b="0" i="0" u="none" strike="noStrike" dirty="0">
                <a:latin typeface="Poppins"/>
                <a:ea typeface="Poppins"/>
                <a:cs typeface="Poppins"/>
                <a:sym typeface="Poppins"/>
              </a:rPr>
              <a:t>。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762000" y="3556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810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3784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实操技能掌握</a:t>
            </a:r>
            <a:endParaRPr lang="en-US" sz="11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016000" y="4254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latin typeface="Poppins"/>
                <a:ea typeface="Poppins"/>
                <a:cs typeface="Poppins"/>
                <a:sym typeface="Poppins"/>
              </a:rPr>
              <a:t>熟练使用串口助手发送调试指令，并配合VOFA+工具实时监控系统响应曲线，验证调参效果。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3556000"/>
            <a:ext cx="5080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3810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3784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工程应用价值</a:t>
            </a:r>
            <a:endParaRPr lang="en-US" sz="110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604000" y="4254500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latin typeface="Poppins"/>
                <a:ea typeface="Poppins"/>
                <a:cs typeface="Poppins"/>
                <a:sym typeface="Poppins"/>
              </a:rPr>
              <a:t>极大提升嵌入式系统调试效率与灵活性，避免反复烧录固件，是复杂控制系统开发的必备技能。</a:t>
            </a:r>
            <a:endParaRPr lang="en-US" sz="1100"/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B2925032-C465-361C-5546-E68D3EFD6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课程总结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635000"/>
            <a:ext cx="2514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714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676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参数校验机制升级</a:t>
            </a:r>
            <a:endParaRPr lang="en-US" sz="1100" dirty="0">
              <a:solidFill>
                <a:srgbClr val="C00000"/>
              </a:solidFill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2159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 dirty="0">
                <a:latin typeface="Noto Sans SC"/>
                <a:ea typeface="Noto Sans SC"/>
                <a:cs typeface="Noto Sans SC"/>
                <a:sym typeface="Noto Sans SC"/>
              </a:rPr>
              <a:t>目前的代码对参数的有效性校验比较简单。思考如何增加更严格的校验，例如检查参数值是否在合理范围内，防止因输入非法参数（如负数的KP）导致系统失控。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0" y="1714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676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上位机交互界面设计</a:t>
            </a:r>
            <a:endParaRPr lang="en-US" sz="1100">
              <a:solidFill>
                <a:srgbClr val="C00000"/>
              </a:solidFill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604000" y="2159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纯文本指令不够直观。尝试设计基于Qt或Python的GUI界面，让用户可以通过滑动条、按钮等控件来实时调整PID参数，提升调试体验。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810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000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3962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通信方式多样化扩展</a:t>
            </a:r>
            <a:endParaRPr lang="en-US" sz="1100">
              <a:solidFill>
                <a:srgbClr val="C00000"/>
              </a:solidFill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016000" y="4445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除了基础串口通信，还可以探索蓝牙、WiFi、CAN总线等方式实现远程在线调参。分析不同通信方式在传输速率、稳定性、成本上的优缺点。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3810000"/>
            <a:ext cx="508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4000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3962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0000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智能自动调参算法</a:t>
            </a:r>
            <a:endParaRPr lang="en-US" sz="1100">
              <a:solidFill>
                <a:srgbClr val="C00000"/>
              </a:solidFill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604000" y="4445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latin typeface="Noto Sans SC"/>
                <a:ea typeface="Noto Sans SC"/>
                <a:cs typeface="Noto Sans SC"/>
                <a:sym typeface="Noto Sans SC"/>
              </a:rPr>
              <a:t>研究如何结合Z-N法、遗传算法或机器学习模型，实现PID参数的自动寻优，减少人工调试的工作量，进一步解放人力。</a:t>
            </a:r>
            <a:endParaRPr lang="en-US" sz="1100"/>
          </a:p>
        </p:txBody>
      </p:sp>
      <p:sp>
        <p:nvSpPr>
          <p:cNvPr id="21" name="标题 20">
            <a:extLst>
              <a:ext uri="{FF2B5EF4-FFF2-40B4-BE49-F238E27FC236}">
                <a16:creationId xmlns:a16="http://schemas.microsoft.com/office/drawing/2014/main" id="{914C15E6-914E-6854-B3AB-06B0E23A1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en-US" altLang="zh-CN" b="1" dirty="0" err="1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思考与拓展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2026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sz="1200" dirty="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r>
              <a:rPr kumimoji="1" lang="en-US" altLang="zh-CN" sz="1200" dirty="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_</a:t>
            </a:r>
            <a:r>
              <a:rPr kumimoji="1" lang="zh-CN" altLang="en-US" sz="1200" dirty="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嵌入式</a:t>
            </a:r>
            <a:endParaRPr kumimoji="1" lang="zh-CN" altLang="en-US" dirty="0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2026.03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9778</TotalTime>
  <Words>2050</Words>
  <Application>Microsoft Office PowerPoint</Application>
  <PresentationFormat>宽屏</PresentationFormat>
  <Paragraphs>292</Paragraphs>
  <Slides>22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Noto Sans SC</vt:lpstr>
      <vt:lpstr>Source Han Sans</vt:lpstr>
      <vt:lpstr>Source Han Sans CN Regular</vt:lpstr>
      <vt:lpstr>等线</vt:lpstr>
      <vt:lpstr>微软雅黑</vt:lpstr>
      <vt:lpstr>Arial</vt:lpstr>
      <vt:lpstr>Consolas</vt:lpstr>
      <vt:lpstr>Poppins</vt:lpstr>
      <vt:lpstr>Source Code Pro</vt:lpstr>
      <vt:lpstr>Wingdings</vt:lpstr>
      <vt:lpstr>Office 主题​​</vt:lpstr>
      <vt:lpstr>PowerPoint 演示文稿</vt:lpstr>
      <vt:lpstr>目录</vt:lpstr>
      <vt:lpstr>课程回顾</vt:lpstr>
      <vt:lpstr>10.5.1  在线调参系统架构</vt:lpstr>
      <vt:lpstr>1. 为什么需要在线调参？</vt:lpstr>
      <vt:lpstr>2. 系统整体架构图</vt:lpstr>
      <vt:lpstr>3. 系统架构</vt:lpstr>
      <vt:lpstr>10.5.2  核心代码解析</vt:lpstr>
      <vt:lpstr>1. 串口配置的更改</vt:lpstr>
      <vt:lpstr>2. 参数解析器模块 (pid_param_parse.c)</vt:lpstr>
      <vt:lpstr>3. PID参数更新函数 (pid_controller.c)</vt:lpstr>
      <vt:lpstr>4. 速度环任务中的集成 (speed_loop.c)</vt:lpstr>
      <vt:lpstr>10.5.3  实操演示与效果</vt:lpstr>
      <vt:lpstr>1. 实操步骤1：硬件连接与软件准备</vt:lpstr>
      <vt:lpstr>2.实操步骤2：发送调参指令</vt:lpstr>
      <vt:lpstr>3.实操步骤3：观察VOFA+实时曲线</vt:lpstr>
      <vt:lpstr>4. 实操步骤4：观察LCD显示更新</vt:lpstr>
      <vt:lpstr>5. 效果对比与分析</vt:lpstr>
      <vt:lpstr>10.5.4  总结与思考</vt:lpstr>
      <vt:lpstr>1.课程总结</vt:lpstr>
      <vt:lpstr>2. 思考与拓展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256</cp:revision>
  <dcterms:created xsi:type="dcterms:W3CDTF">2025-05-21T06:55:53Z</dcterms:created>
  <dcterms:modified xsi:type="dcterms:W3CDTF">2026-03-24T07:44:54Z</dcterms:modified>
</cp:coreProperties>
</file>