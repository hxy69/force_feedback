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89" r:id="rId2"/>
    <p:sldId id="802" r:id="rId3"/>
    <p:sldId id="800" r:id="rId4"/>
    <p:sldId id="805" r:id="rId5"/>
    <p:sldId id="807" r:id="rId6"/>
    <p:sldId id="816" r:id="rId7"/>
    <p:sldId id="286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93D8"/>
    <a:srgbClr val="F94502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18" autoAdjust="0"/>
    <p:restoredTop sz="68689" autoAdjust="0"/>
  </p:normalViewPr>
  <p:slideViewPr>
    <p:cSldViewPr snapToGrid="0">
      <p:cViewPr varScale="1">
        <p:scale>
          <a:sx n="76" d="100"/>
          <a:sy n="76" d="100"/>
        </p:scale>
        <p:origin x="2586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#3">
  <dgm:title val=""/>
  <dgm:desc val=""/>
  <dgm:catLst>
    <dgm:cat type="accent1" pri="11100"/>
  </dgm:catLst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D2E5DB-863B-4C72-909B-8B419B7117A4}" type="doc">
      <dgm:prSet loTypeId="urn:microsoft.com/office/officeart/2005/8/layout/vList2#3" loCatId="list" qsTypeId="urn:microsoft.com/office/officeart/2005/8/quickstyle/simple1#3" qsCatId="simple" csTypeId="urn:microsoft.com/office/officeart/2005/8/colors/accent1_1#3" csCatId="accent1" phldr="1"/>
      <dgm:spPr/>
      <dgm:t>
        <a:bodyPr/>
        <a:lstStyle/>
        <a:p>
          <a:endParaRPr lang="zh-CN" altLang="en-US"/>
        </a:p>
      </dgm:t>
    </dgm:pt>
    <dgm:pt modelId="{E64E6344-03F3-41EA-B2B3-D9F732B8BD60}">
      <dgm:prSet/>
      <dgm:spPr/>
      <dgm:t>
        <a:bodyPr/>
        <a:lstStyle/>
        <a:p>
          <a:r>
            <a:rPr lang="en-US" altLang="zh-CN" b="0" i="0" dirty="0"/>
            <a:t>1. </a:t>
          </a:r>
          <a:r>
            <a:rPr lang="zh-CN" altLang="en-US" b="0" i="0" dirty="0"/>
            <a:t>为什么要测量电压</a:t>
          </a:r>
          <a:endParaRPr lang="zh-CN" dirty="0"/>
        </a:p>
      </dgm:t>
    </dgm:pt>
    <dgm:pt modelId="{69A6EF17-7BDA-4CB4-9F0E-5679408CF513}" type="par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0DC89421-7892-4BB5-8A47-F6705D342A56}" type="sib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D85AAF4F-BDDA-4D23-AFEB-78F5CB08807D}">
      <dgm:prSet/>
      <dgm:spPr/>
      <dgm:t>
        <a:bodyPr/>
        <a:lstStyle/>
        <a:p>
          <a:pPr>
            <a:buNone/>
          </a:pPr>
          <a:r>
            <a:rPr lang="en-US" altLang="zh-CN" b="0" i="0" dirty="0"/>
            <a:t>2. </a:t>
          </a:r>
          <a:r>
            <a:rPr lang="zh-CN" altLang="en-US" b="0" i="0" dirty="0"/>
            <a:t>电压检测方法</a:t>
          </a:r>
        </a:p>
      </dgm:t>
    </dgm:pt>
    <dgm:pt modelId="{818F62FF-5BBE-4C21-8159-3B484C9E1860}" type="parTrans" cxnId="{B71BE987-4BD6-47FD-BA2D-94DFA1103674}">
      <dgm:prSet/>
      <dgm:spPr/>
      <dgm:t>
        <a:bodyPr/>
        <a:lstStyle/>
        <a:p>
          <a:endParaRPr lang="zh-CN" altLang="en-US"/>
        </a:p>
      </dgm:t>
    </dgm:pt>
    <dgm:pt modelId="{02206B95-B746-4EC2-9EC3-94D89F93D5A8}" type="sibTrans" cxnId="{B71BE987-4BD6-47FD-BA2D-94DFA1103674}">
      <dgm:prSet/>
      <dgm:spPr/>
      <dgm:t>
        <a:bodyPr/>
        <a:lstStyle/>
        <a:p>
          <a:endParaRPr lang="zh-CN" altLang="en-US"/>
        </a:p>
      </dgm:t>
    </dgm:pt>
    <dgm:pt modelId="{4F9B3FA7-4639-475A-A1C0-795B1F01824D}">
      <dgm:prSet/>
      <dgm:spPr/>
      <dgm:t>
        <a:bodyPr/>
        <a:lstStyle/>
        <a:p>
          <a:pPr>
            <a:buNone/>
          </a:pPr>
          <a:r>
            <a:rPr lang="en-US" altLang="zh-CN" b="0" i="0" dirty="0"/>
            <a:t>3. STM32 ADC</a:t>
          </a:r>
          <a:r>
            <a:rPr lang="zh-CN" altLang="en-US" b="0" i="0" dirty="0"/>
            <a:t>电压采样计算</a:t>
          </a:r>
        </a:p>
      </dgm:t>
    </dgm:pt>
    <dgm:pt modelId="{16814746-2FD1-4AA8-B992-162E843A6B9D}" type="parTrans" cxnId="{6B6E699B-F596-472C-93A2-51C974D3DE9A}">
      <dgm:prSet/>
      <dgm:spPr/>
      <dgm:t>
        <a:bodyPr/>
        <a:lstStyle/>
        <a:p>
          <a:endParaRPr lang="zh-CN" altLang="en-US"/>
        </a:p>
      </dgm:t>
    </dgm:pt>
    <dgm:pt modelId="{01A464F0-E627-4E7B-AA97-B6B7AF3457C9}" type="sibTrans" cxnId="{6B6E699B-F596-472C-93A2-51C974D3DE9A}">
      <dgm:prSet/>
      <dgm:spPr/>
      <dgm:t>
        <a:bodyPr/>
        <a:lstStyle/>
        <a:p>
          <a:endParaRPr lang="zh-CN" altLang="en-US"/>
        </a:p>
      </dgm:t>
    </dgm:pt>
    <dgm:pt modelId="{6BAECC41-F701-41E2-ADAF-5F31946C0A81}" type="pres">
      <dgm:prSet presAssocID="{8CD2E5DB-863B-4C72-909B-8B419B7117A4}" presName="linear" presStyleCnt="0">
        <dgm:presLayoutVars>
          <dgm:animLvl val="lvl"/>
          <dgm:resizeHandles val="exact"/>
        </dgm:presLayoutVars>
      </dgm:prSet>
      <dgm:spPr/>
    </dgm:pt>
    <dgm:pt modelId="{1CE5FAD2-50A8-4032-BAEC-E3A01D2341AE}" type="pres">
      <dgm:prSet presAssocID="{E64E6344-03F3-41EA-B2B3-D9F732B8BD60}" presName="parentText" presStyleLbl="node1" presStyleIdx="0" presStyleCnt="3" custLinFactNeighborX="7821" custLinFactNeighborY="-41997">
        <dgm:presLayoutVars>
          <dgm:chMax val="0"/>
          <dgm:bulletEnabled val="1"/>
        </dgm:presLayoutVars>
      </dgm:prSet>
      <dgm:spPr/>
    </dgm:pt>
    <dgm:pt modelId="{65251149-4757-4207-AFC6-0F0FA7894A0E}" type="pres">
      <dgm:prSet presAssocID="{0DC89421-7892-4BB5-8A47-F6705D342A56}" presName="spacer" presStyleCnt="0"/>
      <dgm:spPr/>
    </dgm:pt>
    <dgm:pt modelId="{63B61D87-770E-4A90-A86F-C8D379D58759}" type="pres">
      <dgm:prSet presAssocID="{D85AAF4F-BDDA-4D23-AFEB-78F5CB08807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B02110D-F702-434F-BD63-FE888EB357F0}" type="pres">
      <dgm:prSet presAssocID="{02206B95-B746-4EC2-9EC3-94D89F93D5A8}" presName="spacer" presStyleCnt="0"/>
      <dgm:spPr/>
    </dgm:pt>
    <dgm:pt modelId="{CFACCDAE-7127-4E87-98CB-D1EBEAF48EEE}" type="pres">
      <dgm:prSet presAssocID="{4F9B3FA7-4639-475A-A1C0-795B1F01824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54E170A-8F88-4F13-ABC4-DDB5575C7D12}" type="presOf" srcId="{8CD2E5DB-863B-4C72-909B-8B419B7117A4}" destId="{6BAECC41-F701-41E2-ADAF-5F31946C0A81}" srcOrd="0" destOrd="0" presId="urn:microsoft.com/office/officeart/2005/8/layout/vList2#3"/>
    <dgm:cxn modelId="{624C912B-314A-40A4-B2AF-325F7CBA9791}" type="presOf" srcId="{E64E6344-03F3-41EA-B2B3-D9F732B8BD60}" destId="{1CE5FAD2-50A8-4032-BAEC-E3A01D2341AE}" srcOrd="0" destOrd="0" presId="urn:microsoft.com/office/officeart/2005/8/layout/vList2#3"/>
    <dgm:cxn modelId="{B71BE987-4BD6-47FD-BA2D-94DFA1103674}" srcId="{8CD2E5DB-863B-4C72-909B-8B419B7117A4}" destId="{D85AAF4F-BDDA-4D23-AFEB-78F5CB08807D}" srcOrd="1" destOrd="0" parTransId="{818F62FF-5BBE-4C21-8159-3B484C9E1860}" sibTransId="{02206B95-B746-4EC2-9EC3-94D89F93D5A8}"/>
    <dgm:cxn modelId="{6B6E699B-F596-472C-93A2-51C974D3DE9A}" srcId="{8CD2E5DB-863B-4C72-909B-8B419B7117A4}" destId="{4F9B3FA7-4639-475A-A1C0-795B1F01824D}" srcOrd="2" destOrd="0" parTransId="{16814746-2FD1-4AA8-B992-162E843A6B9D}" sibTransId="{01A464F0-E627-4E7B-AA97-B6B7AF3457C9}"/>
    <dgm:cxn modelId="{E3F069DC-6A65-40D3-AAAE-B9BA5EEF9376}" type="presOf" srcId="{4F9B3FA7-4639-475A-A1C0-795B1F01824D}" destId="{CFACCDAE-7127-4E87-98CB-D1EBEAF48EEE}" srcOrd="0" destOrd="0" presId="urn:microsoft.com/office/officeart/2005/8/layout/vList2#3"/>
    <dgm:cxn modelId="{D38BCEF5-2E14-47E7-B990-8656EB768BF6}" type="presOf" srcId="{D85AAF4F-BDDA-4D23-AFEB-78F5CB08807D}" destId="{63B61D87-770E-4A90-A86F-C8D379D58759}" srcOrd="0" destOrd="0" presId="urn:microsoft.com/office/officeart/2005/8/layout/vList2#3"/>
    <dgm:cxn modelId="{08D3F0FE-4B45-4766-B833-483B36DF029C}" srcId="{8CD2E5DB-863B-4C72-909B-8B419B7117A4}" destId="{E64E6344-03F3-41EA-B2B3-D9F732B8BD60}" srcOrd="0" destOrd="0" parTransId="{69A6EF17-7BDA-4CB4-9F0E-5679408CF513}" sibTransId="{0DC89421-7892-4BB5-8A47-F6705D342A56}"/>
    <dgm:cxn modelId="{8B92AD0C-3066-4BB8-B98C-08FF2A91A944}" type="presParOf" srcId="{6BAECC41-F701-41E2-ADAF-5F31946C0A81}" destId="{1CE5FAD2-50A8-4032-BAEC-E3A01D2341AE}" srcOrd="0" destOrd="0" presId="urn:microsoft.com/office/officeart/2005/8/layout/vList2#3"/>
    <dgm:cxn modelId="{EB4A4393-125C-455B-B7EE-43BC6440AF90}" type="presParOf" srcId="{6BAECC41-F701-41E2-ADAF-5F31946C0A81}" destId="{65251149-4757-4207-AFC6-0F0FA7894A0E}" srcOrd="1" destOrd="0" presId="urn:microsoft.com/office/officeart/2005/8/layout/vList2#3"/>
    <dgm:cxn modelId="{C638D95A-2ECA-4F6B-9758-2968ECAE8ACF}" type="presParOf" srcId="{6BAECC41-F701-41E2-ADAF-5F31946C0A81}" destId="{63B61D87-770E-4A90-A86F-C8D379D58759}" srcOrd="2" destOrd="0" presId="urn:microsoft.com/office/officeart/2005/8/layout/vList2#3"/>
    <dgm:cxn modelId="{A97BFC30-2E72-4C3C-A18C-47ABB9845BAC}" type="presParOf" srcId="{6BAECC41-F701-41E2-ADAF-5F31946C0A81}" destId="{5B02110D-F702-434F-BD63-FE888EB357F0}" srcOrd="3" destOrd="0" presId="urn:microsoft.com/office/officeart/2005/8/layout/vList2#3"/>
    <dgm:cxn modelId="{B5E06D91-9E5C-4274-A4A7-3E36DB4D5C25}" type="presParOf" srcId="{6BAECC41-F701-41E2-ADAF-5F31946C0A81}" destId="{CFACCDAE-7127-4E87-98CB-D1EBEAF48EEE}" srcOrd="4" destOrd="0" presId="urn:microsoft.com/office/officeart/2005/8/layout/vList2#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E5FAD2-50A8-4032-BAEC-E3A01D2341AE}">
      <dsp:nvSpPr>
        <dsp:cNvPr id="0" name=""/>
        <dsp:cNvSpPr/>
      </dsp:nvSpPr>
      <dsp:spPr bwMode="white">
        <a:xfrm>
          <a:off x="0" y="0"/>
          <a:ext cx="8769532" cy="13952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300" b="0" i="0" kern="1200" dirty="0"/>
            <a:t>1. </a:t>
          </a:r>
          <a:r>
            <a:rPr lang="zh-CN" altLang="en-US" sz="5300" b="0" i="0" kern="1200" dirty="0"/>
            <a:t>为什么要测量电压</a:t>
          </a:r>
          <a:endParaRPr lang="zh-CN" sz="5300" kern="1200" dirty="0"/>
        </a:p>
      </dsp:txBody>
      <dsp:txXfrm>
        <a:off x="68109" y="68109"/>
        <a:ext cx="8633314" cy="1259007"/>
      </dsp:txXfrm>
    </dsp:sp>
    <dsp:sp modelId="{63B61D87-770E-4A90-A86F-C8D379D58759}">
      <dsp:nvSpPr>
        <dsp:cNvPr id="0" name=""/>
        <dsp:cNvSpPr/>
      </dsp:nvSpPr>
      <dsp:spPr bwMode="white">
        <a:xfrm>
          <a:off x="0" y="1605804"/>
          <a:ext cx="8769532" cy="13952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300" b="0" i="0" kern="1200" dirty="0"/>
            <a:t>2. </a:t>
          </a:r>
          <a:r>
            <a:rPr lang="zh-CN" altLang="en-US" sz="5300" b="0" i="0" kern="1200" dirty="0"/>
            <a:t>电压检测方法</a:t>
          </a:r>
        </a:p>
      </dsp:txBody>
      <dsp:txXfrm>
        <a:off x="68109" y="1673913"/>
        <a:ext cx="8633314" cy="1259007"/>
      </dsp:txXfrm>
    </dsp:sp>
    <dsp:sp modelId="{CFACCDAE-7127-4E87-98CB-D1EBEAF48EEE}">
      <dsp:nvSpPr>
        <dsp:cNvPr id="0" name=""/>
        <dsp:cNvSpPr/>
      </dsp:nvSpPr>
      <dsp:spPr bwMode="white">
        <a:xfrm>
          <a:off x="0" y="3153669"/>
          <a:ext cx="8769532" cy="13952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5300" b="0" i="0" kern="1200" dirty="0"/>
            <a:t>3. STM32 ADC</a:t>
          </a:r>
          <a:r>
            <a:rPr lang="zh-CN" altLang="en-US" sz="5300" b="0" i="0" kern="1200" dirty="0"/>
            <a:t>电压采样计算</a:t>
          </a:r>
        </a:p>
      </dsp:txBody>
      <dsp:txXfrm>
        <a:off x="68109" y="3221778"/>
        <a:ext cx="8633314" cy="12590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#3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267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/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200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600" indent="0">
              <a:buNone/>
              <a:defRPr/>
            </a:lvl2pPr>
            <a:lvl3pPr marL="1524000" indent="0">
              <a:buNone/>
              <a:defRPr/>
            </a:lvl3pPr>
            <a:lvl4pPr marL="2132965" indent="0">
              <a:buNone/>
              <a:defRPr/>
            </a:lvl4pPr>
            <a:lvl5pPr marL="2742565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200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600" indent="0">
              <a:buNone/>
              <a:defRPr/>
            </a:lvl2pPr>
            <a:lvl3pPr marL="1524000" indent="0">
              <a:buNone/>
              <a:defRPr/>
            </a:lvl3pPr>
            <a:lvl4pPr marL="2132965" indent="0">
              <a:buNone/>
              <a:defRPr/>
            </a:lvl4pPr>
            <a:lvl5pPr marL="2742565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 txBox="1"/>
          <p:nvPr/>
        </p:nvSpPr>
        <p:spPr>
          <a:xfrm>
            <a:off x="443436" y="50357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/>
          <p:cNvSpPr txBox="1"/>
          <p:nvPr/>
        </p:nvSpPr>
        <p:spPr>
          <a:xfrm>
            <a:off x="2055954" y="2818708"/>
            <a:ext cx="4925723" cy="8933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电压检测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/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【08-06】</a:t>
            </a:r>
            <a:endParaRPr kumimoji="1" lang="en-US" altLang="zh-CN" sz="2800" b="1" dirty="0">
              <a:ln w="127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目录</a:t>
            </a:r>
          </a:p>
        </p:txBody>
      </p:sp>
      <p:graphicFrame>
        <p:nvGraphicFramePr>
          <p:cNvPr id="3" name="内容占位符 2"/>
          <p:cNvGraphicFramePr>
            <a:graphicFrameLocks noGrp="1"/>
          </p:cNvGraphicFramePr>
          <p:nvPr>
            <p:ph sz="quarter" idx="10"/>
          </p:nvPr>
        </p:nvGraphicFramePr>
        <p:xfrm>
          <a:off x="1785257" y="1306286"/>
          <a:ext cx="8769532" cy="4606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1"/>
            <a:r>
              <a:rPr lang="en-US" altLang="zh-CN" dirty="0"/>
              <a:t>1. </a:t>
            </a:r>
            <a:r>
              <a:rPr lang="zh-CN" altLang="en-US" dirty="0"/>
              <a:t>为什么要检测驱动板上的供电电压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0"/>
          </p:nvPr>
        </p:nvSpPr>
        <p:spPr>
          <a:xfrm>
            <a:off x="148046" y="1576251"/>
            <a:ext cx="4232365" cy="4822861"/>
          </a:xfrm>
        </p:spPr>
        <p:txBody>
          <a:bodyPr>
            <a:normAutofit/>
          </a:bodyPr>
          <a:lstStyle/>
          <a:p>
            <a:pPr indent="0" latinLnBrk="1"/>
            <a:r>
              <a:rPr lang="en-US" altLang="zh-CN" sz="1400" b="1" dirty="0"/>
              <a:t>PWM + H </a:t>
            </a:r>
            <a:r>
              <a:rPr lang="zh-CN" altLang="en-US" sz="1400" b="1" dirty="0"/>
              <a:t>桥</a:t>
            </a:r>
            <a:r>
              <a:rPr lang="zh-CN" altLang="en-US" sz="1400" dirty="0"/>
              <a:t>驱动实际加到电机上的电压是：</a:t>
            </a:r>
            <a:endParaRPr lang="en-US" altLang="zh-CN" sz="1400" dirty="0"/>
          </a:p>
          <a:p>
            <a:pPr latinLnBrk="1"/>
            <a:endParaRPr lang="en-US" altLang="zh-CN" sz="1400" dirty="0"/>
          </a:p>
          <a:p>
            <a:pPr latinLnBrk="1"/>
            <a:endParaRPr lang="en-US" altLang="zh-CN" sz="1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994" y="2083755"/>
            <a:ext cx="1990725" cy="5429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6" y="2649338"/>
            <a:ext cx="3938017" cy="99013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0" y="4123455"/>
            <a:ext cx="451974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假设：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你在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24V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供电下整定了一套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PID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后来供电变成了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20V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（电池放电、负载增大、线缆压降）</a:t>
            </a:r>
          </a:p>
          <a:p>
            <a:pPr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那么：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同样的 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PID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输出（占空比）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实际电机电压 ↓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电机转速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电流 ↓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PID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误以为“系统响应变慢”，开始疯狂加大输出</a:t>
            </a:r>
          </a:p>
          <a:p>
            <a:pPr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结果：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积分项堆积（积分饱和）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动态性能变差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供电一恢复 →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严重超调甚至过流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8047" y="1135730"/>
            <a:ext cx="41801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电机控制模型中，供电电压影响控制对象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97128" y="3748867"/>
            <a:ext cx="2797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如果不检测供电电压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4380411" y="1606903"/>
            <a:ext cx="2" cy="52510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673738" y="1672046"/>
            <a:ext cx="0" cy="5182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4380413" y="1135730"/>
            <a:ext cx="42933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做“电压前馈”或归一化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8673738" y="1135730"/>
            <a:ext cx="35182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安全和保护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4519749" y="1606903"/>
            <a:ext cx="19489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电压归一化控制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4380412" y="2964153"/>
            <a:ext cx="429332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PID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输出的是“期望电机端电压”，算法计算的结果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PWM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自动随母线电压变化补偿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同一套 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PID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参数适用于不同电压条件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👉 这在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电池供电系统（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AGV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、机器人、无人车）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中特别重要。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667" y="1983169"/>
            <a:ext cx="3362325" cy="876300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4519748" y="4373078"/>
            <a:ext cx="3422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电压前馈，提高动态响应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276" y="4742410"/>
            <a:ext cx="2181225" cy="638175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4519748" y="5477672"/>
            <a:ext cx="352697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1400" dirty="0"/>
              <a:t>抵消供电波动带来的扰动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400" dirty="0"/>
              <a:t>减轻 </a:t>
            </a:r>
            <a:r>
              <a:rPr lang="en-US" altLang="zh-CN" sz="1400" dirty="0"/>
              <a:t>PID </a:t>
            </a:r>
            <a:r>
              <a:rPr lang="zh-CN" altLang="en-US" sz="1400" dirty="0"/>
              <a:t>积分负担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400" dirty="0"/>
              <a:t>提高系统抗扰性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8778245" y="2090913"/>
            <a:ext cx="3413745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过压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欠压保护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欠压：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电池快没电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MOS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管驱动异常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防止控制失效却还在加大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PWM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过压：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再生制动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电源异常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防止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MCU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、采样电路损坏</a:t>
            </a:r>
          </a:p>
          <a:p>
            <a:pPr>
              <a:buNone/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电压异常直接关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PWM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或限制最大占空比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电压检测方法</a:t>
            </a: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37" y="765322"/>
            <a:ext cx="6729430" cy="2344542"/>
          </a:xfrm>
        </p:spPr>
      </p:pic>
      <p:sp>
        <p:nvSpPr>
          <p:cNvPr id="10" name="文本框 9"/>
          <p:cNvSpPr txBox="1"/>
          <p:nvPr/>
        </p:nvSpPr>
        <p:spPr>
          <a:xfrm>
            <a:off x="6035040" y="1783704"/>
            <a:ext cx="5965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连开发板上的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ADC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。即：开发板上测得是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VBUS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，但我们想知道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POWER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37" y="3429000"/>
            <a:ext cx="6324594" cy="316229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4390754"/>
            <a:ext cx="28409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POWER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VIN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经过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D4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之后的电压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7572104" y="2317806"/>
                <a:ext cx="3155351" cy="5657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𝑃𝑂𝑊𝐸𝑅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17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2104" y="2317806"/>
                <a:ext cx="3155351" cy="565732"/>
              </a:xfrm>
              <a:prstGeom prst="rect">
                <a:avLst/>
              </a:prstGeom>
              <a:blipFill rotWithShape="1">
                <a:blip r:embed="rId5"/>
                <a:stretch>
                  <a:fillRect l="-12" t="-10" r="-2865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2273705" y="1795063"/>
            <a:ext cx="3214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7572104" y="3681486"/>
                <a:ext cx="24779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zh-CN" i="1" smtClean="0">
                          <a:latin typeface="Cambria Math" panose="02040503050406030204" pitchFamily="18" charset="0"/>
                        </a:rPr>
                        <m:t>𝑉𝐵𝑈𝑆</m:t>
                      </m:r>
                      <m:r>
                        <a:rPr lang="pt-BR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zh-C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pt-BR" altLang="zh-CN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pt-BR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zh-C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pt-BR" altLang="zh-CN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pt-BR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zh-C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pt-BR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2104" y="3681486"/>
                <a:ext cx="2477922" cy="276999"/>
              </a:xfrm>
              <a:prstGeom prst="rect">
                <a:avLst/>
              </a:prstGeom>
              <a:blipFill rotWithShape="1">
                <a:blip r:embed="rId6"/>
                <a:stretch>
                  <a:fillRect l="-15" t="-141" r="-4515" b="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/>
          <p:cNvSpPr txBox="1"/>
          <p:nvPr/>
        </p:nvSpPr>
        <p:spPr>
          <a:xfrm>
            <a:off x="7280367" y="3161277"/>
            <a:ext cx="36663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U7.1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被配置为单位增益：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7572104" y="4128246"/>
                <a:ext cx="3693319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𝑉𝐵𝑈𝑆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𝑃𝑂𝑊𝐸𝑅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13+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17+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2104" y="4128246"/>
                <a:ext cx="3693319" cy="525016"/>
              </a:xfrm>
              <a:prstGeom prst="rect">
                <a:avLst/>
              </a:prstGeom>
              <a:blipFill rotWithShape="1">
                <a:blip r:embed="rId7"/>
                <a:stretch>
                  <a:fillRect l="-10" t="-21" r="-1568" b="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/>
          <p:cNvSpPr txBox="1"/>
          <p:nvPr/>
        </p:nvSpPr>
        <p:spPr>
          <a:xfrm>
            <a:off x="5468983" y="2410617"/>
            <a:ext cx="1584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i="0" dirty="0">
                <a:solidFill>
                  <a:srgbClr val="1D1D2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过压保护</a:t>
            </a:r>
            <a:endParaRPr lang="en-US" altLang="zh-CN" sz="1200" i="0" dirty="0">
              <a:solidFill>
                <a:srgbClr val="1D1D2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i="0" dirty="0">
                <a:solidFill>
                  <a:srgbClr val="1D1D2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瞬态电压抑制二极管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27610" y="2211427"/>
            <a:ext cx="6444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正向钳位保护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875531" y="5010148"/>
            <a:ext cx="5124880" cy="116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400" b="0" i="0" dirty="0">
                <a:solidFill>
                  <a:srgbClr val="1D1D2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该电路能够测量的 </a:t>
            </a:r>
            <a:r>
              <a:rPr lang="en-US" altLang="zh-CN" sz="1400" b="0" i="0" dirty="0">
                <a:solidFill>
                  <a:srgbClr val="1D1D2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POWER</a:t>
            </a:r>
            <a:r>
              <a:rPr lang="zh-CN" altLang="en-US" sz="1400" b="0" i="0" dirty="0">
                <a:solidFill>
                  <a:srgbClr val="1D1D2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电压范围是：</a:t>
            </a:r>
          </a:p>
          <a:p>
            <a:pPr algn="ctr">
              <a:buNone/>
            </a:pPr>
            <a:r>
              <a:rPr lang="en-US" altLang="zh-CN" sz="14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0V ≤ POWER ≤ 82.5V</a:t>
            </a:r>
            <a:endParaRPr lang="zh-CN" altLang="en-US" sz="14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None/>
            </a:pPr>
            <a:r>
              <a:rPr lang="zh-CN" altLang="en-US" sz="1400" b="0" i="0" dirty="0">
                <a:solidFill>
                  <a:srgbClr val="1D1D2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为了保证精度和器件安全，推荐的工作范围是：</a:t>
            </a:r>
          </a:p>
          <a:p>
            <a:pPr algn="ctr">
              <a:buNone/>
            </a:pPr>
            <a:r>
              <a:rPr lang="en-US" altLang="zh-CN" sz="14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3.3V ≤ POWER ≤ 60V</a:t>
            </a:r>
            <a:r>
              <a:rPr lang="zh-CN" altLang="en-US" sz="14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en-US" sz="14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（根据产品系统电源上限设定）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 dirty="0"/>
              <a:t>3. STM32 ADC</a:t>
            </a:r>
            <a:r>
              <a:rPr lang="zh-CN" altLang="en-US" dirty="0"/>
              <a:t>电压采样配置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" y="867529"/>
            <a:ext cx="19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Power</a:t>
            </a:r>
            <a:r>
              <a:rPr lang="zh-CN" altLang="en-US" dirty="0"/>
              <a:t>（</a:t>
            </a:r>
            <a:r>
              <a:rPr lang="en-US" altLang="zh-CN" dirty="0"/>
              <a:t>0~60V</a:t>
            </a:r>
            <a:r>
              <a:rPr lang="zh-CN" altLang="en-US" dirty="0"/>
              <a:t>）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-17414" y="1250706"/>
            <a:ext cx="19594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583477" y="1652334"/>
            <a:ext cx="226423" cy="644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83476" y="2647402"/>
            <a:ext cx="226423" cy="644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489229" y="3668591"/>
            <a:ext cx="414916" cy="139336"/>
            <a:chOff x="961038" y="4262846"/>
            <a:chExt cx="441039" cy="143691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961038" y="4262846"/>
              <a:ext cx="44103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1040567" y="4334691"/>
              <a:ext cx="2819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1102027" y="4406537"/>
              <a:ext cx="1590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矩形 23"/>
          <p:cNvSpPr/>
          <p:nvPr/>
        </p:nvSpPr>
        <p:spPr>
          <a:xfrm>
            <a:off x="2710994" y="1317169"/>
            <a:ext cx="9013913" cy="51660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 flipV="1">
            <a:off x="2595155" y="2322954"/>
            <a:ext cx="365760" cy="153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 rot="10800000" flipV="1">
            <a:off x="3248297" y="2117270"/>
            <a:ext cx="1045030" cy="5649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ADC</a:t>
            </a:r>
            <a:r>
              <a:rPr lang="zh-CN" altLang="en-US" sz="1400" dirty="0">
                <a:solidFill>
                  <a:srgbClr val="FF0000"/>
                </a:solidFill>
              </a:rPr>
              <a:t>通道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ADC1-IN9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cxnSp>
        <p:nvCxnSpPr>
          <p:cNvPr id="30" name="直接连接符 29"/>
          <p:cNvCxnSpPr>
            <a:stCxn id="10" idx="0"/>
          </p:cNvCxnSpPr>
          <p:nvPr/>
        </p:nvCxnSpPr>
        <p:spPr>
          <a:xfrm flipV="1">
            <a:off x="696689" y="1250706"/>
            <a:ext cx="0" cy="401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11" idx="0"/>
            <a:endCxn id="10" idx="2"/>
          </p:cNvCxnSpPr>
          <p:nvPr/>
        </p:nvCxnSpPr>
        <p:spPr>
          <a:xfrm flipV="1">
            <a:off x="696688" y="2296768"/>
            <a:ext cx="1" cy="3506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endCxn id="11" idx="2"/>
          </p:cNvCxnSpPr>
          <p:nvPr/>
        </p:nvCxnSpPr>
        <p:spPr>
          <a:xfrm flipV="1">
            <a:off x="696688" y="3291836"/>
            <a:ext cx="0" cy="4290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>
            <a:stCxn id="25" idx="1"/>
          </p:cNvCxnSpPr>
          <p:nvPr/>
        </p:nvCxnSpPr>
        <p:spPr>
          <a:xfrm flipH="1">
            <a:off x="703615" y="2399754"/>
            <a:ext cx="18915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683806" y="2364766"/>
            <a:ext cx="1819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分压（</a:t>
            </a:r>
            <a:r>
              <a:rPr lang="en-US" altLang="zh-CN" dirty="0"/>
              <a:t>0~3.3V</a:t>
            </a:r>
            <a:r>
              <a:rPr lang="zh-CN" altLang="en-US" dirty="0"/>
              <a:t>）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1153524" y="2012928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Vbus</a:t>
            </a:r>
            <a:endParaRPr lang="zh-CN" altLang="en-US" dirty="0"/>
          </a:p>
        </p:txBody>
      </p:sp>
      <p:sp>
        <p:nvSpPr>
          <p:cNvPr id="42" name="文本框 41"/>
          <p:cNvSpPr txBox="1"/>
          <p:nvPr/>
        </p:nvSpPr>
        <p:spPr>
          <a:xfrm>
            <a:off x="4201769" y="1379457"/>
            <a:ext cx="179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STM32F407IGT6</a:t>
            </a:r>
            <a:endParaRPr lang="zh-CN" altLang="en-US" dirty="0"/>
          </a:p>
        </p:txBody>
      </p:sp>
      <p:sp>
        <p:nvSpPr>
          <p:cNvPr id="43" name="文本框 42"/>
          <p:cNvSpPr txBox="1"/>
          <p:nvPr/>
        </p:nvSpPr>
        <p:spPr>
          <a:xfrm>
            <a:off x="2523942" y="2458486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PB1</a:t>
            </a:r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 rot="10800000" flipV="1">
            <a:off x="4578699" y="2115579"/>
            <a:ext cx="1045030" cy="5649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</a:rPr>
              <a:t>ADC</a:t>
            </a:r>
            <a:r>
              <a:rPr lang="zh-CN" altLang="en-US" sz="1400" dirty="0">
                <a:solidFill>
                  <a:srgbClr val="FF0000"/>
                </a:solidFill>
              </a:rPr>
              <a:t>转换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5666993" y="213309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ADC</a:t>
            </a:r>
            <a:r>
              <a:rPr lang="zh-CN" altLang="en-US" sz="1400" dirty="0"/>
              <a:t>值</a:t>
            </a:r>
            <a:endParaRPr lang="en-US" altLang="zh-CN" sz="1400" dirty="0"/>
          </a:p>
          <a:p>
            <a:pPr algn="ctr"/>
            <a:r>
              <a:rPr lang="zh-CN" altLang="en-US" sz="1400" dirty="0"/>
              <a:t>（在代码中处理）</a:t>
            </a:r>
          </a:p>
        </p:txBody>
      </p:sp>
      <p:cxnSp>
        <p:nvCxnSpPr>
          <p:cNvPr id="47" name="直接连接符 46"/>
          <p:cNvCxnSpPr>
            <a:stCxn id="25" idx="3"/>
            <a:endCxn id="26" idx="3"/>
          </p:cNvCxnSpPr>
          <p:nvPr/>
        </p:nvCxnSpPr>
        <p:spPr>
          <a:xfrm>
            <a:off x="2960915" y="2399754"/>
            <a:ext cx="287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>
            <a:endCxn id="44" idx="3"/>
          </p:cNvCxnSpPr>
          <p:nvPr/>
        </p:nvCxnSpPr>
        <p:spPr>
          <a:xfrm>
            <a:off x="4293327" y="2398063"/>
            <a:ext cx="2853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1445629" y="2880906"/>
            <a:ext cx="3553089" cy="8104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sz="1200" b="0" i="1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VBUS </a:t>
            </a:r>
            <a:r>
              <a:rPr lang="zh-CN" altLang="en-US" sz="1200" b="0" i="1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接 </a:t>
            </a:r>
            <a:r>
              <a:rPr lang="en-US" altLang="zh-CN" sz="1200" b="0" i="1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PB1</a:t>
            </a:r>
            <a:endParaRPr lang="en-US" altLang="zh-CN" sz="1200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i="1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1200" b="0" i="1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查</a:t>
            </a:r>
            <a:r>
              <a:rPr lang="en-US" altLang="zh-CN" sz="1200" b="0" i="1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《STM32</a:t>
            </a:r>
            <a:r>
              <a:rPr lang="zh-CN" altLang="en-US" sz="1200" b="0" i="1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参考手册</a:t>
            </a:r>
            <a:r>
              <a:rPr lang="en-US" altLang="zh-CN" sz="1200" b="0" i="1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》→ GPIO/ADC</a:t>
            </a:r>
            <a:r>
              <a:rPr lang="zh-CN" altLang="en-US" sz="1200" b="0" i="1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复用功能表</a:t>
            </a:r>
            <a:endParaRPr lang="zh-CN" altLang="en-US" sz="1200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i="1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PA0 → ADC1_IN9 / ADC2_IN9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i="1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1200" b="0" i="1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选择 </a:t>
            </a:r>
            <a:r>
              <a:rPr lang="en-US" altLang="zh-CN" sz="1200" b="0" i="1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ADC1, Channel 9</a:t>
            </a:r>
            <a:endParaRPr lang="en-US" altLang="zh-CN" sz="1200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445629" y="3774542"/>
            <a:ext cx="5740647" cy="9900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sz="1200" i="1" dirty="0">
                <a:solidFill>
                  <a:srgbClr val="A0A1A7"/>
                </a:solidFill>
                <a:latin typeface="Consolas" panose="020B0609020204030204" pitchFamily="49" charset="0"/>
              </a:rPr>
              <a:t>//[DMA Request]</a:t>
            </a:r>
          </a:p>
          <a:p>
            <a:pPr>
              <a:lnSpc>
                <a:spcPts val="1425"/>
              </a:lnSpc>
            </a:pPr>
            <a:r>
              <a:rPr lang="en-US" altLang="zh-CN" sz="1200" i="1" dirty="0">
                <a:solidFill>
                  <a:srgbClr val="A0A1A7"/>
                </a:solidFill>
                <a:latin typeface="Consolas" panose="020B0609020204030204" pitchFamily="49" charset="0"/>
              </a:rPr>
              <a:t>//[DMA Buffer: uint16_t </a:t>
            </a:r>
            <a:r>
              <a:rPr lang="en-US" altLang="zh-CN" sz="1200" i="1" dirty="0" err="1">
                <a:solidFill>
                  <a:srgbClr val="A0A1A7"/>
                </a:solidFill>
                <a:latin typeface="Consolas" panose="020B0609020204030204" pitchFamily="49" charset="0"/>
              </a:rPr>
              <a:t>ADC_Buffer</a:t>
            </a:r>
            <a:r>
              <a:rPr lang="en-US" altLang="zh-CN" sz="1200" i="1" dirty="0">
                <a:solidFill>
                  <a:srgbClr val="A0A1A7"/>
                </a:solidFill>
                <a:latin typeface="Consolas" panose="020B0609020204030204" pitchFamily="49" charset="0"/>
              </a:rPr>
              <a:t>[2 * 500]]</a:t>
            </a:r>
            <a:r>
              <a:rPr lang="zh-CN" altLang="en-US" sz="1200" i="1" dirty="0">
                <a:solidFill>
                  <a:srgbClr val="A0A1A7"/>
                </a:solidFill>
                <a:latin typeface="Consolas" panose="020B0609020204030204" pitchFamily="49" charset="0"/>
              </a:rPr>
              <a:t>，还有电流检测</a:t>
            </a:r>
            <a:r>
              <a:rPr lang="en-US" altLang="zh-CN" sz="1200" i="1" dirty="0">
                <a:solidFill>
                  <a:srgbClr val="A0A1A7"/>
                </a:solidFill>
                <a:latin typeface="Consolas" panose="020B0609020204030204" pitchFamily="49" charset="0"/>
              </a:rPr>
              <a:t>ADC-IN8</a:t>
            </a:r>
          </a:p>
          <a:p>
            <a:pPr>
              <a:lnSpc>
                <a:spcPts val="1425"/>
              </a:lnSpc>
            </a:pPr>
            <a:r>
              <a:rPr lang="en-US" altLang="zh-CN" sz="1200" i="1" dirty="0">
                <a:solidFill>
                  <a:srgbClr val="A0A1A7"/>
                </a:solidFill>
                <a:latin typeface="Consolas" panose="020B0609020204030204" pitchFamily="49" charset="0"/>
              </a:rPr>
              <a:t>//[</a:t>
            </a:r>
            <a:r>
              <a:rPr lang="zh-CN" altLang="en-US" sz="1200" i="1" dirty="0">
                <a:solidFill>
                  <a:srgbClr val="A0A1A7"/>
                </a:solidFill>
                <a:latin typeface="Consolas" panose="020B0609020204030204" pitchFamily="49" charset="0"/>
              </a:rPr>
              <a:t>软件处理</a:t>
            </a:r>
            <a:r>
              <a:rPr lang="en-US" altLang="zh-CN" sz="1200" i="1" dirty="0">
                <a:solidFill>
                  <a:srgbClr val="A0A1A7"/>
                </a:solidFill>
                <a:latin typeface="Consolas" panose="020B0609020204030204" pitchFamily="49" charset="0"/>
              </a:rPr>
              <a:t>: </a:t>
            </a:r>
            <a:r>
              <a:rPr lang="zh-CN" altLang="en-US" sz="1200" i="1" dirty="0">
                <a:solidFill>
                  <a:srgbClr val="A0A1A7"/>
                </a:solidFill>
                <a:latin typeface="Consolas" panose="020B0609020204030204" pitchFamily="49" charset="0"/>
              </a:rPr>
              <a:t>每</a:t>
            </a:r>
            <a:r>
              <a:rPr lang="en-US" altLang="zh-CN" sz="1200" i="1" dirty="0">
                <a:solidFill>
                  <a:srgbClr val="A0A1A7"/>
                </a:solidFill>
                <a:latin typeface="Consolas" panose="020B0609020204030204" pitchFamily="49" charset="0"/>
              </a:rPr>
              <a:t>500</a:t>
            </a:r>
            <a:r>
              <a:rPr lang="zh-CN" altLang="en-US" sz="1200" i="1" dirty="0">
                <a:solidFill>
                  <a:srgbClr val="A0A1A7"/>
                </a:solidFill>
                <a:latin typeface="Consolas" panose="020B0609020204030204" pitchFamily="49" charset="0"/>
              </a:rPr>
              <a:t>组数据求平均</a:t>
            </a:r>
            <a:r>
              <a:rPr lang="en-US" altLang="zh-CN" sz="1200" i="1" dirty="0">
                <a:solidFill>
                  <a:srgbClr val="A0A1A7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</a:pPr>
            <a:r>
              <a:rPr lang="en-US" altLang="zh-CN" sz="1200" i="1" dirty="0">
                <a:solidFill>
                  <a:srgbClr val="A0A1A7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200" i="1" dirty="0">
                <a:solidFill>
                  <a:srgbClr val="A0A1A7"/>
                </a:solidFill>
                <a:latin typeface="Consolas" panose="020B0609020204030204" pitchFamily="49" charset="0"/>
              </a:rPr>
              <a:t>将平均后的值作为</a:t>
            </a:r>
            <a:r>
              <a:rPr lang="en-US" altLang="zh-CN" sz="1200" i="1" dirty="0">
                <a:solidFill>
                  <a:srgbClr val="A0A1A7"/>
                </a:solidFill>
                <a:latin typeface="Consolas" panose="020B0609020204030204" pitchFamily="49" charset="0"/>
              </a:rPr>
              <a:t>ADC</a:t>
            </a:r>
            <a:r>
              <a:rPr lang="zh-CN" altLang="en-US" sz="1200" i="1" dirty="0">
                <a:solidFill>
                  <a:srgbClr val="A0A1A7"/>
                </a:solidFill>
                <a:latin typeface="Consolas" panose="020B0609020204030204" pitchFamily="49" charset="0"/>
              </a:rPr>
              <a:t>采样值</a:t>
            </a:r>
            <a:endParaRPr lang="en-US" altLang="zh-CN" sz="1200" i="1" dirty="0">
              <a:solidFill>
                <a:srgbClr val="A0A1A7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sz="1200" i="1" dirty="0">
                <a:solidFill>
                  <a:srgbClr val="A0A1A7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200" i="1" dirty="0">
                <a:solidFill>
                  <a:srgbClr val="A0A1A7"/>
                </a:solidFill>
                <a:latin typeface="Consolas" panose="020B0609020204030204" pitchFamily="49" charset="0"/>
              </a:rPr>
              <a:t>利用</a:t>
            </a:r>
            <a:r>
              <a:rPr lang="en-US" altLang="zh-CN" sz="1200" i="1" dirty="0">
                <a:solidFill>
                  <a:srgbClr val="A0A1A7"/>
                </a:solidFill>
                <a:latin typeface="Consolas" panose="020B0609020204030204" pitchFamily="49" charset="0"/>
              </a:rPr>
              <a:t>ADC</a:t>
            </a:r>
            <a:r>
              <a:rPr lang="zh-CN" altLang="en-US" sz="1200" i="1" dirty="0">
                <a:solidFill>
                  <a:srgbClr val="A0A1A7"/>
                </a:solidFill>
                <a:latin typeface="Consolas" panose="020B0609020204030204" pitchFamily="49" charset="0"/>
              </a:rPr>
              <a:t>采样值求取</a:t>
            </a:r>
            <a:r>
              <a:rPr lang="en-US" altLang="zh-CN" sz="1200" i="1" dirty="0">
                <a:solidFill>
                  <a:srgbClr val="A0A1A7"/>
                </a:solidFill>
                <a:latin typeface="Consolas" panose="020B0609020204030204" pitchFamily="49" charset="0"/>
              </a:rPr>
              <a:t>Power</a:t>
            </a:r>
            <a:r>
              <a:rPr lang="zh-CN" altLang="en-US" sz="1200" i="1" dirty="0">
                <a:solidFill>
                  <a:srgbClr val="A0A1A7"/>
                </a:solidFill>
                <a:latin typeface="Consolas" panose="020B0609020204030204" pitchFamily="49" charset="0"/>
              </a:rPr>
              <a:t>电压值</a:t>
            </a:r>
            <a:endParaRPr lang="en-US" altLang="zh-CN" sz="1200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/>
              <p:cNvSpPr txBox="1"/>
              <p:nvPr/>
            </p:nvSpPr>
            <p:spPr>
              <a:xfrm>
                <a:off x="7790860" y="4698179"/>
                <a:ext cx="3432478" cy="52046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𝑉𝐵𝑈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i="0">
                              <a:latin typeface="Cambria Math" panose="02040503050406030204" pitchFamily="18" charset="0"/>
                            </a:rPr>
                            <m:t>avg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zh-CN" i="0">
                              <a:latin typeface="Cambria Math" panose="02040503050406030204" pitchFamily="18" charset="0"/>
                            </a:rPr>
                            <m:t>ADC</m:t>
                          </m:r>
                          <m:r>
                            <m:rPr>
                              <m:nor/>
                            </m:rPr>
                            <a:rPr lang="en-US" altLang="zh-CN" i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 altLang="zh-CN" i="0">
                              <a:latin typeface="Cambria Math" panose="02040503050406030204" pitchFamily="18" charset="0"/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CN" i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 altLang="zh-CN" i="0">
                              <a:latin typeface="Cambria Math" panose="02040503050406030204" pitchFamily="18" charset="0"/>
                            </a:rPr>
                            <m:t>avg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4095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i="0">
                              <a:latin typeface="Cambria Math" panose="02040503050406030204" pitchFamily="18" charset="0"/>
                            </a:rPr>
                            <m:t>REF</m:t>
                          </m:r>
                          <m:r>
                            <m:rPr>
                              <m:nor/>
                            </m:rPr>
                            <a:rPr lang="en-US" altLang="zh-CN" i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5" name="文本框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0860" y="4698179"/>
                <a:ext cx="3432478" cy="520463"/>
              </a:xfrm>
              <a:prstGeom prst="rect">
                <a:avLst/>
              </a:prstGeom>
              <a:blipFill rotWithShape="1">
                <a:blip r:embed="rId3"/>
                <a:stretch>
                  <a:fillRect l="-149" t="-940" r="-138" b="-81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本框 56"/>
          <p:cNvSpPr txBox="1"/>
          <p:nvPr/>
        </p:nvSpPr>
        <p:spPr>
          <a:xfrm>
            <a:off x="5101214" y="5218642"/>
            <a:ext cx="6122124" cy="8104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ts val="1425"/>
              </a:lnSpc>
              <a:buNone/>
              <a:defRPr sz="1200" i="1">
                <a:solidFill>
                  <a:srgbClr val="A0A1A7"/>
                </a:solidFill>
                <a:latin typeface="Consolas" panose="020B0609020204030204" pitchFamily="49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zh-CN" altLang="en-US" dirty="0"/>
              <a:t>// 还原</a:t>
            </a:r>
            <a:r>
              <a:rPr lang="en-US" altLang="zh-CN" dirty="0"/>
              <a:t>POWER</a:t>
            </a:r>
            <a:r>
              <a:rPr lang="zh-CN" altLang="en-US" dirty="0"/>
              <a:t>的电压值：</a:t>
            </a:r>
          </a:p>
          <a:p>
            <a:r>
              <a:rPr lang="zh-CN" altLang="en-US" dirty="0"/>
              <a:t>float POWER_V = ADC_V_avg * (VREF * 25.0f / 4095.0f);</a:t>
            </a:r>
          </a:p>
          <a:p>
            <a:r>
              <a:rPr lang="zh-CN" altLang="en-US" dirty="0"/>
              <a:t>// 预计算系数 K = 3.3 * 25 / 4095 ≈ 0.020156</a:t>
            </a:r>
          </a:p>
          <a:p>
            <a:r>
              <a:rPr lang="zh-CN" altLang="en-US" dirty="0"/>
              <a:t>// float POWER_V = ADC_V_avg * 0.020156f;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atinLnBrk="1"/>
            <a:r>
              <a:rPr lang="en-US" altLang="zh-CN" dirty="0"/>
              <a:t>1. </a:t>
            </a:r>
            <a:r>
              <a:rPr lang="zh-CN" altLang="en-US" dirty="0"/>
              <a:t>如果输入电压最高为</a:t>
            </a:r>
            <a:r>
              <a:rPr lang="en-US" altLang="zh-CN" dirty="0"/>
              <a:t>36V</a:t>
            </a:r>
            <a:r>
              <a:rPr lang="zh-CN" altLang="en-US" dirty="0"/>
              <a:t>，分压电路参数应如何调整？</a:t>
            </a:r>
          </a:p>
          <a:p>
            <a:pPr latinLnBrk="1"/>
            <a:r>
              <a:rPr lang="en-US" altLang="zh-CN" dirty="0"/>
              <a:t>2. </a:t>
            </a:r>
            <a:r>
              <a:rPr lang="zh-CN" altLang="en-US" dirty="0"/>
              <a:t>如何通过软件滤波进一步提高电压测量稳定性？</a:t>
            </a:r>
          </a:p>
          <a:p>
            <a:pPr latinLnBrk="1"/>
            <a:r>
              <a:rPr lang="en-US" altLang="zh-CN" dirty="0"/>
              <a:t>3. </a:t>
            </a:r>
            <a:r>
              <a:rPr lang="zh-CN" altLang="en-US" dirty="0"/>
              <a:t>电阻精度对系统测量误差的影响有多大？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2025.9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E0NjA1ODQ3MWNmMDY0N2FhM2Q0OTAxYTYyYzc5ZTgifQ=="/>
</p:tagLst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</Words>
  <Application>Microsoft Office PowerPoint</Application>
  <PresentationFormat>宽屏</PresentationFormat>
  <Paragraphs>109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Source Han Sans</vt:lpstr>
      <vt:lpstr>Source Han Sans CN Regular</vt:lpstr>
      <vt:lpstr>等线</vt:lpstr>
      <vt:lpstr>微软雅黑</vt:lpstr>
      <vt:lpstr>Arial</vt:lpstr>
      <vt:lpstr>Cambria Math</vt:lpstr>
      <vt:lpstr>Consolas</vt:lpstr>
      <vt:lpstr>Office 主题​​</vt:lpstr>
      <vt:lpstr>PowerPoint 演示文稿</vt:lpstr>
      <vt:lpstr>目录</vt:lpstr>
      <vt:lpstr>1. 为什么要检测驱动板上的供电电压</vt:lpstr>
      <vt:lpstr>2. 电压检测方法</vt:lpstr>
      <vt:lpstr>3. STM32 ADC电压采样配置</vt:lpstr>
      <vt:lpstr>思考题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187</cp:revision>
  <dcterms:created xsi:type="dcterms:W3CDTF">2025-05-21T06:55:00Z</dcterms:created>
  <dcterms:modified xsi:type="dcterms:W3CDTF">2025-12-22T03:35:29Z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4A90517C60A243468CC4D4D987AF6EFA_12</vt:lpwstr>
  </property>
  <property fmtid="{D5CDD505-2E9C-101B-9397-08002B2CF9AE}" pid="3" name="KSOProductBuildVer">
    <vt:lpwstr>2052-12.1.0.18608</vt:lpwstr>
  </property>
</Properties>
</file>