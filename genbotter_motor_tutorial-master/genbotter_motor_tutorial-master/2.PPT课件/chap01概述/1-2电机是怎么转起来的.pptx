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87" r:id="rId3"/>
    <p:sldId id="282" r:id="rId4"/>
    <p:sldId id="283" r:id="rId5"/>
    <p:sldId id="288" r:id="rId6"/>
    <p:sldId id="284" r:id="rId7"/>
    <p:sldId id="285" r:id="rId8"/>
    <p:sldId id="28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61" autoAdjust="0"/>
    <p:restoredTop sz="96652" autoAdjust="0"/>
  </p:normalViewPr>
  <p:slideViewPr>
    <p:cSldViewPr snapToGrid="0">
      <p:cViewPr varScale="1">
        <p:scale>
          <a:sx n="110" d="100"/>
          <a:sy n="110" d="100"/>
        </p:scale>
        <p:origin x="114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FA423-769F-0D50-8978-A746DD19C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25" y="365125"/>
            <a:ext cx="10267950" cy="7588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C781BF-EA3C-EF47-1469-E52350BDD7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825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0A28E4B-8D0A-4608-9DAE-00FBA1A70945}" type="datetimeFigureOut">
              <a:rPr lang="zh-CN" altLang="en-US" smtClean="0"/>
              <a:pPr/>
              <a:t>2025/5/30</a:t>
            </a:fld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2C1EA7-1D5B-5D35-7386-B82F0D2999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43975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FCB2E52-3EBE-40F1-B7CA-E76F5B1CA9D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FF2483-EB6F-58CF-4D52-6F2A86B457C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4825" y="1362076"/>
            <a:ext cx="11182350" cy="4867274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678FE9D-492D-106D-E13C-D12CAD8B8FBE}"/>
              </a:ext>
            </a:extLst>
          </p:cNvPr>
          <p:cNvSpPr/>
          <p:nvPr userDrawn="1"/>
        </p:nvSpPr>
        <p:spPr>
          <a:xfrm>
            <a:off x="733425" y="511177"/>
            <a:ext cx="319087" cy="374648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9CBF875-8197-1C4D-2759-669F3DCB4C7B}"/>
              </a:ext>
            </a:extLst>
          </p:cNvPr>
          <p:cNvSpPr/>
          <p:nvPr userDrawn="1"/>
        </p:nvSpPr>
        <p:spPr>
          <a:xfrm>
            <a:off x="504825" y="511177"/>
            <a:ext cx="319087" cy="374648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E6FF394C-7213-6672-5B4E-FFAA7ABC0724}"/>
              </a:ext>
            </a:extLst>
          </p:cNvPr>
          <p:cNvSpPr/>
          <p:nvPr userDrawn="1"/>
        </p:nvSpPr>
        <p:spPr>
          <a:xfrm>
            <a:off x="962025" y="511177"/>
            <a:ext cx="319087" cy="374648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76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2380" y="0"/>
            <a:ext cx="12196761" cy="6858000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8700" y="1575982"/>
            <a:ext cx="1219938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>
            <a:defPPr>
              <a:defRPr lang="zh-CN"/>
            </a:defPPr>
            <a:lvl1pPr>
              <a:lnSpc>
                <a:spcPct val="130000"/>
              </a:lnSpc>
              <a:defRPr kumimoji="1" sz="66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/>
              </a:defRPr>
            </a:lvl1pPr>
          </a:lstStyle>
          <a:p>
            <a:r>
              <a:rPr lang="en-US" altLang="zh-CN" sz="4800" dirty="0"/>
              <a:t>02</a:t>
            </a:r>
            <a:endParaRPr lang="zh-CN" altLang="en-US" sz="4800" dirty="0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000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endParaRPr kumimoji="1"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46" name="标题 1"/>
          <p:cNvSpPr txBox="1"/>
          <p:nvPr/>
        </p:nvSpPr>
        <p:spPr>
          <a:xfrm>
            <a:off x="8732604" y="3983139"/>
            <a:ext cx="964526" cy="1339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年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80" y="266617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001165" y="2322451"/>
            <a:ext cx="6231603" cy="137407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7200" b="1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电机基础原理</a:t>
            </a:r>
            <a:endParaRPr kumimoji="1"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88F529D7-72E7-4171-3645-5C3DF0D8C0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235" b="95531" l="2198" r="97619">
                        <a14:foregroundMark x1="2726" y1="41333" x2="2703" y2="42458"/>
                        <a14:foregroundMark x1="3373" y1="10206" x2="3322" y2="12632"/>
                        <a14:foregroundMark x1="5158" y1="91650" x2="5612" y2="92646"/>
                        <a14:foregroundMark x1="3230" y1="87422" x2="4770" y2="90799"/>
                        <a14:foregroundMark x1="97189" y1="90576" x2="97373" y2="89700"/>
                        <a14:foregroundMark x1="96585" y1="8970" x2="91977" y2="5939"/>
                        <a14:foregroundMark x1="5490" y1="86018" x2="30220" y2="83799"/>
                        <a14:foregroundMark x1="30220" y1="83799" x2="82051" y2="86872"/>
                        <a14:foregroundMark x1="82051" y1="86872" x2="72781" y2="91899"/>
                        <a14:foregroundMark x1="7542" y1="92138" x2="4762" y2="86034"/>
                        <a14:foregroundMark x1="83616" y1="8429" x2="80037" y2="17877"/>
                        <a14:foregroundMark x1="80037" y1="17877" x2="86813" y2="91061"/>
                        <a14:foregroundMark x1="86813" y1="91061" x2="96519" y2="89665"/>
                        <a14:foregroundMark x1="96017" y1="16473" x2="91508" y2="7063"/>
                        <a14:foregroundMark x1="92857" y1="8101" x2="92674" y2="6704"/>
                        <a14:foregroundMark x1="93956" y1="7542" x2="96014" y2="16175"/>
                        <a14:foregroundMark x1="96065" y1="23475" x2="89927" y2="16760"/>
                        <a14:foregroundMark x1="89927" y1="16760" x2="93223" y2="6425"/>
                        <a14:foregroundMark x1="95998" y1="13825" x2="95385" y2="10784"/>
                        <a14:foregroundMark x1="95961" y1="8403" x2="95971" y2="8380"/>
                        <a14:foregroundMark x1="20696" y1="61453" x2="21062" y2="63408"/>
                        <a14:foregroundMark x1="63736" y1="91341" x2="63919" y2="91061"/>
                        <a14:foregroundMark x1="73260" y1="91620" x2="73979" y2="91899"/>
                        <a14:foregroundMark x1="74493" y1="91899" x2="73810" y2="91620"/>
                        <a14:foregroundMark x1="73810" y1="91620" x2="72711" y2="91620"/>
                        <a14:foregroundMark x1="67582" y1="87989" x2="67033" y2="89665"/>
                        <a14:foregroundMark x1="67766" y1="91061" x2="63187" y2="90503"/>
                        <a14:foregroundMark x1="68132" y1="92737" x2="67766" y2="93017"/>
                        <a14:foregroundMark x1="68863" y1="93967" x2="67766" y2="94413"/>
                        <a14:foregroundMark x1="2826" y1="58659" x2="2812" y2="58961"/>
                        <a14:foregroundMark x1="3114" y1="52235" x2="3039" y2="53911"/>
                        <a14:foregroundMark x1="2813" y1="73771" x2="5495" y2="78771"/>
                        <a14:foregroundMark x1="3976" y1="8543" x2="3846" y2="8939"/>
                        <a14:foregroundMark x1="71245" y1="94413" x2="70696" y2="94972"/>
                        <a14:foregroundMark x1="71429" y1="94972" x2="71062" y2="95251"/>
                        <a14:foregroundMark x1="78205" y1="94972" x2="83150" y2="92737"/>
                        <a14:foregroundMark x1="91758" y1="5866" x2="90842" y2="5866"/>
                        <a14:backgroundMark x1="3114" y1="94972" x2="4029" y2="94693"/>
                        <a14:backgroundMark x1="84641" y1="97416" x2="97253" y2="97765"/>
                        <a14:backgroundMark x1="73035" y1="97096" x2="75939" y2="97176"/>
                        <a14:backgroundMark x1="6227" y1="95251" x2="72096" y2="97070"/>
                        <a14:backgroundMark x1="69270" y1="97421" x2="6410" y2="96648"/>
                        <a14:backgroundMark x1="72355" y1="97459" x2="71479" y2="97448"/>
                        <a14:backgroundMark x1="76809" y1="97514" x2="73285" y2="97470"/>
                        <a14:backgroundMark x1="97253" y1="97765" x2="84710" y2="97611"/>
                        <a14:backgroundMark x1="1099" y1="3073" x2="0" y2="838"/>
                        <a14:backgroundMark x1="4396" y1="1397" x2="3663" y2="2514"/>
                        <a14:backgroundMark x1="6410" y1="1955" x2="4945" y2="2793"/>
                        <a14:backgroundMark x1="13187" y1="559" x2="85714" y2="4469"/>
                        <a14:backgroundMark x1="85714" y1="4469" x2="14469" y2="838"/>
                        <a14:backgroundMark x1="90110" y1="1397" x2="88645" y2="1117"/>
                        <a14:backgroundMark x1="89560" y1="2514" x2="86447" y2="2514"/>
                        <a14:backgroundMark x1="89194" y1="3073" x2="86447" y2="3073"/>
                        <a14:backgroundMark x1="87912" y1="2514" x2="86813" y2="3352"/>
                        <a14:backgroundMark x1="99084" y1="9497" x2="99634" y2="89665"/>
                        <a14:backgroundMark x1="4579" y1="4749" x2="13370" y2="3911"/>
                        <a14:backgroundMark x1="3476" y1="8677" x2="3114" y2="10056"/>
                        <a14:backgroundMark x1="4579" y1="4469" x2="4389" y2="5193"/>
                        <a14:backgroundMark x1="2352" y1="80389" x2="2381" y2="87430"/>
                        <a14:backgroundMark x1="2198" y1="43017" x2="2236" y2="52143"/>
                        <a14:backgroundMark x1="2381" y1="87430" x2="2381" y2="87151"/>
                        <a14:backgroundMark x1="2015" y1="58939" x2="1832" y2="73743"/>
                        <a14:backgroundMark x1="1832" y1="73743" x2="1832" y2="73743"/>
                        <a14:backgroundMark x1="85531" y1="5028" x2="88462" y2="4469"/>
                        <a14:backgroundMark x1="2930" y1="5028" x2="7875" y2="3911"/>
                        <a14:backgroundMark x1="96703" y1="92737" x2="96703" y2="94693"/>
                        <a14:backgroundMark x1="96520" y1="92179" x2="97619" y2="92179"/>
                        <a14:backgroundMark x1="84432" y1="95251" x2="82784" y2="96369"/>
                        <a14:backgroundMark x1="91642" y1="5587" x2="92125" y2="5587"/>
                        <a14:backgroundMark x1="97619" y1="8659" x2="97802" y2="10056"/>
                        <a14:backgroundMark x1="2381" y1="31564" x2="2564" y2="41341"/>
                        <a14:backgroundMark x1="2564" y1="29609" x2="2381" y2="31564"/>
                        <a14:backgroundMark x1="2381" y1="57263" x2="2381" y2="58939"/>
                        <a14:backgroundMark x1="2747" y1="54469" x2="2747" y2="58659"/>
                        <a14:backgroundMark x1="2747" y1="53911" x2="2747" y2="55307"/>
                        <a14:backgroundMark x1="62821" y1="92458" x2="63004" y2="95810"/>
                        <a14:backgroundMark x1="75092" y1="92179" x2="75458" y2="96369"/>
                        <a14:backgroundMark x1="71978" y1="92458" x2="71978" y2="95251"/>
                        <a14:backgroundMark x1="75275" y1="91899" x2="75458" y2="94413"/>
                        <a14:backgroundMark x1="72161" y1="91899" x2="72161" y2="94413"/>
                        <a14:backgroundMark x1="77994" y1="95571" x2="77289" y2="95531"/>
                        <a14:backgroundMark x1="82234" y1="95810" x2="82069" y2="95801"/>
                        <a14:backgroundMark x1="2747" y1="73743" x2="2747" y2="74860"/>
                        <a14:backgroundMark x1="2381" y1="42458" x2="2381" y2="44972"/>
                        <a14:backgroundMark x1="0" y1="559" x2="549" y2="326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19863" y="989588"/>
            <a:ext cx="4555044" cy="2986642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C887EF19-8B9D-5FCE-1943-4E9AA94F925E}"/>
              </a:ext>
            </a:extLst>
          </p:cNvPr>
          <p:cNvSpPr txBox="1"/>
          <p:nvPr/>
        </p:nvSpPr>
        <p:spPr>
          <a:xfrm>
            <a:off x="4566291" y="2319660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r">
              <a:lnSpc>
                <a:spcPct val="110000"/>
              </a:lnSpc>
            </a:pPr>
            <a:r>
              <a:rPr kumimoji="1" lang="en-US" altLang="zh-CN" sz="2000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endParaRPr kumimoji="1"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888BDB0-19ED-6BDF-409E-371E8BD8D668}"/>
              </a:ext>
            </a:extLst>
          </p:cNvPr>
          <p:cNvSpPr txBox="1"/>
          <p:nvPr/>
        </p:nvSpPr>
        <p:spPr>
          <a:xfrm>
            <a:off x="1001165" y="3914862"/>
            <a:ext cx="6514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https://gitee.com/gaoyanzeng/drg_motor_1_stm32f407igt6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B134942-3E80-939C-3E88-5B5D5468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79A089-F6A9-4016-56A4-4543CDC9AA5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1 </a:t>
            </a:r>
            <a:r>
              <a:rPr lang="zh-CN" altLang="en-US" dirty="0"/>
              <a:t>电机的作用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 </a:t>
            </a:r>
            <a:r>
              <a:rPr lang="zh-CN" altLang="en-US" dirty="0"/>
              <a:t>电机旋转原理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3 </a:t>
            </a:r>
            <a:r>
              <a:rPr lang="zh-CN" altLang="en-US" dirty="0"/>
              <a:t>电机的“一般构成”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4 </a:t>
            </a:r>
            <a:r>
              <a:rPr lang="zh-CN" altLang="en-US" dirty="0"/>
              <a:t>电机为什么分那么多类？</a:t>
            </a:r>
          </a:p>
        </p:txBody>
      </p:sp>
    </p:spTree>
    <p:extLst>
      <p:ext uri="{BB962C8B-B14F-4D97-AF65-F5344CB8AC3E}">
        <p14:creationId xmlns:p14="http://schemas.microsoft.com/office/powerpoint/2010/main" val="3327626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1D8D4-C8D3-DEF9-D2A5-9B668B1A7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66C5EB8B-62A7-8475-BACC-A7222A44C8B9}"/>
              </a:ext>
            </a:extLst>
          </p:cNvPr>
          <p:cNvSpPr txBox="1"/>
          <p:nvPr/>
        </p:nvSpPr>
        <p:spPr>
          <a:xfrm rot="2544951">
            <a:off x="415546" y="374372"/>
            <a:ext cx="134622" cy="197908"/>
          </a:xfrm>
          <a:custGeom>
            <a:avLst/>
            <a:gdLst>
              <a:gd name="connsiteX0" fmla="*/ 265175 w 356639"/>
              <a:gd name="connsiteY0" fmla="*/ 0 h 524296"/>
              <a:gd name="connsiteX1" fmla="*/ 356639 w 356639"/>
              <a:gd name="connsiteY1" fmla="*/ 0 h 524296"/>
              <a:gd name="connsiteX2" fmla="*/ 356639 w 356639"/>
              <a:gd name="connsiteY2" fmla="*/ 521734 h 524296"/>
              <a:gd name="connsiteX3" fmla="*/ 345917 w 356639"/>
              <a:gd name="connsiteY3" fmla="*/ 521734 h 524296"/>
              <a:gd name="connsiteX4" fmla="*/ 345921 w 356639"/>
              <a:gd name="connsiteY4" fmla="*/ 522433 h 524296"/>
              <a:gd name="connsiteX5" fmla="*/ 493 w 356639"/>
              <a:gd name="connsiteY5" fmla="*/ 524296 h 524296"/>
              <a:gd name="connsiteX6" fmla="*/ 0 w 356639"/>
              <a:gd name="connsiteY6" fmla="*/ 432834 h 524296"/>
              <a:gd name="connsiteX7" fmla="*/ 265175 w 356639"/>
              <a:gd name="connsiteY7" fmla="*/ 431403 h 524296"/>
            </a:gdLst>
            <a:ahLst/>
            <a:cxnLst/>
            <a:rect l="l" t="t" r="r" b="b"/>
            <a:pathLst>
              <a:path w="356639" h="524296">
                <a:moveTo>
                  <a:pt x="265175" y="0"/>
                </a:moveTo>
                <a:lnTo>
                  <a:pt x="356639" y="0"/>
                </a:lnTo>
                <a:lnTo>
                  <a:pt x="356639" y="521734"/>
                </a:lnTo>
                <a:lnTo>
                  <a:pt x="345917" y="521734"/>
                </a:lnTo>
                <a:lnTo>
                  <a:pt x="345921" y="522433"/>
                </a:lnTo>
                <a:lnTo>
                  <a:pt x="493" y="524296"/>
                </a:lnTo>
                <a:lnTo>
                  <a:pt x="0" y="432834"/>
                </a:lnTo>
                <a:lnTo>
                  <a:pt x="265175" y="431403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97A6495-4001-1ED7-C76C-4CA0F2C65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电机的作用</a:t>
            </a:r>
            <a:endParaRPr lang="zh-CN" altLang="en-US" dirty="0"/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C61CE455-F2CC-330F-2FA4-1033B98B67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947954" y="591783"/>
            <a:ext cx="5268958" cy="397139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电能、机械能的相互转换。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90CBF50-FDE8-4C99-3830-2C668DA309F9}"/>
              </a:ext>
            </a:extLst>
          </p:cNvPr>
          <p:cNvSpPr txBox="1"/>
          <p:nvPr/>
        </p:nvSpPr>
        <p:spPr>
          <a:xfrm>
            <a:off x="5666795" y="239393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电能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5DB2BF-13D9-3FC3-03DA-24E23834705D}"/>
              </a:ext>
            </a:extLst>
          </p:cNvPr>
          <p:cNvSpPr txBox="1"/>
          <p:nvPr/>
        </p:nvSpPr>
        <p:spPr>
          <a:xfrm>
            <a:off x="10170450" y="237794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机械能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373B82B-90F7-1B5F-1B7D-2CFBCCFC6008}"/>
              </a:ext>
            </a:extLst>
          </p:cNvPr>
          <p:cNvSpPr txBox="1"/>
          <p:nvPr/>
        </p:nvSpPr>
        <p:spPr>
          <a:xfrm>
            <a:off x="5346025" y="5137159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机械能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B3D9385-0719-87F7-CE81-9D544EC95E9A}"/>
              </a:ext>
            </a:extLst>
          </p:cNvPr>
          <p:cNvSpPr txBox="1"/>
          <p:nvPr/>
        </p:nvSpPr>
        <p:spPr>
          <a:xfrm>
            <a:off x="10416693" y="516244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电能</a:t>
            </a:r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DE11A5D0-6639-BD1B-296C-AE54B0E62490}"/>
              </a:ext>
            </a:extLst>
          </p:cNvPr>
          <p:cNvSpPr/>
          <p:nvPr/>
        </p:nvSpPr>
        <p:spPr>
          <a:xfrm>
            <a:off x="6705600" y="2418957"/>
            <a:ext cx="452846" cy="37964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7DA3E867-59E3-8C86-0627-84A3CCC3252E}"/>
              </a:ext>
            </a:extLst>
          </p:cNvPr>
          <p:cNvSpPr/>
          <p:nvPr/>
        </p:nvSpPr>
        <p:spPr>
          <a:xfrm>
            <a:off x="9614053" y="2418957"/>
            <a:ext cx="452846" cy="37964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446AE847-C102-AA7D-F356-D8F1A532766B}"/>
              </a:ext>
            </a:extLst>
          </p:cNvPr>
          <p:cNvSpPr/>
          <p:nvPr/>
        </p:nvSpPr>
        <p:spPr>
          <a:xfrm>
            <a:off x="6606211" y="5207932"/>
            <a:ext cx="452846" cy="37964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D122D8FE-6C00-2A76-3B73-8936206190E4}"/>
              </a:ext>
            </a:extLst>
          </p:cNvPr>
          <p:cNvSpPr/>
          <p:nvPr/>
        </p:nvSpPr>
        <p:spPr>
          <a:xfrm>
            <a:off x="9833573" y="5219180"/>
            <a:ext cx="452846" cy="37964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5C2AF91-5B26-8CB5-6AEC-1A4175262A62}"/>
              </a:ext>
            </a:extLst>
          </p:cNvPr>
          <p:cNvSpPr txBox="1"/>
          <p:nvPr/>
        </p:nvSpPr>
        <p:spPr>
          <a:xfrm>
            <a:off x="7608503" y="330434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电动机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D8B25BE-9E5D-3C8A-F6D2-B92E7E6BA2CE}"/>
              </a:ext>
            </a:extLst>
          </p:cNvPr>
          <p:cNvSpPr txBox="1"/>
          <p:nvPr/>
        </p:nvSpPr>
        <p:spPr>
          <a:xfrm>
            <a:off x="7801301" y="622252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发电机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42C4C7AD-434A-E4FB-A9A9-0202B517B0DF}"/>
              </a:ext>
            </a:extLst>
          </p:cNvPr>
          <p:cNvCxnSpPr>
            <a:cxnSpLocks/>
          </p:cNvCxnSpPr>
          <p:nvPr/>
        </p:nvCxnSpPr>
        <p:spPr>
          <a:xfrm>
            <a:off x="0" y="411915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1D58AE7E-8E55-FD79-DB2E-477F610A7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1247" y="4428596"/>
            <a:ext cx="2513968" cy="183762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ED2D904-BB09-967A-D4EB-AC4731FAA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584" y="1726218"/>
            <a:ext cx="2109131" cy="149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483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B67C3-7F25-CE38-3717-66DB1DEE6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95192AA-A5C5-57C3-4B4B-F7FDDAD4FF5C}"/>
              </a:ext>
            </a:extLst>
          </p:cNvPr>
          <p:cNvSpPr/>
          <p:nvPr/>
        </p:nvSpPr>
        <p:spPr>
          <a:xfrm>
            <a:off x="4119007" y="1546043"/>
            <a:ext cx="3326676" cy="1950719"/>
          </a:xfrm>
          <a:prstGeom prst="roundRect">
            <a:avLst>
              <a:gd name="adj" fmla="val 1041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807CA184-C1FE-E290-F512-4AC0A8335810}"/>
              </a:ext>
            </a:extLst>
          </p:cNvPr>
          <p:cNvSpPr txBox="1"/>
          <p:nvPr/>
        </p:nvSpPr>
        <p:spPr>
          <a:xfrm rot="2544951">
            <a:off x="415546" y="374372"/>
            <a:ext cx="134622" cy="197908"/>
          </a:xfrm>
          <a:custGeom>
            <a:avLst/>
            <a:gdLst>
              <a:gd name="connsiteX0" fmla="*/ 265175 w 356639"/>
              <a:gd name="connsiteY0" fmla="*/ 0 h 524296"/>
              <a:gd name="connsiteX1" fmla="*/ 356639 w 356639"/>
              <a:gd name="connsiteY1" fmla="*/ 0 h 524296"/>
              <a:gd name="connsiteX2" fmla="*/ 356639 w 356639"/>
              <a:gd name="connsiteY2" fmla="*/ 521734 h 524296"/>
              <a:gd name="connsiteX3" fmla="*/ 345917 w 356639"/>
              <a:gd name="connsiteY3" fmla="*/ 521734 h 524296"/>
              <a:gd name="connsiteX4" fmla="*/ 345921 w 356639"/>
              <a:gd name="connsiteY4" fmla="*/ 522433 h 524296"/>
              <a:gd name="connsiteX5" fmla="*/ 493 w 356639"/>
              <a:gd name="connsiteY5" fmla="*/ 524296 h 524296"/>
              <a:gd name="connsiteX6" fmla="*/ 0 w 356639"/>
              <a:gd name="connsiteY6" fmla="*/ 432834 h 524296"/>
              <a:gd name="connsiteX7" fmla="*/ 265175 w 356639"/>
              <a:gd name="connsiteY7" fmla="*/ 431403 h 524296"/>
            </a:gdLst>
            <a:ahLst/>
            <a:cxnLst/>
            <a:rect l="l" t="t" r="r" b="b"/>
            <a:pathLst>
              <a:path w="356639" h="524296">
                <a:moveTo>
                  <a:pt x="265175" y="0"/>
                </a:moveTo>
                <a:lnTo>
                  <a:pt x="356639" y="0"/>
                </a:lnTo>
                <a:lnTo>
                  <a:pt x="356639" y="521734"/>
                </a:lnTo>
                <a:lnTo>
                  <a:pt x="345917" y="521734"/>
                </a:lnTo>
                <a:lnTo>
                  <a:pt x="345921" y="522433"/>
                </a:lnTo>
                <a:lnTo>
                  <a:pt x="493" y="524296"/>
                </a:lnTo>
                <a:lnTo>
                  <a:pt x="0" y="432834"/>
                </a:lnTo>
                <a:lnTo>
                  <a:pt x="265175" y="431403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F20426E-DC1C-17E2-66D2-E9B550D1D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b="1" dirty="0"/>
              <a:t>.</a:t>
            </a:r>
            <a:r>
              <a:rPr lang="zh-CN" altLang="en-US" b="1" dirty="0"/>
              <a:t> 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电机旋转原理</a:t>
            </a: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物理基础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A4CC9B-18D6-2EE1-094C-B0C923D1AAE7}"/>
              </a:ext>
            </a:extLst>
          </p:cNvPr>
          <p:cNvSpPr txBox="1"/>
          <p:nvPr/>
        </p:nvSpPr>
        <p:spPr>
          <a:xfrm>
            <a:off x="1171177" y="44157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左手定则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ABCE866-9CF7-8864-43E6-BC050DD05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174" y="2108382"/>
            <a:ext cx="3672436" cy="204991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CB999DA-23F4-7F55-3B75-515382A5D645}"/>
              </a:ext>
            </a:extLst>
          </p:cNvPr>
          <p:cNvSpPr txBox="1"/>
          <p:nvPr/>
        </p:nvSpPr>
        <p:spPr>
          <a:xfrm>
            <a:off x="8760823" y="433686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右手螺旋定则</a:t>
            </a:r>
          </a:p>
        </p:txBody>
      </p:sp>
      <p:pic>
        <p:nvPicPr>
          <p:cNvPr id="18" name="内容占位符 17">
            <a:extLst>
              <a:ext uri="{FF2B5EF4-FFF2-40B4-BE49-F238E27FC236}">
                <a16:creationId xmlns:a16="http://schemas.microsoft.com/office/drawing/2014/main" id="{DBE9F7ED-EB16-82EA-A03D-4214F2354589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526573" y="1546043"/>
            <a:ext cx="3505200" cy="2790825"/>
          </a:xfr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02D22C3-B409-B11F-1589-D5B7769E5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6403" y="3655296"/>
            <a:ext cx="3676514" cy="1608996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9D6F7318-A7BB-3B10-9953-9B34BCCDA5B1}"/>
              </a:ext>
            </a:extLst>
          </p:cNvPr>
          <p:cNvSpPr txBox="1"/>
          <p:nvPr/>
        </p:nvSpPr>
        <p:spPr>
          <a:xfrm>
            <a:off x="4766682" y="196415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电可以产生磁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72AB68E-3AD0-088A-7034-37AC258172BD}"/>
              </a:ext>
            </a:extLst>
          </p:cNvPr>
          <p:cNvSpPr txBox="1"/>
          <p:nvPr/>
        </p:nvSpPr>
        <p:spPr>
          <a:xfrm>
            <a:off x="4766682" y="2671675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磁会互相吸引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F41E51-584F-EDE8-CB57-757D99ECEF13}"/>
              </a:ext>
            </a:extLst>
          </p:cNvPr>
          <p:cNvSpPr txBox="1"/>
          <p:nvPr/>
        </p:nvSpPr>
        <p:spPr>
          <a:xfrm>
            <a:off x="1197302" y="4942625"/>
            <a:ext cx="2834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Inter"/>
              </a:rPr>
              <a:t>判断安培力方向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62A48E-3EAB-1542-15A3-1669A70CD6C2}"/>
              </a:ext>
            </a:extLst>
          </p:cNvPr>
          <p:cNvSpPr txBox="1"/>
          <p:nvPr/>
        </p:nvSpPr>
        <p:spPr>
          <a:xfrm>
            <a:off x="8760823" y="4942625"/>
            <a:ext cx="1863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Inter"/>
              </a:rPr>
              <a:t>判断磁场方向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D4E0393-6BF3-2DCA-6DF2-79613CF05EA9}"/>
              </a:ext>
            </a:extLst>
          </p:cNvPr>
          <p:cNvSpPr txBox="1"/>
          <p:nvPr/>
        </p:nvSpPr>
        <p:spPr>
          <a:xfrm>
            <a:off x="973135" y="5664686"/>
            <a:ext cx="9651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控制电的方向、大小就可以控制力的方向和大小</a:t>
            </a:r>
          </a:p>
        </p:txBody>
      </p:sp>
    </p:spTree>
    <p:extLst>
      <p:ext uri="{BB962C8B-B14F-4D97-AF65-F5344CB8AC3E}">
        <p14:creationId xmlns:p14="http://schemas.microsoft.com/office/powerpoint/2010/main" val="4076252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384A2-CB04-A6EB-FF5B-ACDC4E68F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A3FEC83D-3ADB-8458-413A-64089DDA0421}"/>
              </a:ext>
            </a:extLst>
          </p:cNvPr>
          <p:cNvSpPr txBox="1"/>
          <p:nvPr/>
        </p:nvSpPr>
        <p:spPr>
          <a:xfrm rot="2544951">
            <a:off x="415546" y="374372"/>
            <a:ext cx="134622" cy="197908"/>
          </a:xfrm>
          <a:custGeom>
            <a:avLst/>
            <a:gdLst>
              <a:gd name="connsiteX0" fmla="*/ 265175 w 356639"/>
              <a:gd name="connsiteY0" fmla="*/ 0 h 524296"/>
              <a:gd name="connsiteX1" fmla="*/ 356639 w 356639"/>
              <a:gd name="connsiteY1" fmla="*/ 0 h 524296"/>
              <a:gd name="connsiteX2" fmla="*/ 356639 w 356639"/>
              <a:gd name="connsiteY2" fmla="*/ 521734 h 524296"/>
              <a:gd name="connsiteX3" fmla="*/ 345917 w 356639"/>
              <a:gd name="connsiteY3" fmla="*/ 521734 h 524296"/>
              <a:gd name="connsiteX4" fmla="*/ 345921 w 356639"/>
              <a:gd name="connsiteY4" fmla="*/ 522433 h 524296"/>
              <a:gd name="connsiteX5" fmla="*/ 493 w 356639"/>
              <a:gd name="connsiteY5" fmla="*/ 524296 h 524296"/>
              <a:gd name="connsiteX6" fmla="*/ 0 w 356639"/>
              <a:gd name="connsiteY6" fmla="*/ 432834 h 524296"/>
              <a:gd name="connsiteX7" fmla="*/ 265175 w 356639"/>
              <a:gd name="connsiteY7" fmla="*/ 431403 h 524296"/>
            </a:gdLst>
            <a:ahLst/>
            <a:cxnLst/>
            <a:rect l="l" t="t" r="r" b="b"/>
            <a:pathLst>
              <a:path w="356639" h="524296">
                <a:moveTo>
                  <a:pt x="265175" y="0"/>
                </a:moveTo>
                <a:lnTo>
                  <a:pt x="356639" y="0"/>
                </a:lnTo>
                <a:lnTo>
                  <a:pt x="356639" y="521734"/>
                </a:lnTo>
                <a:lnTo>
                  <a:pt x="345917" y="521734"/>
                </a:lnTo>
                <a:lnTo>
                  <a:pt x="345921" y="522433"/>
                </a:lnTo>
                <a:lnTo>
                  <a:pt x="493" y="524296"/>
                </a:lnTo>
                <a:lnTo>
                  <a:pt x="0" y="432834"/>
                </a:lnTo>
                <a:lnTo>
                  <a:pt x="265175" y="431403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BC177D3-5AAB-B674-2338-A0BC8FB02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b="1" dirty="0"/>
              <a:t>.</a:t>
            </a:r>
            <a:r>
              <a:rPr lang="zh-CN" altLang="en-US" b="1" dirty="0"/>
              <a:t> 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电机旋转原理</a:t>
            </a: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b="1" dirty="0"/>
              <a:t>示意图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4EB15DED-09C6-6F14-CB3D-C12D97990A96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599296" y="1924594"/>
            <a:ext cx="4570670" cy="4052207"/>
          </a:xfr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63930FFA-579E-B535-A868-691E19643DF4}"/>
              </a:ext>
            </a:extLst>
          </p:cNvPr>
          <p:cNvSpPr/>
          <p:nvPr/>
        </p:nvSpPr>
        <p:spPr>
          <a:xfrm>
            <a:off x="2236780" y="3692435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B47379-3D59-D343-360F-676515BBC061}"/>
              </a:ext>
            </a:extLst>
          </p:cNvPr>
          <p:cNvSpPr txBox="1"/>
          <p:nvPr/>
        </p:nvSpPr>
        <p:spPr>
          <a:xfrm>
            <a:off x="5169966" y="2996590"/>
            <a:ext cx="9260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A+</a:t>
            </a:r>
          </a:p>
          <a:p>
            <a:r>
              <a:rPr lang="en-US" altLang="zh-CN" sz="1400" dirty="0"/>
              <a:t>A-</a:t>
            </a:r>
          </a:p>
          <a:p>
            <a:r>
              <a:rPr lang="en-US" altLang="zh-CN" sz="1400" dirty="0"/>
              <a:t>B+</a:t>
            </a:r>
          </a:p>
          <a:p>
            <a:r>
              <a:rPr lang="en-US" altLang="zh-CN" sz="1400" dirty="0"/>
              <a:t>B-</a:t>
            </a:r>
            <a:endParaRPr lang="zh-CN" alt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A5BF3DC-3227-5712-BEAC-E83D3D79C0A5}"/>
              </a:ext>
            </a:extLst>
          </p:cNvPr>
          <p:cNvSpPr txBox="1"/>
          <p:nvPr/>
        </p:nvSpPr>
        <p:spPr>
          <a:xfrm>
            <a:off x="5169966" y="3860877"/>
            <a:ext cx="926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COM</a:t>
            </a:r>
            <a:endParaRPr lang="zh-CN" altLang="en-US" sz="1400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E04EE65-E1B7-9E32-F802-51A1BC1E0CBA}"/>
              </a:ext>
            </a:extLst>
          </p:cNvPr>
          <p:cNvSpPr/>
          <p:nvPr/>
        </p:nvSpPr>
        <p:spPr>
          <a:xfrm>
            <a:off x="5965370" y="1310116"/>
            <a:ext cx="5033555" cy="1500307"/>
          </a:xfrm>
          <a:prstGeom prst="roundRect">
            <a:avLst>
              <a:gd name="adj" fmla="val 1041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巧妙的绕线方式、合理的通断电时序，可以让中间的磁铁转起来。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而且，能控制转向、转速等。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5C469A3-B57D-6AC7-B4F5-FF20C1A41CE9}"/>
              </a:ext>
            </a:extLst>
          </p:cNvPr>
          <p:cNvSpPr txBox="1"/>
          <p:nvPr/>
        </p:nvSpPr>
        <p:spPr>
          <a:xfrm>
            <a:off x="599296" y="6041466"/>
            <a:ext cx="9651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控制电流入的方向和时机，就可以使转子转起来</a:t>
            </a:r>
          </a:p>
        </p:txBody>
      </p:sp>
    </p:spTree>
    <p:extLst>
      <p:ext uri="{BB962C8B-B14F-4D97-AF65-F5344CB8AC3E}">
        <p14:creationId xmlns:p14="http://schemas.microsoft.com/office/powerpoint/2010/main" val="90787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4BB8F4-CADB-B32F-1BA0-85AC3593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电机的 </a:t>
            </a:r>
            <a:r>
              <a:rPr lang="en-US" altLang="zh-CN" dirty="0"/>
              <a:t>“</a:t>
            </a:r>
            <a:r>
              <a:rPr lang="zh-CN" altLang="en-US" dirty="0"/>
              <a:t>一般构成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B76371D1-DD07-E577-9911-07D9BB8586D1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016453" y="1897108"/>
            <a:ext cx="3714750" cy="3762375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B7F9B84A-B976-3865-1258-56414A05E30F}"/>
              </a:ext>
            </a:extLst>
          </p:cNvPr>
          <p:cNvSpPr/>
          <p:nvPr/>
        </p:nvSpPr>
        <p:spPr>
          <a:xfrm>
            <a:off x="5808616" y="1327800"/>
            <a:ext cx="4371704" cy="1500307"/>
          </a:xfrm>
          <a:prstGeom prst="roundRect">
            <a:avLst>
              <a:gd name="adj" fmla="val 1041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定子、转子，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轴承、端盖、风扇、接线端子等等。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1F6970-DEF7-0757-D234-BBF81D8714AD}"/>
              </a:ext>
            </a:extLst>
          </p:cNvPr>
          <p:cNvSpPr txBox="1"/>
          <p:nvPr/>
        </p:nvSpPr>
        <p:spPr>
          <a:xfrm>
            <a:off x="5808616" y="3307471"/>
            <a:ext cx="43717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Inter"/>
              </a:rPr>
              <a:t>定子提供磁场</a:t>
            </a:r>
            <a:endParaRPr lang="en-US" altLang="zh-CN" b="0" i="0" dirty="0">
              <a:effectLst/>
              <a:latin typeface="Inter"/>
            </a:endParaRPr>
          </a:p>
          <a:p>
            <a:r>
              <a:rPr lang="zh-CN" altLang="en-US" b="0" i="0" dirty="0">
                <a:effectLst/>
                <a:latin typeface="Inter"/>
              </a:rPr>
              <a:t>转子在磁场中受力转动</a:t>
            </a:r>
            <a:endParaRPr lang="en-US" altLang="zh-CN" b="0" i="0" dirty="0">
              <a:effectLst/>
              <a:latin typeface="Inter"/>
            </a:endParaRPr>
          </a:p>
          <a:p>
            <a:r>
              <a:rPr lang="zh-CN" altLang="en-US" dirty="0">
                <a:latin typeface="Inter"/>
              </a:rPr>
              <a:t>。。。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8116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A4ACC-80C9-A8E1-0B8C-FE65A2B4C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5CB56495-5DDC-AFA3-A4D6-1A2BB9834D7D}"/>
              </a:ext>
            </a:extLst>
          </p:cNvPr>
          <p:cNvSpPr txBox="1"/>
          <p:nvPr/>
        </p:nvSpPr>
        <p:spPr>
          <a:xfrm rot="2544951">
            <a:off x="415546" y="374372"/>
            <a:ext cx="134622" cy="197908"/>
          </a:xfrm>
          <a:custGeom>
            <a:avLst/>
            <a:gdLst>
              <a:gd name="connsiteX0" fmla="*/ 265175 w 356639"/>
              <a:gd name="connsiteY0" fmla="*/ 0 h 524296"/>
              <a:gd name="connsiteX1" fmla="*/ 356639 w 356639"/>
              <a:gd name="connsiteY1" fmla="*/ 0 h 524296"/>
              <a:gd name="connsiteX2" fmla="*/ 356639 w 356639"/>
              <a:gd name="connsiteY2" fmla="*/ 521734 h 524296"/>
              <a:gd name="connsiteX3" fmla="*/ 345917 w 356639"/>
              <a:gd name="connsiteY3" fmla="*/ 521734 h 524296"/>
              <a:gd name="connsiteX4" fmla="*/ 345921 w 356639"/>
              <a:gd name="connsiteY4" fmla="*/ 522433 h 524296"/>
              <a:gd name="connsiteX5" fmla="*/ 493 w 356639"/>
              <a:gd name="connsiteY5" fmla="*/ 524296 h 524296"/>
              <a:gd name="connsiteX6" fmla="*/ 0 w 356639"/>
              <a:gd name="connsiteY6" fmla="*/ 432834 h 524296"/>
              <a:gd name="connsiteX7" fmla="*/ 265175 w 356639"/>
              <a:gd name="connsiteY7" fmla="*/ 431403 h 524296"/>
            </a:gdLst>
            <a:ahLst/>
            <a:cxnLst/>
            <a:rect l="l" t="t" r="r" b="b"/>
            <a:pathLst>
              <a:path w="356639" h="524296">
                <a:moveTo>
                  <a:pt x="265175" y="0"/>
                </a:moveTo>
                <a:lnTo>
                  <a:pt x="356639" y="0"/>
                </a:lnTo>
                <a:lnTo>
                  <a:pt x="356639" y="521734"/>
                </a:lnTo>
                <a:lnTo>
                  <a:pt x="345917" y="521734"/>
                </a:lnTo>
                <a:lnTo>
                  <a:pt x="345921" y="522433"/>
                </a:lnTo>
                <a:lnTo>
                  <a:pt x="493" y="524296"/>
                </a:lnTo>
                <a:lnTo>
                  <a:pt x="0" y="432834"/>
                </a:lnTo>
                <a:lnTo>
                  <a:pt x="265175" y="431403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59BC8BE-3EC3-165A-068A-1B783A690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.4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为什么电机分了很多类？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61302A5-34F6-69B8-E3C4-C3AE339A681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4825" y="1362076"/>
            <a:ext cx="4781278" cy="4867274"/>
          </a:xfrm>
        </p:spPr>
        <p:txBody>
          <a:bodyPr/>
          <a:lstStyle/>
          <a:p>
            <a:r>
              <a:rPr lang="zh-CN" altLang="en-US" dirty="0"/>
              <a:t>按工作原理分</a:t>
            </a:r>
            <a:endParaRPr lang="en-US" altLang="zh-CN" dirty="0"/>
          </a:p>
          <a:p>
            <a:r>
              <a:rPr lang="zh-CN" altLang="en-US" dirty="0"/>
              <a:t>按电流类型分</a:t>
            </a:r>
            <a:endParaRPr lang="en-US" altLang="zh-CN" dirty="0"/>
          </a:p>
          <a:p>
            <a:r>
              <a:rPr lang="zh-CN" altLang="en-US" dirty="0"/>
              <a:t>按用途分</a:t>
            </a:r>
            <a:endParaRPr lang="en-US" altLang="zh-CN" dirty="0"/>
          </a:p>
          <a:p>
            <a:r>
              <a:rPr lang="zh-CN" altLang="en-US" dirty="0"/>
              <a:t>按结构和转子类型分</a:t>
            </a:r>
            <a:endParaRPr lang="en-US" altLang="zh-CN" dirty="0"/>
          </a:p>
          <a:p>
            <a:r>
              <a:rPr lang="zh-CN" altLang="en-US" dirty="0"/>
              <a:t>按防护类型分</a:t>
            </a:r>
            <a:endParaRPr lang="en-US" altLang="zh-CN" dirty="0"/>
          </a:p>
          <a:p>
            <a:r>
              <a:rPr lang="zh-CN" altLang="en-US" dirty="0"/>
              <a:t>按冷却方式分</a:t>
            </a:r>
            <a:endParaRPr lang="en-US" altLang="zh-CN" dirty="0"/>
          </a:p>
          <a:p>
            <a:r>
              <a:rPr lang="zh-CN" altLang="en-US" dirty="0"/>
              <a:t>按转速或极数分</a:t>
            </a:r>
            <a:endParaRPr lang="en-US" altLang="zh-CN" dirty="0"/>
          </a:p>
          <a:p>
            <a:r>
              <a:rPr lang="zh-CN" altLang="en-US" dirty="0"/>
              <a:t>按功率大小分</a:t>
            </a:r>
            <a:endParaRPr lang="en-US" altLang="zh-CN" dirty="0"/>
          </a:p>
          <a:p>
            <a:r>
              <a:rPr lang="zh-CN" altLang="en-US" dirty="0"/>
              <a:t>。。。。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A88357F-5372-654A-216C-E2C74A0FEF89}"/>
              </a:ext>
            </a:extLst>
          </p:cNvPr>
          <p:cNvSpPr/>
          <p:nvPr/>
        </p:nvSpPr>
        <p:spPr>
          <a:xfrm>
            <a:off x="6017621" y="1928692"/>
            <a:ext cx="4632961" cy="1781159"/>
          </a:xfrm>
          <a:prstGeom prst="roundRect">
            <a:avLst>
              <a:gd name="adj" fmla="val 1041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本质原因是：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人类对能量转换的多元化需求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技术实现的复杂性。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C292F5F-B6E6-5B13-19C5-6C85577FBA6A}"/>
              </a:ext>
            </a:extLst>
          </p:cNvPr>
          <p:cNvSpPr txBox="1"/>
          <p:nvPr/>
        </p:nvSpPr>
        <p:spPr>
          <a:xfrm>
            <a:off x="4380412" y="4737099"/>
            <a:ext cx="7306763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按电流类型分：直流电机（如伺服电机）、交流电机（如异步电机）；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按结构分：永磁电机（转子含磁钢）、励磁电机（转子无磁钢）。</a:t>
            </a:r>
          </a:p>
        </p:txBody>
      </p:sp>
    </p:spTree>
    <p:extLst>
      <p:ext uri="{BB962C8B-B14F-4D97-AF65-F5344CB8AC3E}">
        <p14:creationId xmlns:p14="http://schemas.microsoft.com/office/powerpoint/2010/main" val="953353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2380" y="0"/>
            <a:ext cx="12196761" cy="6858000"/>
          </a:xfrm>
          <a:prstGeom prst="rect">
            <a:avLst/>
          </a:prstGeom>
          <a:solidFill>
            <a:schemeClr val="accent6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68B0F158-AC38-B613-9800-2D0911675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35" b="95531" l="2198" r="97619">
                        <a14:foregroundMark x1="2726" y1="41333" x2="2703" y2="42458"/>
                        <a14:foregroundMark x1="3373" y1="10206" x2="3322" y2="12632"/>
                        <a14:foregroundMark x1="5158" y1="91650" x2="5612" y2="92646"/>
                        <a14:foregroundMark x1="3230" y1="87422" x2="4770" y2="90799"/>
                        <a14:foregroundMark x1="97189" y1="90576" x2="97373" y2="89700"/>
                        <a14:foregroundMark x1="96585" y1="8970" x2="91977" y2="5939"/>
                        <a14:foregroundMark x1="5490" y1="86018" x2="30220" y2="83799"/>
                        <a14:foregroundMark x1="30220" y1="83799" x2="82051" y2="86872"/>
                        <a14:foregroundMark x1="82051" y1="86872" x2="72781" y2="91899"/>
                        <a14:foregroundMark x1="7542" y1="92138" x2="4762" y2="86034"/>
                        <a14:foregroundMark x1="83616" y1="8429" x2="80037" y2="17877"/>
                        <a14:foregroundMark x1="80037" y1="17877" x2="86813" y2="91061"/>
                        <a14:foregroundMark x1="86813" y1="91061" x2="96519" y2="89665"/>
                        <a14:foregroundMark x1="96017" y1="16473" x2="91508" y2="7063"/>
                        <a14:foregroundMark x1="92857" y1="8101" x2="92674" y2="6704"/>
                        <a14:foregroundMark x1="93956" y1="7542" x2="96014" y2="16175"/>
                        <a14:foregroundMark x1="96065" y1="23475" x2="89927" y2="16760"/>
                        <a14:foregroundMark x1="89927" y1="16760" x2="93223" y2="6425"/>
                        <a14:foregroundMark x1="95998" y1="13825" x2="95385" y2="10784"/>
                        <a14:foregroundMark x1="95961" y1="8403" x2="95971" y2="8380"/>
                        <a14:foregroundMark x1="20696" y1="61453" x2="21062" y2="63408"/>
                        <a14:foregroundMark x1="63736" y1="91341" x2="63919" y2="91061"/>
                        <a14:foregroundMark x1="73260" y1="91620" x2="73979" y2="91899"/>
                        <a14:foregroundMark x1="74493" y1="91899" x2="73810" y2="91620"/>
                        <a14:foregroundMark x1="73810" y1="91620" x2="72711" y2="91620"/>
                        <a14:foregroundMark x1="67582" y1="87989" x2="67033" y2="89665"/>
                        <a14:foregroundMark x1="67766" y1="91061" x2="63187" y2="90503"/>
                        <a14:foregroundMark x1="68132" y1="92737" x2="67766" y2="93017"/>
                        <a14:foregroundMark x1="68863" y1="93967" x2="67766" y2="94413"/>
                        <a14:foregroundMark x1="2826" y1="58659" x2="2812" y2="58961"/>
                        <a14:foregroundMark x1="3114" y1="52235" x2="3039" y2="53911"/>
                        <a14:foregroundMark x1="2813" y1="73771" x2="5495" y2="78771"/>
                        <a14:foregroundMark x1="3976" y1="8543" x2="3846" y2="8939"/>
                        <a14:foregroundMark x1="71245" y1="94413" x2="70696" y2="94972"/>
                        <a14:foregroundMark x1="71429" y1="94972" x2="71062" y2="95251"/>
                        <a14:foregroundMark x1="78205" y1="94972" x2="83150" y2="92737"/>
                        <a14:foregroundMark x1="91758" y1="5866" x2="90842" y2="5866"/>
                        <a14:backgroundMark x1="3114" y1="94972" x2="4029" y2="94693"/>
                        <a14:backgroundMark x1="84641" y1="97416" x2="97253" y2="97765"/>
                        <a14:backgroundMark x1="73035" y1="97096" x2="75939" y2="97176"/>
                        <a14:backgroundMark x1="6227" y1="95251" x2="72096" y2="97070"/>
                        <a14:backgroundMark x1="69270" y1="97421" x2="6410" y2="96648"/>
                        <a14:backgroundMark x1="72355" y1="97459" x2="71479" y2="97448"/>
                        <a14:backgroundMark x1="76809" y1="97514" x2="73285" y2="97470"/>
                        <a14:backgroundMark x1="97253" y1="97765" x2="84710" y2="97611"/>
                        <a14:backgroundMark x1="1099" y1="3073" x2="0" y2="838"/>
                        <a14:backgroundMark x1="4396" y1="1397" x2="3663" y2="2514"/>
                        <a14:backgroundMark x1="6410" y1="1955" x2="4945" y2="2793"/>
                        <a14:backgroundMark x1="13187" y1="559" x2="85714" y2="4469"/>
                        <a14:backgroundMark x1="85714" y1="4469" x2="14469" y2="838"/>
                        <a14:backgroundMark x1="90110" y1="1397" x2="88645" y2="1117"/>
                        <a14:backgroundMark x1="89560" y1="2514" x2="86447" y2="2514"/>
                        <a14:backgroundMark x1="89194" y1="3073" x2="86447" y2="3073"/>
                        <a14:backgroundMark x1="87912" y1="2514" x2="86813" y2="3352"/>
                        <a14:backgroundMark x1="99084" y1="9497" x2="99634" y2="89665"/>
                        <a14:backgroundMark x1="4579" y1="4749" x2="13370" y2="3911"/>
                        <a14:backgroundMark x1="3476" y1="8677" x2="3114" y2="10056"/>
                        <a14:backgroundMark x1="4579" y1="4469" x2="4389" y2="5193"/>
                        <a14:backgroundMark x1="2352" y1="80389" x2="2381" y2="87430"/>
                        <a14:backgroundMark x1="2198" y1="43017" x2="2236" y2="52143"/>
                        <a14:backgroundMark x1="2381" y1="87430" x2="2381" y2="87151"/>
                        <a14:backgroundMark x1="2015" y1="58939" x2="1832" y2="73743"/>
                        <a14:backgroundMark x1="1832" y1="73743" x2="1832" y2="73743"/>
                        <a14:backgroundMark x1="85531" y1="5028" x2="88462" y2="4469"/>
                        <a14:backgroundMark x1="2930" y1="5028" x2="7875" y2="3911"/>
                        <a14:backgroundMark x1="96703" y1="92737" x2="96703" y2="94693"/>
                        <a14:backgroundMark x1="96520" y1="92179" x2="97619" y2="92179"/>
                        <a14:backgroundMark x1="84432" y1="95251" x2="82784" y2="96369"/>
                        <a14:backgroundMark x1="91642" y1="5587" x2="92125" y2="5587"/>
                        <a14:backgroundMark x1="97619" y1="8659" x2="97802" y2="10056"/>
                        <a14:backgroundMark x1="2381" y1="31564" x2="2564" y2="41341"/>
                        <a14:backgroundMark x1="2564" y1="29609" x2="2381" y2="31564"/>
                        <a14:backgroundMark x1="2381" y1="57263" x2="2381" y2="58939"/>
                        <a14:backgroundMark x1="2747" y1="54469" x2="2747" y2="58659"/>
                        <a14:backgroundMark x1="2747" y1="53911" x2="2747" y2="55307"/>
                        <a14:backgroundMark x1="62821" y1="92458" x2="63004" y2="95810"/>
                        <a14:backgroundMark x1="75092" y1="92179" x2="75458" y2="96369"/>
                        <a14:backgroundMark x1="71978" y1="92458" x2="71978" y2="95251"/>
                        <a14:backgroundMark x1="75275" y1="91899" x2="75458" y2="94413"/>
                        <a14:backgroundMark x1="72161" y1="91899" x2="72161" y2="94413"/>
                        <a14:backgroundMark x1="77994" y1="95571" x2="77289" y2="95531"/>
                        <a14:backgroundMark x1="82234" y1="95810" x2="82069" y2="95801"/>
                        <a14:backgroundMark x1="2747" y1="73743" x2="2747" y2="74860"/>
                        <a14:backgroundMark x1="2381" y1="42458" x2="2381" y2="44972"/>
                        <a14:backgroundMark x1="0" y1="559" x2="549" y2="326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15254" y="1387006"/>
            <a:ext cx="4061590" cy="2663095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9FE8452A-6336-8485-85F5-6D82B5EC6974}"/>
              </a:ext>
            </a:extLst>
          </p:cNvPr>
          <p:cNvSpPr txBox="1"/>
          <p:nvPr/>
        </p:nvSpPr>
        <p:spPr>
          <a:xfrm>
            <a:off x="9643543" y="503574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000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endParaRPr kumimoji="1"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6E1F114-F7F2-33E3-F4AC-705FB93A94F8}"/>
              </a:ext>
            </a:extLst>
          </p:cNvPr>
          <p:cNvSpPr txBox="1"/>
          <p:nvPr/>
        </p:nvSpPr>
        <p:spPr>
          <a:xfrm>
            <a:off x="973485" y="3998935"/>
            <a:ext cx="70906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https://gitee.com/gaoyanzeng/drg_motor_1_stm32f407igt6</a:t>
            </a:r>
            <a:endParaRPr lang="zh-CN" alt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322</Words>
  <Application>Microsoft Office PowerPoint</Application>
  <PresentationFormat>宽屏</PresentationFormat>
  <Paragraphs>71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Inter</vt:lpstr>
      <vt:lpstr>Source Han Sans</vt:lpstr>
      <vt:lpstr>Source Han Sans CN Regular</vt:lpstr>
      <vt:lpstr>等线</vt:lpstr>
      <vt:lpstr>微软雅黑</vt:lpstr>
      <vt:lpstr>Arial</vt:lpstr>
      <vt:lpstr>Wingdings</vt:lpstr>
      <vt:lpstr>Office 主题​​</vt:lpstr>
      <vt:lpstr>PowerPoint 演示文稿</vt:lpstr>
      <vt:lpstr>目录</vt:lpstr>
      <vt:lpstr>1 电机的作用</vt:lpstr>
      <vt:lpstr>2. 电机旋转原理—物理基础</vt:lpstr>
      <vt:lpstr>2. 电机旋转原理—示意图</vt:lpstr>
      <vt:lpstr>3 电机的 “一般构成”</vt:lpstr>
      <vt:lpstr>2.4 为什么电机分了很多类？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21</cp:revision>
  <dcterms:created xsi:type="dcterms:W3CDTF">2025-05-21T06:55:53Z</dcterms:created>
  <dcterms:modified xsi:type="dcterms:W3CDTF">2025-05-30T08:00:10Z</dcterms:modified>
</cp:coreProperties>
</file>