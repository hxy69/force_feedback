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9" r:id="rId2"/>
    <p:sldId id="802" r:id="rId3"/>
    <p:sldId id="800" r:id="rId4"/>
    <p:sldId id="806" r:id="rId5"/>
    <p:sldId id="807" r:id="rId6"/>
    <p:sldId id="808" r:id="rId7"/>
    <p:sldId id="28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45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章的直流有刷电机（‘大力出奇迹’的代表，可以粗略控制转速、转向）和第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章的舵机（能定角度，通过减速齿轮和控制板来控制角度），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今天进入第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步进电机，这个堪称‘精准主义者’的新伙伴，它和前两种电机最大的区别就是：转不转、转多少，全由‘步数’说了算！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今天先搞懂它‘怎么迈开腿’，下一节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咱们再细聊它的‘体检报告’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那些参数指标到底藏着什么秘密。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先问大家一个问题：你们见过最 “听话” 的转动是什么？是拧瓶盖？还是钟表指针？但步进电机的 “听话”，那可是 “指哪转哪，转多少算多少”。它到底怎么转起来的呢？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咱们可以把步进电机的内部想象成一个 “迷你指挥台”。定子上有几个 “指挥官”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就是标记的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这些绕组，转子就是那个 “听话的士兵”。当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指挥官先 “发号施令”（通电），转子就会乖乖转向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；接着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 “接力下令”，转子又会转向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；然后是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依次 “指挥”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……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转子就这么一步一步跟着转起来了。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就像咱们排队走路，第一个人往前走一步，第二个人跟上，第三个人再跟上，整个队伍就整齐地动起来了。步进电机每一步转动的角度，就叫 “步距角”。比如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里第一个例子，假设每一步转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度，那它转一圈就需要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步，跟咱们 “迈四大步走一圈” 似的。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7318518" y="4841733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0" y="2818708"/>
            <a:ext cx="5285193" cy="98413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状态机实现</a:t>
            </a:r>
            <a:r>
              <a:rPr kumimoji="1" lang="en-US" altLang="zh-CN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BLDC</a:t>
            </a: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【05-07】</a:t>
            </a:r>
            <a:endParaRPr kumimoji="1" lang="en-US" altLang="zh-CN" sz="2800" b="1" dirty="0">
              <a:ln w="127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EB48303-D1E8-62AA-F672-674819AD8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7" t="4217" r="3208" b="4511"/>
          <a:stretch>
            <a:fillRect/>
          </a:stretch>
        </p:blipFill>
        <p:spPr>
          <a:xfrm rot="5400000">
            <a:off x="6954732" y="2239385"/>
            <a:ext cx="2740564" cy="199313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4F92DA5-8D32-5D50-5C3E-8B64F43B10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6" t="2890" r="13453" b="207"/>
          <a:stretch>
            <a:fillRect/>
          </a:stretch>
        </p:blipFill>
        <p:spPr>
          <a:xfrm>
            <a:off x="6107869" y="1883520"/>
            <a:ext cx="1174915" cy="8722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案例目标</a:t>
            </a:r>
          </a:p>
        </p:txBody>
      </p:sp>
      <p:sp>
        <p:nvSpPr>
          <p:cNvPr id="30" name="Rectangle 17">
            <a:extLst>
              <a:ext uri="{FF2B5EF4-FFF2-40B4-BE49-F238E27FC236}">
                <a16:creationId xmlns:a16="http://schemas.microsoft.com/office/drawing/2014/main" id="{A71705C5-20DE-6FAF-DF7F-F966DE7604F9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1031001" y="1286298"/>
            <a:ext cx="31886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用六步换向法让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BLDC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转起来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12E316-CB09-8174-7A64-45C622131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726" y="1897931"/>
            <a:ext cx="8580868" cy="448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开发板上的接口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2D306A12-E2FF-1C19-691C-D354D4A2631B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597746620"/>
              </p:ext>
            </p:extLst>
          </p:nvPr>
        </p:nvGraphicFramePr>
        <p:xfrm>
          <a:off x="450336" y="1008200"/>
          <a:ext cx="6351059" cy="5557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439">
                  <a:extLst>
                    <a:ext uri="{9D8B030D-6E8A-4147-A177-3AD203B41FA5}">
                      <a16:colId xmlns:a16="http://schemas.microsoft.com/office/drawing/2014/main" val="3854383031"/>
                    </a:ext>
                  </a:extLst>
                </a:gridCol>
                <a:gridCol w="2062029">
                  <a:extLst>
                    <a:ext uri="{9D8B030D-6E8A-4147-A177-3AD203B41FA5}">
                      <a16:colId xmlns:a16="http://schemas.microsoft.com/office/drawing/2014/main" val="2043378029"/>
                    </a:ext>
                  </a:extLst>
                </a:gridCol>
                <a:gridCol w="1603377">
                  <a:extLst>
                    <a:ext uri="{9D8B030D-6E8A-4147-A177-3AD203B41FA5}">
                      <a16:colId xmlns:a16="http://schemas.microsoft.com/office/drawing/2014/main" val="2874893832"/>
                    </a:ext>
                  </a:extLst>
                </a:gridCol>
                <a:gridCol w="1838214">
                  <a:extLst>
                    <a:ext uri="{9D8B030D-6E8A-4147-A177-3AD203B41FA5}">
                      <a16:colId xmlns:a16="http://schemas.microsoft.com/office/drawing/2014/main" val="1489490609"/>
                    </a:ext>
                  </a:extLst>
                </a:gridCol>
              </a:tblGrid>
              <a:tr h="357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PM</a:t>
                      </a:r>
                      <a:r>
                        <a:rPr lang="zh-CN" altLang="en-US" dirty="0"/>
                        <a:t>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接口名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IO</a:t>
                      </a:r>
                      <a:r>
                        <a:rPr lang="zh-CN" altLang="en-US" dirty="0"/>
                        <a:t>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TIM</a:t>
                      </a:r>
                      <a:r>
                        <a:rPr lang="zh-CN" altLang="en-US" dirty="0"/>
                        <a:t>通道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76874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r>
                        <a:rPr lang="en-US" altLang="zh-CN" dirty="0"/>
                        <a:t>PM1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PM1_PWM_UH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PA8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TIM1_CH1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924981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PM1_PWM_UL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PB13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TIM1_CH1N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997840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PM1_PWM_VH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PA9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TIM1_CH2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024084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PM1_PWM_VL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PB14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TIM1_CH2N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35836"/>
                  </a:ext>
                </a:extLst>
              </a:tr>
              <a:tr h="42798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PM1_PWM_WH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PA10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TIM1_CH3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389495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PM1_PWM_WL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PB15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TIM1_CH3N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189716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PM1_CTRL_SD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PF10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849246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r>
                        <a:rPr lang="en-US" altLang="zh-CN" dirty="0"/>
                        <a:t>PM2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PM2_PWM_UH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PI5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TIM8_CH1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674399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PM2_PWM_UL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PH13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TIM8_CH1N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935846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PM2_PWM_VH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PI6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TIM8_CH2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020585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PM2_PWM_VL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PH14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TIM8_CH2N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783860"/>
                  </a:ext>
                </a:extLst>
              </a:tr>
              <a:tr h="37491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PM2_PWM_WH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PI7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TIM8_CH3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640057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PM2_PWM_WL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PH15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TIM8_CH3N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52749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PM1_CTRL_SD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PF2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95735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E5E7A81-4C48-5109-7E5F-D298143CF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704178"/>
              </p:ext>
            </p:extLst>
          </p:nvPr>
        </p:nvGraphicFramePr>
        <p:xfrm>
          <a:off x="7639594" y="1008200"/>
          <a:ext cx="366540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029">
                  <a:extLst>
                    <a:ext uri="{9D8B030D-6E8A-4147-A177-3AD203B41FA5}">
                      <a16:colId xmlns:a16="http://schemas.microsoft.com/office/drawing/2014/main" val="244013779"/>
                    </a:ext>
                  </a:extLst>
                </a:gridCol>
                <a:gridCol w="1603377">
                  <a:extLst>
                    <a:ext uri="{9D8B030D-6E8A-4147-A177-3AD203B41FA5}">
                      <a16:colId xmlns:a16="http://schemas.microsoft.com/office/drawing/2014/main" val="1148169281"/>
                    </a:ext>
                  </a:extLst>
                </a:gridCol>
              </a:tblGrid>
              <a:tr h="35786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按键</a:t>
                      </a:r>
                      <a:r>
                        <a:rPr lang="en-US" altLang="zh-CN" dirty="0"/>
                        <a:t>/LED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IO</a:t>
                      </a:r>
                      <a:r>
                        <a:rPr lang="zh-CN" altLang="en-US" dirty="0"/>
                        <a:t>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795302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r>
                        <a:rPr lang="en-US" altLang="zh-CN" dirty="0"/>
                        <a:t>LED1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PE0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930170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r>
                        <a:rPr lang="en-US" altLang="zh-CN" dirty="0"/>
                        <a:t>LED2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PE1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204528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r>
                        <a:rPr lang="en-US" altLang="zh-CN" dirty="0"/>
                        <a:t>K0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PE2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491181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r>
                        <a:rPr lang="en-US" altLang="zh-CN" dirty="0"/>
                        <a:t>K1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PE3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232657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r>
                        <a:rPr lang="en-US" altLang="zh-CN" dirty="0"/>
                        <a:t>K2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PE4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814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C525F-06CC-DEB5-EB90-AFC92AB9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需求分析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DF5CC6-ECF6-DEC7-24FA-424E57A5F31B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1515835" y="1084918"/>
            <a:ext cx="5573962" cy="59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b="1" dirty="0"/>
              <a:t>模块化 </a:t>
            </a:r>
            <a:r>
              <a:rPr lang="en-US" altLang="zh-CN" b="1" dirty="0"/>
              <a:t>+ </a:t>
            </a:r>
            <a:r>
              <a:rPr lang="zh-CN" altLang="en-US" b="1" dirty="0"/>
              <a:t>状态机 </a:t>
            </a:r>
            <a:r>
              <a:rPr lang="en-US" altLang="zh-CN" b="1" dirty="0"/>
              <a:t>+ </a:t>
            </a:r>
            <a:r>
              <a:rPr lang="zh-CN" altLang="en-US" b="1" dirty="0"/>
              <a:t>定时器驱动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6864D84-927A-BF1B-88D9-645ABAEB0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524742"/>
              </p:ext>
            </p:extLst>
          </p:nvPr>
        </p:nvGraphicFramePr>
        <p:xfrm>
          <a:off x="0" y="1885335"/>
          <a:ext cx="7218862" cy="222554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609431">
                  <a:extLst>
                    <a:ext uri="{9D8B030D-6E8A-4147-A177-3AD203B41FA5}">
                      <a16:colId xmlns:a16="http://schemas.microsoft.com/office/drawing/2014/main" val="1712384234"/>
                    </a:ext>
                  </a:extLst>
                </a:gridCol>
                <a:gridCol w="3609431">
                  <a:extLst>
                    <a:ext uri="{9D8B030D-6E8A-4147-A177-3AD203B41FA5}">
                      <a16:colId xmlns:a16="http://schemas.microsoft.com/office/drawing/2014/main" val="1507953498"/>
                    </a:ext>
                  </a:extLst>
                </a:gridCol>
              </a:tblGrid>
              <a:tr h="372805">
                <a:tc>
                  <a:txBody>
                    <a:bodyPr/>
                    <a:lstStyle/>
                    <a:p>
                      <a:pPr algn="ctr" fontAlgn="b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状态</a:t>
                      </a:r>
                    </a:p>
                  </a:txBody>
                  <a:tcPr marL="114300" marR="114300" marT="76200" marB="7620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说明</a:t>
                      </a:r>
                    </a:p>
                  </a:txBody>
                  <a:tcPr marL="114300" marR="114300" marT="76200" marB="7620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248377"/>
                  </a:ext>
                </a:extLst>
              </a:tr>
              <a:tr h="451218"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IDLE（</a:t>
                      </a:r>
                      <a:r>
                        <a:rPr lang="zh-CN" altLang="en-US" b="0">
                          <a:effectLst/>
                        </a:rPr>
                        <a:t>空闲）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电机停止，等待按键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2632073667"/>
                  </a:ext>
                </a:extLst>
              </a:tr>
              <a:tr h="451218"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STEP_FORWARD（</a:t>
                      </a:r>
                      <a:r>
                        <a:rPr lang="zh-CN" altLang="en-US" b="0" dirty="0">
                          <a:effectLst/>
                        </a:rPr>
                        <a:t>正向单步）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按</a:t>
                      </a:r>
                      <a:r>
                        <a:rPr lang="en-US" b="0" dirty="0">
                          <a:effectLst/>
                        </a:rPr>
                        <a:t>K0</a:t>
                      </a:r>
                      <a:r>
                        <a:rPr lang="zh-CN" altLang="en-US" b="0" dirty="0">
                          <a:effectLst/>
                        </a:rPr>
                        <a:t>触发，执行一步后返回</a:t>
                      </a:r>
                      <a:r>
                        <a:rPr lang="en-US" b="0" dirty="0">
                          <a:effectLst/>
                        </a:rPr>
                        <a:t>IDLE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3975335489"/>
                  </a:ext>
                </a:extLst>
              </a:tr>
              <a:tr h="451218"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STEP_BACKWARD（</a:t>
                      </a:r>
                      <a:r>
                        <a:rPr lang="zh-CN" altLang="en-US" b="0" dirty="0">
                          <a:effectLst/>
                        </a:rPr>
                        <a:t>反向单步）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按</a:t>
                      </a:r>
                      <a:r>
                        <a:rPr lang="en-US" b="0" dirty="0">
                          <a:effectLst/>
                        </a:rPr>
                        <a:t>K1</a:t>
                      </a:r>
                      <a:r>
                        <a:rPr lang="zh-CN" altLang="en-US" b="0" dirty="0">
                          <a:effectLst/>
                        </a:rPr>
                        <a:t>触发，执行一步后返回</a:t>
                      </a:r>
                      <a:r>
                        <a:rPr lang="en-US" b="0" dirty="0">
                          <a:effectLst/>
                        </a:rPr>
                        <a:t>IDLE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560555163"/>
                  </a:ext>
                </a:extLst>
              </a:tr>
              <a:tr h="451218"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CONTINUOUS_RUN（</a:t>
                      </a:r>
                      <a:r>
                        <a:rPr lang="zh-CN" altLang="en-US" b="0">
                          <a:effectLst/>
                        </a:rPr>
                        <a:t>连续运行）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按</a:t>
                      </a:r>
                      <a:r>
                        <a:rPr lang="en-US" altLang="zh-CN" b="0" dirty="0">
                          <a:effectLst/>
                        </a:rPr>
                        <a:t>K2</a:t>
                      </a:r>
                      <a:r>
                        <a:rPr lang="zh-CN" altLang="en-US" b="0" dirty="0">
                          <a:effectLst/>
                        </a:rPr>
                        <a:t>启动，持续自动换向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3367820543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11F3DD64-2316-FE62-AF09-96EBF6A78835}"/>
              </a:ext>
            </a:extLst>
          </p:cNvPr>
          <p:cNvSpPr txBox="1"/>
          <p:nvPr/>
        </p:nvSpPr>
        <p:spPr>
          <a:xfrm>
            <a:off x="1036863" y="4313379"/>
            <a:ext cx="9805308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时间控制：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使用 </a:t>
            </a: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TIM3 </a:t>
            </a:r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的 </a:t>
            </a: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1ms </a:t>
            </a:r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定时中断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 作为时间基准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在中断中判断：如果处于“连续运行”状态，则每隔一定时间（如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50ms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）自动执行一次换向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单步操作在主循环中处理，不依赖中断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D48043EF-9B44-041E-3D8A-B220163E2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288380"/>
              </p:ext>
            </p:extLst>
          </p:nvPr>
        </p:nvGraphicFramePr>
        <p:xfrm>
          <a:off x="7480662" y="1885335"/>
          <a:ext cx="4502331" cy="176744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41418">
                  <a:extLst>
                    <a:ext uri="{9D8B030D-6E8A-4147-A177-3AD203B41FA5}">
                      <a16:colId xmlns:a16="http://schemas.microsoft.com/office/drawing/2014/main" val="1521905143"/>
                    </a:ext>
                  </a:extLst>
                </a:gridCol>
                <a:gridCol w="2960913">
                  <a:extLst>
                    <a:ext uri="{9D8B030D-6E8A-4147-A177-3AD203B41FA5}">
                      <a16:colId xmlns:a16="http://schemas.microsoft.com/office/drawing/2014/main" val="2106599771"/>
                    </a:ext>
                  </a:extLst>
                </a:gridCol>
              </a:tblGrid>
              <a:tr h="39584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ts val="1800"/>
                        </a:lnSpc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LED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状态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功能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101554"/>
                  </a:ext>
                </a:extLst>
              </a:tr>
              <a:tr h="47910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ts val="1800"/>
                        </a:lnSpc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LED1 (PE0)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运行状态：</a:t>
                      </a:r>
                      <a:endParaRPr lang="en-US" altLang="zh-CN" sz="18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algn="l" defTabSz="914400" rtl="0" eaLnBrk="1" fontAlgn="b" latinLnBrk="0" hangingPunct="1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亮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</a:rPr>
                        <a:t>=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连续运行中，灭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</a:rPr>
                        <a:t>=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停止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551270687"/>
                  </a:ext>
                </a:extLst>
              </a:tr>
              <a:tr h="47910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ts val="1800"/>
                        </a:lnSpc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</a:rPr>
                        <a:t>LED2 (PE1)</a:t>
                      </a:r>
                      <a:endParaRPr lang="en-US" sz="1800" b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方向指示：</a:t>
                      </a:r>
                      <a:endParaRPr lang="en-US" altLang="zh-CN" sz="18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algn="l" defTabSz="914400" rtl="0" eaLnBrk="1" fontAlgn="b" latinLnBrk="0" hangingPunct="1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亮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</a:rPr>
                        <a:t>=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正转，灭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</a:rPr>
                        <a:t>=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反转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4149592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769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2A7493-FED6-1DFE-DA12-20C5AFABC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六步换相表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CBB904-DD23-8BFB-36D1-A37FE2515477}"/>
              </a:ext>
            </a:extLst>
          </p:cNvPr>
          <p:cNvSpPr txBox="1"/>
          <p:nvPr/>
        </p:nvSpPr>
        <p:spPr>
          <a:xfrm>
            <a:off x="859852" y="1231986"/>
            <a:ext cx="1066158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// </a:t>
            </a:r>
            <a:r>
              <a:rPr lang="zh-CN" altLang="en-US" sz="2800" dirty="0"/>
              <a:t>六步换相表 </a:t>
            </a:r>
            <a:r>
              <a:rPr lang="en-US" altLang="zh-CN" sz="2800" dirty="0"/>
              <a:t>(UH, UL, VH, VL, WH, WL), (CH1, CH1N, CH2, CH2N, CH3, CH3N)</a:t>
            </a:r>
          </a:p>
          <a:p>
            <a:r>
              <a:rPr lang="en-US" altLang="zh-CN" sz="2800" dirty="0"/>
              <a:t>// 1=</a:t>
            </a:r>
            <a:r>
              <a:rPr lang="zh-CN" altLang="en-US" sz="2800" dirty="0"/>
              <a:t>开通道</a:t>
            </a:r>
            <a:r>
              <a:rPr lang="en-US" altLang="zh-CN" sz="2800" dirty="0"/>
              <a:t>, 0=</a:t>
            </a:r>
            <a:r>
              <a:rPr lang="zh-CN" altLang="en-US" sz="2800" dirty="0"/>
              <a:t>关通道</a:t>
            </a:r>
          </a:p>
          <a:p>
            <a:r>
              <a:rPr lang="en-US" altLang="zh-CN" sz="2800" dirty="0"/>
              <a:t>static const uint8_t </a:t>
            </a:r>
            <a:r>
              <a:rPr lang="en-US" altLang="zh-CN" sz="2800" dirty="0" err="1"/>
              <a:t>comm_table</a:t>
            </a:r>
            <a:r>
              <a:rPr lang="en-US" altLang="zh-CN" sz="2800" dirty="0"/>
              <a:t>[6][6] = {</a:t>
            </a:r>
          </a:p>
          <a:p>
            <a:r>
              <a:rPr lang="en-US" altLang="zh-CN" sz="2800" dirty="0"/>
              <a:t>    {1, 0, 0, 1, 0, 0}, // Step0: U+ V-</a:t>
            </a:r>
          </a:p>
          <a:p>
            <a:r>
              <a:rPr lang="en-US" altLang="zh-CN" sz="2800" dirty="0"/>
              <a:t>    {1, 0, 0, 0, 0, 1}, // Step1: U+ W-</a:t>
            </a:r>
          </a:p>
          <a:p>
            <a:r>
              <a:rPr lang="en-US" altLang="zh-CN" sz="2800" dirty="0"/>
              <a:t>    {0, 0, 1, 0, 0, 1}, // Step2: V+ W-</a:t>
            </a:r>
          </a:p>
          <a:p>
            <a:r>
              <a:rPr lang="en-US" altLang="zh-CN" sz="2800" dirty="0"/>
              <a:t>    {0, 1, 1, 0, 0, 0}, // Step3: V+ U-</a:t>
            </a:r>
          </a:p>
          <a:p>
            <a:r>
              <a:rPr lang="en-US" altLang="zh-CN" sz="2800" dirty="0"/>
              <a:t>    {0, 1, 0, 0, 1, 0}, // Step4: W+ U-</a:t>
            </a:r>
          </a:p>
          <a:p>
            <a:r>
              <a:rPr lang="en-US" altLang="zh-CN" sz="2800" dirty="0"/>
              <a:t>    {0, 0, 0, 1, 1, 0}  // Step5: W+ V-</a:t>
            </a:r>
          </a:p>
          <a:p>
            <a:r>
              <a:rPr lang="en-US" altLang="zh-CN" sz="280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204640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EF9C696-C10B-5A10-D032-740D6A3F47E3}"/>
              </a:ext>
            </a:extLst>
          </p:cNvPr>
          <p:cNvSpPr/>
          <p:nvPr/>
        </p:nvSpPr>
        <p:spPr>
          <a:xfrm>
            <a:off x="2876550" y="1247775"/>
            <a:ext cx="9315450" cy="5353050"/>
          </a:xfrm>
          <a:prstGeom prst="roundRect">
            <a:avLst>
              <a:gd name="adj" fmla="val 456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D526C31-9626-54F6-50A0-693B1888E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BLDC</a:t>
            </a:r>
            <a:r>
              <a:rPr lang="zh-CN" altLang="en-US" dirty="0"/>
              <a:t>驱动状态机实现的技术设计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27F335C-492C-5297-7FC1-8D8AD68CF84B}"/>
              </a:ext>
            </a:extLst>
          </p:cNvPr>
          <p:cNvSpPr/>
          <p:nvPr/>
        </p:nvSpPr>
        <p:spPr>
          <a:xfrm>
            <a:off x="7877175" y="1676400"/>
            <a:ext cx="1447800" cy="762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停止状态</a:t>
            </a:r>
            <a:endParaRPr lang="en-US" altLang="zh-CN" dirty="0"/>
          </a:p>
          <a:p>
            <a:pPr algn="ctr"/>
            <a:r>
              <a:rPr lang="en-US" altLang="zh-CN" dirty="0"/>
              <a:t>Stopped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1360973-2A6D-06B7-01B1-5C52244E4493}"/>
              </a:ext>
            </a:extLst>
          </p:cNvPr>
          <p:cNvSpPr/>
          <p:nvPr/>
        </p:nvSpPr>
        <p:spPr>
          <a:xfrm>
            <a:off x="7877175" y="3362325"/>
            <a:ext cx="1447800" cy="762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单步状态</a:t>
            </a:r>
            <a:endParaRPr lang="en-US" altLang="zh-CN" dirty="0"/>
          </a:p>
          <a:p>
            <a:pPr algn="ctr"/>
            <a:r>
              <a:rPr lang="en-US" altLang="zh-CN" dirty="0"/>
              <a:t>Stepped</a:t>
            </a:r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DAE2D1E-B86F-2FFD-22E3-1AB6B6A8D4B7}"/>
              </a:ext>
            </a:extLst>
          </p:cNvPr>
          <p:cNvSpPr/>
          <p:nvPr/>
        </p:nvSpPr>
        <p:spPr>
          <a:xfrm>
            <a:off x="7877175" y="5048250"/>
            <a:ext cx="1447800" cy="762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连续状态</a:t>
            </a:r>
            <a:endParaRPr lang="en-US" altLang="zh-CN" dirty="0"/>
          </a:p>
          <a:p>
            <a:pPr algn="ctr"/>
            <a:r>
              <a:rPr lang="en-US" altLang="zh-CN" dirty="0"/>
              <a:t>Run</a:t>
            </a:r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23C3831-0CA8-7F9B-0469-B3EE43BC0BEA}"/>
              </a:ext>
            </a:extLst>
          </p:cNvPr>
          <p:cNvSpPr/>
          <p:nvPr/>
        </p:nvSpPr>
        <p:spPr>
          <a:xfrm>
            <a:off x="3143250" y="3390900"/>
            <a:ext cx="1847850" cy="89535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驱动器</a:t>
            </a:r>
            <a:endParaRPr lang="en-US" altLang="zh-CN" dirty="0"/>
          </a:p>
          <a:p>
            <a:pPr algn="ctr"/>
            <a:r>
              <a:rPr lang="en-US" altLang="zh-CN" dirty="0" err="1"/>
              <a:t>tickhanlder</a:t>
            </a:r>
            <a:endParaRPr lang="en-US" altLang="zh-CN" dirty="0"/>
          </a:p>
          <a:p>
            <a:pPr algn="ctr"/>
            <a:r>
              <a:rPr lang="zh-CN" altLang="en-US" dirty="0"/>
              <a:t>状态机的节拍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A46702A-ABDE-2660-9A57-751FCFCF1119}"/>
              </a:ext>
            </a:extLst>
          </p:cNvPr>
          <p:cNvSpPr/>
          <p:nvPr/>
        </p:nvSpPr>
        <p:spPr>
          <a:xfrm>
            <a:off x="0" y="3390900"/>
            <a:ext cx="2495550" cy="89535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TIM2</a:t>
            </a:r>
            <a:r>
              <a:rPr lang="zh-CN" altLang="en-US" dirty="0"/>
              <a:t>的</a:t>
            </a:r>
            <a:r>
              <a:rPr lang="en-US" altLang="zh-CN" dirty="0" err="1"/>
              <a:t>ms</a:t>
            </a:r>
            <a:r>
              <a:rPr lang="zh-CN" altLang="en-US" dirty="0"/>
              <a:t>级节拍中断</a:t>
            </a:r>
            <a:endParaRPr lang="en-US" altLang="zh-CN" dirty="0"/>
          </a:p>
          <a:p>
            <a:pPr algn="ctr"/>
            <a:r>
              <a:rPr lang="zh-CN" altLang="en-US" dirty="0"/>
              <a:t>系统时基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B441FD1-C347-6942-8B8D-902A2C4523DF}"/>
              </a:ext>
            </a:extLst>
          </p:cNvPr>
          <p:cNvSpPr/>
          <p:nvPr/>
        </p:nvSpPr>
        <p:spPr>
          <a:xfrm>
            <a:off x="9486900" y="1676400"/>
            <a:ext cx="2638425" cy="762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 dirty="0"/>
              <a:t>BLDC</a:t>
            </a:r>
            <a:r>
              <a:rPr lang="zh-CN" altLang="en-US" sz="1600" dirty="0"/>
              <a:t>停止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2EB9113-BE9F-02BA-66B5-649A4186D4B6}"/>
              </a:ext>
            </a:extLst>
          </p:cNvPr>
          <p:cNvSpPr/>
          <p:nvPr/>
        </p:nvSpPr>
        <p:spPr>
          <a:xfrm>
            <a:off x="9486900" y="3362325"/>
            <a:ext cx="2638425" cy="762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 dirty="0"/>
              <a:t>BLDC</a:t>
            </a:r>
            <a:r>
              <a:rPr lang="zh-CN" altLang="en-US" sz="1600" dirty="0"/>
              <a:t>根据当前旋转方向单步换相（换相后保持足够时间）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D8ECD3F-6B00-A93E-C81C-4C78601342A2}"/>
              </a:ext>
            </a:extLst>
          </p:cNvPr>
          <p:cNvSpPr/>
          <p:nvPr/>
        </p:nvSpPr>
        <p:spPr>
          <a:xfrm>
            <a:off x="9486900" y="5048250"/>
            <a:ext cx="2638425" cy="762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 dirty="0"/>
              <a:t>BLDC</a:t>
            </a:r>
            <a:r>
              <a:rPr lang="zh-CN" altLang="en-US" sz="1600" dirty="0"/>
              <a:t>根据当前旋转方向持续换相（每次换相要保持足够时间）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AC05326-8BB2-3A70-8691-AA66D760B33F}"/>
              </a:ext>
            </a:extLst>
          </p:cNvPr>
          <p:cNvSpPr/>
          <p:nvPr/>
        </p:nvSpPr>
        <p:spPr>
          <a:xfrm>
            <a:off x="5172075" y="3390900"/>
            <a:ext cx="1847850" cy="89535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dirty="0"/>
              <a:t>根据当前状态，让</a:t>
            </a:r>
            <a:r>
              <a:rPr lang="en-US" altLang="zh-CN" sz="1600" dirty="0"/>
              <a:t>BLDC</a:t>
            </a:r>
            <a:r>
              <a:rPr lang="zh-CN" altLang="en-US" sz="1600" dirty="0"/>
              <a:t>进行合适动作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4D9FAD4-3466-909C-92B0-1C4DCB47851A}"/>
              </a:ext>
            </a:extLst>
          </p:cNvPr>
          <p:cNvSpPr/>
          <p:nvPr/>
        </p:nvSpPr>
        <p:spPr>
          <a:xfrm>
            <a:off x="0" y="1790700"/>
            <a:ext cx="2495550" cy="89535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按键动作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C743F34-C300-F7A1-E9A6-977F24DCD5FE}"/>
              </a:ext>
            </a:extLst>
          </p:cNvPr>
          <p:cNvSpPr/>
          <p:nvPr/>
        </p:nvSpPr>
        <p:spPr>
          <a:xfrm>
            <a:off x="3143250" y="1790700"/>
            <a:ext cx="1847850" cy="89535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改变</a:t>
            </a:r>
            <a:r>
              <a:rPr lang="en-US" altLang="zh-CN" dirty="0"/>
              <a:t>BLDC</a:t>
            </a:r>
            <a:r>
              <a:rPr lang="zh-CN" altLang="en-US" dirty="0"/>
              <a:t>状态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8AEAA73-0EFA-DFF7-444D-5BE59F5BB727}"/>
              </a:ext>
            </a:extLst>
          </p:cNvPr>
          <p:cNvSpPr/>
          <p:nvPr/>
        </p:nvSpPr>
        <p:spPr>
          <a:xfrm>
            <a:off x="5172075" y="1790700"/>
            <a:ext cx="1847850" cy="89535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dirty="0"/>
              <a:t>包括旋转方向、运动状态、最短换相保持时间等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32523C8-9C0B-A13A-49EE-80EDD4B6C5B3}"/>
              </a:ext>
            </a:extLst>
          </p:cNvPr>
          <p:cNvSpPr txBox="1"/>
          <p:nvPr/>
        </p:nvSpPr>
        <p:spPr>
          <a:xfrm>
            <a:off x="3143250" y="5898430"/>
            <a:ext cx="28248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BLDC</a:t>
            </a:r>
            <a:r>
              <a:rPr lang="zh-CN" altLang="en-US" sz="3200" b="1" dirty="0">
                <a:solidFill>
                  <a:srgbClr val="FF0000"/>
                </a:solidFill>
              </a:rPr>
              <a:t>驱动模块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C7E0ACC-2D02-8E8E-E216-0E7F5047907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2495550" y="2238375"/>
            <a:ext cx="647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B55F07B-62E5-DF55-2195-9FA67E19CA91}"/>
              </a:ext>
            </a:extLst>
          </p:cNvPr>
          <p:cNvCxnSpPr>
            <a:stCxn id="8" idx="3"/>
            <a:endCxn id="7" idx="1"/>
          </p:cNvCxnSpPr>
          <p:nvPr/>
        </p:nvCxnSpPr>
        <p:spPr>
          <a:xfrm>
            <a:off x="2495550" y="3838575"/>
            <a:ext cx="647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660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2025.8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5771</TotalTime>
  <Words>1231</Words>
  <Application>Microsoft Office PowerPoint</Application>
  <PresentationFormat>宽屏</PresentationFormat>
  <Paragraphs>151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Source Han Sans</vt:lpstr>
      <vt:lpstr>Source Han Sans CN Regular</vt:lpstr>
      <vt:lpstr>system-ui</vt:lpstr>
      <vt:lpstr>等线</vt:lpstr>
      <vt:lpstr>微软雅黑</vt:lpstr>
      <vt:lpstr>Arial</vt:lpstr>
      <vt:lpstr>Office 主题​​</vt:lpstr>
      <vt:lpstr>PowerPoint 演示文稿</vt:lpstr>
      <vt:lpstr>案例目标</vt:lpstr>
      <vt:lpstr>开发板上的接口</vt:lpstr>
      <vt:lpstr>需求分析</vt:lpstr>
      <vt:lpstr>六步换相表</vt:lpstr>
      <vt:lpstr>BLDC驱动状态机实现的技术设计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136</cp:revision>
  <dcterms:created xsi:type="dcterms:W3CDTF">2025-05-21T06:55:53Z</dcterms:created>
  <dcterms:modified xsi:type="dcterms:W3CDTF">2025-09-12T06:56:38Z</dcterms:modified>
</cp:coreProperties>
</file>