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61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65014"/>
            <a:ext cx="49743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位置环控制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71500" y="1436489"/>
            <a:ext cx="49743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[12-03]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1500" y="2055614"/>
            <a:ext cx="4974336" cy="1343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90"/>
              </a:lnSpc>
              <a:spcAft>
                <a:spcPts val="1000"/>
              </a:spcAft>
              <a:buNone/>
            </a:pPr>
            <a:r>
              <a:rPr lang="en-US" sz="460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梯形速度规划</a:t>
            </a:r>
            <a:endParaRPr lang="en-US" sz="4600" dirty="0"/>
          </a:p>
          <a:p>
            <a:pPr marL="0" indent="0" algn="l">
              <a:lnSpc>
                <a:spcPts val="5290"/>
              </a:lnSpc>
              <a:spcAft>
                <a:spcPts val="1000"/>
              </a:spcAft>
              <a:buNone/>
            </a:pPr>
            <a:r>
              <a:rPr lang="en-US" sz="460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的位置环控制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1500" y="3525887"/>
            <a:ext cx="49743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加速 → 匀速 → 减速 → 平滑到位</a:t>
            </a:r>
            <a:endParaRPr lang="en-US" sz="1500" dirty="0"/>
          </a:p>
          <a:p>
            <a:pPr marL="0" indent="0" algn="l">
              <a:lnSpc>
                <a:spcPts val="2175"/>
              </a:lnSpc>
              <a:buNone/>
            </a:pPr>
            <a:r>
              <a:rPr lang="zh-CN" altLang="en-US" sz="15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改善</a:t>
            </a:r>
            <a:r>
              <a:rPr lang="en-US" sz="1500" dirty="0" err="1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阶跃超调</a:t>
            </a:r>
            <a:r>
              <a:rPr lang="en-US" sz="1500" dirty="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500">
                <a:solidFill>
                  <a:srgbClr val="44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减少定位震荡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19800" y="0"/>
            <a:ext cx="3124200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48400" y="4133850"/>
            <a:ext cx="27203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CHAPTER 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48400" y="4391025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000" dirty="0">
                <a:solidFill>
                  <a:srgbClr val="80B5D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第三节：轨迹规划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48400" y="4781550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F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淘宝店铺：GenBotter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616101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35547"/>
            <a:ext cx="22020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" y="2587972"/>
            <a:ext cx="22020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[12-02] 纯PID出发，发现阶跃超调问题 → 引入梯形速度规划，从根源解决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97101" y="693539"/>
            <a:ext cx="588121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 暴露了什么问题？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97101" y="123006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01429" y="129822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03402" y="1382464"/>
            <a:ext cx="54667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阶跃超调：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目标从 0 → 1320 counts 瞬间跳变，误差 e(k) 巨大 → PID 输出瞬间饱和 → 全速冲击 → 过冲 ~8%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7101" y="208835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01429" y="215652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03402" y="2240756"/>
            <a:ext cx="54667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位置振荡：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到位后编码器抖动 + 齿轮间隙 → PID 反复修正 → 电机微振发热（死区能缓解但不能根除）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97101" y="294664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01429" y="301481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3402" y="3099048"/>
            <a:ext cx="49295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参数耦合：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 大了超调大，Kd 大了抑制超调但变"软"，调参是零和博弈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7101" y="359166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01429" y="365983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3402" y="3744069"/>
            <a:ext cx="546679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根本问题：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位置目标一步到位，不给电机任何减速时间 → 必须提前开始刹车才有解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101501"/>
            <a:ext cx="85496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同一个目标，两种给法——天差地别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0652" y="572970"/>
            <a:ext cx="39124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12-02：阶跃跳变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0652" y="842795"/>
            <a:ext cx="3912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从 0 瞬间跳到 1320，不给电机任何准备时间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66800" y="4442787"/>
            <a:ext cx="3840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一拍到顶 → PID 误差 = 1320 → 全速冲击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66800" y="4730755"/>
            <a:ext cx="3505200" cy="1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超调 ~8%  ·  振荡  ·  电机啸叫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57601" y="572970"/>
            <a:ext cx="391246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12-03：梯形轨迹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7601" y="842795"/>
            <a:ext cx="3912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每 50ms 只前进一小步，逐步逼近终点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3592" y="4483003"/>
            <a:ext cx="3351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 → 匀速 → 减速 → 平滑到站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07280" y="4735994"/>
            <a:ext cx="33375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零超调  ·  无振荡  ·  运行安静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5349240"/>
            <a:ext cx="8595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核心差异：</a:t>
            </a:r>
            <a:r>
              <a:rPr lang="en-US" sz="8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 让 PID 追一个瞬间跳变的"天花板" → 必然撞头。12-03 让 PID 追一个逐步上升的"斜坡" → 从容跟进。</a:t>
            </a:r>
            <a:r>
              <a:rPr lang="en-US" sz="8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参数完全不变（Kp=0.25, Ki=0.01, Kd=0.25）——唯一区别是目标如何给。</a:t>
            </a:r>
            <a:endParaRPr lang="en-US" sz="800" dirty="0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130808"/>
            <a:ext cx="7178040" cy="3239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梯形速度曲线：速度-时间关系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350" y="555427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三阶段分解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9350" y="796677"/>
            <a:ext cx="4203799" cy="756642"/>
          </a:xfrm>
          <a:prstGeom prst="roundRect">
            <a:avLst>
              <a:gd name="adj" fmla="val 8392"/>
            </a:avLst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9901" y="891927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 匀加速  v(t) = a·t               （速度 ↑ 线性）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9901" y="1023938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2: 匀速    v(t) = v_max              （常速）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9901" y="1155948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3: 匀减速  v(t) = v_max − a·(t−t2)  （速度 ↓ 线性）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9901" y="1326059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位移 = 速度曲线积分 = 梯形面积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9350" y="1616720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梯形面积 = 总行程 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9350" y="1857970"/>
            <a:ext cx="4203799" cy="875854"/>
          </a:xfrm>
          <a:prstGeom prst="roundRect">
            <a:avLst>
              <a:gd name="adj" fmla="val 7250"/>
            </a:avLst>
          </a:prstGeom>
          <a:solidFill>
            <a:srgbClr val="E8F0F8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9901" y="1953220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(t1 / 2) * v_max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9901" y="2085231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(t2 − t1) * v_max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9901" y="2217241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(t3 − t2) / 2 * v_max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9901" y="2374553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9901" y="2506563"/>
            <a:ext cx="40419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v_max * (t2 + t3 − t1) /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42765" y="2557879"/>
            <a:ext cx="428787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关键：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代码实现中不预算时间点，每帧动态判断刹车距离 v²/ (2a)，逐帧推进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0850" y="796677"/>
            <a:ext cx="4203799" cy="1221534"/>
          </a:xfrm>
          <a:prstGeom prst="roundRect">
            <a:avLst>
              <a:gd name="adj" fmla="val 3101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06851" y="1904249"/>
            <a:ext cx="3930848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806851" y="969339"/>
            <a:ext cx="9376" cy="91856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689425" y="822796"/>
            <a:ext cx="388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829026" y="1864146"/>
            <a:ext cx="38100" cy="381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67126" y="1749846"/>
            <a:ext cx="63401" cy="1524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0527" y="1597446"/>
            <a:ext cx="63401" cy="3048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93928" y="1445046"/>
            <a:ext cx="63401" cy="4572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57329" y="1292646"/>
            <a:ext cx="63401" cy="6096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20729" y="1140246"/>
            <a:ext cx="63401" cy="7620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84130" y="1140246"/>
            <a:ext cx="63401" cy="7620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47531" y="1140246"/>
            <a:ext cx="63401" cy="7620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10932" y="1140246"/>
            <a:ext cx="63401" cy="7620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74332" y="1140246"/>
            <a:ext cx="63401" cy="7620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37733" y="1292646"/>
            <a:ext cx="63401" cy="6096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01134" y="1445046"/>
            <a:ext cx="63401" cy="4572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64535" y="1597446"/>
            <a:ext cx="63401" cy="3048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27936" y="1749846"/>
            <a:ext cx="63401" cy="1524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91336" y="1864146"/>
            <a:ext cx="38100" cy="381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81" y="2829074"/>
            <a:ext cx="5582888" cy="2171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增量式轨迹生成：每个周期推一个中间目标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3901" y="463451"/>
            <a:ext cx="43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3901" y="663475"/>
            <a:ext cx="4241899" cy="1743671"/>
          </a:xfrm>
          <a:prstGeom prst="roundRect">
            <a:avLst>
              <a:gd name="adj" fmla="val 5976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9626" y="723751"/>
            <a:ext cx="4151858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 50ms（PID周期）：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388" y="1017791"/>
            <a:ext cx="3995095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判断当前阶段（加速/匀速/减速）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388" y="1311831"/>
            <a:ext cx="3995095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本周期速度 = 上次速度 ± a·dt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388" y="1605871"/>
            <a:ext cx="3995095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本周期目标位置 += 速度 · dt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388" y="1899911"/>
            <a:ext cx="3995095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把这个"中间目标"喂给PID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9626" y="2193950"/>
            <a:ext cx="4151858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5"/>
              </a:lnSpc>
              <a:spcBef>
                <a:spcPts val="200"/>
              </a:spcBef>
              <a:buNone/>
            </a:pPr>
            <a:r>
              <a:rPr lang="en-US" sz="12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只追下一拍的目标，不追终点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263" y="2590725"/>
            <a:ext cx="43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PID 会变"乖"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7683" y="2782715"/>
            <a:ext cx="4147158" cy="47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每周期目标增量 ≈ speed·50ms ≈ </a:t>
            </a:r>
            <a:r>
              <a:rPr lang="en-US" sz="10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很小值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</a:p>
          <a:p>
            <a:pPr marL="0" indent="0" algn="l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e(k) 始终保持在小范围内 → PID 输出平稳，无饱和、无超调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463451"/>
            <a:ext cx="4326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伪代码示意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97226" y="663476"/>
            <a:ext cx="4292874" cy="4169569"/>
          </a:xfrm>
          <a:prstGeom prst="roundRect">
            <a:avLst>
              <a:gd name="adj" fmla="val 914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98950" y="786854"/>
            <a:ext cx="4223206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826726" y="957411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start_pos, target_pos;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826726" y="1127968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cur_pos; </a:t>
            </a:r>
            <a:r>
              <a:rPr lang="en-US" sz="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中间目标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26726" y="1298525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cur_speed; </a:t>
            </a:r>
            <a:r>
              <a:rPr lang="en-US" sz="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当前速度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826726" y="1469082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v_max, accel; </a:t>
            </a:r>
            <a:r>
              <a:rPr lang="en-US" sz="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最大速度/加速度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826726" y="1639639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phase; </a:t>
            </a:r>
            <a:r>
              <a:rPr lang="en-US" sz="6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0加速1匀速2减速3完成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698950" y="1810196"/>
            <a:ext cx="4223206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TrajPlanner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698950" y="2151311"/>
            <a:ext cx="4223206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TrajPlanner_Update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(TrajPlanner *tp, </a:t>
            </a:r>
            <a:r>
              <a:rPr lang="en-US" sz="6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dt) {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26726" y="2321868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(tp-&gt;phase == PHASE_ACCEL) {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57354" y="2492425"/>
            <a:ext cx="3964802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tp-&gt;cur_speed += tp-&gt;accel * dt;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957354" y="2662982"/>
            <a:ext cx="3964802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(tp-&gt;cur_speed &gt;= tp-&gt;v_max) {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57354" y="2833539"/>
            <a:ext cx="3964802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tp-&gt;cur_speed = tp-&gt;v_max;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957354" y="3004096"/>
            <a:ext cx="3964802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tp-&gt;phase = PHASE_CONST;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26726" y="3174653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826726" y="3345210"/>
            <a:ext cx="4095430" cy="132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(tp-&gt;phase == PHASE_CONST) {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26726" y="3515767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(剩余距离 &lt; 减速距离) tp-&gt;phase = PHASE_DECEL;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57354" y="3686324"/>
            <a:ext cx="3964802" cy="12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(tp-&gt;phase == PHASE_DECEL) {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957354" y="3856881"/>
            <a:ext cx="3964802" cy="12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tp-&gt;cur_speed -= tp-&gt;accel * dt;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957354" y="4027438"/>
            <a:ext cx="3964802" cy="12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(tp-&gt;cur_speed &lt;= </a:t>
            </a:r>
            <a:r>
              <a:rPr lang="en-US" sz="6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tp-&gt;phase = PHASE_DONE;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826726" y="4197995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26726" y="4368552"/>
            <a:ext cx="4095430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tp-&gt;cur_pos += tp-&gt;cur_speed * dt;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98950" y="4539109"/>
            <a:ext cx="4223206" cy="8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0005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8549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轨迹规划器模块：traj_planner.h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9350" y="450800"/>
            <a:ext cx="4300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9350" y="692051"/>
            <a:ext cx="4216450" cy="2294334"/>
          </a:xfrm>
          <a:prstGeom prst="roundRect">
            <a:avLst>
              <a:gd name="adj" fmla="val 166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822573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83325" y="1007418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start_pos;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起始位置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83325" y="1192262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target_pos;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最终目标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83325" y="1377107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cur_setpoint;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当前中间目标(给PID)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3325" y="1561951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cur_speed;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当前速度(counts/s)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83325" y="1746796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v_max;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最大速度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83325" y="1931640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accel;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加速度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83325" y="2116485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TrajPhase_t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phase;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当前阶段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83325" y="2301329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travelled;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已走行程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83325" y="2486174"/>
            <a:ext cx="4044023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total_dist;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总行程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30101" y="2671018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6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TrajPlanner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648200" y="450800"/>
            <a:ext cx="4300779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公开接口（5个）</a:t>
            </a:r>
            <a:endParaRPr lang="en-US" sz="1100" dirty="0"/>
          </a:p>
          <a:p>
            <a:pPr marL="0" indent="0" algn="l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900" b="0" dirty="0">
                <a:solidFill>
                  <a:srgbClr val="2C5F2D"/>
                </a:solidFill>
                <a:latin typeface="Consolas"/>
                <a:ea typeface="Microsoft YaHei"/>
              </a:rPr>
              <a:t>TrajPlanner_Init</a:t>
            </a:r>
            <a:r>
              <a:rPr lang="en-US" sz="900" b="0" dirty="0">
                <a:solidFill>
                  <a:srgbClr val="333333"/>
                </a:solidFill>
                <a:latin typeface="Consolas"/>
                <a:ea typeface="Microsoft YaHei"/>
              </a:rPr>
              <a:t>(tp, v_max, accel)</a:t>
            </a:r>
            <a:r>
              <a:rPr lang="zh-CN" sz="900" b="0" dirty="0">
                <a:solidFill>
                  <a:srgbClr val="666666"/>
                </a:solidFill>
                <a:latin typeface="Consolas"/>
                <a:ea typeface="Microsoft YaHei"/>
              </a:rPr>
              <a:t> 初始化参数</a:t>
            </a:r>
            <a:endParaRPr lang="en-US" sz="9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0" dirty="0">
                <a:solidFill>
                  <a:srgbClr val="2C5F2D"/>
                </a:solidFill>
                <a:latin typeface="Consolas"/>
                <a:ea typeface="Microsoft YaHei"/>
              </a:rPr>
              <a:t>TrajPlanner_Start</a:t>
            </a:r>
            <a:r>
              <a:rPr lang="en-US" sz="900" b="0" dirty="0">
                <a:solidFill>
                  <a:srgbClr val="333333"/>
                </a:solidFill>
                <a:latin typeface="Consolas"/>
                <a:ea typeface="Microsoft YaHei"/>
              </a:rPr>
              <a:t>(tp, cur, target)</a:t>
            </a:r>
            <a:r>
              <a:rPr lang="zh-CN" sz="900" b="0" dirty="0">
                <a:solidFill>
                  <a:srgbClr val="666666"/>
                </a:solidFill>
                <a:latin typeface="Consolas"/>
                <a:ea typeface="Microsoft YaHei"/>
              </a:rPr>
              <a:t> 启动轨迹</a:t>
            </a:r>
            <a:endParaRPr lang="en-US" sz="9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0" dirty="0">
                <a:solidFill>
                  <a:srgbClr val="2C5F2D"/>
                </a:solidFill>
                <a:latin typeface="Consolas"/>
                <a:ea typeface="Microsoft YaHei"/>
              </a:rPr>
              <a:t>TrajPlanner_Update</a:t>
            </a:r>
            <a:r>
              <a:rPr lang="en-US" sz="900" b="0" dirty="0">
                <a:solidFill>
                  <a:srgbClr val="333333"/>
                </a:solidFill>
                <a:latin typeface="Consolas"/>
                <a:ea typeface="Microsoft YaHei"/>
              </a:rPr>
              <a:t>(tp, dt)</a:t>
            </a:r>
            <a:r>
              <a:rPr lang="zh-CN" sz="900" b="0" dirty="0">
                <a:solidFill>
                  <a:srgbClr val="666666"/>
                </a:solidFill>
                <a:latin typeface="Consolas"/>
                <a:ea typeface="Microsoft YaHei"/>
              </a:rPr>
              <a:t> 每帧推进，返回中间目标给PID</a:t>
            </a:r>
            <a:endParaRPr lang="en-US" sz="9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0" dirty="0">
                <a:solidFill>
                  <a:srgbClr val="2C5F2D"/>
                </a:solidFill>
                <a:latin typeface="Consolas"/>
                <a:ea typeface="Microsoft YaHei"/>
              </a:rPr>
              <a:t>TrajPlanner_IsDone</a:t>
            </a:r>
            <a:r>
              <a:rPr lang="en-US" sz="900" b="0" dirty="0">
                <a:solidFill>
                  <a:srgbClr val="333333"/>
                </a:solidFill>
                <a:latin typeface="Consolas"/>
                <a:ea typeface="Microsoft YaHei"/>
              </a:rPr>
              <a:t>(tp)</a:t>
            </a:r>
            <a:r>
              <a:rPr lang="zh-CN" sz="900" b="0" dirty="0">
                <a:solidFill>
                  <a:srgbClr val="666666"/>
                </a:solidFill>
                <a:latin typeface="Consolas"/>
                <a:ea typeface="Microsoft YaHei"/>
              </a:rPr>
              <a:t> 查询是否到位</a:t>
            </a:r>
            <a:endParaRPr lang="en-US" sz="900" dirty="0"/>
          </a:p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b="0" dirty="0">
                <a:solidFill>
                  <a:srgbClr val="2C5F2D"/>
                </a:solidFill>
                <a:latin typeface="Consolas"/>
                <a:ea typeface="Microsoft YaHei"/>
              </a:rPr>
              <a:t>TrajPlanner_GetProgress</a:t>
            </a:r>
            <a:r>
              <a:rPr lang="en-US" sz="900" b="0" dirty="0">
                <a:solidFill>
                  <a:srgbClr val="333333"/>
                </a:solidFill>
                <a:latin typeface="Consolas"/>
                <a:ea typeface="Microsoft YaHei"/>
              </a:rPr>
              <a:t>(tp)</a:t>
            </a:r>
            <a:r>
              <a:rPr lang="zh-CN" sz="900" b="0" dirty="0">
                <a:solidFill>
                  <a:srgbClr val="666666"/>
                </a:solidFill>
                <a:latin typeface="Consolas"/>
                <a:ea typeface="Microsoft YaHei"/>
              </a:rPr>
              <a:t> 获取进度百分比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1913334"/>
            <a:ext cx="4300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如何在 PositionLoop 中使用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8200" y="2154585"/>
            <a:ext cx="4216450" cy="1924645"/>
          </a:xfrm>
          <a:prstGeom prst="roundRect">
            <a:avLst>
              <a:gd name="adj" fmla="val 1980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98950" y="2285107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按键触发：启动轨迹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698950" y="2469952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(KEY0_pressed)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892040" y="2654796"/>
            <a:ext cx="4004158" cy="10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TrajPlanner_Start(&amp;traj, cur_pos, cur_pos+</a:t>
            </a:r>
            <a:r>
              <a:rPr lang="en-US" sz="6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1320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698950" y="3024485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TIM6 ISR: 先推轨迹，再跑PID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698950" y="3209330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setpoint = TrajPlanner_Update(&amp;traj, </a:t>
            </a:r>
            <a:r>
              <a:rPr lang="en-US" sz="6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0.05f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698950" y="3394174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PositionLoop_SetTarget(&amp;pos, setpoint);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98950" y="3579019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PositionLoop_Update(&amp;pos);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698950" y="3763863"/>
            <a:ext cx="4197248" cy="92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6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(TrajPlanner_IsDone(&amp;traj)) </a:t>
            </a:r>
            <a:r>
              <a:rPr lang="en-US" sz="6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HOLDING */</a:t>
            </a:r>
            <a:r>
              <a:rPr lang="en-US" sz="6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12-02 到 12-03：代码变化一览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450" y="555427"/>
            <a:ext cx="4223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新增文件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796677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851" y="809327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5135" y="910977"/>
            <a:ext cx="265597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traj_planner.c / .h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梯形轨迹规划器，核心新模块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1255663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851" y="1268313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5135" y="1369963"/>
            <a:ext cx="287867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user_config.h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新增 V_MAX、ACCEL、DECEL 参数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1714649"/>
            <a:ext cx="4223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修改文件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450" y="1955899"/>
            <a:ext cx="211485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0851" y="1968550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436" y="2070199"/>
            <a:ext cx="351321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position_loop.c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SetTarget 不再直接写目标，改为调用 Traj_Start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450" y="2414885"/>
            <a:ext cx="211485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0851" y="2427536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436" y="2529185"/>
            <a:ext cx="327245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TIM6 ISR 中先 Traj_Update 再 PositionLoop_Update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2873871"/>
            <a:ext cx="211485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0851" y="2886521"/>
            <a:ext cx="86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0436" y="2988171"/>
            <a:ext cx="196936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更新架构图和效果说明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555427"/>
            <a:ext cx="4223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不变的部分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6300" y="796677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9701" y="809327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73985" y="910977"/>
            <a:ext cx="354388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pid.c / pid.h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增量式 PD 算法不变，PID 参数完全一致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6300" y="1255663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9701" y="1268313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73985" y="1369963"/>
            <a:ext cx="230621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bsp_encoder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编码器读取、速度计算不变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86300" y="1714649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9701" y="1727299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73985" y="1828949"/>
            <a:ext cx="1956155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bsp_brush_motor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PWM 驱动不变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6300" y="2173635"/>
            <a:ext cx="186184" cy="139601"/>
          </a:xfrm>
          <a:prstGeom prst="roundRect">
            <a:avLst>
              <a:gd name="adj" fmla="val 2729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9701" y="2186285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73985" y="2287935"/>
            <a:ext cx="211858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bsp_lcd / bsp_key_led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人机交互不变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86300" y="2632621"/>
            <a:ext cx="4223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关键对比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6300" y="2873871"/>
            <a:ext cx="4140250" cy="58400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05350" y="2873871"/>
            <a:ext cx="0" cy="58400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3250" y="2937272"/>
            <a:ext cx="4002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1320 → PID 阶跃响应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13250" y="3080147"/>
            <a:ext cx="40029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12-03：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每周期 += speed·dt → PID 跟踪斜坡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3250" y="3261122"/>
            <a:ext cx="40029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PID 算法不变，参数完全一致，效果天差地别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控制时序：TrajPlanner_Update + PID 串行执行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350" y="580727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ISR 调度 (50ms)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9350" y="821978"/>
            <a:ext cx="4203799" cy="2951857"/>
          </a:xfrm>
          <a:prstGeom prst="roundRect">
            <a:avLst>
              <a:gd name="adj" fmla="val 1291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751" y="974527"/>
            <a:ext cx="41585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TIM6_ISR_50ms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6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09451" y="1178123"/>
            <a:ext cx="39918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轨迹前进一拍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09451" y="1381720"/>
            <a:ext cx="39918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(!TrajPlanner_IsDone(&amp;traj)) {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646611" y="1585316"/>
            <a:ext cx="3854678" cy="14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setpoint =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646611" y="1788913"/>
            <a:ext cx="3854678" cy="14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TrajPlanner_Update(&amp;traj, </a:t>
            </a:r>
            <a:r>
              <a:rPr lang="en-US" sz="68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0.05f</a:t>
            </a: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46611" y="2196107"/>
            <a:ext cx="3854678" cy="14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PositionLoop_SetTarget(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646611" y="2399704"/>
            <a:ext cx="3854678" cy="14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&amp;pos_loop, setpoint);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09451" y="2603302"/>
            <a:ext cx="39918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509451" y="3010495"/>
            <a:ext cx="39918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PID 跟踪中间目标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09451" y="3214092"/>
            <a:ext cx="39918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PositionLoop_Update(&amp;pos_loop);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42751" y="3417689"/>
            <a:ext cx="41585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8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79350" y="3811935"/>
            <a:ext cx="428787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一个控制周期内：先产生中间目标，再让 PID 去追【注：轨迹启动延迟到ISR内执行(pending)，确保启动瞬间编码器读数精确，消除初始反转】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0850" y="580727"/>
            <a:ext cx="428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时间轴对比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0850" y="821978"/>
            <a:ext cx="4203799" cy="727025"/>
          </a:xfrm>
          <a:prstGeom prst="roundRect">
            <a:avLst>
              <a:gd name="adj" fmla="val 6987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1876" y="907703"/>
            <a:ext cx="4061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12-02：阶跃 = 一次大跳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1876" y="1079153"/>
            <a:ext cx="3981748" cy="228600"/>
          </a:xfrm>
          <a:prstGeom prst="roundRect">
            <a:avLst>
              <a:gd name="adj" fmla="val 11111"/>
            </a:avLst>
          </a:prstGeom>
          <a:solidFill>
            <a:srgbClr val="FB56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2627" y="1136303"/>
            <a:ext cx="22706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0 ─────────────────→ 1320（1拍到位）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71876" y="1358503"/>
            <a:ext cx="40613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从 e=1320 开始追 → 全速冲击 → 超调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660850" y="1625203"/>
            <a:ext cx="4203799" cy="917525"/>
          </a:xfrm>
          <a:prstGeom prst="roundRect">
            <a:avLst>
              <a:gd name="adj" fmla="val 5537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1876" y="1710928"/>
            <a:ext cx="4061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12-03：梯形 = 每拍小步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71876" y="2212628"/>
            <a:ext cx="152400" cy="101501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6927" y="2110978"/>
            <a:ext cx="152400" cy="20315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01977" y="2009329"/>
            <a:ext cx="152400" cy="3048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67027" y="1907828"/>
            <a:ext cx="152400" cy="406301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32078" y="1882378"/>
            <a:ext cx="152400" cy="43175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97128" y="1882378"/>
            <a:ext cx="152400" cy="43175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62179" y="1882378"/>
            <a:ext cx="152400" cy="43175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27229" y="1907828"/>
            <a:ext cx="152400" cy="406301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92279" y="2009329"/>
            <a:ext cx="152400" cy="30480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57330" y="2110978"/>
            <a:ext cx="152400" cy="203150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22380" y="2212628"/>
            <a:ext cx="152400" cy="101501"/>
          </a:xfrm>
          <a:prstGeom prst="rect">
            <a:avLst/>
          </a:prstGeom>
          <a:solidFill>
            <a:srgbClr val="06D6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71876" y="2352229"/>
            <a:ext cx="40613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每拍只追 speed·50ms ≈ 几十 counts → 小误差 → 平滑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660850" y="2618929"/>
            <a:ext cx="4287875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同一个 PID，同一个 50ms，只改变了目标给法</a:t>
            </a:r>
            <a:endParaRPr lang="en-US" sz="850" dirty="0"/>
          </a:p>
        </p:txBody>
      </p:sp>
      <p:sp>
        <p:nvSpPr>
          <p:cNvPr id="39" name="Rectangle 38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solidFill>
            <a:srgbClr val="1A2A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0D4FF"/>
                </a:solidFill>
              </a:rPr>
              <a:t>工程要点①：轨迹 ISR 内启动机制（pending 标志）</a:t>
            </a:r>
          </a:p>
          <a:p>
            <a:r>
              <a:rPr sz="1400">
                <a:solidFill>
                  <a:srgbClr val="CCCCCC"/>
                </a:solidFill>
              </a:rPr>
              <a:t>TrajPlanner_Start 设置 pending=1，实际初始化延迟到下一次 TIM6 ISR。确保 start_pos = 实时编码器读数，消除函数调用到 ISR 执行之间的时间差。否则差值变成“假距离”，导致第一拍反向冲击。</a:t>
            </a:r>
          </a:p>
          <a:p>
            <a:r>
              <a:rPr sz="1300">
                <a:solidFill>
                  <a:srgbClr val="2C5F2D"/>
                </a:solidFill>
                <a:latin typeface="Consolas"/>
              </a:rPr>
              <a:t>核心代码：  if (tp-&gt;pending) { tp-&gt;start_pos = cur_encoder;  tp-&gt;pending = 0;  tp-&gt;phase = TRAJ_PHASE_ACCEL;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450" y="580727"/>
            <a:ext cx="4235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轨迹参数（user_config.h 新增）</a:t>
            </a:r>
            <a:endParaRPr lang="en-US" sz="1100" dirty="0"/>
          </a:p>
          <a:p>
            <a:pPr marL="0" algn="l"/>
            <a:r>
              <a:rPr lang="en-US" sz="900" b="0">
                <a:solidFill>
                  <a:srgbClr val="2C5F2D"/>
                </a:solidFill>
                <a:latin typeface="Consolas"/>
                <a:ea typeface="Microsoft YaHei"/>
              </a:rPr>
              <a:t>#define TRAJ_ACCEL   1000</a:t>
            </a:r>
          </a:p>
          <a:p>
            <a:pPr marL="0" algn="l"/>
            <a:r>
              <a:rPr lang="en-US" sz="900" b="0">
                <a:solidFill>
                  <a:srgbClr val="2C5F2D"/>
                </a:solidFill>
                <a:latin typeface="Consolas"/>
                <a:ea typeface="Microsoft YaHei"/>
              </a:rPr>
              <a:t>#define TRAJ_V_MAX   1000</a:t>
            </a:r>
          </a:p>
        </p:txBody>
      </p:sp>
      <p:sp>
        <p:nvSpPr>
          <p:cNvPr id="5" name="Text 3"/>
          <p:cNvSpPr/>
          <p:nvPr/>
        </p:nvSpPr>
        <p:spPr>
          <a:xfrm>
            <a:off x="317450" y="1723281"/>
            <a:ext cx="4235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选参依据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1964531"/>
            <a:ext cx="4152900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6500" y="1964531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051" y="2027932"/>
            <a:ext cx="3990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v_max = 1000：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1圈 1320cts：加速 1.0s(500cts) + 匀速 0.32s(320cts) ≈ </a:t>
            </a: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2.3秒到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，学生能看清过程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7450" y="2297609"/>
            <a:ext cx="4152900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2297609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051" y="2361009"/>
            <a:ext cx="3990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 = 1000：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加速时间 = 1000/1000 = 1.0秒 = 20个控制周期，特别平缓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7450" y="2630686"/>
            <a:ext cx="4152900" cy="269677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6500" y="2630686"/>
            <a:ext cx="0" cy="269677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051" y="2694087"/>
            <a:ext cx="39900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转速换算：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1000 counts/s ÷ 1320 × 60 ≈ </a:t>
            </a: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RPM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（输出轴）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73501" y="580726"/>
            <a:ext cx="4236110" cy="385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 err="1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典型运动时间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3501" y="3028210"/>
            <a:ext cx="42361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vs 不完整梯形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73501" y="3269460"/>
            <a:ext cx="4153049" cy="907405"/>
          </a:xfrm>
          <a:prstGeom prst="roundRect">
            <a:avLst>
              <a:gd name="adj" fmla="val 5598"/>
            </a:avLst>
          </a:prstGeom>
          <a:solidFill>
            <a:srgbClr val="F7F9FC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71876" y="3342386"/>
            <a:ext cx="40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完整梯形： S ≥ v_max² / 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71876" y="3474397"/>
            <a:ext cx="40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行程足够长 → 加速→匀速→减速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71876" y="3657158"/>
            <a:ext cx="40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三角形(triangle)： S &lt; v_max² / 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71876" y="3789168"/>
            <a:ext cx="40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行程太短，到不了 v_max 就得减速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1876" y="3971929"/>
            <a:ext cx="4035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1320 ≥ 1000²/1000 = 1000 ✓（不是三角形）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73501" y="4253066"/>
            <a:ext cx="4153049" cy="41255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2551" y="4253066"/>
            <a:ext cx="0" cy="412552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13102" y="4316466"/>
            <a:ext cx="3990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教学建议：</a:t>
            </a:r>
            <a:r>
              <a:rPr lang="en-US" sz="85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 1 圈行程观察完整梯形，再用小角度观察三角形曲线，对比体会 v_max/accel 的意义</a:t>
            </a:r>
            <a:endParaRPr lang="en-US" sz="850" dirty="0"/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42A08221-6F55-E26A-E2B7-FD5E2E71B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514930"/>
              </p:ext>
            </p:extLst>
          </p:nvPr>
        </p:nvGraphicFramePr>
        <p:xfrm>
          <a:off x="4771876" y="984189"/>
          <a:ext cx="3816944" cy="1676400"/>
        </p:xfrm>
        <a:graphic>
          <a:graphicData uri="http://schemas.openxmlformats.org/drawingml/2006/table">
            <a:tbl>
              <a:tblPr/>
              <a:tblGrid>
                <a:gridCol w="954236">
                  <a:extLst>
                    <a:ext uri="{9D8B030D-6E8A-4147-A177-3AD203B41FA5}">
                      <a16:colId xmlns:a16="http://schemas.microsoft.com/office/drawing/2014/main" val="1564606808"/>
                    </a:ext>
                  </a:extLst>
                </a:gridCol>
                <a:gridCol w="954236">
                  <a:extLst>
                    <a:ext uri="{9D8B030D-6E8A-4147-A177-3AD203B41FA5}">
                      <a16:colId xmlns:a16="http://schemas.microsoft.com/office/drawing/2014/main" val="3876446065"/>
                    </a:ext>
                  </a:extLst>
                </a:gridCol>
                <a:gridCol w="954236">
                  <a:extLst>
                    <a:ext uri="{9D8B030D-6E8A-4147-A177-3AD203B41FA5}">
                      <a16:colId xmlns:a16="http://schemas.microsoft.com/office/drawing/2014/main" val="826627126"/>
                    </a:ext>
                  </a:extLst>
                </a:gridCol>
                <a:gridCol w="954236">
                  <a:extLst>
                    <a:ext uri="{9D8B030D-6E8A-4147-A177-3AD203B41FA5}">
                      <a16:colId xmlns:a16="http://schemas.microsoft.com/office/drawing/2014/main" val="2784669917"/>
                    </a:ext>
                  </a:extLst>
                </a:gridCol>
              </a:tblGrid>
              <a:tr h="168967">
                <a:tc>
                  <a:txBody>
                    <a:bodyPr/>
                    <a:lstStyle/>
                    <a:p>
                      <a:pPr marL="0" marR="0" indent="0" algn="l" fontAlgn="b">
                        <a:buNone/>
                      </a:pPr>
                      <a:r>
                        <a:rPr lang="zh-CN" sz="1000" b="1" i="0" dirty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阶段</a:t>
                      </a:r>
                    </a:p>
                  </a:txBody>
                  <a:tcPr anchor="b">
                    <a:lnL w="12700" cap="flat" cmpd="sng" algn="ctr">
                      <a:solidFill>
                        <a:srgbClr val="E04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5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9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buNone/>
                      </a:pPr>
                      <a:r>
                        <a:rPr lang="zh-CN" sz="1000" b="1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时间</a:t>
                      </a:r>
                    </a:p>
                  </a:txBody>
                  <a:tcPr anchor="b">
                    <a:lnL w="9525" cap="flat" cmpd="sng" algn="ctr">
                      <a:solidFill>
                        <a:srgbClr val="405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53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0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7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buNone/>
                      </a:pPr>
                      <a:r>
                        <a:rPr lang="zh-CN" sz="1000" b="1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行程</a:t>
                      </a:r>
                    </a:p>
                  </a:txBody>
                  <a:tcPr anchor="b">
                    <a:lnL w="9525" cap="flat" cmpd="sng" algn="ctr">
                      <a:solidFill>
                        <a:srgbClr val="4053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5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53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7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buNone/>
                      </a:pPr>
                      <a:r>
                        <a:rPr lang="zh-CN" sz="1000" b="1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说明</a:t>
                      </a:r>
                    </a:p>
                  </a:txBody>
                  <a:tcPr anchor="b">
                    <a:lnL w="9525" cap="flat" cmpd="sng" algn="ctr">
                      <a:solidFill>
                        <a:srgbClr val="605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5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8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680927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加速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7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9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1.0s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7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7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75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9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500cts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07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8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7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A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0 → v_max, a=1000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08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8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8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A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731476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 dirty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匀速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9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9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9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B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0.32s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9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A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9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B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320cts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A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A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A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B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v_max=1000恒定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A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A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C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195730"/>
                  </a:ext>
                </a:extLst>
              </a:tr>
              <a:tr h="320048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减速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B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B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B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1.0s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0B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B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B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D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500cts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50B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C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B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E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0" i="0" dirty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v_max → 0, a=1000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C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C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413555"/>
                  </a:ext>
                </a:extLst>
              </a:tr>
              <a:tr h="16896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1" i="0" dirty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总计</a:t>
                      </a:r>
                      <a:endParaRPr lang="zh-CN" sz="1000" b="0" i="0" dirty="0">
                        <a:solidFill>
                          <a:srgbClr val="1A1D23"/>
                        </a:solidFill>
                        <a:effectLst/>
                        <a:latin typeface="-apple-system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0D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D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1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≈2.3s</a:t>
                      </a:r>
                      <a:endParaRPr lang="zh-CN" sz="1000" b="0" i="0">
                        <a:solidFill>
                          <a:srgbClr val="1A1D23"/>
                        </a:solidFill>
                        <a:effectLst/>
                        <a:latin typeface="-apple-system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0D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E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0D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zh-CN" sz="1000" b="1" i="0">
                          <a:solidFill>
                            <a:srgbClr val="1A1D23"/>
                          </a:solidFill>
                          <a:effectLst/>
                          <a:latin typeface="-apple-system"/>
                        </a:rPr>
                        <a:t>1320cts</a:t>
                      </a:r>
                      <a:endParaRPr lang="zh-CN" sz="1000" b="0" i="0">
                        <a:solidFill>
                          <a:srgbClr val="1A1D23"/>
                        </a:solidFill>
                        <a:effectLst/>
                        <a:latin typeface="-apple-system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0E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E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endParaRPr lang="zh-CN" sz="1000" b="0" i="0" dirty="0">
                        <a:solidFill>
                          <a:srgbClr val="1A1D23"/>
                        </a:solidFill>
                        <a:effectLst/>
                        <a:latin typeface="-apple-system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FC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1457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792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01501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预期效果对比：不同PID参数，不同目标方式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9350" y="580727"/>
            <a:ext cx="4178350" cy="3564434"/>
          </a:xfrm>
          <a:prstGeom prst="roundRect">
            <a:avLst>
              <a:gd name="adj" fmla="val 2138"/>
            </a:avLst>
          </a:prstGeom>
          <a:noFill/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6487" y="701278"/>
            <a:ext cx="39640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12-02 纯PID阶跃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5351" y="1385292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351" y="1107579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超调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7737" y="1117104"/>
            <a:ext cx="3316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 (111 counts)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5351" y="1807369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351" y="1529655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到位时间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27737" y="1539180"/>
            <a:ext cx="3316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~0.5-0.8s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351" y="2251770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351" y="1962894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运动轨迹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27737" y="1958132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全速冲击 → 急刹车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351" y="2696170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351" y="2407295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电机状态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7737" y="2402532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振荡、微振发热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5351" y="3140571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351" y="2851696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7737" y="2846933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加减速段啸叫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5351" y="3584972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351" y="3296096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饱和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27737" y="3291334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频繁触及 ±50%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5351" y="3740497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教学意义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27737" y="3735735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FB56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展示PID的局限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86300" y="580727"/>
            <a:ext cx="4178350" cy="3609082"/>
          </a:xfrm>
          <a:prstGeom prst="roundRect">
            <a:avLst>
              <a:gd name="adj" fmla="val 2111"/>
            </a:avLst>
          </a:prstGeom>
          <a:noFill/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3437" y="701278"/>
            <a:ext cx="39640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12-03 梯形速度规划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32300" y="1407616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2300" y="1118741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超调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34687" y="1113979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0%（无超调）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32300" y="1852017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2300" y="1563142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到位时间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34687" y="1558379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~2.3s（可控）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32300" y="2296418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2300" y="2007543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运动轨迹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34687" y="2002780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加速→匀速→减速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32300" y="2740819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2300" y="2451943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电机状态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34687" y="2447181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平稳、低噪音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32300" y="3185220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2300" y="2896344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4687" y="2891582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全程安静运行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32300" y="3629620"/>
            <a:ext cx="3886349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2300" y="3340745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饱和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34687" y="3335982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几乎不触及限幅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32300" y="3785146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教学意义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34687" y="3780383"/>
            <a:ext cx="33164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从根源解决问题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114651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1498699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本章小结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9350" y="1971675"/>
            <a:ext cx="3555950" cy="167312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纯PID阶跃超调是"目标的错"，不是PID的错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梯形速度规划：每周期推一个中间目标给PID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算法不变，参数微调（Kp↑Kd↑），性能大幣提升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三阶段：加速 → 匀速 → 减速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面积即位移，短行程自动退化为三角形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代码改动极小：加一个 TrajPlanner 模块即可</a:t>
            </a:r>
            <a:endParaRPr lang="en-US" sz="950" dirty="0"/>
          </a:p>
          <a:p>
            <a:pPr marL="101600" indent="-101600" algn="l">
              <a:lnSpc>
                <a:spcPts val="1283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VOFA+ 可同时观察 Traj目标 vs 实际位置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44752" y="1268313"/>
            <a:ext cx="44565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核心认知升级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44752" y="1684139"/>
            <a:ext cx="44565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控制问题的根因分析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4752" y="1963341"/>
            <a:ext cx="44565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超调不是 PID 参数不够好，是目标信号太"粗暴"。改变输入信号的形态，比调参更根本。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752" y="2496443"/>
            <a:ext cx="44565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前馈 vs 反馈的分工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752" y="2775645"/>
            <a:ext cx="44565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轨迹规划（前馈）负责"大方向"：给一个平滑的目标曲线。PID（反馈）负责"修正偏差"：消除跟踪误差和外部扰动。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44752" y="3334196"/>
            <a:ext cx="4369147" cy="54084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468564" y="3334196"/>
            <a:ext cx="0" cy="540841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9327" y="3435697"/>
            <a:ext cx="414897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一句话总结：PID 只能追误差，不能规划路径。好的路径规划让 PID 只需要做它擅长的事——小误差修正。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114651" cy="51435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1514921"/>
            <a:ext cx="362706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位置环控制</a:t>
            </a:r>
            <a:endParaRPr lang="en-US" sz="20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三节全貌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9350" y="2359372"/>
            <a:ext cx="362706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[12-01] 理论基础 — 闭环控制、PID原理、编码器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9350" y="2638574"/>
            <a:ext cx="362706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[12-02] 代码实现 — 增量式PD、工程优化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9350" y="2917775"/>
            <a:ext cx="362706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8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[12-03] 轨迹规划 — 梯形速度曲线、零超调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9350" y="3273177"/>
            <a:ext cx="362706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14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从理论 → 实践 → 优化</a:t>
            </a:r>
            <a:endParaRPr lang="en-US" sz="1000" dirty="0"/>
          </a:p>
          <a:p>
            <a:pPr marL="0" indent="0" algn="l">
              <a:lnSpc>
                <a:spcPts val="1400"/>
              </a:lnSpc>
              <a:spcBef>
                <a:spcPts val="1400"/>
              </a:spcBef>
              <a:buNone/>
            </a:pPr>
            <a:r>
              <a:rPr lang="en-US" sz="10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从"能用"到"好用"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752" y="1436638"/>
            <a:ext cx="44565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后面两章内容预告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4752" y="1903363"/>
            <a:ext cx="44565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电流环外面套速度环、速度环外面套位置环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44752" y="2229594"/>
            <a:ext cx="44565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zh-CN" alt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</a:t>
            </a:r>
            <a:r>
              <a:rPr lang="en-US" altLang="zh-CN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zh-CN" alt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7902" y="2517725"/>
            <a:ext cx="4165997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 + 速度环 双闭环串联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位置环输出作为速度环的 target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速度环用增量式PI控制</a:t>
            </a:r>
            <a:endParaRPr lang="en-US" sz="10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梯形规划 → 速度环(target) → 位置环(反馈)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4752" y="3482132"/>
            <a:ext cx="44565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从单环到多环，从教学到工程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1686</Words>
  <Application>Microsoft Office PowerPoint</Application>
  <PresentationFormat>全屏显示(16:9)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-apple-system</vt:lpstr>
      <vt:lpstr>微软雅黑</vt:lpstr>
      <vt:lpstr>Arial</vt:lpstr>
      <vt:lpstr>Consolas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[12-03] 梯形速度规划的位置环控制</dc:title>
  <dc:subject>PptxGenJS Presentation</dc:subject>
  <dc:creator>Dr. GAO</dc:creator>
  <cp:lastModifiedBy>延增 高</cp:lastModifiedBy>
  <cp:revision>11</cp:revision>
  <dcterms:created xsi:type="dcterms:W3CDTF">2026-07-09T06:29:25Z</dcterms:created>
  <dcterms:modified xsi:type="dcterms:W3CDTF">2026-07-11T07:42:02Z</dcterms:modified>
</cp:coreProperties>
</file>