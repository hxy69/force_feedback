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sldIdLst>
    <p:sldId id="803" r:id="rId2"/>
    <p:sldId id="269" r:id="rId3"/>
    <p:sldId id="258" r:id="rId4"/>
    <p:sldId id="818" r:id="rId5"/>
    <p:sldId id="273" r:id="rId6"/>
    <p:sldId id="275" r:id="rId7"/>
    <p:sldId id="817" r:id="rId8"/>
    <p:sldId id="274" r:id="rId9"/>
    <p:sldId id="277" r:id="rId10"/>
    <p:sldId id="28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C431"/>
    <a:srgbClr val="098F4A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从这一讲开始，我们正式进入</a:t>
            </a:r>
            <a:r>
              <a:rPr lang="zh-CN" altLang="en-US" b="1" dirty="0"/>
              <a:t>控制器设计</a:t>
            </a:r>
            <a:r>
              <a:rPr lang="zh-CN" altLang="en-US" dirty="0"/>
              <a:t>。前面第 </a:t>
            </a:r>
            <a:r>
              <a:rPr lang="en-US" altLang="zh-CN" dirty="0"/>
              <a:t>7 </a:t>
            </a:r>
            <a:r>
              <a:rPr lang="zh-CN" altLang="en-US" dirty="0"/>
              <a:t>章我们已经知道什么是闭环控制，那今天要解决的问题是：</a:t>
            </a:r>
            <a:br>
              <a:rPr lang="zh-CN" altLang="en-US" dirty="0"/>
            </a:br>
            <a:r>
              <a:rPr lang="zh-CN" altLang="en-US" b="1" dirty="0"/>
              <a:t>闭环里，谁在做决定？它是怎么想的？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七个部分。首先，我们会回顾速度环的痛点，引出电流环的必要性。接着，深入理解电流环的物理本质和双环嵌套的逻辑。然后，我们会重点讲解电流环的快速响应特性。之后，将进入实战环节，演示如何在STM32F407上实现电流环控制。最后，通过实验验证效果，并对课程进行总结和预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首先，让我们进入第一章，了解电流环到底是什么，以及它为什么对电机控制如此重要。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要解决这个问题，我们需要回到电机的物理本质。电机的输出转矩，也就是我们常说的“力气”，它和什么有关呢？答案是电流。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根据公式T等于Kt乘以I，电磁转矩与流过电枢线圈的电流成正比。这意味着，控制电流，就是直接控制电机的输出力矩。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右侧的示意图展示了直流电机的内部结构，电流通过线圈产生磁场，磁场之间的相互作用最终转化为旋转的力矩。理解这一点，对于我们设计高效的电机控制系统至关重要。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解决方案就是引入电流环，形成双环嵌套的串级控制结构。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在这个结构中，速度环作为外环，它的任务不再是直接输出PWM，而是根据速度误差，计算出为了达到目标速度，电机需要输出多大的力矩，也就是需要多大的“目标电流”。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然后，这个目标电流被传递给作为内环的电流环。电流环的任务就是精确地控制电机的实际电流，让它紧紧跟随这个目标值。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这种内外分工协作的方式，既保证了最终的速度准确性，又利用电流环的快速响应特性抑制了系统扰动。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B085-E0C8-D59C-ABFF-737B9F10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FB1523-E91B-8684-2690-A2524AF4C0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578AF-914B-DB9F-CED7-471770A880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1D27DA9-DFF9-1DB9-A1F1-E4DEED1CE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3359987-DB60-EED2-1649-1FAD3BD14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这个原理，电流环主要有三大核心作用。第一，它可以实现限流保护，将电机的最大电流限制在安全范围内，有效防止过流烧毁。第二，它能稳定力矩输出，让我们可以精确地控制电机的扭矩。第三，作为速度环的内环，电流环能够快速响应，极大地提升整个系统的稳定性和动态性能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8C5A0-A365-D961-C026-92B871135C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529DD-0664-FCB4-3A64-0F68D3B03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82791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为什么我们不直接控制电流呢？因为我们通常只能控制电压。根据电枢电压方程，我们施加的电压U，需要先克服线圈的电阻压降、电感压降，还要对抗电机转动产生的反电动势E，剩下的部分才能真正用来产生电流。反电动势会随着转速升高而增大，所以电压和电流之间并不是简单的线性关系。这就是为什么直接控制电压（PWM）并不能精确控制力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这个双环系统稳定工作，电流环的响应速度必须远快于速度环。我们可以用一个比喻来理解：速度环就像大脑，是指挥官，负责下达“跑多快”的战略指令；而电流环就像肌肉，是士兵，负责执行“用多大力气”的战术动作。肌肉的反应速度必须比大脑的指令快得多，这样整个身体才能协调、稳定地运动。在技术上，这意味着电流环的控制频率（比如10kHz）通常要比速度环（比如100Hz）高出一个数量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21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85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61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56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51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78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39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41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29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71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772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586281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26683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509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77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38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1869401" y="2585022"/>
            <a:ext cx="9453791" cy="271556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480"/>
              </a:lnSpc>
              <a:buNone/>
            </a:pPr>
            <a:r>
              <a:rPr sz="9600" b="1">
                <a:solidFill>
                  <a:srgbClr val="FF0000"/>
                </a:solidFill>
                <a:latin typeface="微软雅黑"/>
              </a:rPr>
              <a:t>位置环控制</a:t>
            </a:r>
            <a:endParaRPr kumimoji="1" lang="en-US" altLang="zh-CN" sz="115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1684E16-F27B-56A8-C87F-2FB48002DB0B}"/>
              </a:ext>
            </a:extLst>
          </p:cNvPr>
          <p:cNvSpPr txBox="1"/>
          <p:nvPr/>
        </p:nvSpPr>
        <p:spPr>
          <a:xfrm>
            <a:off x="1869401" y="1326345"/>
            <a:ext cx="2605774" cy="190832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440"/>
              </a:lnSpc>
              <a:buNone/>
            </a:pPr>
            <a:r>
              <a:rPr sz="8800" b="1">
                <a:solidFill>
                  <a:schemeClr val="tx1"/>
                </a:solidFill>
                <a:latin typeface="微软雅黑"/>
              </a:rPr>
              <a:t>PID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6875911-F965-10C4-6C61-43E1809AFDD4}"/>
              </a:ext>
            </a:extLst>
          </p:cNvPr>
          <p:cNvSpPr txBox="1"/>
          <p:nvPr/>
        </p:nvSpPr>
        <p:spPr>
          <a:xfrm>
            <a:off x="7041425" y="612411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234AD20-F16C-E09C-1B59-69564EF7D687}"/>
              </a:ext>
            </a:extLst>
          </p:cNvPr>
          <p:cNvGrpSpPr/>
          <p:nvPr/>
        </p:nvGrpSpPr>
        <p:grpSpPr>
          <a:xfrm>
            <a:off x="7150385" y="700253"/>
            <a:ext cx="191046" cy="123736"/>
            <a:chOff x="9405360" y="560916"/>
            <a:chExt cx="191046" cy="123736"/>
          </a:xfrm>
        </p:grpSpPr>
        <p:sp>
          <p:nvSpPr>
            <p:cNvPr id="8" name="标题 1">
              <a:extLst>
                <a:ext uri="{FF2B5EF4-FFF2-40B4-BE49-F238E27FC236}">
                  <a16:creationId xmlns:a16="http://schemas.microsoft.com/office/drawing/2014/main" id="{81E79F3F-9D93-686E-CED2-0E5C7A5793DE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083406F0-0614-FC90-8B33-533D5926C97E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A354598E-D320-6B30-23AF-C3B065AC84A4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AD76799B-ECD6-FBA7-7470-5E20D1E69960}"/>
              </a:ext>
            </a:extLst>
          </p:cNvPr>
          <p:cNvSpPr txBox="1"/>
          <p:nvPr/>
        </p:nvSpPr>
        <p:spPr>
          <a:xfrm>
            <a:off x="10161162" y="681392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A32FD97C-7D8C-66EC-BBAE-781D7B900250}"/>
              </a:ext>
            </a:extLst>
          </p:cNvPr>
          <p:cNvSpPr txBox="1"/>
          <p:nvPr/>
        </p:nvSpPr>
        <p:spPr>
          <a:xfrm>
            <a:off x="7341452" y="643291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marL="0" indent="0" algn="ctr">
              <a:lnSpc>
                <a:spcPts val="1760"/>
              </a:lnSpc>
              <a:buNone/>
            </a:pPr>
            <a:r>
              <a:rPr sz="1600" b="1">
                <a:solidFill>
                  <a:srgbClr val="FF0000"/>
                </a:solidFill>
                <a:latin typeface="Source Han Sans"/>
              </a:rPr>
              <a:t>淘宝店铺：GenBotter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sz="3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本章内容概述</a:t>
            </a:r>
            <a:endParaRPr lang="en-US" sz="1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79074" y="1624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3074" y="1853474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77574" y="1815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749074" y="1815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【12-01】位置环控制理论基础</a:t>
            </a:r>
            <a:endParaRPr lang="en-US" sz="11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479074" y="2513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3074" y="2742474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77574" y="2704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749074" y="2704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【12-02】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PID位置环代码实现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479074" y="3402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3074" y="3631474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77574" y="3593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749074" y="3593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【12-03】梯形速度规划与位置环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79073" y="4291874"/>
            <a:ext cx="802495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3074" y="4520474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177574" y="4482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749073" y="4482374"/>
            <a:ext cx="646027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ts val="2000"/>
              </a:lnSpc>
              <a:defRPr/>
            </a:pP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学习路径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看到问题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的不足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→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解决问题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梯形规划是一种方案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FFF">
                  <a:alpha val="0"/>
                </a:srgbClr>
              </a:gs>
              <a:gs pos="50000">
                <a:srgbClr val="00FFFF">
                  <a:alpha val="100000"/>
                </a:srgbClr>
              </a:gs>
              <a:gs pos="100000">
                <a:srgbClr val="00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635000" y="27305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5805" y="3546475"/>
            <a:ext cx="601181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ts val="2000"/>
              </a:lnSpc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latin typeface="Noto Sans SC"/>
              </a:rPr>
              <a:t>电流环、速度环、位置环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CCAFA6A-7D17-3BD6-3DBC-53A932796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8700" y="2703512"/>
            <a:ext cx="9258300" cy="815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>
                <a:solidFill>
                  <a:srgbClr val="FF0000"/>
                </a:solidFill>
                <a:latin typeface="Noto Sans SC"/>
              </a:rPr>
              <a:t>【12-01】位置环控制理论基础</a:t>
            </a:r>
            <a:endParaRPr lang="zh-CN" altLang="en-US" dirty="0"/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9E8AD189-F1D0-FFF8-B66B-D3BD35CA1310}"/>
              </a:ext>
            </a:extLst>
          </p:cNvPr>
          <p:cNvSpPr/>
          <p:nvPr/>
        </p:nvSpPr>
        <p:spPr>
          <a:xfrm>
            <a:off x="5085805" y="4243161"/>
            <a:ext cx="601181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ts val="2000"/>
              </a:lnSpc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latin typeface="Noto Sans SC"/>
              </a:rPr>
              <a:t>力矩、     速度、     转动角度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787525D-ED7B-6BF1-2869-0BC00AA08095}"/>
              </a:ext>
            </a:extLst>
          </p:cNvPr>
          <p:cNvCxnSpPr/>
          <p:nvPr/>
        </p:nvCxnSpPr>
        <p:spPr>
          <a:xfrm>
            <a:off x="5338354" y="3927475"/>
            <a:ext cx="0" cy="383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A076F8D-7C7F-3BD9-DBA6-D8462DE03758}"/>
              </a:ext>
            </a:extLst>
          </p:cNvPr>
          <p:cNvCxnSpPr/>
          <p:nvPr/>
        </p:nvCxnSpPr>
        <p:spPr>
          <a:xfrm>
            <a:off x="6096000" y="3927475"/>
            <a:ext cx="0" cy="383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066AF81-9FE8-E52F-2FCC-12A29148AB85}"/>
              </a:ext>
            </a:extLst>
          </p:cNvPr>
          <p:cNvCxnSpPr/>
          <p:nvPr/>
        </p:nvCxnSpPr>
        <p:spPr>
          <a:xfrm>
            <a:off x="6927850" y="3927475"/>
            <a:ext cx="0" cy="383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sz="3600" b="1">
                <a:solidFill>
                  <a:srgbClr val="FF0000"/>
                </a:solidFill>
                <a:latin typeface="Poppins"/>
              </a:rPr>
              <a:t>本节内容大纲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479074" y="1624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3074" y="1853474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77574" y="1815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latin typeface="Poppins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749074" y="1815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600">
                <a:latin typeface="Noto Sans SC"/>
              </a:rPr>
              <a:t>什么是位置环控制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3479074" y="2513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3074" y="2742474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77574" y="2704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latin typeface="Poppins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49074" y="2704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600">
                <a:latin typeface="Noto Sans SC"/>
              </a:rPr>
              <a:t>单环位置控制架构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79074" y="3402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3074" y="3631474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77574" y="3593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latin typeface="Poppins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49074" y="3593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600">
                <a:latin typeface="Noto Sans SC"/>
              </a:rPr>
              <a:t>位置PID控制原理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79074" y="4291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177574" y="4482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latin typeface="Poppins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49074" y="4482374"/>
            <a:ext cx="3733074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600">
                <a:latin typeface="Noto Sans SC"/>
              </a:rPr>
              <a:t>梯形速度规划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FFF">
                  <a:alpha val="0"/>
                </a:srgbClr>
              </a:gs>
              <a:gs pos="50000">
                <a:srgbClr val="00FFFF">
                  <a:alpha val="100000"/>
                </a:srgbClr>
              </a:gs>
              <a:gs pos="100000">
                <a:srgbClr val="00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图形 2" descr="上升趋势条形图 纯色填充">
            <a:extLst>
              <a:ext uri="{FF2B5EF4-FFF2-40B4-BE49-F238E27FC236}">
                <a16:creationId xmlns:a16="http://schemas.microsoft.com/office/drawing/2014/main" id="{106E5858-3842-C959-3808-84A3CFBB2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2638" y="4482374"/>
            <a:ext cx="405672" cy="405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sz="3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什么是位置环控制</a:t>
            </a:r>
            <a:endParaRPr lang="en-US" sz="1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651000" y="1651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3500"/>
              </a:lnSpc>
              <a:buNone/>
              <a:defRPr/>
            </a:pPr>
            <a:r>
              <a: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θ = θ₀ + ∫ ω · dt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750"/>
              </a:lnSpc>
              <a:buNone/>
            </a:pPr>
            <a:r>
              <a: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当前位置 = 初始位置 + 速度在时间上的累积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23835" y="3048000"/>
            <a:ext cx="4630781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732"/>
              </a:lnSpc>
              <a:buNone/>
              <a:defRPr/>
            </a:pPr>
            <a:r>
              <a:rPr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核心概念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517"/>
              </a:lnSpc>
              <a:buNone/>
            </a:pPr>
            <a:endPara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517"/>
              </a:lnSpc>
              <a:buNone/>
            </a:pPr>
            <a:r>
              <a:rPr sz="11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位置环直接计算位置误差，通过PID输出PWM占空比控制电机</a:t>
            </a:r>
            <a:r>
              <a:rPr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517"/>
              </a:lnSpc>
              <a:buNone/>
            </a:pPr>
            <a:r>
              <a:rPr sz="11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本章采用简化单环架构：位置PID</a:t>
            </a:r>
            <a:r>
              <a:rPr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LPF -&gt; PWM -&gt; </a:t>
            </a:r>
            <a:r>
              <a:rPr sz="11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电机，无需速度内环</a:t>
            </a:r>
            <a:r>
              <a:rPr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923835" y="4699000"/>
            <a:ext cx="441016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位置环</a:t>
            </a:r>
            <a:r>
              <a:rPr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单环直驱，PID直接输出PWM</a:t>
            </a:r>
            <a:endParaRPr lang="en-US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704114" y="1295400"/>
            <a:ext cx="6165669" cy="39130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2700000" algn="tl" rotWithShape="0">
              <a:srgbClr val="00FF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895704" y="5397500"/>
            <a:ext cx="5834742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数据流：目标位置 -&gt; 误差 -&gt; 位置PID -&gt; LPF -&gt; PWM限幅 -&gt; 电机 -&gt; 编码器 -&gt; 位置反馈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888598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FFF">
                  <a:alpha val="100000"/>
                </a:srgbClr>
              </a:gs>
              <a:gs pos="100000">
                <a:srgbClr val="00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8A123CBC-D623-73BC-0BE5-6AB6F8C40052}"/>
              </a:ext>
            </a:extLst>
          </p:cNvPr>
          <p:cNvSpPr/>
          <p:nvPr/>
        </p:nvSpPr>
        <p:spPr>
          <a:xfrm>
            <a:off x="5895703" y="508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位置是速度在时间上的累积</a:t>
            </a:r>
            <a:r>
              <a:rPr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</a:t>
            </a:r>
            <a:r>
              <a:rPr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硬件参数：编码器</a:t>
            </a:r>
            <a:r>
              <a:rPr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11PPR x 4倍频 x 减速比30:1 = 1320 counts/rev（约0.27度/count）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64C13D8-A03D-A5E6-93DC-48B728EBED15}"/>
              </a:ext>
            </a:extLst>
          </p:cNvPr>
          <p:cNvSpPr/>
          <p:nvPr/>
        </p:nvSpPr>
        <p:spPr>
          <a:xfrm>
            <a:off x="762000" y="609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位置控制本质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上是根据电机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编码器的读数控制</a:t>
            </a:r>
            <a:endParaRPr lang="en-US" sz="1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0B2999D-B236-A6EC-AD97-E70BEA553E0E}"/>
              </a:ext>
            </a:extLst>
          </p:cNvPr>
          <p:cNvSpPr/>
          <p:nvPr/>
        </p:nvSpPr>
        <p:spPr>
          <a:xfrm>
            <a:off x="5846352" y="2143034"/>
            <a:ext cx="1267097" cy="545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目标位置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（角度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圈数）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F3F5AE1-E18F-D45A-33CB-2FF2E6EF68D8}"/>
              </a:ext>
            </a:extLst>
          </p:cNvPr>
          <p:cNvSpPr/>
          <p:nvPr/>
        </p:nvSpPr>
        <p:spPr>
          <a:xfrm>
            <a:off x="7918989" y="2153040"/>
            <a:ext cx="1267097" cy="545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62521B1-D5ED-81EE-7120-ACADBB1F2B21}"/>
              </a:ext>
            </a:extLst>
          </p:cNvPr>
          <p:cNvSpPr/>
          <p:nvPr/>
        </p:nvSpPr>
        <p:spPr>
          <a:xfrm>
            <a:off x="9340665" y="2156458"/>
            <a:ext cx="1364345" cy="545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速度指令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（正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零）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8D89D2-E86B-DA5A-A41A-DF4D627984AD}"/>
              </a:ext>
            </a:extLst>
          </p:cNvPr>
          <p:cNvSpPr/>
          <p:nvPr/>
        </p:nvSpPr>
        <p:spPr>
          <a:xfrm>
            <a:off x="10821124" y="2153920"/>
            <a:ext cx="894080" cy="545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531884-EEE2-FA31-06F7-5175DA4B5765}"/>
              </a:ext>
            </a:extLst>
          </p:cNvPr>
          <p:cNvSpPr txBox="1"/>
          <p:nvPr/>
        </p:nvSpPr>
        <p:spPr>
          <a:xfrm>
            <a:off x="6672943" y="1344609"/>
            <a:ext cx="3973283" cy="62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500"/>
              </a:lnSpc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位置环控制示意</a:t>
            </a:r>
            <a:endParaRPr lang="zh-CN" altLang="en-US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B8BBBC3-B400-93F0-DB69-06485719D3A4}"/>
              </a:ext>
            </a:extLst>
          </p:cNvPr>
          <p:cNvSpPr/>
          <p:nvPr/>
        </p:nvSpPr>
        <p:spPr>
          <a:xfrm>
            <a:off x="9971315" y="3429000"/>
            <a:ext cx="1568992" cy="545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驱动信号</a:t>
            </a: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驱动板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65E349A-85C9-1721-ADFA-9B6C89051BDD}"/>
              </a:ext>
            </a:extLst>
          </p:cNvPr>
          <p:cNvSpPr/>
          <p:nvPr/>
        </p:nvSpPr>
        <p:spPr>
          <a:xfrm>
            <a:off x="8981435" y="3429000"/>
            <a:ext cx="799741" cy="545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E232162-835C-0BB2-BEB6-FCBC16B2347C}"/>
              </a:ext>
            </a:extLst>
          </p:cNvPr>
          <p:cNvSpPr/>
          <p:nvPr/>
        </p:nvSpPr>
        <p:spPr>
          <a:xfrm>
            <a:off x="7262946" y="3429000"/>
            <a:ext cx="1568992" cy="545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反馈位置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480D843-D198-783A-7D68-AACA7F6B47F3}"/>
              </a:ext>
            </a:extLst>
          </p:cNvPr>
          <p:cNvGrpSpPr/>
          <p:nvPr/>
        </p:nvGrpSpPr>
        <p:grpSpPr>
          <a:xfrm>
            <a:off x="7407362" y="2314051"/>
            <a:ext cx="217714" cy="219767"/>
            <a:chOff x="7741427" y="2187886"/>
            <a:chExt cx="217714" cy="219767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7FE92FA-6917-E0AA-6377-07307A53F28C}"/>
                </a:ext>
              </a:extLst>
            </p:cNvPr>
            <p:cNvSpPr/>
            <p:nvPr/>
          </p:nvSpPr>
          <p:spPr>
            <a:xfrm>
              <a:off x="7741427" y="2187886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8162F3E-4E16-00E1-E83B-B59B959E2088}"/>
                </a:ext>
              </a:extLst>
            </p:cNvPr>
            <p:cNvCxnSpPr>
              <a:stCxn id="27" idx="1"/>
              <a:endCxn id="27" idx="5"/>
            </p:cNvCxnSpPr>
            <p:nvPr/>
          </p:nvCxnSpPr>
          <p:spPr>
            <a:xfrm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640071B-E9C4-F1F3-AC11-639735903AF7}"/>
                </a:ext>
              </a:extLst>
            </p:cNvPr>
            <p:cNvCxnSpPr>
              <a:cxnSpLocks/>
              <a:stCxn id="27" idx="3"/>
              <a:endCxn id="27" idx="7"/>
            </p:cNvCxnSpPr>
            <p:nvPr/>
          </p:nvCxnSpPr>
          <p:spPr>
            <a:xfrm flipV="1"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7DE698E-B46D-5B09-E3DF-CD250297C016}"/>
              </a:ext>
            </a:extLst>
          </p:cNvPr>
          <p:cNvCxnSpPr>
            <a:stCxn id="10" idx="3"/>
          </p:cNvCxnSpPr>
          <p:nvPr/>
        </p:nvCxnSpPr>
        <p:spPr>
          <a:xfrm>
            <a:off x="7113449" y="2415616"/>
            <a:ext cx="271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7AEF81C-F842-D088-896E-9F80F265CA24}"/>
              </a:ext>
            </a:extLst>
          </p:cNvPr>
          <p:cNvCxnSpPr>
            <a:stCxn id="27" idx="6"/>
            <a:endCxn id="13" idx="1"/>
          </p:cNvCxnSpPr>
          <p:nvPr/>
        </p:nvCxnSpPr>
        <p:spPr>
          <a:xfrm>
            <a:off x="7625076" y="2423935"/>
            <a:ext cx="293913" cy="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5F1AAED-EA58-1FBE-DBC5-AC63359E17A4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9186086" y="2425622"/>
            <a:ext cx="154579" cy="3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ED1D74A-D555-05BE-70FF-E02773086DE5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10705010" y="2426502"/>
            <a:ext cx="116114" cy="2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963D11F-E473-A5B5-2DE2-EFC93D33C0D1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rot="5400000">
            <a:off x="10647030" y="2807866"/>
            <a:ext cx="729916" cy="5123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D405042E-B1EB-244A-F5F9-B4D39A024F38}"/>
              </a:ext>
            </a:extLst>
          </p:cNvPr>
          <p:cNvCxnSpPr>
            <a:stCxn id="23" idx="1"/>
            <a:endCxn id="24" idx="3"/>
          </p:cNvCxnSpPr>
          <p:nvPr/>
        </p:nvCxnSpPr>
        <p:spPr>
          <a:xfrm flipH="1">
            <a:off x="9781176" y="3701582"/>
            <a:ext cx="1901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900D63E-DFBC-1D64-DFB9-5AF57C82274F}"/>
              </a:ext>
            </a:extLst>
          </p:cNvPr>
          <p:cNvCxnSpPr>
            <a:stCxn id="24" idx="1"/>
            <a:endCxn id="25" idx="3"/>
          </p:cNvCxnSpPr>
          <p:nvPr/>
        </p:nvCxnSpPr>
        <p:spPr>
          <a:xfrm flipH="1">
            <a:off x="8831938" y="3701582"/>
            <a:ext cx="1494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B9800505-5CE5-BF11-7C34-47EDB799A912}"/>
              </a:ext>
            </a:extLst>
          </p:cNvPr>
          <p:cNvCxnSpPr>
            <a:stCxn id="25" idx="0"/>
            <a:endCxn id="27" idx="4"/>
          </p:cNvCxnSpPr>
          <p:nvPr/>
        </p:nvCxnSpPr>
        <p:spPr>
          <a:xfrm rot="16200000" flipV="1">
            <a:off x="7334240" y="2715797"/>
            <a:ext cx="895182" cy="5312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AutoShape 11">
            <a:extLst>
              <a:ext uri="{FF2B5EF4-FFF2-40B4-BE49-F238E27FC236}">
                <a16:creationId xmlns:a16="http://schemas.microsoft.com/office/drawing/2014/main" id="{1CB123B8-263A-7461-F9EB-B23F539B3AFF}"/>
              </a:ext>
            </a:extLst>
          </p:cNvPr>
          <p:cNvSpPr/>
          <p:nvPr/>
        </p:nvSpPr>
        <p:spPr>
          <a:xfrm>
            <a:off x="8147601" y="2938116"/>
            <a:ext cx="1823714" cy="2197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编码器读数和角度的换算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11">
            <a:extLst>
              <a:ext uri="{FF2B5EF4-FFF2-40B4-BE49-F238E27FC236}">
                <a16:creationId xmlns:a16="http://schemas.microsoft.com/office/drawing/2014/main" id="{ADCFABF5-0CDD-2DD2-0AB1-EE7F42E58F36}"/>
              </a:ext>
            </a:extLst>
          </p:cNvPr>
          <p:cNvSpPr/>
          <p:nvPr/>
        </p:nvSpPr>
        <p:spPr>
          <a:xfrm>
            <a:off x="8673737" y="4043955"/>
            <a:ext cx="799742" cy="3377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实际位置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DCC99F6-0EF2-7CB3-907F-7F40DB0AEE55}"/>
              </a:ext>
            </a:extLst>
          </p:cNvPr>
          <p:cNvSpPr txBox="1"/>
          <p:nvPr/>
        </p:nvSpPr>
        <p:spPr>
          <a:xfrm>
            <a:off x="5704114" y="4691027"/>
            <a:ext cx="6165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实际应用位置环计算输出速度指令，本章使用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（简化教学）</a:t>
            </a:r>
            <a:endParaRPr lang="zh-CN" altLang="en-US" sz="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559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sz="3600" b="1">
                <a:solidFill>
                  <a:srgbClr val="FF0000"/>
                </a:solidFill>
                <a:latin typeface="Noto Sans SC"/>
              </a:rPr>
              <a:t>单环位置控制架构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1887" y="1524000"/>
            <a:ext cx="6226628" cy="16764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solidFill>
                  <a:srgbClr val="FF0000"/>
                </a:solidFill>
                <a:latin typeface="Noto Sans SC"/>
              </a:rPr>
              <a:t>控制流程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5734594" cy="8019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1517"/>
              </a:lnSpc>
              <a:buNone/>
              <a:defRPr/>
            </a:pPr>
            <a:r>
              <a:rPr sz="1400" dirty="0" err="1">
                <a:latin typeface="Noto Sans SC"/>
              </a:rPr>
              <a:t>目标位置</a:t>
            </a:r>
            <a:r>
              <a:rPr sz="1400" dirty="0">
                <a:latin typeface="Noto Sans SC"/>
              </a:rPr>
              <a:t> -&gt; </a:t>
            </a:r>
            <a:r>
              <a:rPr sz="1400" dirty="0" err="1">
                <a:latin typeface="Noto Sans SC"/>
              </a:rPr>
              <a:t>误差计算</a:t>
            </a:r>
            <a:r>
              <a:rPr sz="1400" dirty="0">
                <a:latin typeface="Noto Sans SC"/>
              </a:rPr>
              <a:t> -&gt; </a:t>
            </a:r>
            <a:r>
              <a:rPr sz="1400" dirty="0" err="1">
                <a:latin typeface="Noto Sans SC"/>
              </a:rPr>
              <a:t>增量式PID</a:t>
            </a:r>
            <a:r>
              <a:rPr sz="1400" dirty="0">
                <a:latin typeface="Noto Sans SC"/>
              </a:rPr>
              <a:t>(D-on-Measurement) -&gt; </a:t>
            </a:r>
            <a:r>
              <a:rPr sz="1400" dirty="0" err="1">
                <a:latin typeface="Noto Sans SC"/>
              </a:rPr>
              <a:t>LPF滤波</a:t>
            </a:r>
            <a:r>
              <a:rPr sz="1400" dirty="0">
                <a:latin typeface="Noto Sans SC"/>
              </a:rPr>
              <a:t> -&gt; </a:t>
            </a:r>
            <a:r>
              <a:rPr sz="1400" dirty="0" err="1">
                <a:latin typeface="Noto Sans SC"/>
              </a:rPr>
              <a:t>PWM限幅</a:t>
            </a:r>
            <a:r>
              <a:rPr sz="1400" dirty="0">
                <a:latin typeface="Noto Sans SC"/>
              </a:rPr>
              <a:t> -&gt; </a:t>
            </a:r>
            <a:r>
              <a:rPr sz="1400" dirty="0" err="1">
                <a:latin typeface="Noto Sans SC"/>
              </a:rPr>
              <a:t>电机驱动</a:t>
            </a:r>
            <a:r>
              <a:rPr sz="1400" dirty="0">
                <a:latin typeface="Noto Sans SC"/>
              </a:rPr>
              <a:t> -&gt; </a:t>
            </a:r>
            <a:r>
              <a:rPr sz="1400" dirty="0" err="1">
                <a:latin typeface="Noto Sans SC"/>
              </a:rPr>
              <a:t>编码器反馈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391887" y="3429000"/>
            <a:ext cx="6226626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58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sz="2000" b="1">
                <a:solidFill>
                  <a:srgbClr val="FF0000"/>
                </a:solidFill>
                <a:latin typeface="Noto Sans SC"/>
              </a:rPr>
              <a:t>各环节功能</a:t>
            </a:r>
            <a:endParaRPr lang="en-US" sz="1100">
              <a:solidFill>
                <a:srgbClr val="FF0000"/>
              </a:solidFill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1" y="4064000"/>
            <a:ext cx="5856512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ts val="1517"/>
              </a:lnSpc>
              <a:defRPr/>
            </a:pPr>
            <a:r>
              <a:rPr sz="1400" dirty="0" err="1">
                <a:latin typeface="Noto Sans SC"/>
              </a:rPr>
              <a:t>增量式PID：根据位置误差计算PWM输出</a:t>
            </a:r>
            <a:r>
              <a:rPr sz="1400" dirty="0">
                <a:latin typeface="Noto Sans SC"/>
              </a:rPr>
              <a:t>。</a:t>
            </a:r>
            <a:endParaRPr lang="en-US" sz="1400" dirty="0">
              <a:latin typeface="Noto Sans SC"/>
            </a:endParaRPr>
          </a:p>
          <a:p>
            <a:pPr>
              <a:lnSpc>
                <a:spcPts val="1517"/>
              </a:lnSpc>
              <a:defRPr/>
            </a:pPr>
            <a:r>
              <a:rPr sz="1400" dirty="0">
                <a:latin typeface="Noto Sans SC"/>
              </a:rPr>
              <a:t>LPF低通滤波：平滑PID输出，滤除高频噪声，滤波系数0.5。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83976" y="1524000"/>
            <a:ext cx="5268687" cy="3810000"/>
          </a:xfrm>
          <a:prstGeom prst="roundRect">
            <a:avLst>
              <a:gd name="adj" fmla="val 4347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457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ts val="1750"/>
              </a:lnSpc>
              <a:buNone/>
              <a:defRPr/>
            </a:pPr>
            <a:r>
              <a:rPr sz="1400">
                <a:solidFill>
                  <a:srgbClr val="FFFFFF"/>
                </a:solidFill>
                <a:latin typeface="Noto Sans SC"/>
              </a:rPr>
              <a:t>系统框图：单环位置控制架构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91887" y="5588000"/>
            <a:ext cx="11038113" cy="762000"/>
          </a:xfrm>
          <a:prstGeom prst="roundRect">
            <a:avLst>
              <a:gd name="adj" fmla="val 16666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" y="5816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5740400"/>
            <a:ext cx="977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400" b="1" dirty="0" err="1">
                <a:latin typeface="Noto Sans SC"/>
              </a:rPr>
              <a:t>核心优势：结构简洁，调试参数少（仅Kp</a:t>
            </a:r>
            <a:r>
              <a:rPr sz="1400" b="1" dirty="0">
                <a:latin typeface="Noto Sans SC"/>
              </a:rPr>
              <a:t>/Ki/</a:t>
            </a:r>
            <a:r>
              <a:rPr sz="1400" b="1" dirty="0" err="1">
                <a:latin typeface="Noto Sans SC"/>
              </a:rPr>
              <a:t>Kd三个</a:t>
            </a:r>
            <a:r>
              <a:rPr sz="1400" b="1" dirty="0">
                <a:latin typeface="Noto Sans SC"/>
              </a:rPr>
              <a:t>），适合嵌入式入门教学。控制周期50ms，CPU开销低。</a:t>
            </a:r>
            <a:endParaRPr lang="en-US" sz="105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5C67947-2183-8F06-7261-4A218E5B14E6}"/>
              </a:ext>
            </a:extLst>
          </p:cNvPr>
          <p:cNvSpPr/>
          <p:nvPr/>
        </p:nvSpPr>
        <p:spPr>
          <a:xfrm>
            <a:off x="9614313" y="2517729"/>
            <a:ext cx="746272" cy="5191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sz="1200">
                <a:latin typeface="微软雅黑"/>
              </a:rPr>
              <a:t>PWM</a:t>
            </a:r>
          </a:p>
          <a:p>
            <a:pPr marL="0" indent="0" algn="ctr">
              <a:buNone/>
            </a:pPr>
            <a:r>
              <a:rPr sz="1200">
                <a:latin typeface="微软雅黑"/>
              </a:rPr>
              <a:t>占空比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8B84113-D4CF-4FFD-75EA-4899A23B6F33}"/>
              </a:ext>
            </a:extLst>
          </p:cNvPr>
          <p:cNvSpPr/>
          <p:nvPr/>
        </p:nvSpPr>
        <p:spPr>
          <a:xfrm>
            <a:off x="7635809" y="2638813"/>
            <a:ext cx="708712" cy="2769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0000"/>
                </a:solidFill>
                <a:latin typeface="微软雅黑"/>
              </a:rPr>
              <a:t>位置环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B39BB40-01C0-50ED-1D06-E12022D327E7}"/>
              </a:ext>
            </a:extLst>
          </p:cNvPr>
          <p:cNvGrpSpPr/>
          <p:nvPr/>
        </p:nvGrpSpPr>
        <p:grpSpPr>
          <a:xfrm>
            <a:off x="7308077" y="2667425"/>
            <a:ext cx="217714" cy="219767"/>
            <a:chOff x="7741427" y="2187886"/>
            <a:chExt cx="217714" cy="219767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E52CA808-0ADE-B99E-584A-7C20117AF8C0}"/>
                </a:ext>
              </a:extLst>
            </p:cNvPr>
            <p:cNvSpPr/>
            <p:nvPr/>
          </p:nvSpPr>
          <p:spPr>
            <a:xfrm>
              <a:off x="7741427" y="2187886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36278D49-8644-0E02-F33B-B51A2054AC58}"/>
                </a:ext>
              </a:extLst>
            </p:cNvPr>
            <p:cNvCxnSpPr>
              <a:stCxn id="83" idx="1"/>
              <a:endCxn id="83" idx="5"/>
            </p:cNvCxnSpPr>
            <p:nvPr/>
          </p:nvCxnSpPr>
          <p:spPr>
            <a:xfrm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C1E34C0-6922-4674-F118-488938946B00}"/>
                </a:ext>
              </a:extLst>
            </p:cNvPr>
            <p:cNvCxnSpPr>
              <a:cxnSpLocks/>
              <a:stCxn id="83" idx="3"/>
              <a:endCxn id="83" idx="7"/>
            </p:cNvCxnSpPr>
            <p:nvPr/>
          </p:nvCxnSpPr>
          <p:spPr>
            <a:xfrm flipV="1"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A14BF631-2E26-FAFE-6680-0568CF6235F0}"/>
              </a:ext>
            </a:extLst>
          </p:cNvPr>
          <p:cNvCxnSpPr>
            <a:cxnSpLocks/>
            <a:stCxn id="93" idx="3"/>
            <a:endCxn id="83" idx="2"/>
          </p:cNvCxnSpPr>
          <p:nvPr/>
        </p:nvCxnSpPr>
        <p:spPr>
          <a:xfrm>
            <a:off x="7121543" y="2776452"/>
            <a:ext cx="186534" cy="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76695352-6AA8-09BD-3110-8EC0CE413D24}"/>
              </a:ext>
            </a:extLst>
          </p:cNvPr>
          <p:cNvSpPr/>
          <p:nvPr/>
        </p:nvSpPr>
        <p:spPr>
          <a:xfrm>
            <a:off x="9645472" y="3603252"/>
            <a:ext cx="972354" cy="3210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sz="1200">
                <a:latin typeface="微软雅黑"/>
              </a:rPr>
              <a:t>位置反馈</a:t>
            </a: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FCD041D7-7A3D-793B-0AFA-2C1AC80F77B2}"/>
              </a:ext>
            </a:extLst>
          </p:cNvPr>
          <p:cNvCxnSpPr>
            <a:cxnSpLocks/>
            <a:stCxn id="80" idx="3"/>
            <a:endCxn id="95" idx="1"/>
          </p:cNvCxnSpPr>
          <p:nvPr/>
        </p:nvCxnSpPr>
        <p:spPr>
          <a:xfrm>
            <a:off x="10360585" y="2777308"/>
            <a:ext cx="129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9313E101-7314-3440-F477-3131FD3D9E34}"/>
              </a:ext>
            </a:extLst>
          </p:cNvPr>
          <p:cNvCxnSpPr>
            <a:cxnSpLocks/>
            <a:stCxn id="87" idx="1"/>
            <a:endCxn id="83" idx="4"/>
          </p:cNvCxnSpPr>
          <p:nvPr/>
        </p:nvCxnSpPr>
        <p:spPr>
          <a:xfrm rot="10800000">
            <a:off x="7416934" y="2887192"/>
            <a:ext cx="2228538" cy="8765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47AF3C9A-6412-0CED-17CD-2450C43B89E2}"/>
              </a:ext>
            </a:extLst>
          </p:cNvPr>
          <p:cNvCxnSpPr>
            <a:cxnSpLocks/>
            <a:stCxn id="83" idx="6"/>
            <a:endCxn id="81" idx="1"/>
          </p:cNvCxnSpPr>
          <p:nvPr/>
        </p:nvCxnSpPr>
        <p:spPr>
          <a:xfrm flipV="1">
            <a:off x="7525791" y="2777308"/>
            <a:ext cx="11001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E9A2AA72-3BF8-AFA9-2F3C-B30A3186DB56}"/>
              </a:ext>
            </a:extLst>
          </p:cNvPr>
          <p:cNvCxnSpPr>
            <a:cxnSpLocks/>
            <a:stCxn id="81" idx="3"/>
            <a:endCxn id="98" idx="1"/>
          </p:cNvCxnSpPr>
          <p:nvPr/>
        </p:nvCxnSpPr>
        <p:spPr>
          <a:xfrm>
            <a:off x="8344521" y="2777308"/>
            <a:ext cx="1723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C5829047-A0DA-D57B-C4C8-C0D0D078B7F3}"/>
              </a:ext>
            </a:extLst>
          </p:cNvPr>
          <p:cNvCxnSpPr>
            <a:cxnSpLocks/>
            <a:stCxn id="94" idx="4"/>
            <a:endCxn id="87" idx="3"/>
          </p:cNvCxnSpPr>
          <p:nvPr/>
        </p:nvCxnSpPr>
        <p:spPr>
          <a:xfrm rot="5400000">
            <a:off x="10755908" y="2898820"/>
            <a:ext cx="726874" cy="10030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5AD9CC01-2FE9-AE66-90B4-4C210051A7F9}"/>
              </a:ext>
            </a:extLst>
          </p:cNvPr>
          <p:cNvSpPr txBox="1"/>
          <p:nvPr/>
        </p:nvSpPr>
        <p:spPr>
          <a:xfrm>
            <a:off x="6766559" y="2360953"/>
            <a:ext cx="354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1200">
                <a:latin typeface="微软雅黑"/>
              </a:rPr>
              <a:t>目标位置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9C252FFE-250B-EFE4-8116-1CB76C570B32}"/>
              </a:ext>
            </a:extLst>
          </p:cNvPr>
          <p:cNvSpPr/>
          <p:nvPr/>
        </p:nvSpPr>
        <p:spPr>
          <a:xfrm>
            <a:off x="11343767" y="2517714"/>
            <a:ext cx="554194" cy="5191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sz="1200"/>
              <a:t>电机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304CCD0-1C90-28B8-943E-C5FA559EF0E3}"/>
              </a:ext>
            </a:extLst>
          </p:cNvPr>
          <p:cNvSpPr/>
          <p:nvPr/>
        </p:nvSpPr>
        <p:spPr>
          <a:xfrm>
            <a:off x="10489798" y="2638809"/>
            <a:ext cx="711638" cy="276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sz="1200">
                <a:latin typeface="微软雅黑"/>
              </a:rPr>
              <a:t>驱动板</a:t>
            </a: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98F7E571-7059-6CF3-E36D-D6D04023FBCC}"/>
              </a:ext>
            </a:extLst>
          </p:cNvPr>
          <p:cNvCxnSpPr>
            <a:cxnSpLocks/>
            <a:stCxn id="95" idx="3"/>
            <a:endCxn id="94" idx="2"/>
          </p:cNvCxnSpPr>
          <p:nvPr/>
        </p:nvCxnSpPr>
        <p:spPr>
          <a:xfrm>
            <a:off x="11201436" y="2777308"/>
            <a:ext cx="1423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1E3B4FDD-2C62-AB6D-0FF6-CD1F781C23DD}"/>
              </a:ext>
            </a:extLst>
          </p:cNvPr>
          <p:cNvCxnSpPr>
            <a:cxnSpLocks/>
            <a:stCxn id="98" idx="3"/>
            <a:endCxn id="80" idx="1"/>
          </p:cNvCxnSpPr>
          <p:nvPr/>
        </p:nvCxnSpPr>
        <p:spPr>
          <a:xfrm>
            <a:off x="9460537" y="2777308"/>
            <a:ext cx="153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0089D528-DD6C-BB52-2DBF-3FB22374327B}"/>
              </a:ext>
            </a:extLst>
          </p:cNvPr>
          <p:cNvSpPr/>
          <p:nvPr/>
        </p:nvSpPr>
        <p:spPr>
          <a:xfrm>
            <a:off x="8516906" y="2638812"/>
            <a:ext cx="943631" cy="2769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0000"/>
                </a:solidFill>
                <a:latin typeface="微软雅黑"/>
              </a:rPr>
              <a:t>PID + LPF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2F5E2D-BF86-B4BE-0B61-4A8F09AAF931}"/>
              </a:ext>
            </a:extLst>
          </p:cNvPr>
          <p:cNvSpPr txBox="1"/>
          <p:nvPr/>
        </p:nvSpPr>
        <p:spPr>
          <a:xfrm>
            <a:off x="6906602" y="4394802"/>
            <a:ext cx="3673775" cy="33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lang="zh-CN" altLang="en-US" sz="1600" b="1" dirty="0">
                <a:latin typeface="Noto Sans SC"/>
              </a:rPr>
              <a:t>低通滤波（</a:t>
            </a:r>
            <a:r>
              <a:rPr lang="en-US" altLang="zh-CN" sz="1600" b="1" dirty="0">
                <a:latin typeface="Noto Sans SC"/>
              </a:rPr>
              <a:t>Low Pass Filter</a:t>
            </a:r>
            <a:r>
              <a:rPr lang="zh-CN" altLang="en-US" sz="1600" b="1" dirty="0">
                <a:latin typeface="Noto Sans SC"/>
              </a:rPr>
              <a:t>， </a:t>
            </a:r>
            <a:r>
              <a:rPr lang="en-US" altLang="zh-CN" sz="1600" b="1" dirty="0">
                <a:latin typeface="Noto Sans SC"/>
              </a:rPr>
              <a:t>LPF</a:t>
            </a:r>
            <a:r>
              <a:rPr lang="zh-CN" altLang="en-US" sz="1600" b="1" dirty="0">
                <a:latin typeface="Noto Sans SC"/>
              </a:rPr>
              <a:t>）</a:t>
            </a:r>
            <a:endParaRPr lang="zh-CN" altLang="en-US" sz="11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01139D-F550-4B24-D087-9212D076A576}"/>
              </a:ext>
            </a:extLst>
          </p:cNvPr>
          <p:cNvSpPr txBox="1"/>
          <p:nvPr/>
        </p:nvSpPr>
        <p:spPr>
          <a:xfrm>
            <a:off x="6988627" y="4835288"/>
            <a:ext cx="4909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0" i="0" dirty="0">
                <a:solidFill>
                  <a:srgbClr val="1A1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200" b="0" i="0" dirty="0">
                <a:solidFill>
                  <a:srgbClr val="1A1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lang="zh-CN" altLang="zh-CN" sz="1200" b="0" i="0" dirty="0">
                <a:solidFill>
                  <a:srgbClr val="1A1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200" b="0" i="0" dirty="0">
                <a:solidFill>
                  <a:srgbClr val="1A1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200" b="0" i="0" dirty="0">
                <a:solidFill>
                  <a:srgbClr val="1A1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200" b="0" i="0" dirty="0">
                <a:solidFill>
                  <a:srgbClr val="1A1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占空比</a:t>
            </a:r>
            <a:r>
              <a:rPr lang="zh-CN" altLang="zh-CN" sz="1200" b="0" i="0" dirty="0">
                <a:solidFill>
                  <a:srgbClr val="1A1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每帧可能跳变，LPF 取新旧各一半做平滑，避免 PWM 高频抖动导致电机啸叫和发热。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AA21-5750-D191-A6F0-F03C5BB0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9BDA9A87-FD89-4EE2-C03D-4D68CF99956A}"/>
              </a:ext>
            </a:extLst>
          </p:cNvPr>
          <p:cNvSpPr/>
          <p:nvPr/>
        </p:nvSpPr>
        <p:spPr>
          <a:xfrm>
            <a:off x="762000" y="508000"/>
            <a:ext cx="5537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sz="3600" b="1">
                <a:solidFill>
                  <a:srgbClr val="FF0000"/>
                </a:solidFill>
                <a:latin typeface="Noto Sans SC"/>
              </a:rPr>
              <a:t>位置PID的核心参数作用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1898CE6-1AA3-5455-2D6F-9E894FB6FE73}"/>
              </a:ext>
            </a:extLst>
          </p:cNvPr>
          <p:cNvSpPr/>
          <p:nvPr/>
        </p:nvSpPr>
        <p:spPr>
          <a:xfrm>
            <a:off x="762000" y="1650999"/>
            <a:ext cx="3302000" cy="4061823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chemeClr val="tx1">
                <a:lumMod val="95000"/>
                <a:lumOff val="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1467F13-BE19-B51D-7CDC-C695CA54E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06600" y="1905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42B9457D-E608-6AD8-33ED-8C724F5689D0}"/>
              </a:ext>
            </a:extLst>
          </p:cNvPr>
          <p:cNvSpPr/>
          <p:nvPr/>
        </p:nvSpPr>
        <p:spPr>
          <a:xfrm>
            <a:off x="889000" y="2844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ts val="2750"/>
              </a:lnSpc>
              <a:buNone/>
              <a:defRPr/>
            </a:pPr>
            <a:r>
              <a:rPr sz="2200" b="1">
                <a:latin typeface="Noto Sans SC"/>
              </a:rPr>
              <a:t>比例 P</a:t>
            </a:r>
            <a:endParaRPr lang="en-US"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3BABC68-6B58-DC48-C6CF-F83318633CE7}"/>
              </a:ext>
            </a:extLst>
          </p:cNvPr>
          <p:cNvSpPr/>
          <p:nvPr/>
        </p:nvSpPr>
        <p:spPr>
          <a:xfrm>
            <a:off x="1016000" y="3441339"/>
            <a:ext cx="2794000" cy="2158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ts val="1950"/>
              </a:lnSpc>
              <a:buNone/>
              <a:defRPr/>
            </a:pPr>
            <a:r>
              <a:rPr sz="1400" dirty="0" err="1">
                <a:latin typeface="Noto Sans SC"/>
              </a:rPr>
              <a:t>位置偏差越大→输出速度越高</a:t>
            </a:r>
            <a:r>
              <a:rPr sz="1400" dirty="0">
                <a:latin typeface="Noto Sans SC"/>
              </a:rPr>
              <a:t>。</a:t>
            </a:r>
            <a:endParaRPr lang="en-US" sz="1400" dirty="0">
              <a:latin typeface="Noto Sans SC"/>
            </a:endParaRPr>
          </a:p>
          <a:p>
            <a:pPr marL="0" indent="0">
              <a:lnSpc>
                <a:spcPts val="1950"/>
              </a:lnSpc>
              <a:buNone/>
              <a:defRPr/>
            </a:pPr>
            <a:r>
              <a:rPr sz="1400" dirty="0" err="1">
                <a:latin typeface="Noto Sans SC"/>
              </a:rPr>
              <a:t>离目标远时快速靠近，离得近时自然减速</a:t>
            </a:r>
            <a:r>
              <a:rPr sz="1400" dirty="0">
                <a:latin typeface="Noto Sans SC"/>
              </a:rPr>
              <a:t>。</a:t>
            </a:r>
            <a:endParaRPr lang="en-US" sz="1000" dirty="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08D119F-A50F-0D9B-EA91-E16E1B4852AB}"/>
              </a:ext>
            </a:extLst>
          </p:cNvPr>
          <p:cNvSpPr/>
          <p:nvPr/>
        </p:nvSpPr>
        <p:spPr>
          <a:xfrm>
            <a:off x="4445000" y="1650999"/>
            <a:ext cx="3302000" cy="4061823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chemeClr val="tx1">
                <a:lumMod val="95000"/>
                <a:lumOff val="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E25A1865-F70B-D8D8-12FF-285916575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89600" y="1905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02FB43F6-B821-91B4-FCEA-E705568EF2FF}"/>
              </a:ext>
            </a:extLst>
          </p:cNvPr>
          <p:cNvSpPr/>
          <p:nvPr/>
        </p:nvSpPr>
        <p:spPr>
          <a:xfrm>
            <a:off x="4572000" y="2844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ts val="2750"/>
              </a:lnSpc>
              <a:buNone/>
              <a:defRPr/>
            </a:pPr>
            <a:r>
              <a:rPr sz="2200" b="1">
                <a:latin typeface="Noto Sans SC"/>
              </a:rPr>
              <a:t>积分 I</a:t>
            </a:r>
            <a:endParaRPr lang="en-US"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D33075D1-B492-B5B6-05C1-B7C08416E257}"/>
              </a:ext>
            </a:extLst>
          </p:cNvPr>
          <p:cNvSpPr/>
          <p:nvPr/>
        </p:nvSpPr>
        <p:spPr>
          <a:xfrm>
            <a:off x="4699000" y="3441339"/>
            <a:ext cx="2794000" cy="2158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ts val="1950"/>
              </a:lnSpc>
              <a:buNone/>
              <a:defRPr/>
            </a:pPr>
            <a:r>
              <a:rPr lang="zh-CN" altLang="en-US" sz="1400" dirty="0">
                <a:latin typeface="Noto Sans SC"/>
              </a:rPr>
              <a:t>把历史误差累积起来，</a:t>
            </a:r>
            <a:r>
              <a:rPr sz="1400" dirty="0" err="1">
                <a:latin typeface="Noto Sans SC"/>
              </a:rPr>
              <a:t>辅助消除稳态偏差</a:t>
            </a:r>
            <a:endParaRPr lang="en-US" sz="1000" dirty="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3FE5E66-13B5-38FB-A1E8-62A86E19A3F1}"/>
              </a:ext>
            </a:extLst>
          </p:cNvPr>
          <p:cNvSpPr/>
          <p:nvPr/>
        </p:nvSpPr>
        <p:spPr>
          <a:xfrm>
            <a:off x="8128000" y="1650999"/>
            <a:ext cx="3302000" cy="4061823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chemeClr val="tx1">
                <a:lumMod val="95000"/>
                <a:lumOff val="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CCC33D73-AA1A-E80C-2A6D-D001DBC7B8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372600" y="1905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C4B332AC-1DE4-5C06-518A-1FDFDB8B437D}"/>
              </a:ext>
            </a:extLst>
          </p:cNvPr>
          <p:cNvSpPr/>
          <p:nvPr/>
        </p:nvSpPr>
        <p:spPr>
          <a:xfrm>
            <a:off x="8255000" y="2844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ts val="2750"/>
              </a:lnSpc>
              <a:buNone/>
              <a:defRPr/>
            </a:pPr>
            <a:r>
              <a:rPr sz="2200" b="1">
                <a:latin typeface="Noto Sans SC"/>
              </a:rPr>
              <a:t>微分 D</a:t>
            </a:r>
            <a:endParaRPr lang="en-US"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22BC4594-9919-9E9D-5042-066A38607F89}"/>
              </a:ext>
            </a:extLst>
          </p:cNvPr>
          <p:cNvSpPr/>
          <p:nvPr/>
        </p:nvSpPr>
        <p:spPr>
          <a:xfrm>
            <a:off x="8382000" y="3441339"/>
            <a:ext cx="2794000" cy="21582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ts val="1950"/>
              </a:lnSpc>
              <a:buNone/>
              <a:defRPr/>
            </a:pPr>
            <a:r>
              <a:rPr sz="1400" dirty="0" err="1">
                <a:latin typeface="Noto Sans SC"/>
              </a:rPr>
              <a:t>抑制超调和振荡</a:t>
            </a:r>
            <a:r>
              <a:rPr sz="1400" dirty="0">
                <a:latin typeface="Noto Sans SC"/>
              </a:rPr>
              <a:t>。</a:t>
            </a:r>
            <a:br>
              <a:rPr lang="en-US" sz="1400" dirty="0">
                <a:latin typeface="Noto Sans SC"/>
              </a:rPr>
            </a:br>
            <a:r>
              <a:rPr lang="zh-CN" altLang="en-US" sz="1400" dirty="0">
                <a:latin typeface="Noto Sans SC"/>
              </a:rPr>
              <a:t>看</a:t>
            </a:r>
            <a:r>
              <a:rPr lang="en-US" altLang="zh-CN" sz="1400" dirty="0">
                <a:latin typeface="Noto Sans SC"/>
              </a:rPr>
              <a:t>"</a:t>
            </a:r>
            <a:r>
              <a:rPr lang="zh-CN" altLang="en-US" sz="1400" dirty="0">
                <a:latin typeface="Noto Sans SC"/>
              </a:rPr>
              <a:t>变化速度</a:t>
            </a:r>
            <a:r>
              <a:rPr lang="en-US" altLang="zh-CN" sz="1400" dirty="0">
                <a:latin typeface="Noto Sans SC"/>
              </a:rPr>
              <a:t>"</a:t>
            </a:r>
            <a:r>
              <a:rPr lang="zh-CN" altLang="en-US" sz="1400" dirty="0">
                <a:latin typeface="Noto Sans SC"/>
              </a:rPr>
              <a:t>。快到达时还在猛冲？</a:t>
            </a:r>
            <a:r>
              <a:rPr lang="en-US" altLang="zh-CN" sz="1400" dirty="0">
                <a:latin typeface="Noto Sans SC"/>
              </a:rPr>
              <a:t>D </a:t>
            </a:r>
            <a:r>
              <a:rPr lang="zh-CN" altLang="en-US" sz="1400" dirty="0">
                <a:latin typeface="Noto Sans SC"/>
              </a:rPr>
              <a:t>提前踩刹车。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079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1999" y="508000"/>
            <a:ext cx="11133909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sz="3600" b="1" dirty="0" err="1">
                <a:solidFill>
                  <a:srgbClr val="FF0000"/>
                </a:solidFill>
                <a:latin typeface="Noto Sans SC"/>
              </a:rPr>
              <a:t>梯形速度规划（一</a:t>
            </a:r>
            <a:r>
              <a:rPr sz="3600" b="1" dirty="0">
                <a:solidFill>
                  <a:srgbClr val="FF0000"/>
                </a:solidFill>
                <a:latin typeface="Noto Sans SC"/>
              </a:rPr>
              <a:t>） </a:t>
            </a:r>
            <a:r>
              <a:rPr sz="2000" b="1" dirty="0">
                <a:solidFill>
                  <a:srgbClr val="FF0000"/>
                </a:solidFill>
                <a:latin typeface="Noto Sans SC"/>
              </a:rPr>
              <a:t>—— </a:t>
            </a:r>
            <a:r>
              <a:rPr sz="2000" b="1" dirty="0" err="1">
                <a:solidFill>
                  <a:srgbClr val="FF0000"/>
                </a:solidFill>
                <a:latin typeface="Noto Sans SC"/>
              </a:rPr>
              <a:t>速度曲线积分生成位置目标，喂给位置PID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397000" y="1524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为什么需要速度规划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97000" y="1905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大角度定位时，PID面对巨大偏差瞬间输出离谱速度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系统超调、振荡，甚至撞击机械限位。纯PID定位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踩死油门冲终点，到了才急刹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397000" y="2857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梯形曲线结构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397000" y="3238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三段式速度曲线：加速段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(v↑)→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匀速段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(v=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v_max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)→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减速段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(v→0)。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如同汽车先加速到巡航速度，临近终点再线性刹停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397000" y="4191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核心公式 s_dec = v_max² / (2 · a_max)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397000" y="4572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加速距离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s_acc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v_max²/(2·a_max)，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减速距离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s_dec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s_acc。当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剩余距离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≤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s_dec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时，即刻从匀速段切换至减速段。算错刹车点：要么冲过头，要么提前蠕动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975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75360" y="5524500"/>
            <a:ext cx="48666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000"/>
              </a:lnSpc>
              <a:buNone/>
              <a:defRPr/>
            </a:pPr>
            <a:r>
              <a:rPr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核心结论：</a:t>
            </a:r>
            <a:r>
              <a:rPr sz="11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梯形规划生成平滑的中间位置目标序列，PID逐帧追踪小步目标，从根本上避免了超调和振荡。轨迹是"领航员"，PID是"驾驶员"。</a:t>
            </a:r>
            <a:r>
              <a:rPr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09360" y="1397000"/>
            <a:ext cx="5196840" cy="473202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2700000" algn="tl" rotWithShape="0">
              <a:srgbClr val="00FF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620522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ts val="1750"/>
              </a:lnSpc>
              <a:buNone/>
              <a:defRPr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图：梯形速度规划</a:t>
            </a:r>
            <a:r>
              <a:rPr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(蓝) vs </a:t>
            </a:r>
            <a:r>
              <a:rPr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纯PID</a:t>
            </a:r>
            <a:r>
              <a:rPr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(红) —— </a:t>
            </a:r>
            <a:r>
              <a:rPr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速度曲线与位置响应对比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21" descr="trap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1558100"/>
            <a:ext cx="5029200" cy="440981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006ED00-4BFC-97AE-9039-2A6614D516C3}"/>
              </a:ext>
            </a:extLst>
          </p:cNvPr>
          <p:cNvSpPr txBox="1"/>
          <p:nvPr/>
        </p:nvSpPr>
        <p:spPr>
          <a:xfrm>
            <a:off x="853440" y="62865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可以类比老司机开汽车的例子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955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sz="3600" b="1" dirty="0" err="1">
                <a:solidFill>
                  <a:srgbClr val="FF0000"/>
                </a:solidFill>
                <a:latin typeface="Noto Sans SC"/>
              </a:rPr>
              <a:t>梯形速度规划（二</a:t>
            </a:r>
            <a:r>
              <a:rPr sz="3600" b="1" dirty="0">
                <a:solidFill>
                  <a:srgbClr val="FF0000"/>
                </a:solidFill>
                <a:latin typeface="Noto Sans SC"/>
              </a:rPr>
              <a:t>）</a:t>
            </a:r>
            <a:r>
              <a:rPr sz="2000" b="1" dirty="0">
                <a:solidFill>
                  <a:srgbClr val="FF0000"/>
                </a:solidFill>
                <a:latin typeface="Noto Sans SC"/>
              </a:rPr>
              <a:t> —— </a:t>
            </a:r>
            <a:r>
              <a:rPr sz="2000" b="1" dirty="0" err="1">
                <a:solidFill>
                  <a:srgbClr val="FF0000"/>
                </a:solidFill>
                <a:latin typeface="Noto Sans SC"/>
              </a:rPr>
              <a:t>轨迹生成器：位置步进，PID逐帧追踪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1999" y="1524000"/>
            <a:ext cx="10158549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0999" y="1651000"/>
            <a:ext cx="9182464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sz="1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状态机：五阶段流转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750"/>
              </a:lnSpc>
              <a:buNone/>
            </a:pP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IDLE(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等待指令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→ ACCEL(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匀加速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→ CONST_VEL(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匀速巡航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→ DECEL(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匀减速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→ DONE(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到位停止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750"/>
              </a:lnSpc>
              <a:buNone/>
            </a:pP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每个控制周期检查剩余距离，决定是否切换状态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1999" y="2857500"/>
            <a:ext cx="10158549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0999" y="2984500"/>
            <a:ext cx="9182464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sz="1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各段参数计算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75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有三个参数决定了加速、匀速、减速这三个阶段的激进或者保守程度。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75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最大速度、加速度、目标位置</a:t>
            </a:r>
            <a:endParaRPr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1999" y="4191000"/>
            <a:ext cx="10158549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0999" y="4318000"/>
            <a:ext cx="9182464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sz="1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特例：三角曲线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1750"/>
              </a:lnSpc>
              <a:buNone/>
            </a:pP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v_max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无法达到，曲线退化为三角形（加速→立即减速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)，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无匀速段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370217" y="4191000"/>
            <a:ext cx="8217264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sz="105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轨迹生成器在每个控制周期计算期望速度</a:t>
            </a:r>
            <a:r>
              <a:rPr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05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cur_setpoint，作为位置PID的追逐目标。PID只需追一帧的小步位移，而非大跨越的整体目标。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FFF">
                  <a:alpha val="100000"/>
                </a:srgbClr>
              </a:gs>
              <a:gs pos="100000">
                <a:srgbClr val="00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3C9DABE-EABA-2F62-4BBD-7BEF70F9D4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5920" y="2296332"/>
            <a:ext cx="2926080" cy="1056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8800"/>
              </a:lnSpc>
              <a:buNone/>
            </a:pPr>
            <a:r>
              <a:rPr sz="8000">
                <a:latin typeface="Source Han Sans CN Regular"/>
              </a:rPr>
              <a:t>2026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6240"/>
              </a:lnSpc>
              <a:buNone/>
            </a:pPr>
            <a:r>
              <a:rPr sz="4800">
                <a:solidFill>
                  <a:srgbClr val="FFFFFF"/>
                </a:solidFill>
                <a:latin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marL="0" indent="0" algn="ctr">
              <a:lnSpc>
                <a:spcPts val="1320"/>
              </a:lnSpc>
              <a:buNone/>
            </a:pPr>
            <a:r>
              <a:rPr sz="1200">
                <a:solidFill>
                  <a:srgbClr val="404040"/>
                </a:solidFill>
                <a:latin typeface="Source Han Sans"/>
              </a:rPr>
              <a:t>高博士_嵌入式</a:t>
            </a:r>
            <a:endParaRPr kumimoji="1" lang="zh-CN" altLang="en-US" dirty="0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sz="1600">
                <a:solidFill>
                  <a:srgbClr val="000000"/>
                </a:solidFill>
                <a:latin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sz="1600">
                <a:solidFill>
                  <a:srgbClr val="000000"/>
                </a:solidFill>
                <a:latin typeface="Source Han Sans"/>
              </a:rPr>
              <a:t>2026.07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sz="1600">
                <a:solidFill>
                  <a:srgbClr val="FFFFFF"/>
                </a:solidFill>
                <a:latin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sz="1600">
                <a:solidFill>
                  <a:srgbClr val="FFFFFF"/>
                </a:solidFill>
                <a:latin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8535</TotalTime>
  <Words>935</Words>
  <Application>Microsoft Office PowerPoint</Application>
  <PresentationFormat>宽屏</PresentationFormat>
  <Paragraphs>132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Noto Sans SC</vt:lpstr>
      <vt:lpstr>Source Han Sans</vt:lpstr>
      <vt:lpstr>Source Han Sans CN Regular</vt:lpstr>
      <vt:lpstr>等线</vt:lpstr>
      <vt:lpstr>微软雅黑</vt:lpstr>
      <vt:lpstr>Arial</vt:lpstr>
      <vt:lpstr>Calibri</vt:lpstr>
      <vt:lpstr>Calibri Light</vt:lpstr>
      <vt:lpstr>Poppins</vt:lpstr>
      <vt:lpstr>Office 主题​​</vt:lpstr>
      <vt:lpstr>PowerPoint 演示文稿</vt:lpstr>
      <vt:lpstr>PowerPoint 演示文稿</vt:lpstr>
      <vt:lpstr>【12-01】位置环控制理论基础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236</cp:revision>
  <dcterms:created xsi:type="dcterms:W3CDTF">2025-05-21T06:55:53Z</dcterms:created>
  <dcterms:modified xsi:type="dcterms:W3CDTF">2026-07-11T03:19:19Z</dcterms:modified>
</cp:coreProperties>
</file>