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54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899" y="1105149"/>
            <a:ext cx="46638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十二章   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位置环控制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34901" y="1714400"/>
            <a:ext cx="46638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[12-02]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34900" y="1940669"/>
            <a:ext cx="4663895" cy="78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20"/>
              </a:lnSpc>
              <a:spcAft>
                <a:spcPts val="800"/>
              </a:spcAft>
              <a:buNone/>
            </a:pPr>
            <a:r>
              <a:rPr lang="en-US" sz="3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单PID位置环代码实现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2248" y="0"/>
            <a:ext cx="3301752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149" y="3385195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6F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CHAPTER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149" y="3674070"/>
            <a:ext cx="2849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100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节：代码实现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149" y="4118471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淘宝店铺：GenBotter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802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271713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3901" y="2671763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位置环控制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38202" y="1351062"/>
            <a:ext cx="5570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90850" y="1951137"/>
            <a:ext cx="5708749" cy="18413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基于[12-01]位置环理论，完成增量式PID代码实现</a:t>
            </a:r>
            <a:endParaRPr lang="en-US" sz="1400" dirty="0"/>
          </a:p>
          <a:p>
            <a:pPr marL="127000" indent="-1270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掌握编码器反馈 → PID计算 → LPF滤波 → PWM输出的完整链路</a:t>
            </a:r>
            <a:endParaRPr lang="en-US" sz="1400" dirty="0"/>
          </a:p>
          <a:p>
            <a:pPr marL="127000" indent="-1270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理解死区、PWM限幅、最小启动占空比等工程优化手段</a:t>
            </a:r>
            <a:endParaRPr lang="en-US" sz="1400" dirty="0"/>
          </a:p>
          <a:p>
            <a:pPr marL="127000" indent="-127000" algn="l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为[12-03]梯形加减速规划做对比铺垫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闭环架构：单环位置PID直驱PWM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1429" y="2032248"/>
            <a:ext cx="749052" cy="450800"/>
          </a:xfrm>
          <a:prstGeom prst="roundRect">
            <a:avLst>
              <a:gd name="adj" fmla="val 14086"/>
            </a:avLst>
          </a:prstGeom>
          <a:solidFill>
            <a:srgbClr val="E8F0F8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59955" y="2127498"/>
            <a:ext cx="491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目标位置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59955" y="2292548"/>
            <a:ext cx="491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269331" y="215756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23381" y="2032248"/>
            <a:ext cx="783134" cy="450800"/>
          </a:xfrm>
          <a:prstGeom prst="roundRect">
            <a:avLst>
              <a:gd name="adj" fmla="val 14086"/>
            </a:avLst>
          </a:prstGeom>
          <a:solidFill>
            <a:srgbClr val="D4E6F1"/>
          </a:solidFill>
          <a:ln w="19050">
            <a:solidFill>
              <a:srgbClr val="1C3D5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51567" y="2127498"/>
            <a:ext cx="526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 误差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567" y="2292548"/>
            <a:ext cx="5267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target−actual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95365" y="215756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9414" y="2003673"/>
            <a:ext cx="747117" cy="507950"/>
          </a:xfrm>
          <a:prstGeom prst="roundRect">
            <a:avLst>
              <a:gd name="adj" fmla="val 12501"/>
            </a:avLst>
          </a:prstGeom>
          <a:solidFill>
            <a:srgbClr val="D4E6F1"/>
          </a:solidFill>
          <a:ln w="38100">
            <a:solidFill>
              <a:srgbClr val="1C3D5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97391" y="2117973"/>
            <a:ext cx="451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位置PID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97391" y="2283023"/>
            <a:ext cx="4511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 PD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85382" y="215756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9432" y="2032248"/>
            <a:ext cx="735657" cy="450800"/>
          </a:xfrm>
          <a:prstGeom prst="roundRect">
            <a:avLst>
              <a:gd name="adj" fmla="val 14086"/>
            </a:avLst>
          </a:prstGeom>
          <a:solidFill>
            <a:srgbClr val="E8F0F8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68092" y="2127498"/>
            <a:ext cx="478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LPF滤波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8092" y="2292548"/>
            <a:ext cx="4783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α=0.5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63939" y="215756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17989" y="2032248"/>
            <a:ext cx="802630" cy="450800"/>
          </a:xfrm>
          <a:prstGeom prst="roundRect">
            <a:avLst>
              <a:gd name="adj" fmla="val 14086"/>
            </a:avLst>
          </a:prstGeom>
          <a:solidFill>
            <a:srgbClr val="E8F0F8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45980" y="2127498"/>
            <a:ext cx="546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PWM限幅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5980" y="2292548"/>
            <a:ext cx="546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±50%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09470" y="2157561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63519" y="2032248"/>
            <a:ext cx="749052" cy="450800"/>
          </a:xfrm>
          <a:prstGeom prst="roundRect">
            <a:avLst>
              <a:gd name="adj" fmla="val 14086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92046" y="2127498"/>
            <a:ext cx="491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直流电机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92046" y="2292548"/>
            <a:ext cx="491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MC520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901976" y="2695575"/>
            <a:ext cx="820787" cy="469850"/>
          </a:xfrm>
          <a:prstGeom prst="roundRect">
            <a:avLst>
              <a:gd name="adj" fmla="val 13515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29785" y="2790825"/>
            <a:ext cx="565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9785" y="2955875"/>
            <a:ext cx="5651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11PPR×4倍频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 rot="10800000">
            <a:off x="4954714" y="2855862"/>
            <a:ext cx="165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5863" y="2695575"/>
            <a:ext cx="765721" cy="469850"/>
          </a:xfrm>
          <a:prstGeom prst="roundRect">
            <a:avLst>
              <a:gd name="adj" fmla="val 13515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24223" y="2790825"/>
            <a:ext cx="509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位置反馈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24223" y="2955875"/>
            <a:ext cx="509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1320 cnts/圈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 rot="10800000">
            <a:off x="6421902" y="2822624"/>
            <a:ext cx="165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34684" y="2705100"/>
            <a:ext cx="896392" cy="450800"/>
          </a:xfrm>
          <a:prstGeom prst="roundRect">
            <a:avLst>
              <a:gd name="adj" fmla="val 14086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61737" y="2800350"/>
            <a:ext cx="642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GetCount()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1737" y="2946350"/>
            <a:ext cx="6422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编码器读取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812838" y="2867025"/>
            <a:ext cx="997681" cy="196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负反馈回路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6480" y="3419326"/>
            <a:ext cx="6890891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150293" y="3419326"/>
            <a:ext cx="0" cy="269677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1055" y="3482727"/>
            <a:ext cx="67211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教学定位：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外环(位置)</a:t>
            </a:r>
            <a:r>
              <a:rPr lang="en-US" sz="85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直接输出PWM，不经过速度内环。故意不加内环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en-US" sz="85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纯位置PID</a:t>
            </a:r>
            <a:r>
              <a:rPr lang="zh-CN" alt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r>
              <a:rPr lang="en-US" sz="85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阶跃超调</a:t>
            </a:r>
            <a:r>
              <a:rPr lang="zh-CN" alt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023247E-8D8D-3627-469E-94376B489213}"/>
              </a:ext>
            </a:extLst>
          </p:cNvPr>
          <p:cNvSpPr txBox="1"/>
          <p:nvPr/>
        </p:nvSpPr>
        <p:spPr>
          <a:xfrm>
            <a:off x="7120978" y="2470964"/>
            <a:ext cx="896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</a:t>
            </a:r>
            <a:r>
              <a:rPr lang="en-US" altLang="zh-CN" sz="1000" dirty="0" err="1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输出轴</a:t>
            </a:r>
            <a:endParaRPr lang="en-US" altLang="zh-CN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81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软件分层架构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6975" y="1587698"/>
            <a:ext cx="4949280" cy="730298"/>
          </a:xfrm>
          <a:prstGeom prst="roundRect">
            <a:avLst>
              <a:gd name="adj" fmla="val 11322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453" y="1733699"/>
            <a:ext cx="4666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 Application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8453" y="1971824"/>
            <a:ext cx="4666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50" dirty="0">
                <a:solidFill>
                  <a:srgbClr val="935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 — 按键扫描、LCD显示、VOFA+串口上报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17450" y="2260699"/>
            <a:ext cx="4968329" cy="6539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6255" y="2260699"/>
            <a:ext cx="0" cy="653951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450" y="2905125"/>
            <a:ext cx="4968329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975" y="2260699"/>
            <a:ext cx="0" cy="653951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453" y="2387650"/>
            <a:ext cx="4666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控制层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453" y="2625775"/>
            <a:ext cx="4666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50" dirty="0">
                <a:solidFill>
                  <a:srgbClr val="1D6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pid.c / position_loop.c — PID算法、位置环状态机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7450" y="2914650"/>
            <a:ext cx="4968329" cy="625376"/>
          </a:xfrm>
          <a:prstGeom prst="rect">
            <a:avLst/>
          </a:prstGeom>
          <a:solidFill>
            <a:srgbClr val="D4E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6255" y="2914650"/>
            <a:ext cx="0" cy="625376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450" y="3530501"/>
            <a:ext cx="4968329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975" y="2914650"/>
            <a:ext cx="0" cy="625376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453" y="3041600"/>
            <a:ext cx="4666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5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板级驱动层 BSP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453" y="3279725"/>
            <a:ext cx="4666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5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bsp_encoder.c / bsp_brush_motor.c / bsp_lcd.c / bsp_key_led.c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7450" y="3540026"/>
            <a:ext cx="4968329" cy="653951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6255" y="3540026"/>
            <a:ext cx="0" cy="6539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450" y="4184452"/>
            <a:ext cx="4968329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975" y="3540026"/>
            <a:ext cx="0" cy="653951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453" y="3666976"/>
            <a:ext cx="4666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硬件抽象层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453" y="3905101"/>
            <a:ext cx="4666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stm32f4xx_hal_*.c — CubeMX 自动生成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14380" y="1978372"/>
            <a:ext cx="3378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14380" y="2317998"/>
            <a:ext cx="3312170" cy="9010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单向依赖：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上层调用下层，下层不知上层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参数集中：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user_config.h 统一定义所有可调参数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中断驱动：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PID计算在TIM6 ISR，main仅处理I/O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接口清晰：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每层通过 .h 暴露API，.c 隐藏实现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7734" y="3345954"/>
            <a:ext cx="3408816" cy="4572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44530" y="3345954"/>
            <a:ext cx="0" cy="45720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71327" y="3488828"/>
            <a:ext cx="34088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Control层不依赖BSP层具体实现，通过 BSP API 抽象硬件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81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工程文件结构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65125"/>
            <a:ext cx="421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085701"/>
            <a:ext cx="4127599" cy="3106638"/>
          </a:xfrm>
          <a:prstGeom prst="roundRect">
            <a:avLst>
              <a:gd name="adj" fmla="val 2453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9375" y="1222177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chap12_brush_motor_12/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9375" y="1399282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Core/Src/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9375" y="1576388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主循环 + TIM6 ISR + VOFA+串口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9375" y="1753493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Drivers/Control/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控制算法层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9375" y="1930598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pid.c / pid.h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双模PID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9375" y="2107704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position_loop.c / 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位置环控制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9375" y="2284809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user_config.h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参数集中配置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375" y="2461915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Drivers/BSP/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板级驱动层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375" y="2639020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bsp_encoder.c / 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编码器 + 速度差分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375" y="2816126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bsp_brush_motor.c / 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+ 方向控制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9375" y="2993231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bsp_lcd.c / 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LCD 显示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375" y="3170337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bsp_key_led.c / .h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按键 + 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375" y="3347442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MDK-ARM/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Keil工程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375" y="3524548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brush_motor_12.uvprojx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375" y="3701653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brush_motor_12.ioc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CubeMX配置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375" y="3878759"/>
            <a:ext cx="387982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项目文档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8950" y="765125"/>
            <a:ext cx="421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98950" y="1085701"/>
            <a:ext cx="4127599" cy="48250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18000" y="1085701"/>
            <a:ext cx="0" cy="482501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9551" y="1174552"/>
            <a:ext cx="3912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分层解耦：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Control层(算法)不依赖BSP层(硬件)的具体实现，通过 .h 接口抽象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1669703"/>
            <a:ext cx="4127599" cy="33010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18000" y="1669703"/>
            <a:ext cx="0" cy="330101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9551" y="1758553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参数集中：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所有可调参数在 user_config.h 中定义，修改参数不翻代码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8950" y="2101304"/>
            <a:ext cx="4127599" cy="46345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18000" y="2101304"/>
            <a:ext cx="0" cy="463451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9550" y="2234605"/>
            <a:ext cx="40666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中断驱动：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PID计算在 TIM6 ISR 中运行，main 循环仅处理按键+显示+VOFA+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8950" y="2666256"/>
            <a:ext cx="4127599" cy="33010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18000" y="2666256"/>
            <a:ext cx="0" cy="330101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9551" y="2755106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双模PID：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pid.c 同时支持位置式和增量式，通过 SetMode() 一键切换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3097857"/>
            <a:ext cx="4127599" cy="33010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18000" y="3097857"/>
            <a:ext cx="0" cy="330101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9551" y="3186708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接口最小化：</a:t>
            </a:r>
            <a:r>
              <a:rPr lang="en-US" sz="9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每个模块仅暴露必要的 API，内部实现对学生透明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增量式PID控制原理（D-on-Measurement）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162" y="527109"/>
            <a:ext cx="1954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</a:t>
            </a:r>
            <a:r>
              <a:rPr lang="en-US" sz="1400" b="1" dirty="0" err="1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PID信号流图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861" y="802035"/>
            <a:ext cx="4515052" cy="2316715"/>
          </a:xfrm>
          <a:prstGeom prst="roundRect">
            <a:avLst>
              <a:gd name="adj" fmla="val 3992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198" y="1366884"/>
            <a:ext cx="642491" cy="31744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3127" y="1446209"/>
            <a:ext cx="497565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439" y="142879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289" y="136688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5260" y="1433560"/>
            <a:ext cx="69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6652" y="1312933"/>
            <a:ext cx="539651" cy="26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e(k)</a:t>
            </a:r>
            <a:endParaRPr lang="en-US" sz="120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9EEE0AE-D9A9-1154-9708-7F99176DF18D}"/>
              </a:ext>
            </a:extLst>
          </p:cNvPr>
          <p:cNvGrpSpPr/>
          <p:nvPr/>
        </p:nvGrpSpPr>
        <p:grpSpPr>
          <a:xfrm>
            <a:off x="2015941" y="927930"/>
            <a:ext cx="1040988" cy="295349"/>
            <a:chOff x="462909" y="1125141"/>
            <a:chExt cx="1040988" cy="295349"/>
          </a:xfrm>
        </p:grpSpPr>
        <p:sp>
          <p:nvSpPr>
            <p:cNvPr id="14" name="Text 12"/>
            <p:cNvSpPr/>
            <p:nvPr/>
          </p:nvSpPr>
          <p:spPr>
            <a:xfrm>
              <a:off x="462909" y="1125141"/>
              <a:ext cx="1040988" cy="295349"/>
            </a:xfrm>
            <a:prstGeom prst="rect">
              <a:avLst/>
            </a:prstGeom>
            <a:solidFill>
              <a:srgbClr val="D4E6F1"/>
            </a:solidFill>
            <a:ln w="19050">
              <a:solidFill>
                <a:srgbClr val="2E86C1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43452" y="1178224"/>
              <a:ext cx="847821" cy="1666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 = Kp·Δe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2015941" y="1356237"/>
            <a:ext cx="1040988" cy="295349"/>
          </a:xfrm>
          <a:prstGeom prst="rect">
            <a:avLst/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90508" y="1414282"/>
            <a:ext cx="960445" cy="23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Ki·e(k)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5941" y="1798464"/>
            <a:ext cx="1040988" cy="295349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3500" y="1833205"/>
            <a:ext cx="957490" cy="17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Kd·Δ²y</a:t>
            </a:r>
            <a:endParaRPr lang="en-US" sz="12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7515B10-D7FF-90ED-8043-4976F2FAAB7A}"/>
              </a:ext>
            </a:extLst>
          </p:cNvPr>
          <p:cNvGrpSpPr/>
          <p:nvPr/>
        </p:nvGrpSpPr>
        <p:grpSpPr>
          <a:xfrm>
            <a:off x="1095260" y="2502719"/>
            <a:ext cx="2664036" cy="357483"/>
            <a:chOff x="1836837" y="1510903"/>
            <a:chExt cx="1676698" cy="203002"/>
          </a:xfrm>
        </p:grpSpPr>
        <p:sp>
          <p:nvSpPr>
            <p:cNvPr id="26" name="Text 24"/>
            <p:cNvSpPr/>
            <p:nvPr/>
          </p:nvSpPr>
          <p:spPr>
            <a:xfrm>
              <a:off x="1836837" y="1510903"/>
              <a:ext cx="1676698" cy="203002"/>
            </a:xfrm>
            <a:prstGeom prst="roundRect">
              <a:avLst>
                <a:gd name="adj" fmla="val 18768"/>
              </a:avLst>
            </a:prstGeom>
            <a:solidFill>
              <a:srgbClr val="FFE5E5"/>
            </a:solidFill>
            <a:ln w="19050">
              <a:solidFill>
                <a:srgbClr val="E76F51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982837" y="1549455"/>
              <a:ext cx="1412391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u(k) = u(k−1) + Δu(k) → PWM</a:t>
              </a:r>
              <a:endParaRPr lang="en-US" sz="12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542241" y="1882189"/>
            <a:ext cx="1171960" cy="19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编码器反馈</a:t>
            </a: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y(k)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55673" y="461019"/>
            <a:ext cx="11264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增量式PID核心实现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74320" y="0"/>
            <a:ext cx="3869680" cy="5130649"/>
          </a:xfrm>
          <a:prstGeom prst="roundRect">
            <a:avLst>
              <a:gd name="adj" fmla="val 11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r>
              <a:rPr lang="zh-CN" altLang="zh-CN" sz="800" dirty="0">
                <a:solidFill>
                  <a:schemeClr val="bg1"/>
                </a:solidFill>
              </a:rPr>
              <a:t>float PID_Compute(PID_Controller *pid, float target, float actual)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{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if (pid == NULL) return 0.0f;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/* ---- 计算当前拍误差 ---- */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pid-&gt;target = target;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pid-&gt;actual = actual;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float error = target - actual;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pid-&gt;error = error;</a:t>
            </a:r>
          </a:p>
          <a:p>
            <a:endParaRPr lang="zh-CN" altLang="zh-CN" sz="800" dirty="0">
              <a:solidFill>
                <a:schemeClr val="bg1"/>
              </a:solidFill>
            </a:endParaRPr>
          </a:p>
          <a:p>
            <a:r>
              <a:rPr lang="zh-CN" altLang="zh-CN" sz="800" dirty="0">
                <a:solidFill>
                  <a:schemeClr val="bg1"/>
                </a:solidFill>
              </a:rPr>
              <a:t>    if (pid-&gt;mode == PID_MODE_INCREMENTAL)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{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/* ============================================================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增量式 PID：D 项算在反馈值上，消除设定值突变时的微分尖峰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Δu(k) = Kp × [e(k) - e(k-1)]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      + Ki × e(k)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      - Kd × [y(k) - 2y(k-1) + y(k-2)]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 y = feedback（编码器实测值），设定值突变时不产生 D 冲击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u(k)  = u(k-1) + Δu(k)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accumulated 不钳位——让第一个控制周期的 Δu 自由发挥，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产生足够的瞬时输出克服减速电机静摩擦。后续由调用层的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LPF + PWM 硬限幅兜底。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 ============================================================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*/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float delta = pid-&gt;Kp * (error - pid-&gt;error_prev)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           + pid-&gt;Ki * error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            - pid-&gt;Kd * (actual - 2.0f * pid-&gt;feedback_prev + pid-&gt;feedback_prev2);</a:t>
            </a:r>
          </a:p>
          <a:p>
            <a:endParaRPr lang="zh-CN" altLang="zh-CN" sz="800" dirty="0">
              <a:solidFill>
                <a:schemeClr val="bg1"/>
              </a:solidFill>
            </a:endParaRP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pid-&gt;accumulated += delta;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/* 更新误差/反馈历史 */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pid-&gt;feedback_prev2 = pid-&gt;feedback_prev;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pid-&gt;feedback_prev  = actual;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pid-&gt;error_prev2    = pid-&gt;error_prev;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pid-&gt;error_prev     = error;</a:t>
            </a:r>
          </a:p>
          <a:p>
            <a:endParaRPr lang="zh-CN" altLang="zh-CN" sz="800" dirty="0">
              <a:solidFill>
                <a:schemeClr val="bg1"/>
              </a:solidFill>
            </a:endParaRPr>
          </a:p>
          <a:p>
            <a:r>
              <a:rPr lang="zh-CN" altLang="zh-CN" sz="800" dirty="0">
                <a:solidFill>
                  <a:schemeClr val="bg1"/>
                </a:solidFill>
              </a:rPr>
              <a:t>        pid-&gt;output = pid-&gt;accumulated;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    }</a:t>
            </a:r>
            <a:br>
              <a:rPr lang="zh-CN" altLang="zh-CN" sz="800" dirty="0">
                <a:solidFill>
                  <a:schemeClr val="bg1"/>
                </a:solidFill>
              </a:rPr>
            </a:br>
            <a:r>
              <a:rPr lang="zh-CN" altLang="zh-CN" sz="800" dirty="0">
                <a:solidFill>
                  <a:schemeClr val="bg1"/>
                </a:solidFill>
              </a:rPr>
              <a:t>    return pid-&gt;output;</a:t>
            </a:r>
          </a:p>
          <a:p>
            <a:r>
              <a:rPr lang="zh-CN" altLang="zh-CN" sz="800" dirty="0">
                <a:solidFill>
                  <a:schemeClr val="bg1"/>
                </a:solidFill>
              </a:rPr>
              <a:t>}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D5F30ED-D70E-E1BC-A4A8-99E14A7D7B75}"/>
              </a:ext>
            </a:extLst>
          </p:cNvPr>
          <p:cNvCxnSpPr>
            <a:stCxn id="29" idx="0"/>
            <a:endCxn id="9" idx="2"/>
          </p:cNvCxnSpPr>
          <p:nvPr/>
        </p:nvCxnSpPr>
        <p:spPr>
          <a:xfrm flipV="1">
            <a:off x="1128221" y="1633585"/>
            <a:ext cx="1418" cy="24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81F4AC2-A04D-0174-E47F-52ED6C754D10}"/>
              </a:ext>
            </a:extLst>
          </p:cNvPr>
          <p:cNvCxnSpPr>
            <a:stCxn id="9" idx="3"/>
            <a:endCxn id="17" idx="1"/>
          </p:cNvCxnSpPr>
          <p:nvPr/>
        </p:nvCxnSpPr>
        <p:spPr>
          <a:xfrm>
            <a:off x="1262989" y="1500235"/>
            <a:ext cx="752952" cy="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D18B3DD-7300-744E-1422-BEFF44BB0DE4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1262989" y="1075605"/>
            <a:ext cx="752952" cy="4246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BB85767C-0C8D-E21F-28FF-9226DBCB0994}"/>
              </a:ext>
            </a:extLst>
          </p:cNvPr>
          <p:cNvCxnSpPr>
            <a:stCxn id="9" idx="3"/>
            <a:endCxn id="21" idx="1"/>
          </p:cNvCxnSpPr>
          <p:nvPr/>
        </p:nvCxnSpPr>
        <p:spPr>
          <a:xfrm>
            <a:off x="1262989" y="1500235"/>
            <a:ext cx="752952" cy="4459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7">
            <a:extLst>
              <a:ext uri="{FF2B5EF4-FFF2-40B4-BE49-F238E27FC236}">
                <a16:creationId xmlns:a16="http://schemas.microsoft.com/office/drawing/2014/main" id="{D2C486E4-E4DF-2221-CAEC-C3803D514135}"/>
              </a:ext>
            </a:extLst>
          </p:cNvPr>
          <p:cNvSpPr/>
          <p:nvPr/>
        </p:nvSpPr>
        <p:spPr>
          <a:xfrm>
            <a:off x="3475214" y="138643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DAECC074-6607-A11F-23FE-A09FF1FD8C28}"/>
              </a:ext>
            </a:extLst>
          </p:cNvPr>
          <p:cNvSpPr/>
          <p:nvPr/>
        </p:nvSpPr>
        <p:spPr>
          <a:xfrm>
            <a:off x="3869681" y="1427443"/>
            <a:ext cx="749232" cy="21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Δu(k)</a:t>
            </a:r>
            <a:endParaRPr lang="en-US" sz="12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53BC80D-BEA9-3898-AB52-97FC7AC55D25}"/>
              </a:ext>
            </a:extLst>
          </p:cNvPr>
          <p:cNvSpPr txBox="1"/>
          <p:nvPr/>
        </p:nvSpPr>
        <p:spPr>
          <a:xfrm>
            <a:off x="3447019" y="1323582"/>
            <a:ext cx="306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altLang="zh-CN" sz="1800" dirty="0"/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F77C91BC-9D67-E51F-0A7E-5A56FDAD965C}"/>
              </a:ext>
            </a:extLst>
          </p:cNvPr>
          <p:cNvCxnSpPr>
            <a:stCxn id="14" idx="3"/>
            <a:endCxn id="68" idx="1"/>
          </p:cNvCxnSpPr>
          <p:nvPr/>
        </p:nvCxnSpPr>
        <p:spPr>
          <a:xfrm>
            <a:off x="3056929" y="1075605"/>
            <a:ext cx="390090" cy="4326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D4162112-DC05-BB69-8B83-137F69E5DF3B}"/>
              </a:ext>
            </a:extLst>
          </p:cNvPr>
          <p:cNvCxnSpPr>
            <a:stCxn id="21" idx="3"/>
            <a:endCxn id="68" idx="1"/>
          </p:cNvCxnSpPr>
          <p:nvPr/>
        </p:nvCxnSpPr>
        <p:spPr>
          <a:xfrm flipV="1">
            <a:off x="3056929" y="1508248"/>
            <a:ext cx="390090" cy="4378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399F533-CC45-C51A-9B19-5726BACEBA61}"/>
              </a:ext>
            </a:extLst>
          </p:cNvPr>
          <p:cNvCxnSpPr>
            <a:stCxn id="17" idx="3"/>
            <a:endCxn id="68" idx="1"/>
          </p:cNvCxnSpPr>
          <p:nvPr/>
        </p:nvCxnSpPr>
        <p:spPr>
          <a:xfrm>
            <a:off x="3056929" y="1503912"/>
            <a:ext cx="390090" cy="43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3A2C6CC9-850E-7E29-2821-81F659178C1D}"/>
              </a:ext>
            </a:extLst>
          </p:cNvPr>
          <p:cNvCxnSpPr>
            <a:stCxn id="66" idx="2"/>
            <a:endCxn id="26" idx="0"/>
          </p:cNvCxnSpPr>
          <p:nvPr/>
        </p:nvCxnSpPr>
        <p:spPr>
          <a:xfrm rot="5400000">
            <a:off x="2907353" y="1165775"/>
            <a:ext cx="856870" cy="1817019"/>
          </a:xfrm>
          <a:prstGeom prst="bentConnector3">
            <a:avLst>
              <a:gd name="adj1" fmla="val 744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966F223-F16C-AD7F-5B63-4184378A3DD8}"/>
              </a:ext>
            </a:extLst>
          </p:cNvPr>
          <p:cNvSpPr txBox="1"/>
          <p:nvPr/>
        </p:nvSpPr>
        <p:spPr>
          <a:xfrm>
            <a:off x="-1" y="3179407"/>
            <a:ext cx="4889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实际编码中：Δu(k) = Kp·[e(k) − e(k−1)] + Ki·e(k) − Kd·[y(k) − 2·y(k−1) + y(k−2)]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320F0C-AC1B-703D-679E-08054BADA10D}"/>
              </a:ext>
            </a:extLst>
          </p:cNvPr>
          <p:cNvSpPr txBox="1"/>
          <p:nvPr/>
        </p:nvSpPr>
        <p:spPr>
          <a:xfrm>
            <a:off x="46083" y="3615417"/>
            <a:ext cx="5182153" cy="115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725"/>
              </a:lnSpc>
              <a:buNone/>
            </a:pP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D 项用的是 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ui-monospace"/>
              </a:rPr>
              <a:t>y(k) − 2y(k−1) + y(k−2)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（编码器实测值的二阶差分），</a:t>
            </a:r>
            <a:r>
              <a:rPr lang="zh-CN" altLang="zh-CN" sz="900" b="1" i="0" dirty="0">
                <a:solidFill>
                  <a:srgbClr val="1A1D23"/>
                </a:solidFill>
                <a:effectLst/>
                <a:latin typeface="-apple-system"/>
              </a:rPr>
              <a:t>不是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 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ui-monospace"/>
              </a:rPr>
              <a:t>error − 2error(k−1) + error(k−2)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。</a:t>
            </a:r>
          </a:p>
          <a:p>
            <a:pPr indent="0" algn="l">
              <a:lnSpc>
                <a:spcPts val="1725"/>
              </a:lnSpc>
              <a:buNone/>
            </a:pPr>
            <a:r>
              <a:rPr lang="zh-CN" altLang="zh-CN" sz="1000" b="1" i="0" dirty="0">
                <a:solidFill>
                  <a:srgbClr val="1A1D23"/>
                </a:solidFill>
                <a:effectLst/>
                <a:latin typeface="-apple-system"/>
              </a:rPr>
              <a:t>区别在于：</a:t>
            </a:r>
          </a:p>
          <a:p>
            <a:pPr indent="0" algn="l">
              <a:lnSpc>
                <a:spcPts val="1725"/>
              </a:lnSpc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用 </a:t>
            </a:r>
            <a:r>
              <a:rPr lang="zh-CN" altLang="zh-CN" sz="900" b="1" i="0" dirty="0">
                <a:solidFill>
                  <a:srgbClr val="1A1D23"/>
                </a:solidFill>
                <a:effectLst/>
                <a:latin typeface="-apple-system"/>
              </a:rPr>
              <a:t>error 差分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：目标突变时，error 从 0 跳到 1320，D 项产生巨大尖峰 → 冲击</a:t>
            </a:r>
          </a:p>
          <a:p>
            <a:pPr indent="0" algn="l">
              <a:lnSpc>
                <a:spcPts val="1725"/>
              </a:lnSpc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用 </a:t>
            </a:r>
            <a:r>
              <a:rPr lang="zh-CN" altLang="zh-CN" sz="900" b="1" i="0" dirty="0">
                <a:solidFill>
                  <a:srgbClr val="1A1D23"/>
                </a:solidFill>
                <a:effectLst/>
                <a:latin typeface="-apple-system"/>
              </a:rPr>
              <a:t>y(k) 差分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：目标突变时，编码器值还没变，D 项=0 → 平滑</a:t>
            </a:r>
          </a:p>
          <a:p>
            <a:pPr indent="0" algn="l">
              <a:lnSpc>
                <a:spcPts val="1725"/>
              </a:lnSpc>
              <a:buNone/>
            </a:pP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这就是注释里说的"</a:t>
            </a:r>
            <a:r>
              <a:rPr lang="zh-CN" altLang="zh-CN" sz="900" b="1" i="0" dirty="0">
                <a:solidFill>
                  <a:srgbClr val="1A1D23"/>
                </a:solidFill>
                <a:effectLst/>
                <a:latin typeface="-apple-system"/>
              </a:rPr>
              <a:t>D-on-Measurement，消除设定值突变时的微分尖峰</a:t>
            </a:r>
            <a:r>
              <a:rPr lang="zh-CN" altLang="zh-CN" sz="900" b="0" i="0" dirty="0">
                <a:solidFill>
                  <a:srgbClr val="1A1D23"/>
                </a:solidFill>
                <a:effectLst/>
                <a:latin typeface="-apple-system"/>
              </a:rPr>
              <a:t>"。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53B315-CB45-86F8-7BCC-4C1E88326CE7}"/>
              </a:ext>
            </a:extLst>
          </p:cNvPr>
          <p:cNvSpPr txBox="1"/>
          <p:nvPr/>
        </p:nvSpPr>
        <p:spPr>
          <a:xfrm>
            <a:off x="119576" y="1276032"/>
            <a:ext cx="83351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u(k)        = Kp·e(k)                     + Ki·Σᵉ₀ᵏ               + Kd·[e(k)−e(k−1)]</a:t>
            </a:r>
            <a:endParaRPr lang="en-US" altLang="zh-CN" dirty="0"/>
          </a:p>
          <a:p>
            <a:r>
              <a:rPr lang="zh-CN" altLang="en-US" dirty="0"/>
              <a:t>u(k−1)    = Kp·e(k−1)                + Ki·Σᵉ₀ᵏ⁻¹             + Kd·[e(k−1)−e(k−2)]</a:t>
            </a:r>
            <a:endParaRPr lang="en-US" altLang="zh-CN" dirty="0"/>
          </a:p>
          <a:p>
            <a:r>
              <a:rPr lang="zh-CN" altLang="en-US" dirty="0"/>
              <a:t>─────────────────────────────────────────────────────────────────</a:t>
            </a:r>
            <a:endParaRPr lang="en-US" altLang="zh-CN" dirty="0"/>
          </a:p>
          <a:p>
            <a:r>
              <a:rPr lang="zh-CN" altLang="en-US" dirty="0"/>
              <a:t>Δu(k)      = Kp·[e(k)−e(k−1)]     + Ki·e(k)              + Kd·[e(k)−2e(k−1)+e(k−2)]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           ↑ P项                           ↑ I项                          ↑ D项</a:t>
            </a:r>
          </a:p>
        </p:txBody>
      </p:sp>
    </p:spTree>
    <p:extLst>
      <p:ext uri="{BB962C8B-B14F-4D97-AF65-F5344CB8AC3E}">
        <p14:creationId xmlns:p14="http://schemas.microsoft.com/office/powerpoint/2010/main" val="153731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PID模块接口：pid.h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3901" y="529977"/>
            <a:ext cx="4326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核心数据结构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758577"/>
            <a:ext cx="4580637" cy="4340473"/>
          </a:xfrm>
          <a:prstGeom prst="roundRect">
            <a:avLst>
              <a:gd name="adj" fmla="val 108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r>
              <a:rPr lang="zh-CN" altLang="zh-CN" sz="1000" dirty="0">
                <a:solidFill>
                  <a:schemeClr val="bg1"/>
                </a:solidFill>
              </a:rPr>
              <a:t>typedef struct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{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/* ---- 用户可调参数 ----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Kp;           /**&lt; 比例系数                                  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Ki;           /**&lt; 积分系数（增量式直接乘 e(k)，位置式乘 Σe）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Kd;           /**&lt; 微分系数                                  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PID_Mode_t mode;    /**&lt; 控制模式：位置式 or 增量式                        */</a:t>
            </a:r>
          </a:p>
          <a:p>
            <a:endParaRPr lang="zh-CN" altLang="zh-CN" sz="1000" dirty="0">
              <a:solidFill>
                <a:schemeClr val="bg1"/>
              </a:solidFill>
            </a:endParaRP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output_max;   /**&lt; 输出上限（位置式钳位值，增量式建议设很大）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output_min;   /**&lt; 输出下限                                  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integral_limit; /**&lt; 积分项幅值限制（防积分饱和 windup）              */</a:t>
            </a:r>
          </a:p>
          <a:p>
            <a:endParaRPr lang="zh-CN" altLang="zh-CN" sz="1000" dirty="0">
              <a:solidFill>
                <a:schemeClr val="bg1"/>
              </a:solidFill>
            </a:endParaRPr>
          </a:p>
          <a:p>
            <a:r>
              <a:rPr lang="zh-CN" altLang="zh-CN" sz="1000" dirty="0">
                <a:solidFill>
                  <a:schemeClr val="bg1"/>
                </a:solidFill>
              </a:rPr>
              <a:t>    /* ---- 目标值与反馈值 ----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target;       /**&lt; 设定目标值                                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actual;       /**&lt; 当前实际值                                        */</a:t>
            </a:r>
          </a:p>
          <a:p>
            <a:endParaRPr lang="zh-CN" altLang="zh-CN" sz="1000" dirty="0">
              <a:solidFill>
                <a:schemeClr val="bg1"/>
              </a:solidFill>
            </a:endParaRPr>
          </a:p>
          <a:p>
            <a:r>
              <a:rPr lang="zh-CN" altLang="zh-CN" sz="1000" dirty="0">
                <a:solidFill>
                  <a:schemeClr val="bg1"/>
                </a:solidFill>
              </a:rPr>
              <a:t>    /* ---- 内部状态 ----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error;        /**&lt; 当前拍误差 e(k)                                  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error_prev;   /**&lt; 上一拍误差 e(k-1)，用于比例项与微分项                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error_prev2;  /**&lt; 前两拍误差 e(k-2)，增量式微分需要                       </a:t>
            </a:r>
            <a:r>
              <a:rPr lang="en-US" altLang="zh-CN" sz="1000" dirty="0">
                <a:solidFill>
                  <a:schemeClr val="bg1"/>
                </a:solidFill>
              </a:rPr>
              <a:t>  </a:t>
            </a:r>
            <a:r>
              <a:rPr lang="zh-CN" altLang="zh-CN" sz="1000" dirty="0">
                <a:solidFill>
                  <a:schemeClr val="bg1"/>
                </a:solidFill>
              </a:rPr>
              <a:t>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feedback_prev;  /**&lt; 上一拍实测值 y(k-1)，D-on-measurement 需要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feedback_prev2; /**&lt; 前两拍实测值 y(k-2)，D-on-measurement 需要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output;       /**&lt; 当前控制器输出值                                  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integral;     /**&lt; 积分累加值 Σe(k)，带限幅                    */</a:t>
            </a:r>
          </a:p>
          <a:p>
            <a:r>
              <a:rPr lang="zh-CN" altLang="zh-CN" sz="1000" dirty="0">
                <a:solidFill>
                  <a:schemeClr val="bg1"/>
                </a:solidFill>
              </a:rPr>
              <a:t>    float accumulated;  /**&lt; 增量式输出累加值                            */</a:t>
            </a:r>
          </a:p>
          <a:p>
            <a:br>
              <a:rPr lang="zh-CN" altLang="zh-CN" sz="1000" dirty="0">
                <a:solidFill>
                  <a:schemeClr val="bg1"/>
                </a:solidFill>
              </a:rPr>
            </a:br>
            <a:r>
              <a:rPr lang="zh-CN" altLang="zh-CN" sz="1000" dirty="0">
                <a:solidFill>
                  <a:schemeClr val="bg1"/>
                </a:solidFill>
              </a:rPr>
              <a:t>} PID_Controller;</a:t>
            </a:r>
          </a:p>
        </p:txBody>
      </p:sp>
      <p:sp>
        <p:nvSpPr>
          <p:cNvPr id="21" name="Text 19"/>
          <p:cNvSpPr/>
          <p:nvPr/>
        </p:nvSpPr>
        <p:spPr>
          <a:xfrm>
            <a:off x="4648200" y="529977"/>
            <a:ext cx="4326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公开接口函数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48200" y="2598390"/>
            <a:ext cx="4326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调用示例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8199" y="2826990"/>
            <a:ext cx="4241899" cy="2019598"/>
          </a:xfrm>
          <a:prstGeom prst="roundRect">
            <a:avLst>
              <a:gd name="adj" fmla="val 188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4400" y="2984302"/>
            <a:ext cx="41712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初始化：Kp=0.15, Kd=0.09, KI=0, 输出限幅±50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24400" y="3357264"/>
            <a:ext cx="41712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40"/>
              </a:lnSpc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PID_Init(&amp;pid,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altLang="zh-CN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altLang="zh-CN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altLang="zh-CN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altLang="zh-CN" sz="1000" dirty="0"/>
          </a:p>
        </p:txBody>
      </p:sp>
      <p:sp>
        <p:nvSpPr>
          <p:cNvPr id="27" name="Text 25"/>
          <p:cNvSpPr/>
          <p:nvPr/>
        </p:nvSpPr>
        <p:spPr>
          <a:xfrm>
            <a:off x="4724400" y="3623667"/>
            <a:ext cx="41712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PID_SetMode(&amp;pid, PID_MODE_INCREMENTAL);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4400" y="4049911"/>
            <a:ext cx="41712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每50ms调用一次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24400" y="4263033"/>
            <a:ext cx="41712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40"/>
              </a:lnSpc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 = PID_Compute(&amp;</a:t>
            </a:r>
            <a:r>
              <a:rPr lang="en-US" sz="10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zh-CN" sz="10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target_counts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altLang="zh-CN" sz="10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actual_counts</a:t>
            </a:r>
            <a:r>
              <a:rPr lang="en-US" altLang="zh-CN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altLang="zh-CN" sz="10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BD1E4FA-42A1-2F7B-285E-9106689FE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19" y="758577"/>
            <a:ext cx="4234279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49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63401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位置环核心：PositionLoop_Update()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77701" y="390227"/>
            <a:ext cx="50950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核心更新函数（TIM6 ISR, 50ms）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7701" y="577453"/>
            <a:ext cx="4995118" cy="4422577"/>
          </a:xfrm>
          <a:prstGeom prst="roundRect">
            <a:avLst>
              <a:gd name="adj" fmla="val 86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451" y="6837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PositionLoop_Update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(PositionLoopCtrl *ctrl)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451" y="8456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(!ctrl || ctrl-&gt;state == POS_STATE_IDLE)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451" y="10075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1.读取编码器反馈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451" y="11694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ctrl-&gt;feedback = BSP_Encoder_GetCount(ENCODER_PM1);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451" y="13314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ctrl-&gt;error    = ctrl-&gt;target - ctrl-&gt;feedback;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451" y="14933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2.死区判断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451" y="16552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(abs(ctrl-&gt;error) &lt;= DEAD_ZONE)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451" y="18171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ctrl-&gt;state = POS_STATE_HOLDING;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451" y="19791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(ctrl-&gt;home_flag) 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451" y="21410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ctrl-&gt;state = POS_STATE_IDLE;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451" y="23029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BrushMotor_Disable();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451" y="24648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451" y="26268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(ctrl-&gt;state == POS_STATE_HOLDING)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451" y="27887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ctrl-&gt;state = POS_STATE_MOVING;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451" y="29506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3.增量式PID计算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451" y="31125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ctrl-&gt;pid_output = PID_Compute(&amp;ctrl-&gt;pid,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451" y="32745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)ctrl-&gt;target, (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)ctrl-&gt;feedback);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451" y="34364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4.LPF + 限幅 + 最小启动 + 驱动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451" y="35983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ctrl-&gt;pwm_filtered = ctrl-&gt;pwm_filtered *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451" y="37602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ctrl-&gt;pid_output *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451" y="39222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LIMIT(ctrl-&gt;pwm_filtered, -PWM_LIMIT, PWM_LIMIT);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451" y="40841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int16_t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 = (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int16_t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)ctrl-&gt;pwm_filtered;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451" y="424606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(pwm&gt;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pwm&lt;PWM_MIN_START) pwm = PWM_MIN_START;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451" y="440799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(pwm&lt;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pwm&gt;-PWM_MIN_START) pwm = -PWM_MIN_START;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451" y="4569916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BrushMotor_Drive(pwm);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451" y="4731841"/>
            <a:ext cx="499149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74320" y="390227"/>
            <a:ext cx="37658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74320" y="577453"/>
            <a:ext cx="3691979" cy="342900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34555" y="634603"/>
            <a:ext cx="3571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空闲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34555" y="767953"/>
            <a:ext cx="35715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PWM=0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237400" y="945654"/>
            <a:ext cx="3765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SetTarget()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74320" y="1113830"/>
            <a:ext cx="3691979" cy="361950"/>
          </a:xfrm>
          <a:prstGeom prst="roundRect">
            <a:avLst>
              <a:gd name="adj" fmla="val 10526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34555" y="1170980"/>
            <a:ext cx="3571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运动中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34555" y="1304330"/>
            <a:ext cx="35715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PID活跃 | PWM输出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37400" y="1501080"/>
            <a:ext cx="3765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|error| &lt;= DEAD_ZONE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74320" y="1669256"/>
            <a:ext cx="3691979" cy="361950"/>
          </a:xfrm>
          <a:prstGeom prst="roundRect">
            <a:avLst>
              <a:gd name="adj" fmla="val 10526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4555" y="1726406"/>
            <a:ext cx="3571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到位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34555" y="1859756"/>
            <a:ext cx="35715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PID继续保持位置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274320" y="2081957"/>
            <a:ext cx="37658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HOLDING不关PWM，增量式累加自带保持力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88752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位置环模块接口：position_loop.h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9350" y="564952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控制句柄结构体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9350" y="793552"/>
            <a:ext cx="4203799" cy="2755999"/>
          </a:xfrm>
          <a:prstGeom prst="roundRect">
            <a:avLst>
              <a:gd name="adj" fmla="val 1382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751" y="946398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2751" y="1150590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PID_Controller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PID实例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2751" y="1354782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BrushMotorConfig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*motor;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电机驱动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2751" y="1558975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目标位置(counts)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2751" y="1763167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feedback;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当前位置(counts)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2751" y="1967359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位置误差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2751" y="2171551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pid_output;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PID原始输出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2751" y="2375743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pwm_filtered;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LPF滤波后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2751" y="2579936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int16_t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pwm_final;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最终PWM ±50%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2751" y="2784128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PositionState_t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IDLE/MOVING/HOLDING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2751" y="2988320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home_flag;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回零标记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2751" y="3192512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PositionLoopCtrl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60850" y="564952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公开接口函数（7个）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0850" y="2681188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典型调用流程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0850" y="2909788"/>
            <a:ext cx="4203799" cy="2143423"/>
          </a:xfrm>
          <a:prstGeom prst="roundRect">
            <a:avLst>
              <a:gd name="adj" fmla="val 177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4251" y="3062635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main.c 初始化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24251" y="3266827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PositionLoop_Init(&amp;pos, &amp;pm1_motor);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24251" y="3471019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按键触发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24251" y="3675211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PositionLoop_SetTarget(&amp;pos,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24251" y="3879404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TIM6 ISR 每50ms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24251" y="4083596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PositionLoop_Update(&amp;pos);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24251" y="4287788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LCD显示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24251" y="4491980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(GetState(&amp;pos)==POS_STATE_HOLDING)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24251" y="4696172"/>
            <a:ext cx="4158538" cy="10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lcd_show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(“</a:t>
            </a:r>
            <a:r>
              <a:rPr lang="en-US" altLang="zh-CN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Holding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7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C3C374DA-AE38-24B3-DF9A-BF09FE47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991" y="812453"/>
            <a:ext cx="2856540" cy="1766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关键参数配置：user_config.h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7450" y="650677"/>
            <a:ext cx="4235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与输出参数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2215307"/>
            <a:ext cx="4235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位置与编码器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7450" y="3367385"/>
            <a:ext cx="4235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时序与滤波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73501" y="650677"/>
            <a:ext cx="42361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编码器参数来源 (bsp_encoder.h)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3501" y="901452"/>
            <a:ext cx="4153049" cy="1244501"/>
          </a:xfrm>
          <a:prstGeom prst="roundRect">
            <a:avLst>
              <a:gd name="adj" fmla="val 306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9701" y="1066502"/>
            <a:ext cx="4080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ENCODER_PPR </a:t>
            </a:r>
            <a:r>
              <a:rPr lang="en-US" sz="7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11PPR × 4倍频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49701" y="1295102"/>
            <a:ext cx="4080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GEAR_RATIO </a:t>
            </a:r>
            <a:r>
              <a:rPr lang="en-US" sz="7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30.0f</a:t>
            </a: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减速比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49701" y="1523702"/>
            <a:ext cx="4080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输出轴一圈 = 44 × 30 = 1320 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49701" y="1752302"/>
            <a:ext cx="4080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位置分辨率 ≈ 360°/1320 ≈ 0.27°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73501" y="2247454"/>
            <a:ext cx="42361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参数设计要点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3501" y="2498229"/>
            <a:ext cx="4153049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92551" y="2498229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3102" y="2561630"/>
            <a:ext cx="3990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Kd/Kp = 0.6：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阻尼比约0.7，留约8%超调作为"反面教材"效果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73501" y="2831306"/>
            <a:ext cx="4153049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2551" y="2831306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3102" y="2894707"/>
            <a:ext cx="3990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PWM_MIN_START=5%：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高减速比电机静摩擦大，低于5%推不动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73501" y="3164384"/>
            <a:ext cx="4153049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3164384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3102" y="3227784"/>
            <a:ext cx="3990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50ms：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低分辨率编码器折中点。位置环用绝对计数，不依赖差分速度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73501" y="3497461"/>
            <a:ext cx="4153049" cy="269677"/>
          </a:xfrm>
          <a:prstGeom prst="rect">
            <a:avLst/>
          </a:prstGeom>
          <a:solidFill>
            <a:srgbClr val="E8F0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2551" y="3497461"/>
            <a:ext cx="0" cy="26967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3102" y="3560862"/>
            <a:ext cx="3990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所有参数集中管理：</a:t>
            </a:r>
            <a:r>
              <a:rPr lang="en-US" sz="85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调参只需改 user_config.h，不用翻业务代码</a:t>
            </a:r>
            <a:endParaRPr lang="en-US" sz="8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823B06C-DE05-50C4-E777-7F35FA39E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552" y="650677"/>
            <a:ext cx="2080822" cy="40229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软件时序调度：TIM6 1ms心跳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9350" y="650677"/>
            <a:ext cx="4281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ISR 调度代码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901452"/>
            <a:ext cx="4197400" cy="3663851"/>
          </a:xfrm>
          <a:prstGeom prst="roundRect">
            <a:avLst>
              <a:gd name="adj" fmla="val 104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0569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HAL_TIM_PeriodElapsedCallback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TIM_HandleTypeDef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*htim) {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5550" y="12665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pid_cnt=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spd_cnt=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rpt_cnt=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55550" y="14760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g_tick_1ms++;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5550" y="16856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(++pid_cnt &gt;=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PID: 50ms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5550" y="18951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pid_cnt 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5550" y="21047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PositionLoop_Update(&amp;position_loop);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5550" y="23142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5550" y="25238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(++spd_cnt &gt;=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速度: 100ms (仅显示)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5550" y="27333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spd_cnt 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5550" y="29429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BSP_Encoder_UpdateSpeed();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5550" y="31524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5550" y="33620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(++rpt_cnt &gt;=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上报: 200ms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5550" y="35715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rpt_cnt 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5550" y="37811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g_report_flag =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主循环处理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55550" y="399067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55550" y="4200227"/>
            <a:ext cx="4125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67250" y="650677"/>
            <a:ext cx="4281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时间轴可视化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4243" y="901452"/>
            <a:ext cx="3424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59999" y="901452"/>
            <a:ext cx="3424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95755" y="901452"/>
            <a:ext cx="3424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331512" y="901452"/>
            <a:ext cx="3424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67268" y="901452"/>
            <a:ext cx="3424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67250" y="1129903"/>
            <a:ext cx="6735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1ms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1001" y="1098203"/>
            <a:ext cx="3459361" cy="177701"/>
          </a:xfrm>
          <a:prstGeom prst="roundRect">
            <a:avLst>
              <a:gd name="adj" fmla="val 21441"/>
            </a:avLst>
          </a:prstGeom>
          <a:solidFill>
            <a:srgbClr val="DEE2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55631" y="1134666"/>
            <a:ext cx="336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心跳基准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667250" y="1485305"/>
            <a:ext cx="6735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50ms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1001" y="1453604"/>
            <a:ext cx="269379" cy="177701"/>
          </a:xfrm>
          <a:prstGeom prst="roundRect">
            <a:avLst>
              <a:gd name="adj" fmla="val 2144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22938" y="1453604"/>
            <a:ext cx="269379" cy="177701"/>
          </a:xfrm>
          <a:prstGeom prst="roundRect">
            <a:avLst>
              <a:gd name="adj" fmla="val 2144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4875" y="1453604"/>
            <a:ext cx="269379" cy="177701"/>
          </a:xfrm>
          <a:prstGeom prst="roundRect">
            <a:avLst>
              <a:gd name="adj" fmla="val 2144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67250" y="184070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 100ms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1001" y="1823293"/>
            <a:ext cx="437257" cy="177701"/>
          </a:xfrm>
          <a:prstGeom prst="roundRect">
            <a:avLst>
              <a:gd name="adj" fmla="val 21441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26572" y="1823293"/>
            <a:ext cx="437257" cy="177701"/>
          </a:xfrm>
          <a:prstGeom prst="roundRect">
            <a:avLst>
              <a:gd name="adj" fmla="val 21441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67250" y="222468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上报 200ms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91001" y="2207270"/>
            <a:ext cx="773013" cy="177701"/>
          </a:xfrm>
          <a:prstGeom prst="roundRect">
            <a:avLst>
              <a:gd name="adj" fmla="val 2144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33841" y="2207270"/>
            <a:ext cx="773013" cy="177701"/>
          </a:xfrm>
          <a:prstGeom prst="roundRect">
            <a:avLst>
              <a:gd name="adj" fmla="val 2144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667250" y="2538859"/>
            <a:ext cx="4197400" cy="234851"/>
          </a:xfrm>
          <a:prstGeom prst="roundRect">
            <a:avLst>
              <a:gd name="adj" fmla="val 16223"/>
            </a:avLst>
          </a:prstGeom>
          <a:solidFill>
            <a:srgbClr val="E8F0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43450" y="2589609"/>
            <a:ext cx="4125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周期≠速度周期：</a:t>
            </a:r>
            <a:r>
              <a:rPr lang="en-US" sz="75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位置环只用编码器绝对计数值，不依赖差分速度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67250" y="2837111"/>
            <a:ext cx="4197400" cy="368201"/>
          </a:xfrm>
          <a:prstGeom prst="roundRect">
            <a:avLst>
              <a:gd name="adj" fmla="val 10348"/>
            </a:avLst>
          </a:prstGeom>
          <a:solidFill>
            <a:srgbClr val="E8F0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43450" y="2887861"/>
            <a:ext cx="412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为什么50ms？</a:t>
            </a:r>
            <a:r>
              <a:rPr lang="en-US" sz="75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11PPR编码器：10ms差分噪声大(22counts)，100ms相位滞后严重。50ms折中。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67250" y="3281511"/>
            <a:ext cx="42813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主循环 (10ms 节拍)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4951" y="3532287"/>
            <a:ext cx="401969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KEY0/KEY1/KEY2 按键扫描 + 松手检测</a:t>
            </a:r>
            <a:endParaRPr lang="en-US" sz="850" dirty="0"/>
          </a:p>
          <a:p>
            <a:pPr marL="342900" indent="-3429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g_report_flag 触发 LCD刷新 + VOFA+ FireWater输出</a:t>
            </a:r>
            <a:endParaRPr lang="en-US" sz="850" dirty="0"/>
          </a:p>
          <a:p>
            <a:pPr marL="342900" indent="-3429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HAL_Delay(10) 阻塞延时（不阻塞ISR）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55E815-D22A-10A8-CB14-B7F5B904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803"/>
            <a:ext cx="9144000" cy="364189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CEEB142-D272-97BF-CE4C-E3255270999C}"/>
              </a:ext>
            </a:extLst>
          </p:cNvPr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1EA9717-3AE5-11B6-A5E3-465F6C2B09C4}"/>
              </a:ext>
            </a:extLst>
          </p:cNvPr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VOFA+</a:t>
            </a:r>
            <a:r>
              <a:rPr lang="zh-CN" alt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显示的位置跟踪效果图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2921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工程优化：四项实用技术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650677"/>
            <a:ext cx="2605534" cy="4391323"/>
          </a:xfrm>
          <a:prstGeom prst="roundRect">
            <a:avLst>
              <a:gd name="adj" fmla="val 2437"/>
            </a:avLst>
          </a:prstGeom>
          <a:solidFill>
            <a:srgbClr val="F7F9FC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9901" y="1009352"/>
            <a:ext cx="2313533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9901" y="771227"/>
            <a:ext cx="23598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到位死区 Dead Zone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9901" y="1082278"/>
            <a:ext cx="2359804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编码器静止时齿轮间隙导致±2~3 counts跳动。不加死区时PID永远试图纠正，电机持续微振发热。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9901" y="1420118"/>
            <a:ext cx="2313533" cy="1268016"/>
          </a:xfrm>
          <a:prstGeom prst="roundRect">
            <a:avLst>
              <a:gd name="adj" fmla="val 30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302" y="1674912"/>
            <a:ext cx="2230466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DEAD_ZONE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±4 counts ≈ ±1°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3302" y="1999952"/>
            <a:ext cx="2230466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(abs(error) &lt;= DEAD_ZONE)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3302" y="2324993"/>
            <a:ext cx="2230466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HOLDING; </a:t>
            </a: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PID继续运行保持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9901" y="2726234"/>
            <a:ext cx="235980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HOLDING不关PWM，外力推离自动恢复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1835" y="650677"/>
            <a:ext cx="1801862" cy="4391323"/>
          </a:xfrm>
          <a:prstGeom prst="roundRect">
            <a:avLst>
              <a:gd name="adj" fmla="val 3524"/>
            </a:avLst>
          </a:prstGeom>
          <a:solidFill>
            <a:srgbClr val="F7F9FC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57835" y="1009352"/>
            <a:ext cx="1509861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7835" y="771227"/>
            <a:ext cx="15400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PWM低通滤波 LPF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7835" y="1082278"/>
            <a:ext cx="154005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PID输出含高频噪声，直接写入PWM导致电机啸叫。串一级IIR平滑，α=0.5 截止频率约1.6Hz。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7835" y="1557338"/>
            <a:ext cx="1509861" cy="1268016"/>
          </a:xfrm>
          <a:prstGeom prst="roundRect">
            <a:avLst>
              <a:gd name="adj" fmla="val 30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21236" y="1812131"/>
            <a:ext cx="1410721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pwm_filtered =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21236" y="2137172"/>
            <a:ext cx="1410721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pwm_filtered *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21236" y="2462213"/>
            <a:ext cx="1410721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pid_output *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57835" y="2863453"/>
            <a:ext cx="1540059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等效平滑~2个控制周期(100ms)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66097" y="650677"/>
            <a:ext cx="1859012" cy="4391323"/>
          </a:xfrm>
          <a:prstGeom prst="roundRect">
            <a:avLst>
              <a:gd name="adj" fmla="val 3416"/>
            </a:avLst>
          </a:prstGeom>
          <a:solidFill>
            <a:srgbClr val="F7F9FC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12097" y="1009352"/>
            <a:ext cx="1567011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2097" y="771227"/>
            <a:ext cx="15983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PWM占空比限幅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12097" y="1082278"/>
            <a:ext cx="1598352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限制最大占空比±50%，防12V满速过流，同时防止大阶跃瞬间全速冲出（软限速）。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12097" y="1557338"/>
            <a:ext cx="1567011" cy="942975"/>
          </a:xfrm>
          <a:prstGeom prst="roundRect">
            <a:avLst>
              <a:gd name="adj" fmla="val 404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5498" y="1812131"/>
            <a:ext cx="1469014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PWM_LIMIT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175498" y="2137172"/>
            <a:ext cx="1469014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PWM_LIMIT_NEG (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77509" y="650677"/>
            <a:ext cx="1912590" cy="4391323"/>
          </a:xfrm>
          <a:prstGeom prst="roundRect">
            <a:avLst>
              <a:gd name="adj" fmla="val 3320"/>
            </a:avLst>
          </a:prstGeom>
          <a:solidFill>
            <a:srgbClr val="F7F9FC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123509" y="1009352"/>
            <a:ext cx="1620589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509" y="771227"/>
            <a:ext cx="16530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最小启动占空比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22241" y="1070024"/>
            <a:ext cx="1653001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8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高减速比</a:t>
            </a:r>
            <a:r>
              <a:rPr lang="en-US" altLang="zh-CN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(30:1)</a:t>
            </a: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电机静摩擦大，低于5%的PWM推不动。阈值以下自动抬到5%确保启动。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23509" y="1557338"/>
            <a:ext cx="1620589" cy="1268016"/>
          </a:xfrm>
          <a:prstGeom prst="roundRect">
            <a:avLst>
              <a:gd name="adj" fmla="val 300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86910" y="1812131"/>
            <a:ext cx="1523664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PWM_MIN_START 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186910" y="2137172"/>
            <a:ext cx="1523664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(pwm&gt;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pwm&lt;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pwm=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186910" y="2462213"/>
            <a:ext cx="1523664" cy="10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(pwm&lt;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pwm&gt;-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pwm=-</a:t>
            </a:r>
            <a:r>
              <a:rPr lang="en-US" sz="7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23509" y="2863453"/>
            <a:ext cx="1653001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</a:t>
            </a:r>
            <a:r>
              <a:rPr lang="en-US" sz="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接近目标时5%硬台阶可能微振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114651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1462534"/>
            <a:ext cx="362706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本章小结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9350" y="1948309"/>
            <a:ext cx="3555950" cy="17325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增量式PID位置闭环：编码器→PID→LPF→PWM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D-on-measurement，KI=0.01，接近PD控制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死区 + LPF + 限幅 + 最小启动 四项优化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1ms心跳，50ms PID周期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VOFA+ FireWater实时曲线监控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状态机：IDLE → MOVING → HOLDING</a:t>
            </a:r>
            <a:endParaRPr lang="en-US" sz="1000" dirty="0"/>
          </a:p>
          <a:p>
            <a:pPr marL="101600" indent="-101600" algn="l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分层架构：App → Control → BSP → HAL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70202" y="1459409"/>
            <a:ext cx="4404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[12-03] 预告：梯形加减速规划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70202" y="1824484"/>
            <a:ext cx="4404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本案例是"反面教材"——纯位置PID在大阶跃时必然超调和振荡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70202" y="2132409"/>
            <a:ext cx="4404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</a:t>
            </a:r>
            <a:r>
              <a:rPr lang="zh-CN" alt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小节</a:t>
            </a:r>
            <a:r>
              <a:rPr lang="en-US" sz="10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将在本代码基础上加入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73352" y="2402235"/>
            <a:ext cx="4115098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梯形速度轨迹规划（加速→匀速→减速）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不同PID参数（12-03调高了Kp/Kd），对比规划前后的改善效果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从根源消除阶跃超调，实现平滑无振荡定位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70202" y="3125688"/>
            <a:ext cx="4318248" cy="558403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94014" y="3125688"/>
            <a:ext cx="0" cy="558403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4777" y="3227189"/>
            <a:ext cx="409705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教学意图：</a:t>
            </a:r>
            <a:r>
              <a:rPr lang="en-US" sz="100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纯PID</a:t>
            </a:r>
            <a:r>
              <a:rPr lang="zh-CN" alt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r>
              <a:rPr lang="en-US" sz="100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缺陷（超调、振荡</a:t>
            </a: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</a:t>
            </a:r>
            <a:r>
              <a:rPr lang="zh-CN" alt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下一小节尝试</a:t>
            </a:r>
            <a:r>
              <a:rPr lang="en-US" sz="1000" dirty="0" err="1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用梯形加减速解决问题。认知曲线</a:t>
            </a: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——先痛后药。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2758</Words>
  <Application>Microsoft Office PowerPoint</Application>
  <PresentationFormat>全屏显示(16:9)</PresentationFormat>
  <Paragraphs>344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-apple-system</vt:lpstr>
      <vt:lpstr>ui-monospace</vt:lpstr>
      <vt:lpstr>微软雅黑</vt:lpstr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[12-02] PID位置环代码实现</dc:title>
  <dc:subject>PptxGenJS Presentation</dc:subject>
  <dc:creator>Dr. GAO</dc:creator>
  <cp:lastModifiedBy>延增 高</cp:lastModifiedBy>
  <cp:revision>22</cp:revision>
  <dcterms:created xsi:type="dcterms:W3CDTF">2026-07-09T04:00:16Z</dcterms:created>
  <dcterms:modified xsi:type="dcterms:W3CDTF">2026-07-11T03:38:49Z</dcterms:modified>
</cp:coreProperties>
</file>