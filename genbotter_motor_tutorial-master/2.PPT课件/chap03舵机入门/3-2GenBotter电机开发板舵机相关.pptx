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9" r:id="rId2"/>
    <p:sldId id="802" r:id="rId3"/>
    <p:sldId id="800" r:id="rId4"/>
    <p:sldId id="799" r:id="rId5"/>
    <p:sldId id="801" r:id="rId6"/>
    <p:sldId id="803" r:id="rId7"/>
    <p:sldId id="795" r:id="rId8"/>
    <p:sldId id="796" r:id="rId9"/>
    <p:sldId id="789" r:id="rId10"/>
    <p:sldId id="790" r:id="rId11"/>
    <p:sldId id="791" r:id="rId12"/>
    <p:sldId id="28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652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67A2DD-EAC1-481E-B2C8-7D8F74D898F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57F43A3-DEC7-4155-BAB2-7B626C5A44A2}">
      <dgm:prSet/>
      <dgm:spPr/>
      <dgm:t>
        <a:bodyPr/>
        <a:lstStyle/>
        <a:p>
          <a:r>
            <a:rPr lang="zh-CN" b="1" i="0" baseline="0" dirty="0"/>
            <a:t>设置PWM周期</a:t>
          </a:r>
          <a:endParaRPr lang="zh-CN" dirty="0"/>
        </a:p>
      </dgm:t>
    </dgm:pt>
    <dgm:pt modelId="{4685A876-398E-4703-90A9-D12C7D1F9444}" type="parTrans" cxnId="{24F45AD6-C971-4A03-9FBE-78F20D33CF80}">
      <dgm:prSet/>
      <dgm:spPr/>
      <dgm:t>
        <a:bodyPr/>
        <a:lstStyle/>
        <a:p>
          <a:endParaRPr lang="zh-CN" altLang="en-US"/>
        </a:p>
      </dgm:t>
    </dgm:pt>
    <dgm:pt modelId="{D7C4AD3D-25B2-4DA3-8F5E-58A6C9A4FF4A}" type="sibTrans" cxnId="{24F45AD6-C971-4A03-9FBE-78F20D33CF80}">
      <dgm:prSet/>
      <dgm:spPr/>
      <dgm:t>
        <a:bodyPr/>
        <a:lstStyle/>
        <a:p>
          <a:endParaRPr lang="zh-CN" altLang="en-US"/>
        </a:p>
      </dgm:t>
    </dgm:pt>
    <dgm:pt modelId="{293D7B6C-68AD-4354-B4EE-60DA22E0E285}">
      <dgm:prSet/>
      <dgm:spPr/>
      <dgm:t>
        <a:bodyPr/>
        <a:lstStyle/>
        <a:p>
          <a:r>
            <a:rPr lang="zh-CN" b="1" i="0" baseline="0" dirty="0"/>
            <a:t>确定脉冲宽度范围</a:t>
          </a:r>
          <a:endParaRPr lang="zh-CN" dirty="0"/>
        </a:p>
      </dgm:t>
    </dgm:pt>
    <dgm:pt modelId="{23B64589-74B8-47E6-81B7-8ECCD2773BBA}" type="parTrans" cxnId="{F0DB36DA-5E06-4FB0-8EAD-F3103FF888CC}">
      <dgm:prSet/>
      <dgm:spPr/>
      <dgm:t>
        <a:bodyPr/>
        <a:lstStyle/>
        <a:p>
          <a:endParaRPr lang="zh-CN" altLang="en-US"/>
        </a:p>
      </dgm:t>
    </dgm:pt>
    <dgm:pt modelId="{CDA02D85-0F21-4FCD-BAE5-B9A29E048493}" type="sibTrans" cxnId="{F0DB36DA-5E06-4FB0-8EAD-F3103FF888CC}">
      <dgm:prSet/>
      <dgm:spPr/>
      <dgm:t>
        <a:bodyPr/>
        <a:lstStyle/>
        <a:p>
          <a:endParaRPr lang="zh-CN" altLang="en-US"/>
        </a:p>
      </dgm:t>
    </dgm:pt>
    <dgm:pt modelId="{5C406675-6AAB-41DC-9603-F8F03A0B0B74}">
      <dgm:prSet/>
      <dgm:spPr/>
      <dgm:t>
        <a:bodyPr/>
        <a:lstStyle/>
        <a:p>
          <a:r>
            <a:rPr lang="zh-CN" b="1" i="0" baseline="0" dirty="0"/>
            <a:t>生成PWM信号</a:t>
          </a:r>
          <a:endParaRPr lang="zh-CN" dirty="0"/>
        </a:p>
      </dgm:t>
    </dgm:pt>
    <dgm:pt modelId="{D198DA97-2EA4-404A-977C-289B957A1465}" type="parTrans" cxnId="{F0DC7590-9B0E-4D78-A18C-B4F638F62F02}">
      <dgm:prSet/>
      <dgm:spPr/>
      <dgm:t>
        <a:bodyPr/>
        <a:lstStyle/>
        <a:p>
          <a:endParaRPr lang="zh-CN" altLang="en-US"/>
        </a:p>
      </dgm:t>
    </dgm:pt>
    <dgm:pt modelId="{A07DBDD4-4201-4817-9157-323F144B2490}" type="sibTrans" cxnId="{F0DC7590-9B0E-4D78-A18C-B4F638F62F02}">
      <dgm:prSet/>
      <dgm:spPr/>
      <dgm:t>
        <a:bodyPr/>
        <a:lstStyle/>
        <a:p>
          <a:endParaRPr lang="zh-CN" altLang="en-US"/>
        </a:p>
      </dgm:t>
    </dgm:pt>
    <dgm:pt modelId="{CA164D94-67F9-439E-B31F-2D4A48D94ABB}">
      <dgm:prSet/>
      <dgm:spPr/>
      <dgm:t>
        <a:bodyPr/>
        <a:lstStyle/>
        <a:p>
          <a:r>
            <a:rPr lang="zh-CN" b="1" i="0" baseline="0" dirty="0"/>
            <a:t>动态调整占空比</a:t>
          </a:r>
          <a:endParaRPr lang="zh-CN" dirty="0"/>
        </a:p>
      </dgm:t>
    </dgm:pt>
    <dgm:pt modelId="{15FD66DC-7B9B-4E05-85A7-2EFF6F3A824D}" type="parTrans" cxnId="{AF0BD649-B880-4661-8F26-78184A7DB684}">
      <dgm:prSet/>
      <dgm:spPr/>
      <dgm:t>
        <a:bodyPr/>
        <a:lstStyle/>
        <a:p>
          <a:endParaRPr lang="zh-CN" altLang="en-US"/>
        </a:p>
      </dgm:t>
    </dgm:pt>
    <dgm:pt modelId="{4D0DD40D-3720-4B00-838F-DF9ECE422485}" type="sibTrans" cxnId="{AF0BD649-B880-4661-8F26-78184A7DB684}">
      <dgm:prSet/>
      <dgm:spPr/>
      <dgm:t>
        <a:bodyPr/>
        <a:lstStyle/>
        <a:p>
          <a:endParaRPr lang="zh-CN" altLang="en-US"/>
        </a:p>
      </dgm:t>
    </dgm:pt>
    <dgm:pt modelId="{468806F1-81EF-4C3B-814A-88C4B5E9927F}">
      <dgm:prSet/>
      <dgm:spPr/>
      <dgm:t>
        <a:bodyPr/>
        <a:lstStyle/>
        <a:p>
          <a:r>
            <a:rPr lang="zh-CN" b="0" i="0" baseline="0" dirty="0"/>
            <a:t>角度θ对应的脉宽=0.5ms + (θ/180°)×2ms。</a:t>
          </a:r>
          <a:endParaRPr lang="zh-CN" dirty="0"/>
        </a:p>
      </dgm:t>
    </dgm:pt>
    <dgm:pt modelId="{0DB5E129-EC3A-4659-88BE-9AA2EE9F4108}" type="parTrans" cxnId="{9D6B48D7-047A-4D54-BB5A-7480F66AB195}">
      <dgm:prSet/>
      <dgm:spPr/>
      <dgm:t>
        <a:bodyPr/>
        <a:lstStyle/>
        <a:p>
          <a:endParaRPr lang="zh-CN" altLang="en-US"/>
        </a:p>
      </dgm:t>
    </dgm:pt>
    <dgm:pt modelId="{AC626442-37A2-4722-A7A1-973FB4823518}" type="sibTrans" cxnId="{9D6B48D7-047A-4D54-BB5A-7480F66AB195}">
      <dgm:prSet/>
      <dgm:spPr/>
      <dgm:t>
        <a:bodyPr/>
        <a:lstStyle/>
        <a:p>
          <a:endParaRPr lang="zh-CN" altLang="en-US"/>
        </a:p>
      </dgm:t>
    </dgm:pt>
    <dgm:pt modelId="{DD5D8522-55B9-47F5-A1B6-D00A42999925}">
      <dgm:prSet/>
      <dgm:spPr/>
      <dgm:t>
        <a:bodyPr/>
        <a:lstStyle/>
        <a:p>
          <a:r>
            <a:rPr lang="zh-CN" b="0" i="0" baseline="0" dirty="0"/>
            <a:t>舵机控制信号的标准周期为20ms（频率约50Hz）。需通过单片机或控制器配置PWM模块的周期寄存器，确保输出信号周期稳定在20ms。</a:t>
          </a:r>
          <a:endParaRPr lang="zh-CN" dirty="0"/>
        </a:p>
      </dgm:t>
    </dgm:pt>
    <dgm:pt modelId="{FEB1E985-A0C1-4DA3-8FC0-6AC92CBEE2CC}" type="parTrans" cxnId="{DA09D237-1960-4CD8-A1F5-286F36FB782D}">
      <dgm:prSet/>
      <dgm:spPr/>
      <dgm:t>
        <a:bodyPr/>
        <a:lstStyle/>
        <a:p>
          <a:endParaRPr lang="zh-CN" altLang="en-US"/>
        </a:p>
      </dgm:t>
    </dgm:pt>
    <dgm:pt modelId="{D6733A2F-812B-4815-97EC-4016A0DC743E}" type="sibTrans" cxnId="{DA09D237-1960-4CD8-A1F5-286F36FB782D}">
      <dgm:prSet/>
      <dgm:spPr/>
      <dgm:t>
        <a:bodyPr/>
        <a:lstStyle/>
        <a:p>
          <a:endParaRPr lang="zh-CN" altLang="en-US"/>
        </a:p>
      </dgm:t>
    </dgm:pt>
    <dgm:pt modelId="{EDF18FC0-7F31-42D3-9F6E-AEE982E34862}">
      <dgm:prSet/>
      <dgm:spPr/>
      <dgm:t>
        <a:bodyPr/>
        <a:lstStyle/>
        <a:p>
          <a:r>
            <a:rPr lang="zh-CN" b="0" i="0" baseline="0" dirty="0"/>
            <a:t>脉冲高电平宽度决定舵机转角</a:t>
          </a:r>
          <a:endParaRPr lang="zh-CN" dirty="0"/>
        </a:p>
      </dgm:t>
    </dgm:pt>
    <dgm:pt modelId="{132300AB-F214-44B3-A25B-C8DA440C37F8}" type="parTrans" cxnId="{6DD9911A-B734-4B09-8F23-8C03034DBF3F}">
      <dgm:prSet/>
      <dgm:spPr/>
      <dgm:t>
        <a:bodyPr/>
        <a:lstStyle/>
        <a:p>
          <a:endParaRPr lang="zh-CN" altLang="en-US"/>
        </a:p>
      </dgm:t>
    </dgm:pt>
    <dgm:pt modelId="{D4E19ACA-12DD-44AC-BCD1-6A4F22613E73}" type="sibTrans" cxnId="{6DD9911A-B734-4B09-8F23-8C03034DBF3F}">
      <dgm:prSet/>
      <dgm:spPr/>
      <dgm:t>
        <a:bodyPr/>
        <a:lstStyle/>
        <a:p>
          <a:endParaRPr lang="zh-CN" altLang="en-US"/>
        </a:p>
      </dgm:t>
    </dgm:pt>
    <dgm:pt modelId="{3CA39D35-6873-462F-B1AF-253C1C967ADE}">
      <dgm:prSet/>
      <dgm:spPr/>
      <dgm:t>
        <a:bodyPr/>
        <a:lstStyle/>
        <a:p>
          <a:r>
            <a:rPr lang="zh-CN" b="0" i="0" baseline="0" dirty="0"/>
            <a:t>通过单片机的PWM输出引脚，按设定周期和占空比输出信号。</a:t>
          </a:r>
          <a:endParaRPr lang="zh-CN" dirty="0"/>
        </a:p>
      </dgm:t>
    </dgm:pt>
    <dgm:pt modelId="{97FB1727-E7E3-4301-9451-E37450DA9886}" type="parTrans" cxnId="{DF7C85AF-6DC6-4DDF-B3E9-BC2F599373AB}">
      <dgm:prSet/>
      <dgm:spPr/>
      <dgm:t>
        <a:bodyPr/>
        <a:lstStyle/>
        <a:p>
          <a:endParaRPr lang="zh-CN" altLang="en-US"/>
        </a:p>
      </dgm:t>
    </dgm:pt>
    <dgm:pt modelId="{37225C02-69B1-4F12-A8A7-0577F6C6F745}" type="sibTrans" cxnId="{DF7C85AF-6DC6-4DDF-B3E9-BC2F599373AB}">
      <dgm:prSet/>
      <dgm:spPr/>
      <dgm:t>
        <a:bodyPr/>
        <a:lstStyle/>
        <a:p>
          <a:endParaRPr lang="zh-CN" altLang="en-US"/>
        </a:p>
      </dgm:t>
    </dgm:pt>
    <dgm:pt modelId="{C533CDF1-BFFD-42FF-8AF3-13242FEF964E}">
      <dgm:prSet/>
      <dgm:spPr/>
      <dgm:t>
        <a:bodyPr/>
        <a:lstStyle/>
        <a:p>
          <a:r>
            <a:rPr lang="zh-CN" b="0" i="0" baseline="0" dirty="0"/>
            <a:t>通过改变PWM的占空比（即脉冲宽度），控制舵机转动到目标角度。例如：</a:t>
          </a:r>
          <a:endParaRPr lang="zh-CN" dirty="0"/>
        </a:p>
      </dgm:t>
    </dgm:pt>
    <dgm:pt modelId="{164A6BC7-62E1-4ABB-B9C9-740BD52916E7}" type="parTrans" cxnId="{1AAFAA2E-50E1-463D-9084-ECEB7AFAE613}">
      <dgm:prSet/>
      <dgm:spPr/>
      <dgm:t>
        <a:bodyPr/>
        <a:lstStyle/>
        <a:p>
          <a:endParaRPr lang="zh-CN" altLang="en-US"/>
        </a:p>
      </dgm:t>
    </dgm:pt>
    <dgm:pt modelId="{1724B449-8C51-456D-929E-3BDA81A2E636}" type="sibTrans" cxnId="{1AAFAA2E-50E1-463D-9084-ECEB7AFAE613}">
      <dgm:prSet/>
      <dgm:spPr/>
      <dgm:t>
        <a:bodyPr/>
        <a:lstStyle/>
        <a:p>
          <a:endParaRPr lang="zh-CN" altLang="en-US"/>
        </a:p>
      </dgm:t>
    </dgm:pt>
    <dgm:pt modelId="{43114DEA-CACA-48FA-BC64-7902F33320C5}">
      <dgm:prSet/>
      <dgm:spPr/>
      <dgm:t>
        <a:bodyPr/>
        <a:lstStyle/>
        <a:p>
          <a:r>
            <a:rPr lang="zh-CN" b="0" i="0" baseline="0" dirty="0"/>
            <a:t>需根据具体舵机参数调整。</a:t>
          </a:r>
          <a:endParaRPr lang="zh-CN" dirty="0"/>
        </a:p>
      </dgm:t>
    </dgm:pt>
    <dgm:pt modelId="{6454AA84-768C-4172-8391-8B1E8359F658}" type="parTrans" cxnId="{49E26863-0C5A-46D2-AC9F-0707D20D1473}">
      <dgm:prSet/>
      <dgm:spPr/>
      <dgm:t>
        <a:bodyPr/>
        <a:lstStyle/>
        <a:p>
          <a:endParaRPr lang="zh-CN" altLang="en-US"/>
        </a:p>
      </dgm:t>
    </dgm:pt>
    <dgm:pt modelId="{A16C22AB-954B-401C-9547-5101D286D9E9}" type="sibTrans" cxnId="{49E26863-0C5A-46D2-AC9F-0707D20D1473}">
      <dgm:prSet/>
      <dgm:spPr/>
      <dgm:t>
        <a:bodyPr/>
        <a:lstStyle/>
        <a:p>
          <a:endParaRPr lang="zh-CN" altLang="en-US"/>
        </a:p>
      </dgm:t>
    </dgm:pt>
    <dgm:pt modelId="{35E19307-36C6-4C36-B155-04BAD2D2E24C}" type="pres">
      <dgm:prSet presAssocID="{3667A2DD-EAC1-481E-B2C8-7D8F74D898F0}" presName="linear" presStyleCnt="0">
        <dgm:presLayoutVars>
          <dgm:dir/>
          <dgm:animLvl val="lvl"/>
          <dgm:resizeHandles val="exact"/>
        </dgm:presLayoutVars>
      </dgm:prSet>
      <dgm:spPr/>
    </dgm:pt>
    <dgm:pt modelId="{1221C951-EED0-4966-82DF-612ED73F0BB3}" type="pres">
      <dgm:prSet presAssocID="{757F43A3-DEC7-4155-BAB2-7B626C5A44A2}" presName="parentLin" presStyleCnt="0"/>
      <dgm:spPr/>
    </dgm:pt>
    <dgm:pt modelId="{8A077DB7-06C6-4EEA-A2F7-5BFAAC9D84F8}" type="pres">
      <dgm:prSet presAssocID="{757F43A3-DEC7-4155-BAB2-7B626C5A44A2}" presName="parentLeftMargin" presStyleLbl="node1" presStyleIdx="0" presStyleCnt="4"/>
      <dgm:spPr/>
    </dgm:pt>
    <dgm:pt modelId="{B96D61F5-1AFC-4144-99C7-7303A4AB0719}" type="pres">
      <dgm:prSet presAssocID="{757F43A3-DEC7-4155-BAB2-7B626C5A44A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7DAEEF7-EAF1-4477-BCAE-A0ED373037C6}" type="pres">
      <dgm:prSet presAssocID="{757F43A3-DEC7-4155-BAB2-7B626C5A44A2}" presName="negativeSpace" presStyleCnt="0"/>
      <dgm:spPr/>
    </dgm:pt>
    <dgm:pt modelId="{04CEE4AF-FE44-49BB-BD8B-70EF7C941CCC}" type="pres">
      <dgm:prSet presAssocID="{757F43A3-DEC7-4155-BAB2-7B626C5A44A2}" presName="childText" presStyleLbl="conFgAcc1" presStyleIdx="0" presStyleCnt="4">
        <dgm:presLayoutVars>
          <dgm:bulletEnabled val="1"/>
        </dgm:presLayoutVars>
      </dgm:prSet>
      <dgm:spPr/>
    </dgm:pt>
    <dgm:pt modelId="{902CAB59-DF42-4B77-BB14-A5AFA8304E8C}" type="pres">
      <dgm:prSet presAssocID="{D7C4AD3D-25B2-4DA3-8F5E-58A6C9A4FF4A}" presName="spaceBetweenRectangles" presStyleCnt="0"/>
      <dgm:spPr/>
    </dgm:pt>
    <dgm:pt modelId="{D893B414-4885-4FF3-BAC4-882F92D58AF7}" type="pres">
      <dgm:prSet presAssocID="{293D7B6C-68AD-4354-B4EE-60DA22E0E285}" presName="parentLin" presStyleCnt="0"/>
      <dgm:spPr/>
    </dgm:pt>
    <dgm:pt modelId="{C04F66A3-64E3-4421-A15B-6710CAE31D9A}" type="pres">
      <dgm:prSet presAssocID="{293D7B6C-68AD-4354-B4EE-60DA22E0E285}" presName="parentLeftMargin" presStyleLbl="node1" presStyleIdx="0" presStyleCnt="4"/>
      <dgm:spPr/>
    </dgm:pt>
    <dgm:pt modelId="{BE9FB509-E717-4C6A-9018-9D27AB511121}" type="pres">
      <dgm:prSet presAssocID="{293D7B6C-68AD-4354-B4EE-60DA22E0E28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054E3AD-A132-42B5-9432-0BC2A7F780E2}" type="pres">
      <dgm:prSet presAssocID="{293D7B6C-68AD-4354-B4EE-60DA22E0E285}" presName="negativeSpace" presStyleCnt="0"/>
      <dgm:spPr/>
    </dgm:pt>
    <dgm:pt modelId="{FA166577-64D4-4B4C-A787-2FC3FF25942C}" type="pres">
      <dgm:prSet presAssocID="{293D7B6C-68AD-4354-B4EE-60DA22E0E285}" presName="childText" presStyleLbl="conFgAcc1" presStyleIdx="1" presStyleCnt="4">
        <dgm:presLayoutVars>
          <dgm:bulletEnabled val="1"/>
        </dgm:presLayoutVars>
      </dgm:prSet>
      <dgm:spPr/>
    </dgm:pt>
    <dgm:pt modelId="{0E72AFBD-791A-4CFA-9905-742564E2EF3D}" type="pres">
      <dgm:prSet presAssocID="{CDA02D85-0F21-4FCD-BAE5-B9A29E048493}" presName="spaceBetweenRectangles" presStyleCnt="0"/>
      <dgm:spPr/>
    </dgm:pt>
    <dgm:pt modelId="{CB60A12C-6BB9-4802-998D-82E8AB758281}" type="pres">
      <dgm:prSet presAssocID="{5C406675-6AAB-41DC-9603-F8F03A0B0B74}" presName="parentLin" presStyleCnt="0"/>
      <dgm:spPr/>
    </dgm:pt>
    <dgm:pt modelId="{C7C28FAE-704B-43B2-BD98-1DA7602406C7}" type="pres">
      <dgm:prSet presAssocID="{5C406675-6AAB-41DC-9603-F8F03A0B0B74}" presName="parentLeftMargin" presStyleLbl="node1" presStyleIdx="1" presStyleCnt="4"/>
      <dgm:spPr/>
    </dgm:pt>
    <dgm:pt modelId="{F2F3CAA7-0478-45F2-AF37-CA56F4ECB6F9}" type="pres">
      <dgm:prSet presAssocID="{5C406675-6AAB-41DC-9603-F8F03A0B0B7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8AA915C-2256-4671-A6A7-B5E322B2BD22}" type="pres">
      <dgm:prSet presAssocID="{5C406675-6AAB-41DC-9603-F8F03A0B0B74}" presName="negativeSpace" presStyleCnt="0"/>
      <dgm:spPr/>
    </dgm:pt>
    <dgm:pt modelId="{7ABB0024-7592-4CBF-B0DE-771D1BD3AA72}" type="pres">
      <dgm:prSet presAssocID="{5C406675-6AAB-41DC-9603-F8F03A0B0B74}" presName="childText" presStyleLbl="conFgAcc1" presStyleIdx="2" presStyleCnt="4">
        <dgm:presLayoutVars>
          <dgm:bulletEnabled val="1"/>
        </dgm:presLayoutVars>
      </dgm:prSet>
      <dgm:spPr/>
    </dgm:pt>
    <dgm:pt modelId="{078524B6-624D-4C5F-B19D-1B8C74C78BBC}" type="pres">
      <dgm:prSet presAssocID="{A07DBDD4-4201-4817-9157-323F144B2490}" presName="spaceBetweenRectangles" presStyleCnt="0"/>
      <dgm:spPr/>
    </dgm:pt>
    <dgm:pt modelId="{05184F81-0AA4-4E14-861E-BE472F8845A8}" type="pres">
      <dgm:prSet presAssocID="{CA164D94-67F9-439E-B31F-2D4A48D94ABB}" presName="parentLin" presStyleCnt="0"/>
      <dgm:spPr/>
    </dgm:pt>
    <dgm:pt modelId="{4B924CC8-3120-4307-A60D-4227F4C3A850}" type="pres">
      <dgm:prSet presAssocID="{CA164D94-67F9-439E-B31F-2D4A48D94ABB}" presName="parentLeftMargin" presStyleLbl="node1" presStyleIdx="2" presStyleCnt="4"/>
      <dgm:spPr/>
    </dgm:pt>
    <dgm:pt modelId="{580B8543-1582-4FA5-B6CF-8F5017156AA9}" type="pres">
      <dgm:prSet presAssocID="{CA164D94-67F9-439E-B31F-2D4A48D94AB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42EA3CA-1CD5-4707-8ADC-4D60A70016DE}" type="pres">
      <dgm:prSet presAssocID="{CA164D94-67F9-439E-B31F-2D4A48D94ABB}" presName="negativeSpace" presStyleCnt="0"/>
      <dgm:spPr/>
    </dgm:pt>
    <dgm:pt modelId="{52AD13EC-4A50-4FC9-8B9D-3144EA69C4CB}" type="pres">
      <dgm:prSet presAssocID="{CA164D94-67F9-439E-B31F-2D4A48D94ABB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5E2F818-5552-4507-BCF2-D9C78AB8D92C}" type="presOf" srcId="{293D7B6C-68AD-4354-B4EE-60DA22E0E285}" destId="{C04F66A3-64E3-4421-A15B-6710CAE31D9A}" srcOrd="0" destOrd="0" presId="urn:microsoft.com/office/officeart/2005/8/layout/list1"/>
    <dgm:cxn modelId="{6DD9911A-B734-4B09-8F23-8C03034DBF3F}" srcId="{293D7B6C-68AD-4354-B4EE-60DA22E0E285}" destId="{EDF18FC0-7F31-42D3-9F6E-AEE982E34862}" srcOrd="0" destOrd="0" parTransId="{132300AB-F214-44B3-A25B-C8DA440C37F8}" sibTransId="{D4E19ACA-12DD-44AC-BCD1-6A4F22613E73}"/>
    <dgm:cxn modelId="{88996E1E-BA79-4DB4-967D-32FFD858C142}" type="presOf" srcId="{757F43A3-DEC7-4155-BAB2-7B626C5A44A2}" destId="{8A077DB7-06C6-4EEA-A2F7-5BFAAC9D84F8}" srcOrd="0" destOrd="0" presId="urn:microsoft.com/office/officeart/2005/8/layout/list1"/>
    <dgm:cxn modelId="{77CDAE27-AC29-4651-AB0A-92E2D5094857}" type="presOf" srcId="{757F43A3-DEC7-4155-BAB2-7B626C5A44A2}" destId="{B96D61F5-1AFC-4144-99C7-7303A4AB0719}" srcOrd="1" destOrd="0" presId="urn:microsoft.com/office/officeart/2005/8/layout/list1"/>
    <dgm:cxn modelId="{1AAFAA2E-50E1-463D-9084-ECEB7AFAE613}" srcId="{CA164D94-67F9-439E-B31F-2D4A48D94ABB}" destId="{C533CDF1-BFFD-42FF-8AF3-13242FEF964E}" srcOrd="0" destOrd="0" parTransId="{164A6BC7-62E1-4ABB-B9C9-740BD52916E7}" sibTransId="{1724B449-8C51-456D-929E-3BDA81A2E636}"/>
    <dgm:cxn modelId="{DA09D237-1960-4CD8-A1F5-286F36FB782D}" srcId="{757F43A3-DEC7-4155-BAB2-7B626C5A44A2}" destId="{DD5D8522-55B9-47F5-A1B6-D00A42999925}" srcOrd="0" destOrd="0" parTransId="{FEB1E985-A0C1-4DA3-8FC0-6AC92CBEE2CC}" sibTransId="{D6733A2F-812B-4815-97EC-4016A0DC743E}"/>
    <dgm:cxn modelId="{49E26863-0C5A-46D2-AC9F-0707D20D1473}" srcId="{293D7B6C-68AD-4354-B4EE-60DA22E0E285}" destId="{43114DEA-CACA-48FA-BC64-7902F33320C5}" srcOrd="1" destOrd="0" parTransId="{6454AA84-768C-4172-8391-8B1E8359F658}" sibTransId="{A16C22AB-954B-401C-9547-5101D286D9E9}"/>
    <dgm:cxn modelId="{021F4448-BBE3-4C59-8728-CFD17510F227}" type="presOf" srcId="{CA164D94-67F9-439E-B31F-2D4A48D94ABB}" destId="{4B924CC8-3120-4307-A60D-4227F4C3A850}" srcOrd="0" destOrd="0" presId="urn:microsoft.com/office/officeart/2005/8/layout/list1"/>
    <dgm:cxn modelId="{AF0BD649-B880-4661-8F26-78184A7DB684}" srcId="{3667A2DD-EAC1-481E-B2C8-7D8F74D898F0}" destId="{CA164D94-67F9-439E-B31F-2D4A48D94ABB}" srcOrd="3" destOrd="0" parTransId="{15FD66DC-7B9B-4E05-85A7-2EFF6F3A824D}" sibTransId="{4D0DD40D-3720-4B00-838F-DF9ECE422485}"/>
    <dgm:cxn modelId="{5BB1D54D-4355-47DD-8C27-CBBF01A40B9C}" type="presOf" srcId="{3CA39D35-6873-462F-B1AF-253C1C967ADE}" destId="{7ABB0024-7592-4CBF-B0DE-771D1BD3AA72}" srcOrd="0" destOrd="0" presId="urn:microsoft.com/office/officeart/2005/8/layout/list1"/>
    <dgm:cxn modelId="{AE2C9B6E-EE95-4F78-B9ED-41ADDCEE0109}" type="presOf" srcId="{468806F1-81EF-4C3B-814A-88C4B5E9927F}" destId="{52AD13EC-4A50-4FC9-8B9D-3144EA69C4CB}" srcOrd="0" destOrd="1" presId="urn:microsoft.com/office/officeart/2005/8/layout/list1"/>
    <dgm:cxn modelId="{287BF66F-E91C-4758-BB5B-6CDAB4F71B38}" type="presOf" srcId="{DD5D8522-55B9-47F5-A1B6-D00A42999925}" destId="{04CEE4AF-FE44-49BB-BD8B-70EF7C941CCC}" srcOrd="0" destOrd="0" presId="urn:microsoft.com/office/officeart/2005/8/layout/list1"/>
    <dgm:cxn modelId="{7AD63D53-F2BC-4C7E-A259-F88D3CBB6212}" type="presOf" srcId="{43114DEA-CACA-48FA-BC64-7902F33320C5}" destId="{FA166577-64D4-4B4C-A787-2FC3FF25942C}" srcOrd="0" destOrd="1" presId="urn:microsoft.com/office/officeart/2005/8/layout/list1"/>
    <dgm:cxn modelId="{D408C673-BE34-432A-A10F-1B1698124595}" type="presOf" srcId="{3667A2DD-EAC1-481E-B2C8-7D8F74D898F0}" destId="{35E19307-36C6-4C36-B155-04BAD2D2E24C}" srcOrd="0" destOrd="0" presId="urn:microsoft.com/office/officeart/2005/8/layout/list1"/>
    <dgm:cxn modelId="{2F8B1575-1499-48C9-9EB8-7D32ECBFECEA}" type="presOf" srcId="{CA164D94-67F9-439E-B31F-2D4A48D94ABB}" destId="{580B8543-1582-4FA5-B6CF-8F5017156AA9}" srcOrd="1" destOrd="0" presId="urn:microsoft.com/office/officeart/2005/8/layout/list1"/>
    <dgm:cxn modelId="{199C348A-F3B2-4263-8284-82BE63A9DBB2}" type="presOf" srcId="{5C406675-6AAB-41DC-9603-F8F03A0B0B74}" destId="{C7C28FAE-704B-43B2-BD98-1DA7602406C7}" srcOrd="0" destOrd="0" presId="urn:microsoft.com/office/officeart/2005/8/layout/list1"/>
    <dgm:cxn modelId="{F0DC7590-9B0E-4D78-A18C-B4F638F62F02}" srcId="{3667A2DD-EAC1-481E-B2C8-7D8F74D898F0}" destId="{5C406675-6AAB-41DC-9603-F8F03A0B0B74}" srcOrd="2" destOrd="0" parTransId="{D198DA97-2EA4-404A-977C-289B957A1465}" sibTransId="{A07DBDD4-4201-4817-9157-323F144B2490}"/>
    <dgm:cxn modelId="{029992A8-FFC3-42EE-9976-C45BB30D7CC3}" type="presOf" srcId="{293D7B6C-68AD-4354-B4EE-60DA22E0E285}" destId="{BE9FB509-E717-4C6A-9018-9D27AB511121}" srcOrd="1" destOrd="0" presId="urn:microsoft.com/office/officeart/2005/8/layout/list1"/>
    <dgm:cxn modelId="{DF7C85AF-6DC6-4DDF-B3E9-BC2F599373AB}" srcId="{5C406675-6AAB-41DC-9603-F8F03A0B0B74}" destId="{3CA39D35-6873-462F-B1AF-253C1C967ADE}" srcOrd="0" destOrd="0" parTransId="{97FB1727-E7E3-4301-9451-E37450DA9886}" sibTransId="{37225C02-69B1-4F12-A8A7-0577F6C6F745}"/>
    <dgm:cxn modelId="{8286E1C0-B1EF-4A0C-81C1-C3F5397E5A9C}" type="presOf" srcId="{EDF18FC0-7F31-42D3-9F6E-AEE982E34862}" destId="{FA166577-64D4-4B4C-A787-2FC3FF25942C}" srcOrd="0" destOrd="0" presId="urn:microsoft.com/office/officeart/2005/8/layout/list1"/>
    <dgm:cxn modelId="{24F45AD6-C971-4A03-9FBE-78F20D33CF80}" srcId="{3667A2DD-EAC1-481E-B2C8-7D8F74D898F0}" destId="{757F43A3-DEC7-4155-BAB2-7B626C5A44A2}" srcOrd="0" destOrd="0" parTransId="{4685A876-398E-4703-90A9-D12C7D1F9444}" sibTransId="{D7C4AD3D-25B2-4DA3-8F5E-58A6C9A4FF4A}"/>
    <dgm:cxn modelId="{8E3CBBD6-3914-4CB4-A68A-847950B4A0D8}" type="presOf" srcId="{C533CDF1-BFFD-42FF-8AF3-13242FEF964E}" destId="{52AD13EC-4A50-4FC9-8B9D-3144EA69C4CB}" srcOrd="0" destOrd="0" presId="urn:microsoft.com/office/officeart/2005/8/layout/list1"/>
    <dgm:cxn modelId="{9D6B48D7-047A-4D54-BB5A-7480F66AB195}" srcId="{CA164D94-67F9-439E-B31F-2D4A48D94ABB}" destId="{468806F1-81EF-4C3B-814A-88C4B5E9927F}" srcOrd="1" destOrd="0" parTransId="{0DB5E129-EC3A-4659-88BE-9AA2EE9F4108}" sibTransId="{AC626442-37A2-4722-A7A1-973FB4823518}"/>
    <dgm:cxn modelId="{F0DB36DA-5E06-4FB0-8EAD-F3103FF888CC}" srcId="{3667A2DD-EAC1-481E-B2C8-7D8F74D898F0}" destId="{293D7B6C-68AD-4354-B4EE-60DA22E0E285}" srcOrd="1" destOrd="0" parTransId="{23B64589-74B8-47E6-81B7-8ECCD2773BBA}" sibTransId="{CDA02D85-0F21-4FCD-BAE5-B9A29E048493}"/>
    <dgm:cxn modelId="{6B42D8DD-3D08-4BFA-B37F-158F2F6E66DC}" type="presOf" srcId="{5C406675-6AAB-41DC-9603-F8F03A0B0B74}" destId="{F2F3CAA7-0478-45F2-AF37-CA56F4ECB6F9}" srcOrd="1" destOrd="0" presId="urn:microsoft.com/office/officeart/2005/8/layout/list1"/>
    <dgm:cxn modelId="{49DCED59-D763-4829-A4AB-DB0124A599D3}" type="presParOf" srcId="{35E19307-36C6-4C36-B155-04BAD2D2E24C}" destId="{1221C951-EED0-4966-82DF-612ED73F0BB3}" srcOrd="0" destOrd="0" presId="urn:microsoft.com/office/officeart/2005/8/layout/list1"/>
    <dgm:cxn modelId="{3B872DF2-A877-42B8-B584-807D19578CDF}" type="presParOf" srcId="{1221C951-EED0-4966-82DF-612ED73F0BB3}" destId="{8A077DB7-06C6-4EEA-A2F7-5BFAAC9D84F8}" srcOrd="0" destOrd="0" presId="urn:microsoft.com/office/officeart/2005/8/layout/list1"/>
    <dgm:cxn modelId="{5D5C990F-BB28-45C3-B38A-0B65ADA1FFFD}" type="presParOf" srcId="{1221C951-EED0-4966-82DF-612ED73F0BB3}" destId="{B96D61F5-1AFC-4144-99C7-7303A4AB0719}" srcOrd="1" destOrd="0" presId="urn:microsoft.com/office/officeart/2005/8/layout/list1"/>
    <dgm:cxn modelId="{7060387C-C1AF-4254-BB23-95CF95015F56}" type="presParOf" srcId="{35E19307-36C6-4C36-B155-04BAD2D2E24C}" destId="{F7DAEEF7-EAF1-4477-BCAE-A0ED373037C6}" srcOrd="1" destOrd="0" presId="urn:microsoft.com/office/officeart/2005/8/layout/list1"/>
    <dgm:cxn modelId="{E9047707-3A53-4C5E-B9AD-AB5465C56668}" type="presParOf" srcId="{35E19307-36C6-4C36-B155-04BAD2D2E24C}" destId="{04CEE4AF-FE44-49BB-BD8B-70EF7C941CCC}" srcOrd="2" destOrd="0" presId="urn:microsoft.com/office/officeart/2005/8/layout/list1"/>
    <dgm:cxn modelId="{E7AA0B7E-D543-42BC-8EC8-81786B5ABCE0}" type="presParOf" srcId="{35E19307-36C6-4C36-B155-04BAD2D2E24C}" destId="{902CAB59-DF42-4B77-BB14-A5AFA8304E8C}" srcOrd="3" destOrd="0" presId="urn:microsoft.com/office/officeart/2005/8/layout/list1"/>
    <dgm:cxn modelId="{175290BD-992A-4BBB-BF42-18E72EC2A9FF}" type="presParOf" srcId="{35E19307-36C6-4C36-B155-04BAD2D2E24C}" destId="{D893B414-4885-4FF3-BAC4-882F92D58AF7}" srcOrd="4" destOrd="0" presId="urn:microsoft.com/office/officeart/2005/8/layout/list1"/>
    <dgm:cxn modelId="{32531A34-8495-47D1-A311-985007123F1C}" type="presParOf" srcId="{D893B414-4885-4FF3-BAC4-882F92D58AF7}" destId="{C04F66A3-64E3-4421-A15B-6710CAE31D9A}" srcOrd="0" destOrd="0" presId="urn:microsoft.com/office/officeart/2005/8/layout/list1"/>
    <dgm:cxn modelId="{6D0F34AF-7AAE-496D-ADC2-8C9E9C17BA4B}" type="presParOf" srcId="{D893B414-4885-4FF3-BAC4-882F92D58AF7}" destId="{BE9FB509-E717-4C6A-9018-9D27AB511121}" srcOrd="1" destOrd="0" presId="urn:microsoft.com/office/officeart/2005/8/layout/list1"/>
    <dgm:cxn modelId="{051C19CC-AEB9-4884-93CB-646EE30F02AD}" type="presParOf" srcId="{35E19307-36C6-4C36-B155-04BAD2D2E24C}" destId="{F054E3AD-A132-42B5-9432-0BC2A7F780E2}" srcOrd="5" destOrd="0" presId="urn:microsoft.com/office/officeart/2005/8/layout/list1"/>
    <dgm:cxn modelId="{EC637AE9-4D73-4E24-990D-0082470163BA}" type="presParOf" srcId="{35E19307-36C6-4C36-B155-04BAD2D2E24C}" destId="{FA166577-64D4-4B4C-A787-2FC3FF25942C}" srcOrd="6" destOrd="0" presId="urn:microsoft.com/office/officeart/2005/8/layout/list1"/>
    <dgm:cxn modelId="{C233AE3C-D12E-4D3C-A931-2A643D8A5252}" type="presParOf" srcId="{35E19307-36C6-4C36-B155-04BAD2D2E24C}" destId="{0E72AFBD-791A-4CFA-9905-742564E2EF3D}" srcOrd="7" destOrd="0" presId="urn:microsoft.com/office/officeart/2005/8/layout/list1"/>
    <dgm:cxn modelId="{6B7CCB12-9069-4DB4-86C9-142525AA50C8}" type="presParOf" srcId="{35E19307-36C6-4C36-B155-04BAD2D2E24C}" destId="{CB60A12C-6BB9-4802-998D-82E8AB758281}" srcOrd="8" destOrd="0" presId="urn:microsoft.com/office/officeart/2005/8/layout/list1"/>
    <dgm:cxn modelId="{8AC33308-27BE-48C7-9E59-226398DF97FD}" type="presParOf" srcId="{CB60A12C-6BB9-4802-998D-82E8AB758281}" destId="{C7C28FAE-704B-43B2-BD98-1DA7602406C7}" srcOrd="0" destOrd="0" presId="urn:microsoft.com/office/officeart/2005/8/layout/list1"/>
    <dgm:cxn modelId="{85CF7D94-3D70-4066-A714-F9B8F8E243AF}" type="presParOf" srcId="{CB60A12C-6BB9-4802-998D-82E8AB758281}" destId="{F2F3CAA7-0478-45F2-AF37-CA56F4ECB6F9}" srcOrd="1" destOrd="0" presId="urn:microsoft.com/office/officeart/2005/8/layout/list1"/>
    <dgm:cxn modelId="{D5437712-6383-4330-B06D-0789D290814C}" type="presParOf" srcId="{35E19307-36C6-4C36-B155-04BAD2D2E24C}" destId="{B8AA915C-2256-4671-A6A7-B5E322B2BD22}" srcOrd="9" destOrd="0" presId="urn:microsoft.com/office/officeart/2005/8/layout/list1"/>
    <dgm:cxn modelId="{65BA1774-0DEA-4FFC-B15B-D12CDDCE891A}" type="presParOf" srcId="{35E19307-36C6-4C36-B155-04BAD2D2E24C}" destId="{7ABB0024-7592-4CBF-B0DE-771D1BD3AA72}" srcOrd="10" destOrd="0" presId="urn:microsoft.com/office/officeart/2005/8/layout/list1"/>
    <dgm:cxn modelId="{38441D7A-316B-4D3A-833F-C2F749A75198}" type="presParOf" srcId="{35E19307-36C6-4C36-B155-04BAD2D2E24C}" destId="{078524B6-624D-4C5F-B19D-1B8C74C78BBC}" srcOrd="11" destOrd="0" presId="urn:microsoft.com/office/officeart/2005/8/layout/list1"/>
    <dgm:cxn modelId="{D6CDDF28-0966-4ABC-ADAF-FB86A9C12E3D}" type="presParOf" srcId="{35E19307-36C6-4C36-B155-04BAD2D2E24C}" destId="{05184F81-0AA4-4E14-861E-BE472F8845A8}" srcOrd="12" destOrd="0" presId="urn:microsoft.com/office/officeart/2005/8/layout/list1"/>
    <dgm:cxn modelId="{000D21C2-28A1-4686-901E-E2E4649525E3}" type="presParOf" srcId="{05184F81-0AA4-4E14-861E-BE472F8845A8}" destId="{4B924CC8-3120-4307-A60D-4227F4C3A850}" srcOrd="0" destOrd="0" presId="urn:microsoft.com/office/officeart/2005/8/layout/list1"/>
    <dgm:cxn modelId="{E85F84EB-188E-42FD-B39A-BEA303374D32}" type="presParOf" srcId="{05184F81-0AA4-4E14-861E-BE472F8845A8}" destId="{580B8543-1582-4FA5-B6CF-8F5017156AA9}" srcOrd="1" destOrd="0" presId="urn:microsoft.com/office/officeart/2005/8/layout/list1"/>
    <dgm:cxn modelId="{EF62F02E-14F7-4B36-906C-1ED93855ABFA}" type="presParOf" srcId="{35E19307-36C6-4C36-B155-04BAD2D2E24C}" destId="{442EA3CA-1CD5-4707-8ADC-4D60A70016DE}" srcOrd="13" destOrd="0" presId="urn:microsoft.com/office/officeart/2005/8/layout/list1"/>
    <dgm:cxn modelId="{04A13DF2-14AF-4697-AE27-4412F9AB1438}" type="presParOf" srcId="{35E19307-36C6-4C36-B155-04BAD2D2E24C}" destId="{52AD13EC-4A50-4FC9-8B9D-3144EA69C4C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CEE4AF-FE44-49BB-BD8B-70EF7C941CCC}">
      <dsp:nvSpPr>
        <dsp:cNvPr id="0" name=""/>
        <dsp:cNvSpPr/>
      </dsp:nvSpPr>
      <dsp:spPr>
        <a:xfrm>
          <a:off x="0" y="242314"/>
          <a:ext cx="7199134" cy="120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733" tIns="333248" rIns="55873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b="0" i="0" kern="1200" baseline="0" dirty="0"/>
            <a:t>舵机控制信号的标准周期为20ms（频率约50Hz）。需通过单片机或控制器配置PWM模块的周期寄存器，确保输出信号周期稳定在20ms。</a:t>
          </a:r>
          <a:endParaRPr lang="zh-CN" sz="1600" kern="1200" dirty="0"/>
        </a:p>
      </dsp:txBody>
      <dsp:txXfrm>
        <a:off x="0" y="242314"/>
        <a:ext cx="7199134" cy="1209600"/>
      </dsp:txXfrm>
    </dsp:sp>
    <dsp:sp modelId="{B96D61F5-1AFC-4144-99C7-7303A4AB0719}">
      <dsp:nvSpPr>
        <dsp:cNvPr id="0" name=""/>
        <dsp:cNvSpPr/>
      </dsp:nvSpPr>
      <dsp:spPr>
        <a:xfrm>
          <a:off x="359956" y="6154"/>
          <a:ext cx="503939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477" tIns="0" rIns="19047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b="1" i="0" kern="1200" baseline="0" dirty="0"/>
            <a:t>设置PWM周期</a:t>
          </a:r>
          <a:endParaRPr lang="zh-CN" sz="1600" kern="1200" dirty="0"/>
        </a:p>
      </dsp:txBody>
      <dsp:txXfrm>
        <a:off x="383013" y="29211"/>
        <a:ext cx="4993279" cy="426206"/>
      </dsp:txXfrm>
    </dsp:sp>
    <dsp:sp modelId="{FA166577-64D4-4B4C-A787-2FC3FF25942C}">
      <dsp:nvSpPr>
        <dsp:cNvPr id="0" name=""/>
        <dsp:cNvSpPr/>
      </dsp:nvSpPr>
      <dsp:spPr>
        <a:xfrm>
          <a:off x="0" y="1774475"/>
          <a:ext cx="7199134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733" tIns="333248" rIns="55873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b="0" i="0" kern="1200" baseline="0" dirty="0"/>
            <a:t>脉冲高电平宽度决定舵机转角</a:t>
          </a:r>
          <a:endParaRPr lang="zh-C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b="0" i="0" kern="1200" baseline="0" dirty="0"/>
            <a:t>需根据具体舵机参数调整。</a:t>
          </a:r>
          <a:endParaRPr lang="zh-CN" sz="1600" kern="1200" dirty="0"/>
        </a:p>
      </dsp:txBody>
      <dsp:txXfrm>
        <a:off x="0" y="1774475"/>
        <a:ext cx="7199134" cy="1008000"/>
      </dsp:txXfrm>
    </dsp:sp>
    <dsp:sp modelId="{BE9FB509-E717-4C6A-9018-9D27AB511121}">
      <dsp:nvSpPr>
        <dsp:cNvPr id="0" name=""/>
        <dsp:cNvSpPr/>
      </dsp:nvSpPr>
      <dsp:spPr>
        <a:xfrm>
          <a:off x="359956" y="1538315"/>
          <a:ext cx="503939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477" tIns="0" rIns="19047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b="1" i="0" kern="1200" baseline="0" dirty="0"/>
            <a:t>确定脉冲宽度范围</a:t>
          </a:r>
          <a:endParaRPr lang="zh-CN" sz="1600" kern="1200" dirty="0"/>
        </a:p>
      </dsp:txBody>
      <dsp:txXfrm>
        <a:off x="383013" y="1561372"/>
        <a:ext cx="4993279" cy="426206"/>
      </dsp:txXfrm>
    </dsp:sp>
    <dsp:sp modelId="{7ABB0024-7592-4CBF-B0DE-771D1BD3AA72}">
      <dsp:nvSpPr>
        <dsp:cNvPr id="0" name=""/>
        <dsp:cNvSpPr/>
      </dsp:nvSpPr>
      <dsp:spPr>
        <a:xfrm>
          <a:off x="0" y="3105035"/>
          <a:ext cx="7199134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733" tIns="333248" rIns="55873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b="0" i="0" kern="1200" baseline="0" dirty="0"/>
            <a:t>通过单片机的PWM输出引脚，按设定周期和占空比输出信号。</a:t>
          </a:r>
          <a:endParaRPr lang="zh-CN" sz="1600" kern="1200" dirty="0"/>
        </a:p>
      </dsp:txBody>
      <dsp:txXfrm>
        <a:off x="0" y="3105035"/>
        <a:ext cx="7199134" cy="705600"/>
      </dsp:txXfrm>
    </dsp:sp>
    <dsp:sp modelId="{F2F3CAA7-0478-45F2-AF37-CA56F4ECB6F9}">
      <dsp:nvSpPr>
        <dsp:cNvPr id="0" name=""/>
        <dsp:cNvSpPr/>
      </dsp:nvSpPr>
      <dsp:spPr>
        <a:xfrm>
          <a:off x="359956" y="2868875"/>
          <a:ext cx="503939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477" tIns="0" rIns="19047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b="1" i="0" kern="1200" baseline="0" dirty="0"/>
            <a:t>生成PWM信号</a:t>
          </a:r>
          <a:endParaRPr lang="zh-CN" sz="1600" kern="1200" dirty="0"/>
        </a:p>
      </dsp:txBody>
      <dsp:txXfrm>
        <a:off x="383013" y="2891932"/>
        <a:ext cx="4993279" cy="426206"/>
      </dsp:txXfrm>
    </dsp:sp>
    <dsp:sp modelId="{52AD13EC-4A50-4FC9-8B9D-3144EA69C4CB}">
      <dsp:nvSpPr>
        <dsp:cNvPr id="0" name=""/>
        <dsp:cNvSpPr/>
      </dsp:nvSpPr>
      <dsp:spPr>
        <a:xfrm>
          <a:off x="0" y="4133195"/>
          <a:ext cx="7199134" cy="126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733" tIns="333248" rIns="55873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b="0" i="0" kern="1200" baseline="0" dirty="0"/>
            <a:t>通过改变PWM的占空比（即脉冲宽度），控制舵机转动到目标角度。例如：</a:t>
          </a:r>
          <a:endParaRPr lang="zh-C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b="0" i="0" kern="1200" baseline="0" dirty="0"/>
            <a:t>角度θ对应的脉宽=0.5ms + (θ/180°)×2ms。</a:t>
          </a:r>
          <a:endParaRPr lang="zh-CN" sz="1600" kern="1200" dirty="0"/>
        </a:p>
      </dsp:txBody>
      <dsp:txXfrm>
        <a:off x="0" y="4133195"/>
        <a:ext cx="7199134" cy="1260000"/>
      </dsp:txXfrm>
    </dsp:sp>
    <dsp:sp modelId="{580B8543-1582-4FA5-B6CF-8F5017156AA9}">
      <dsp:nvSpPr>
        <dsp:cNvPr id="0" name=""/>
        <dsp:cNvSpPr/>
      </dsp:nvSpPr>
      <dsp:spPr>
        <a:xfrm>
          <a:off x="359956" y="3897035"/>
          <a:ext cx="5039393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477" tIns="0" rIns="19047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b="1" i="0" kern="1200" baseline="0" dirty="0"/>
            <a:t>动态调整占空比</a:t>
          </a:r>
          <a:endParaRPr lang="zh-CN" sz="1600" kern="1200" dirty="0"/>
        </a:p>
      </dsp:txBody>
      <dsp:txXfrm>
        <a:off x="383013" y="3920092"/>
        <a:ext cx="4993279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2772701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5"/>
            <a:ext cx="10363200" cy="14700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3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8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C11651-619E-422E-94C3-B9413DCF9B4C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8" name="日期占位符 3"/>
          <p:cNvSpPr txBox="1"/>
          <p:nvPr userDrawn="1"/>
        </p:nvSpPr>
        <p:spPr>
          <a:xfrm>
            <a:off x="762099" y="6508832"/>
            <a:ext cx="2845170" cy="365040"/>
          </a:xfrm>
          <a:prstGeom prst="rect">
            <a:avLst/>
          </a:prstGeom>
        </p:spPr>
        <p:txBody>
          <a:bodyPr vert="horz" lIns="121889" tIns="60944" rIns="121889" bIns="60944" rtlCol="0" anchor="ctr"/>
          <a:lstStyle>
            <a:defPPr>
              <a:defRPr lang="zh-CN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092089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package" Target="../embeddings/Microsoft_Visio_Drawing.vsdx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6461430" y="4395929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1" y="2429876"/>
            <a:ext cx="4332956" cy="108581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2000" b="1" dirty="0" err="1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GenBotter</a:t>
            </a:r>
            <a:r>
              <a:rPr kumimoji="1" lang="zh-CN" altLang="en-US" sz="2000" b="1" dirty="0">
                <a:ln w="127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电机开发板上</a:t>
            </a:r>
            <a:endParaRPr kumimoji="1" lang="en-US" altLang="zh-CN" sz="2000" b="1" dirty="0">
              <a:ln w="12700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舵机部分的原理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【03-02】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15489734-E4FB-E959-AD64-F75CD948AF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013" y="2686347"/>
            <a:ext cx="2276445" cy="12270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8951365" cy="390527"/>
          </a:xfrm>
        </p:spPr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开发板上的电路原理图</a:t>
            </a:r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E378726D-4C30-FEA8-01EC-516DC5FCC22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844" y="890422"/>
            <a:ext cx="8143299" cy="5967578"/>
          </a:xfrm>
        </p:spPr>
      </p:pic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E8D2A0DE-F931-9DE4-61C9-27F0D5B83FA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 rotWithShape="1">
          <a:blip r:embed="rId2"/>
          <a:srcRect l="58364"/>
          <a:stretch/>
        </p:blipFill>
        <p:spPr>
          <a:xfrm>
            <a:off x="2527166" y="1396904"/>
            <a:ext cx="5929516" cy="3033677"/>
          </a:xfr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30DF71D-3D23-0EE3-2FB9-9EE73A29862C}"/>
              </a:ext>
            </a:extLst>
          </p:cNvPr>
          <p:cNvSpPr txBox="1"/>
          <p:nvPr/>
        </p:nvSpPr>
        <p:spPr>
          <a:xfrm>
            <a:off x="7212758" y="920044"/>
            <a:ext cx="4099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短接帽：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VCC_SRV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SRV+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短接，使用开发板上电源给舵机供电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3DC1058-7024-F0BE-7539-D694B268C6A0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760543" y="1751041"/>
            <a:ext cx="1502053" cy="1112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52E7A95-360A-B5D4-B142-0EFD7A73B95A}"/>
              </a:ext>
            </a:extLst>
          </p:cNvPr>
          <p:cNvCxnSpPr>
            <a:cxnSpLocks/>
          </p:cNvCxnSpPr>
          <p:nvPr/>
        </p:nvCxnSpPr>
        <p:spPr>
          <a:xfrm flipH="1">
            <a:off x="4800156" y="4220905"/>
            <a:ext cx="1079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B71FA672-3B7D-DC38-58FC-F3AE65BA3398}"/>
              </a:ext>
            </a:extLst>
          </p:cNvPr>
          <p:cNvSpPr txBox="1"/>
          <p:nvPr/>
        </p:nvSpPr>
        <p:spPr>
          <a:xfrm>
            <a:off x="5880026" y="3928584"/>
            <a:ext cx="1079870" cy="1076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单片机发过来的舵机控制信号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A7ABE4-E43F-A6A9-78F8-D96753F3C53D}"/>
              </a:ext>
            </a:extLst>
          </p:cNvPr>
          <p:cNvSpPr txBox="1"/>
          <p:nvPr/>
        </p:nvSpPr>
        <p:spPr>
          <a:xfrm>
            <a:off x="192710" y="3018533"/>
            <a:ext cx="1871775" cy="338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连接舵机的信号线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CD80CD0-C9B9-8B7E-E8E2-6942761A43FE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2064485" y="3187771"/>
            <a:ext cx="7919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2">
            <a:extLst>
              <a:ext uri="{FF2B5EF4-FFF2-40B4-BE49-F238E27FC236}">
                <a16:creationId xmlns:a16="http://schemas.microsoft.com/office/drawing/2014/main" id="{281DF77E-F915-6381-7919-A3B86BB97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6878725" cy="390527"/>
          </a:xfrm>
        </p:spPr>
        <p:txBody>
          <a:bodyPr/>
          <a:lstStyle/>
          <a:p>
            <a:r>
              <a:rPr lang="en-US" altLang="zh-CN" sz="3600" dirty="0"/>
              <a:t>1.1 </a:t>
            </a:r>
            <a:r>
              <a:rPr lang="zh-CN" altLang="en-US" sz="3600" dirty="0"/>
              <a:t>一个舵机接口的原理图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2709A21-8145-7533-2882-63FC1645DE32}"/>
              </a:ext>
            </a:extLst>
          </p:cNvPr>
          <p:cNvSpPr txBox="1"/>
          <p:nvPr/>
        </p:nvSpPr>
        <p:spPr>
          <a:xfrm>
            <a:off x="179086" y="5303914"/>
            <a:ext cx="118338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STM32F407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信号引入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SERVOx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SERVOx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的通断，所以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口（接舵机信号线）与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SERVOx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反向。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的最高电平由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SRV+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决定，此设计可以使其兼容更多有效工作电压的舵机。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782C-1284-81FB-1CB2-9DDCB957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3DDFB14-0C9E-E66B-3FB6-874C4BD3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8097925" cy="390527"/>
          </a:xfrm>
        </p:spPr>
        <p:txBody>
          <a:bodyPr/>
          <a:lstStyle/>
          <a:p>
            <a:r>
              <a:rPr lang="en-US" altLang="zh-CN" sz="3200" dirty="0"/>
              <a:t>1. 2 </a:t>
            </a:r>
            <a:r>
              <a:rPr lang="zh-CN" altLang="en-US" sz="3200" dirty="0"/>
              <a:t>三个舵机接口的电路原理图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0A6FCC04-4693-F234-811E-6AA31C93A2A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339618" y="2615003"/>
            <a:ext cx="9788451" cy="2085160"/>
          </a:xfr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6A9D3F2-8EBD-9CE9-3302-8F84FB5F9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069" y="1005203"/>
            <a:ext cx="1445639" cy="265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485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F9D171-6DD8-59DA-3159-997FC85A4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6582633" cy="390527"/>
          </a:xfrm>
        </p:spPr>
        <p:txBody>
          <a:bodyPr/>
          <a:lstStyle/>
          <a:p>
            <a:r>
              <a:rPr lang="en-US" altLang="zh-CN" sz="3200" dirty="0"/>
              <a:t>1.3 </a:t>
            </a:r>
            <a:r>
              <a:rPr lang="zh-CN" altLang="en-US" sz="3200" dirty="0"/>
              <a:t>电机开发板上舵机相关的实物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318A39F-C481-912B-4005-A0AB512001A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598" y="909304"/>
            <a:ext cx="7919047" cy="5803242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0D8329C-40F5-7CC6-775E-438AA6F9570A}"/>
              </a:ext>
            </a:extLst>
          </p:cNvPr>
          <p:cNvSpPr/>
          <p:nvPr/>
        </p:nvSpPr>
        <p:spPr>
          <a:xfrm>
            <a:off x="8543705" y="3213026"/>
            <a:ext cx="215974" cy="143983"/>
          </a:xfrm>
          <a:prstGeom prst="rect">
            <a:avLst/>
          </a:prstGeom>
          <a:noFill/>
          <a:ln w="38100">
            <a:solidFill>
              <a:srgbClr val="005D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DA8C1F1-0E29-F44A-2CF7-B35A9848E11B}"/>
              </a:ext>
            </a:extLst>
          </p:cNvPr>
          <p:cNvSpPr txBox="1"/>
          <p:nvPr/>
        </p:nvSpPr>
        <p:spPr>
          <a:xfrm>
            <a:off x="9117874" y="2352031"/>
            <a:ext cx="30131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控制舵机时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须短接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VCC_SRV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SRV+</a:t>
            </a:r>
          </a:p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使用开发板给舵机供电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B9A416B-F0CB-6B21-98F9-623DB3178125}"/>
              </a:ext>
            </a:extLst>
          </p:cNvPr>
          <p:cNvCxnSpPr>
            <a:cxnSpLocks/>
            <a:stCxn id="7" idx="1"/>
            <a:endCxn id="6" idx="0"/>
          </p:cNvCxnSpPr>
          <p:nvPr/>
        </p:nvCxnSpPr>
        <p:spPr>
          <a:xfrm flipH="1">
            <a:off x="8651692" y="2859863"/>
            <a:ext cx="466182" cy="353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2E35D0C5-F610-0951-34BC-8122BA5721F0}"/>
              </a:ext>
            </a:extLst>
          </p:cNvPr>
          <p:cNvSpPr txBox="1"/>
          <p:nvPr/>
        </p:nvSpPr>
        <p:spPr>
          <a:xfrm>
            <a:off x="9117874" y="3720858"/>
            <a:ext cx="30131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若是其它电压供电的舵机，可以直接将外接电源接入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SRV+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引脚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1451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406B1B9-EC80-B240-BCBE-690EFA524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STM32F407x</a:t>
            </a:r>
            <a:r>
              <a:rPr lang="zh-CN" altLang="en-US" dirty="0"/>
              <a:t>生成</a:t>
            </a:r>
            <a:r>
              <a:rPr lang="en-US" altLang="zh-CN" dirty="0"/>
              <a:t>PWM</a:t>
            </a:r>
            <a:r>
              <a:rPr lang="zh-CN" altLang="en-US" dirty="0"/>
              <a:t>的分析</a:t>
            </a:r>
          </a:p>
        </p:txBody>
      </p:sp>
    </p:spTree>
    <p:extLst>
      <p:ext uri="{BB962C8B-B14F-4D97-AF65-F5344CB8AC3E}">
        <p14:creationId xmlns:p14="http://schemas.microsoft.com/office/powerpoint/2010/main" val="2937874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DAB46-9F7C-E63B-16C6-86BF5B433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78656B22-759D-B2B8-7BEC-7D2E08903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696" y="374563"/>
            <a:ext cx="6674210" cy="390435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 sz="2400" dirty="0">
                <a:solidFill>
                  <a:srgbClr val="262626"/>
                </a:solidFill>
                <a:sym typeface="+mn-ea"/>
              </a:rPr>
              <a:t>2.1 </a:t>
            </a:r>
            <a:r>
              <a:rPr lang="zh-CN" altLang="en-US" sz="2400" dirty="0">
                <a:solidFill>
                  <a:srgbClr val="262626"/>
                </a:solidFill>
                <a:sym typeface="+mn-ea"/>
              </a:rPr>
              <a:t>生成舵机</a:t>
            </a:r>
            <a:r>
              <a:rPr lang="en-US" altLang="zh-CN" sz="2400" dirty="0">
                <a:solidFill>
                  <a:srgbClr val="262626"/>
                </a:solidFill>
                <a:sym typeface="+mn-ea"/>
              </a:rPr>
              <a:t>PWM</a:t>
            </a:r>
            <a:r>
              <a:rPr lang="zh-CN" altLang="en-US" sz="2400" dirty="0">
                <a:solidFill>
                  <a:srgbClr val="262626"/>
                </a:solidFill>
                <a:sym typeface="+mn-ea"/>
              </a:rPr>
              <a:t>控制信号的一般流程</a:t>
            </a:r>
            <a:endParaRPr lang="zh-CN" altLang="en-US" sz="2400" dirty="0">
              <a:solidFill>
                <a:srgbClr val="262626"/>
              </a:solidFill>
            </a:endParaRPr>
          </a:p>
        </p:txBody>
      </p: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9B4DA90B-A1DE-EA67-0305-3A5DB2639EEA}"/>
              </a:ext>
            </a:extLst>
          </p:cNvPr>
          <p:cNvGraphicFramePr/>
          <p:nvPr/>
        </p:nvGraphicFramePr>
        <p:xfrm>
          <a:off x="192711" y="909303"/>
          <a:ext cx="7199134" cy="5399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973070B-E221-B9F3-67C9-CFBE8AA4800F}"/>
              </a:ext>
            </a:extLst>
          </p:cNvPr>
          <p:cNvCxnSpPr/>
          <p:nvPr/>
        </p:nvCxnSpPr>
        <p:spPr>
          <a:xfrm>
            <a:off x="8821157" y="3141035"/>
            <a:ext cx="295164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FF613F71-F9B7-C6F1-A23C-98746F0C19D6}"/>
              </a:ext>
            </a:extLst>
          </p:cNvPr>
          <p:cNvCxnSpPr/>
          <p:nvPr/>
        </p:nvCxnSpPr>
        <p:spPr>
          <a:xfrm>
            <a:off x="7957261" y="2349130"/>
            <a:ext cx="1727792" cy="791905"/>
          </a:xfrm>
          <a:prstGeom prst="bentConnector3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B886F8C-F47B-B026-3DF9-0E0E853D1C6A}"/>
              </a:ext>
            </a:extLst>
          </p:cNvPr>
          <p:cNvCxnSpPr/>
          <p:nvPr/>
        </p:nvCxnSpPr>
        <p:spPr>
          <a:xfrm>
            <a:off x="7957261" y="3141035"/>
            <a:ext cx="0" cy="8638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934131E-EC6B-AA2C-E77F-CEC9332432B1}"/>
              </a:ext>
            </a:extLst>
          </p:cNvPr>
          <p:cNvCxnSpPr/>
          <p:nvPr/>
        </p:nvCxnSpPr>
        <p:spPr>
          <a:xfrm>
            <a:off x="11772802" y="3141035"/>
            <a:ext cx="0" cy="8638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835AF66-5B02-4B44-3935-A3DC863F1D0E}"/>
              </a:ext>
            </a:extLst>
          </p:cNvPr>
          <p:cNvCxnSpPr/>
          <p:nvPr/>
        </p:nvCxnSpPr>
        <p:spPr>
          <a:xfrm>
            <a:off x="7957261" y="3644974"/>
            <a:ext cx="3815541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3A00E3E-3011-7A30-0D98-A5FF231694DD}"/>
              </a:ext>
            </a:extLst>
          </p:cNvPr>
          <p:cNvSpPr txBox="1"/>
          <p:nvPr/>
        </p:nvSpPr>
        <p:spPr>
          <a:xfrm>
            <a:off x="9393741" y="3381985"/>
            <a:ext cx="617334" cy="2769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20mS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7F54B02-D558-7743-4DA5-11AD3EFFA974}"/>
              </a:ext>
            </a:extLst>
          </p:cNvPr>
          <p:cNvCxnSpPr/>
          <p:nvPr/>
        </p:nvCxnSpPr>
        <p:spPr>
          <a:xfrm>
            <a:off x="9702407" y="909303"/>
            <a:ext cx="0" cy="1295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0536E37-CBA9-C06B-8F24-0CD8CF5FD5AE}"/>
              </a:ext>
            </a:extLst>
          </p:cNvPr>
          <p:cNvCxnSpPr/>
          <p:nvPr/>
        </p:nvCxnSpPr>
        <p:spPr>
          <a:xfrm>
            <a:off x="7967775" y="909303"/>
            <a:ext cx="0" cy="1295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691295C-7074-25A6-2DD8-816F0719C706}"/>
              </a:ext>
            </a:extLst>
          </p:cNvPr>
          <p:cNvCxnSpPr/>
          <p:nvPr/>
        </p:nvCxnSpPr>
        <p:spPr>
          <a:xfrm>
            <a:off x="7967775" y="1773199"/>
            <a:ext cx="173463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CED6210-2125-68C4-AE11-71D5B270BE7D}"/>
              </a:ext>
            </a:extLst>
          </p:cNvPr>
          <p:cNvSpPr txBox="1"/>
          <p:nvPr/>
        </p:nvSpPr>
        <p:spPr>
          <a:xfrm>
            <a:off x="8194368" y="1465785"/>
            <a:ext cx="1195884" cy="2769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0.5mS~2.5mS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318CC62-F655-B1A5-606C-F2B0EDE36F72}"/>
              </a:ext>
            </a:extLst>
          </p:cNvPr>
          <p:cNvSpPr txBox="1"/>
          <p:nvPr/>
        </p:nvSpPr>
        <p:spPr>
          <a:xfrm>
            <a:off x="7967775" y="4266793"/>
            <a:ext cx="1364160" cy="4000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SG90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为例</a:t>
            </a:r>
          </a:p>
        </p:txBody>
      </p:sp>
    </p:spTree>
    <p:extLst>
      <p:ext uri="{BB962C8B-B14F-4D97-AF65-F5344CB8AC3E}">
        <p14:creationId xmlns:p14="http://schemas.microsoft.com/office/powerpoint/2010/main" val="313636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C8995-D4B2-D449-B775-736102CF3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71D5B16A-9C39-AB53-9BC9-74F83AC56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8289513" cy="390527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 sz="2400" dirty="0">
                <a:solidFill>
                  <a:srgbClr val="262626"/>
                </a:solidFill>
                <a:sym typeface="+mn-ea"/>
              </a:rPr>
              <a:t>2.2 </a:t>
            </a:r>
            <a:r>
              <a:rPr lang="zh-CN" altLang="en-US" sz="2400" dirty="0">
                <a:solidFill>
                  <a:srgbClr val="262626"/>
                </a:solidFill>
                <a:sym typeface="+mn-ea"/>
              </a:rPr>
              <a:t>定时器怎么生成</a:t>
            </a:r>
            <a:r>
              <a:rPr lang="en-US" altLang="zh-CN" sz="2400" dirty="0">
                <a:solidFill>
                  <a:srgbClr val="262626"/>
                </a:solidFill>
                <a:sym typeface="+mn-ea"/>
              </a:rPr>
              <a:t>PWM</a:t>
            </a:r>
            <a:r>
              <a:rPr lang="zh-CN" altLang="en-US" sz="2400" dirty="0">
                <a:solidFill>
                  <a:srgbClr val="262626"/>
                </a:solidFill>
                <a:sym typeface="+mn-ea"/>
              </a:rPr>
              <a:t>信号的</a:t>
            </a:r>
            <a:endParaRPr lang="zh-CN" altLang="en-US" sz="2400" dirty="0">
              <a:solidFill>
                <a:srgbClr val="262626"/>
              </a:solidFill>
            </a:endParaRPr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C4CE980A-DD42-05D5-7434-DB65C5756426}"/>
              </a:ext>
            </a:extLst>
          </p:cNvPr>
          <p:cNvGraphicFramePr>
            <a:graphicFrameLocks noGrp="1" noChangeAspect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67833498"/>
              </p:ext>
            </p:extLst>
          </p:nvPr>
        </p:nvGraphicFramePr>
        <p:xfrm>
          <a:off x="366805" y="914763"/>
          <a:ext cx="7689787" cy="594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848785" imgH="6838936" progId="Visio.Drawing.15">
                  <p:embed/>
                </p:oleObj>
              </mc:Choice>
              <mc:Fallback>
                <p:oleObj name="Visio" r:id="rId2" imgW="8848785" imgH="6838936" progId="Visio.Drawing.15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C4CE980A-DD42-05D5-7434-DB65C57564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05" y="914763"/>
                        <a:ext cx="7689787" cy="5943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925C0EF9-94D4-09EE-4F98-F62C75109DAB}"/>
              </a:ext>
            </a:extLst>
          </p:cNvPr>
          <p:cNvSpPr txBox="1"/>
          <p:nvPr/>
        </p:nvSpPr>
        <p:spPr>
          <a:xfrm>
            <a:off x="8025509" y="1358931"/>
            <a:ext cx="3487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TIM8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是高级定时器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92B7AE-6DB6-1B97-D618-2CE8CF678B99}"/>
              </a:ext>
            </a:extLst>
          </p:cNvPr>
          <p:cNvSpPr txBox="1"/>
          <p:nvPr/>
        </p:nvSpPr>
        <p:spPr>
          <a:xfrm>
            <a:off x="8025509" y="1875595"/>
            <a:ext cx="34872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168M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APB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时钟，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168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分频后给到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计数器是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1MHz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1/1M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）秒计数一次，每毫秒计数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毫秒可以计数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20000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D3740E-02D9-94C3-8824-4670F8DE681A}"/>
              </a:ext>
            </a:extLst>
          </p:cNvPr>
          <p:cNvSpPr txBox="1"/>
          <p:nvPr/>
        </p:nvSpPr>
        <p:spPr>
          <a:xfrm>
            <a:off x="8025509" y="3470882"/>
            <a:ext cx="34872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如果重装载值寄存器是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19999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19999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倒数到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所需时间：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20000*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1/1M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毫秒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E2E7E3-9607-2FFE-C39A-70317CB2DB59}"/>
              </a:ext>
            </a:extLst>
          </p:cNvPr>
          <p:cNvSpPr txBox="1"/>
          <p:nvPr/>
        </p:nvSpPr>
        <p:spPr>
          <a:xfrm>
            <a:off x="8056592" y="4635767"/>
            <a:ext cx="3487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毫秒计数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毫秒计数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2500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3299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054783" y="374795"/>
            <a:ext cx="10309903" cy="390527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 sz="2400" dirty="0">
                <a:solidFill>
                  <a:srgbClr val="262626"/>
                </a:solidFill>
                <a:sym typeface="+mn-ea"/>
              </a:rPr>
              <a:t>2.3 PWM</a:t>
            </a:r>
            <a:r>
              <a:rPr lang="zh-CN" altLang="en-US" sz="2400" dirty="0">
                <a:solidFill>
                  <a:srgbClr val="262626"/>
                </a:solidFill>
                <a:sym typeface="+mn-ea"/>
              </a:rPr>
              <a:t>模拟</a:t>
            </a:r>
            <a:r>
              <a:rPr lang="en-US" altLang="zh-CN" sz="2400" dirty="0">
                <a:solidFill>
                  <a:srgbClr val="262626"/>
                </a:solidFill>
                <a:sym typeface="+mn-ea"/>
              </a:rPr>
              <a:t>舵机的控制</a:t>
            </a:r>
            <a:r>
              <a:rPr lang="en-US" altLang="zh-CN" sz="2400" dirty="0">
                <a:solidFill>
                  <a:srgbClr val="262626"/>
                </a:solidFill>
              </a:rPr>
              <a:t>——</a:t>
            </a:r>
            <a:r>
              <a:rPr lang="zh-CN" altLang="en-US" sz="2400" dirty="0">
                <a:solidFill>
                  <a:srgbClr val="262626"/>
                </a:solidFill>
              </a:rPr>
              <a:t>核心代码解析</a:t>
            </a:r>
            <a:r>
              <a:rPr lang="en-US" altLang="zh-CN" sz="2400" dirty="0">
                <a:solidFill>
                  <a:srgbClr val="262626"/>
                </a:solidFill>
              </a:rPr>
              <a:t>-</a:t>
            </a:r>
            <a:r>
              <a:rPr lang="zh-CN" altLang="en-US" sz="2400" dirty="0">
                <a:solidFill>
                  <a:srgbClr val="262626"/>
                </a:solidFill>
              </a:rPr>
              <a:t>舵机角度转定时器装载值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2553F3E-83BB-41A0-3BBA-62D471CB327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/**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 * </a:t>
            </a:r>
            <a:r>
              <a:rPr lang="en-US" altLang="zh-CN" sz="1600" dirty="0">
                <a:solidFill>
                  <a:srgbClr val="00979D"/>
                </a:solidFill>
                <a:latin typeface="Consolas" panose="020B0609020204030204"/>
                <a:ea typeface="Consolas" panose="020B0609020204030204"/>
              </a:rPr>
              <a:t>@brief</a:t>
            </a:r>
            <a:r>
              <a:rPr lang="en-US" altLang="zh-CN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       </a:t>
            </a:r>
            <a:r>
              <a:rPr lang="zh-CN" altLang="en-US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舵机角度转定时器装载值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 * </a:t>
            </a:r>
            <a:r>
              <a:rPr lang="en-US" altLang="zh-CN" sz="1600" dirty="0">
                <a:solidFill>
                  <a:srgbClr val="00979D"/>
                </a:solidFill>
                <a:latin typeface="Consolas" panose="020B0609020204030204"/>
                <a:ea typeface="Consolas" panose="020B0609020204030204"/>
              </a:rPr>
              <a:t>@param</a:t>
            </a:r>
            <a:r>
              <a:rPr lang="en-US" altLang="zh-CN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       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angle</a:t>
            </a:r>
            <a:r>
              <a:rPr lang="en-US" altLang="zh-CN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:</a:t>
            </a:r>
            <a:r>
              <a:rPr lang="zh-CN" altLang="en-US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目标角度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 * </a:t>
            </a:r>
            <a:r>
              <a:rPr lang="en-US" altLang="zh-CN" sz="1600" dirty="0">
                <a:solidFill>
                  <a:srgbClr val="00979D"/>
                </a:solidFill>
                <a:latin typeface="Consolas" panose="020B0609020204030204"/>
                <a:ea typeface="Consolas" panose="020B0609020204030204"/>
              </a:rPr>
              <a:t>@retval</a:t>
            </a:r>
            <a:r>
              <a:rPr lang="en-US" altLang="zh-CN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      </a:t>
            </a:r>
            <a:r>
              <a:rPr lang="zh-CN" altLang="en-US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定时器比较寄存器值</a:t>
            </a:r>
            <a:endParaRPr lang="en-US" altLang="zh-CN" sz="1600" dirty="0">
              <a:solidFill>
                <a:srgbClr val="95A5A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 */</a:t>
            </a:r>
          </a:p>
          <a:p>
            <a:pPr>
              <a:lnSpc>
                <a:spcPct val="100000"/>
              </a:lnSpc>
            </a:pPr>
            <a:endParaRPr lang="en-US" altLang="zh-CN" sz="1600" dirty="0">
              <a:solidFill>
                <a:srgbClr val="95A5A6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00979D"/>
                </a:solidFill>
                <a:latin typeface="Consolas" panose="020B0609020204030204"/>
                <a:ea typeface="Consolas" panose="020B0609020204030204"/>
              </a:rPr>
              <a:t>uint16_t </a:t>
            </a:r>
            <a:r>
              <a:rPr lang="en-US" altLang="zh-CN" sz="1600" dirty="0" err="1">
                <a:solidFill>
                  <a:srgbClr val="D35400"/>
                </a:solidFill>
                <a:latin typeface="Consolas" panose="020B0609020204030204"/>
                <a:ea typeface="Consolas" panose="020B0609020204030204"/>
              </a:rPr>
              <a:t>angle_to_tim_val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600" dirty="0">
                <a:solidFill>
                  <a:srgbClr val="00979D"/>
                </a:solidFill>
                <a:latin typeface="Consolas" panose="020B0609020204030204"/>
                <a:ea typeface="Consolas" panose="020B0609020204030204"/>
              </a:rPr>
              <a:t>float 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angle)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{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600" dirty="0">
                <a:solidFill>
                  <a:srgbClr val="00979D"/>
                </a:solidFill>
                <a:latin typeface="Consolas" panose="020B0609020204030204"/>
                <a:ea typeface="Consolas" panose="020B0609020204030204"/>
              </a:rPr>
              <a:t>uint16_t</a:t>
            </a: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 result;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600" dirty="0">
                <a:solidFill>
                  <a:srgbClr val="728E00"/>
                </a:solidFill>
                <a:latin typeface="Consolas" panose="020B0609020204030204"/>
                <a:ea typeface="Consolas" panose="020B0609020204030204"/>
              </a:rPr>
              <a:t>if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((</a:t>
            </a: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angle &lt; </a:t>
            </a:r>
            <a:r>
              <a:rPr lang="en-US" altLang="zh-CN" sz="1600" dirty="0">
                <a:solidFill>
                  <a:srgbClr val="005C5F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 || 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angle &gt; </a:t>
            </a:r>
            <a:r>
              <a:rPr lang="en-US" altLang="zh-CN" sz="1600" dirty="0">
                <a:solidFill>
                  <a:srgbClr val="005C5F"/>
                </a:solidFill>
                <a:latin typeface="Consolas" panose="020B0609020204030204"/>
                <a:ea typeface="Consolas" panose="020B0609020204030204"/>
              </a:rPr>
              <a:t>180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)) // </a:t>
            </a:r>
            <a:r>
              <a:rPr lang="zh-CN" altLang="en-US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检查输入的角度值是否超出了舵机的有效角度范围</a:t>
            </a:r>
            <a:endParaRPr lang="en-US" altLang="zh-CN" sz="1600" dirty="0">
              <a:solidFill>
                <a:srgbClr val="434F5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{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    result = </a:t>
            </a:r>
            <a:r>
              <a:rPr lang="en-US" altLang="zh-CN" sz="1600" dirty="0">
                <a:solidFill>
                  <a:srgbClr val="005C5F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}</a:t>
            </a:r>
            <a:r>
              <a:rPr lang="en-US" altLang="zh-CN" sz="1600" dirty="0">
                <a:solidFill>
                  <a:srgbClr val="728E00"/>
                </a:solidFill>
                <a:latin typeface="Consolas" panose="020B0609020204030204"/>
                <a:ea typeface="Consolas" panose="020B0609020204030204"/>
              </a:rPr>
              <a:t>else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{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        /* 0° -- 500</a:t>
            </a:r>
            <a:r>
              <a:rPr lang="zh-CN" altLang="en-US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，</a:t>
            </a:r>
            <a:r>
              <a:rPr lang="en-US" altLang="zh-CN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45° -- 1000</a:t>
            </a:r>
            <a:r>
              <a:rPr lang="zh-CN" altLang="en-US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，</a:t>
            </a:r>
            <a:r>
              <a:rPr lang="en-US" altLang="zh-CN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90° -- 1500</a:t>
            </a:r>
            <a:r>
              <a:rPr lang="zh-CN" altLang="en-US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，</a:t>
            </a:r>
            <a:r>
              <a:rPr lang="en-US" altLang="zh-CN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135° -- 2000</a:t>
            </a:r>
            <a:r>
              <a:rPr lang="zh-CN" altLang="en-US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，</a:t>
            </a:r>
            <a:r>
              <a:rPr lang="en-US" altLang="zh-CN" sz="1600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180° -- 2500 */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    result = </a:t>
            </a:r>
            <a:r>
              <a:rPr lang="en-US" altLang="zh-CN" sz="1600" dirty="0">
                <a:solidFill>
                  <a:srgbClr val="005C5F"/>
                </a:solidFill>
                <a:latin typeface="Consolas" panose="020B0609020204030204"/>
                <a:ea typeface="Consolas" panose="020B0609020204030204"/>
              </a:rPr>
              <a:t>1500</a:t>
            </a: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 + 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600" dirty="0">
                <a:solidFill>
                  <a:srgbClr val="00979D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)((</a:t>
            </a:r>
            <a:r>
              <a:rPr lang="en-US" altLang="zh-CN" sz="1600" dirty="0">
                <a:solidFill>
                  <a:srgbClr val="00979D"/>
                </a:solidFill>
                <a:latin typeface="Consolas" panose="020B0609020204030204"/>
                <a:ea typeface="Consolas" panose="020B0609020204030204"/>
              </a:rPr>
              <a:t>float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)((</a:t>
            </a: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angle - </a:t>
            </a:r>
            <a:r>
              <a:rPr lang="en-US" altLang="zh-CN" sz="1600" dirty="0">
                <a:solidFill>
                  <a:srgbClr val="005C5F"/>
                </a:solidFill>
                <a:latin typeface="Consolas" panose="020B0609020204030204"/>
                <a:ea typeface="Consolas" panose="020B0609020204030204"/>
              </a:rPr>
              <a:t>90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 * </a:t>
            </a:r>
            <a:r>
              <a:rPr lang="en-US" altLang="zh-CN" sz="1600" dirty="0">
                <a:solidFill>
                  <a:srgbClr val="005C5F"/>
                </a:solidFill>
                <a:latin typeface="Consolas" panose="020B0609020204030204"/>
                <a:ea typeface="Consolas" panose="020B0609020204030204"/>
              </a:rPr>
              <a:t>100</a:t>
            </a: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 / </a:t>
            </a:r>
            <a:r>
              <a:rPr lang="en-US" altLang="zh-CN" sz="1600" dirty="0">
                <a:solidFill>
                  <a:srgbClr val="005C5F"/>
                </a:solidFill>
                <a:latin typeface="Consolas" panose="020B0609020204030204"/>
                <a:ea typeface="Consolas" panose="020B0609020204030204"/>
              </a:rPr>
              <a:t>9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))</a:t>
            </a: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>
              <a:lnSpc>
                <a:spcPct val="100000"/>
              </a:lnSpc>
            </a:pPr>
            <a:endParaRPr lang="en-US" altLang="zh-CN" sz="1600" dirty="0">
              <a:solidFill>
                <a:srgbClr val="4E5B61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lang="en-US" altLang="zh-CN" sz="1600" dirty="0">
                <a:solidFill>
                  <a:srgbClr val="728E00"/>
                </a:solidFill>
                <a:latin typeface="Consolas" panose="020B0609020204030204"/>
                <a:ea typeface="Consolas" panose="020B0609020204030204"/>
              </a:rPr>
              <a:t>if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((</a:t>
            </a: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result &lt; </a:t>
            </a:r>
            <a:r>
              <a:rPr lang="en-US" altLang="zh-CN" sz="1600" dirty="0">
                <a:solidFill>
                  <a:srgbClr val="005C5F"/>
                </a:solidFill>
                <a:latin typeface="Consolas" panose="020B0609020204030204"/>
                <a:ea typeface="Consolas" panose="020B0609020204030204"/>
              </a:rPr>
              <a:t>500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 || 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result &gt; </a:t>
            </a:r>
            <a:r>
              <a:rPr lang="en-US" altLang="zh-CN" sz="1600" dirty="0">
                <a:solidFill>
                  <a:srgbClr val="005C5F"/>
                </a:solidFill>
                <a:latin typeface="Consolas" panose="020B0609020204030204"/>
                <a:ea typeface="Consolas" panose="020B0609020204030204"/>
              </a:rPr>
              <a:t>2500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))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{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        result = </a:t>
            </a:r>
            <a:r>
              <a:rPr lang="en-US" altLang="zh-CN" sz="1600" dirty="0">
                <a:solidFill>
                  <a:srgbClr val="005C5F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}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}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sz="1600" dirty="0">
                <a:solidFill>
                  <a:srgbClr val="728E00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lang="en-US" altLang="zh-CN" sz="16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 result;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}</a:t>
            </a:r>
          </a:p>
          <a:p>
            <a:pPr>
              <a:lnSpc>
                <a:spcPct val="100000"/>
              </a:lnSpc>
            </a:pPr>
            <a:endParaRPr lang="zh-CN" altLang="en-US" sz="1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1382FF-18F5-69D3-80C3-09D64F34174A}"/>
              </a:ext>
            </a:extLst>
          </p:cNvPr>
          <p:cNvSpPr txBox="1"/>
          <p:nvPr/>
        </p:nvSpPr>
        <p:spPr>
          <a:xfrm>
            <a:off x="7541623" y="5342874"/>
            <a:ext cx="4466819" cy="64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</a:rPr>
              <a:t>大多数舵机的中位（</a:t>
            </a:r>
            <a:r>
              <a:rPr lang="en-US" altLang="zh-CN" dirty="0">
                <a:latin typeface="+mn-ea"/>
              </a:rPr>
              <a:t>90°</a:t>
            </a:r>
            <a:r>
              <a:rPr lang="zh-CN" altLang="en-US" dirty="0">
                <a:latin typeface="+mn-ea"/>
              </a:rPr>
              <a:t>）对应</a:t>
            </a:r>
            <a:r>
              <a:rPr lang="en-US" altLang="zh-CN" dirty="0">
                <a:latin typeface="+mn-ea"/>
              </a:rPr>
              <a:t>1.5ms</a:t>
            </a:r>
            <a:r>
              <a:rPr lang="zh-CN" altLang="en-US" dirty="0">
                <a:latin typeface="+mn-ea"/>
              </a:rPr>
              <a:t>脉宽，这是物理设计的平衡点，能减少齿轮磨损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D2D9D35-6AFE-1487-2E71-685827A59DA2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6731726" y="4404947"/>
            <a:ext cx="809897" cy="1261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054784" y="374795"/>
            <a:ext cx="10466656" cy="390527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 sz="2400" dirty="0">
                <a:solidFill>
                  <a:srgbClr val="262626"/>
                </a:solidFill>
                <a:sym typeface="+mn-ea"/>
              </a:rPr>
              <a:t>2.4 PWM</a:t>
            </a:r>
            <a:r>
              <a:rPr lang="zh-CN" altLang="en-US" sz="2400" dirty="0">
                <a:solidFill>
                  <a:srgbClr val="262626"/>
                </a:solidFill>
                <a:sym typeface="+mn-ea"/>
              </a:rPr>
              <a:t>模拟</a:t>
            </a:r>
            <a:r>
              <a:rPr lang="en-US" altLang="zh-CN" sz="2400" dirty="0">
                <a:solidFill>
                  <a:srgbClr val="262626"/>
                </a:solidFill>
                <a:sym typeface="+mn-ea"/>
              </a:rPr>
              <a:t>舵机的控制</a:t>
            </a:r>
            <a:r>
              <a:rPr lang="en-US" altLang="zh-CN" sz="2400" dirty="0">
                <a:solidFill>
                  <a:srgbClr val="262626"/>
                </a:solidFill>
              </a:rPr>
              <a:t>——</a:t>
            </a:r>
            <a:r>
              <a:rPr lang="zh-CN" altLang="en-US" sz="2400" dirty="0">
                <a:solidFill>
                  <a:srgbClr val="262626"/>
                </a:solidFill>
              </a:rPr>
              <a:t>核心代码解析</a:t>
            </a:r>
            <a:r>
              <a:rPr lang="en-US" altLang="zh-CN" sz="2400" dirty="0">
                <a:solidFill>
                  <a:srgbClr val="262626"/>
                </a:solidFill>
              </a:rPr>
              <a:t>-</a:t>
            </a:r>
            <a:r>
              <a:rPr lang="zh-CN" altLang="en-US" sz="2400" dirty="0">
                <a:solidFill>
                  <a:srgbClr val="262626"/>
                </a:solidFill>
              </a:rPr>
              <a:t>舵机角度设定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397AF9-929D-3586-B9C5-017B39CC40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5430" y="1053857"/>
            <a:ext cx="11205636" cy="5730120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/**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 * </a:t>
            </a:r>
            <a:r>
              <a:rPr lang="en-US" altLang="zh-CN" dirty="0">
                <a:solidFill>
                  <a:srgbClr val="00979D"/>
                </a:solidFill>
                <a:latin typeface="Consolas" panose="020B0609020204030204"/>
                <a:ea typeface="Consolas" panose="020B0609020204030204"/>
              </a:rPr>
              <a:t>@brief</a:t>
            </a:r>
            <a:r>
              <a:rPr lang="en-US" altLang="zh-CN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       </a:t>
            </a:r>
            <a:r>
              <a:rPr lang="zh-CN" altLang="en-US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舵机角度设定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 * </a:t>
            </a:r>
            <a:r>
              <a:rPr lang="en-US" altLang="zh-CN" dirty="0">
                <a:solidFill>
                  <a:srgbClr val="00979D"/>
                </a:solidFill>
                <a:latin typeface="Consolas" panose="020B0609020204030204"/>
                <a:ea typeface="Consolas" panose="020B0609020204030204"/>
              </a:rPr>
              <a:t>@param</a:t>
            </a:r>
            <a:r>
              <a:rPr lang="en-US" altLang="zh-CN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       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id</a:t>
            </a:r>
            <a:r>
              <a:rPr lang="en-US" altLang="zh-CN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:</a:t>
            </a:r>
            <a:r>
              <a:rPr lang="zh-CN" altLang="en-US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舵机编号对应舵机的接口：</a:t>
            </a:r>
            <a:r>
              <a:rPr lang="en-US" altLang="zh-CN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1~3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 * </a:t>
            </a:r>
            <a:r>
              <a:rPr lang="en-US" altLang="zh-CN" dirty="0">
                <a:solidFill>
                  <a:srgbClr val="00979D"/>
                </a:solidFill>
                <a:latin typeface="Consolas" panose="020B0609020204030204"/>
                <a:ea typeface="Consolas" panose="020B0609020204030204"/>
              </a:rPr>
              <a:t>@param</a:t>
            </a:r>
            <a:r>
              <a:rPr lang="en-US" altLang="zh-CN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       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angle</a:t>
            </a:r>
            <a:r>
              <a:rPr lang="en-US" altLang="zh-CN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:</a:t>
            </a:r>
            <a:r>
              <a:rPr lang="zh-CN" altLang="en-US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角度 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 * </a:t>
            </a:r>
            <a:r>
              <a:rPr lang="en-US" altLang="zh-CN" dirty="0">
                <a:solidFill>
                  <a:srgbClr val="00979D"/>
                </a:solidFill>
                <a:latin typeface="Consolas" panose="020B0609020204030204"/>
                <a:ea typeface="Consolas" panose="020B0609020204030204"/>
              </a:rPr>
              <a:t>@retval</a:t>
            </a:r>
            <a:r>
              <a:rPr lang="en-US" altLang="zh-CN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      0:</a:t>
            </a:r>
            <a:r>
              <a:rPr lang="zh-CN" altLang="en-US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成功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 */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979D"/>
                </a:solidFill>
                <a:latin typeface="Consolas" panose="020B0609020204030204"/>
                <a:ea typeface="Consolas" panose="020B0609020204030204"/>
              </a:rPr>
              <a:t>uint8_t </a:t>
            </a:r>
            <a:r>
              <a:rPr lang="en-US" altLang="zh-CN" dirty="0" err="1">
                <a:solidFill>
                  <a:srgbClr val="D35400"/>
                </a:solidFill>
                <a:latin typeface="Consolas" panose="020B0609020204030204"/>
                <a:ea typeface="Consolas" panose="020B0609020204030204"/>
              </a:rPr>
              <a:t>servo_angle_set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dirty="0">
                <a:solidFill>
                  <a:srgbClr val="00979D"/>
                </a:solidFill>
                <a:latin typeface="Consolas" panose="020B0609020204030204"/>
                <a:ea typeface="Consolas" panose="020B0609020204030204"/>
              </a:rPr>
              <a:t>uint8_t </a:t>
            </a:r>
            <a:r>
              <a:rPr lang="en-US" altLang="zh-CN" dirty="0" err="1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id</a:t>
            </a:r>
            <a:r>
              <a:rPr lang="en-US" altLang="zh-CN" dirty="0" err="1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dirty="0" err="1">
                <a:solidFill>
                  <a:srgbClr val="00979D"/>
                </a:solidFill>
                <a:latin typeface="Consolas" panose="020B0609020204030204"/>
                <a:ea typeface="Consolas" panose="020B0609020204030204"/>
              </a:rPr>
              <a:t>float</a:t>
            </a:r>
            <a:r>
              <a:rPr lang="en-US" altLang="zh-CN" dirty="0">
                <a:solidFill>
                  <a:srgbClr val="00979D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angle)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dirty="0">
                <a:solidFill>
                  <a:srgbClr val="00979D"/>
                </a:solidFill>
                <a:latin typeface="Consolas" panose="020B0609020204030204"/>
                <a:ea typeface="Consolas" panose="020B0609020204030204"/>
              </a:rPr>
              <a:t>uint16_t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en-US" altLang="zh-CN" dirty="0" err="1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val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dirty="0">
                <a:solidFill>
                  <a:srgbClr val="728E00"/>
                </a:solidFill>
                <a:latin typeface="Consolas" panose="020B0609020204030204"/>
                <a:ea typeface="Consolas" panose="020B0609020204030204"/>
              </a:rPr>
              <a:t>switch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id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lang="en-US" altLang="zh-CN" dirty="0">
                <a:solidFill>
                  <a:srgbClr val="728E00"/>
                </a:solidFill>
                <a:latin typeface="Consolas" panose="020B0609020204030204"/>
                <a:ea typeface="Consolas" panose="020B0609020204030204"/>
              </a:rPr>
              <a:t>case</a:t>
            </a:r>
            <a:r>
              <a:rPr lang="en-US" altLang="zh-CN" dirty="0">
                <a:solidFill>
                  <a:srgbClr val="005C5F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        </a:t>
            </a:r>
            <a:r>
              <a:rPr lang="en-US" altLang="zh-CN" dirty="0" err="1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val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 = </a:t>
            </a:r>
            <a:r>
              <a:rPr lang="en-US" altLang="zh-CN" dirty="0" err="1">
                <a:solidFill>
                  <a:srgbClr val="D35400"/>
                </a:solidFill>
                <a:latin typeface="Consolas" panose="020B0609020204030204"/>
                <a:ea typeface="Consolas" panose="020B0609020204030204"/>
              </a:rPr>
              <a:t>angle_to_tim_val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angle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 /* </a:t>
            </a:r>
            <a:r>
              <a:rPr lang="zh-CN" altLang="en-US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得到角度转换的比较值 </a:t>
            </a:r>
            <a:r>
              <a:rPr lang="en-US" altLang="zh-CN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*/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        </a:t>
            </a:r>
            <a:r>
              <a:rPr lang="en-US" altLang="zh-CN" dirty="0">
                <a:solidFill>
                  <a:srgbClr val="728E00"/>
                </a:solidFill>
                <a:latin typeface="Consolas" panose="020B0609020204030204"/>
                <a:ea typeface="Consolas" panose="020B0609020204030204"/>
              </a:rPr>
              <a:t>if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dirty="0" err="1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val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 != </a:t>
            </a:r>
            <a:r>
              <a:rPr lang="en-US" altLang="zh-CN" dirty="0">
                <a:solidFill>
                  <a:srgbClr val="005C5F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) </a:t>
            </a:r>
            <a:r>
              <a:rPr lang="en-US" altLang="zh-CN" dirty="0">
                <a:solidFill>
                  <a:srgbClr val="D35400"/>
                </a:solidFill>
                <a:latin typeface="Consolas" panose="020B0609020204030204"/>
                <a:ea typeface="Consolas" panose="020B0609020204030204"/>
              </a:rPr>
              <a:t>__</a:t>
            </a:r>
            <a:r>
              <a:rPr lang="en-US" altLang="zh-CN" dirty="0" err="1">
                <a:solidFill>
                  <a:srgbClr val="D35400"/>
                </a:solidFill>
                <a:latin typeface="Consolas" panose="020B0609020204030204"/>
                <a:ea typeface="Consolas" panose="020B0609020204030204"/>
              </a:rPr>
              <a:t>HAL_TIM_SetCompare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&amp;g_atimx_pwm_chy_handle,TIM_CHANNEL_1,val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dirty="0">
                <a:solidFill>
                  <a:srgbClr val="95A5A6"/>
                </a:solidFill>
                <a:latin typeface="Consolas" panose="020B0609020204030204"/>
                <a:ea typeface="Consolas" panose="020B0609020204030204"/>
              </a:rPr>
              <a:t> </a:t>
            </a:r>
            <a:endParaRPr lang="en-US" altLang="zh-CN" dirty="0">
              <a:solidFill>
                <a:srgbClr val="434F54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        </a:t>
            </a:r>
            <a:r>
              <a:rPr lang="en-US" altLang="zh-CN" dirty="0">
                <a:solidFill>
                  <a:srgbClr val="728E00"/>
                </a:solidFill>
                <a:latin typeface="Consolas" panose="020B0609020204030204"/>
                <a:ea typeface="Consolas" panose="020B0609020204030204"/>
              </a:rPr>
              <a:t>break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lang="en-US" altLang="zh-CN" dirty="0">
                <a:solidFill>
                  <a:srgbClr val="728E00"/>
                </a:solidFill>
                <a:latin typeface="Consolas" panose="020B0609020204030204"/>
                <a:ea typeface="Consolas" panose="020B0609020204030204"/>
              </a:rPr>
              <a:t>case</a:t>
            </a:r>
            <a:r>
              <a:rPr lang="en-US" altLang="zh-CN" dirty="0">
                <a:solidFill>
                  <a:srgbClr val="005C5F"/>
                </a:solidFill>
                <a:latin typeface="Consolas" panose="020B0609020204030204"/>
                <a:ea typeface="Consolas" panose="020B0609020204030204"/>
              </a:rPr>
              <a:t>2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        </a:t>
            </a:r>
            <a:r>
              <a:rPr lang="en-US" altLang="zh-CN" dirty="0" err="1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val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 = </a:t>
            </a:r>
            <a:r>
              <a:rPr lang="en-US" altLang="zh-CN" dirty="0" err="1">
                <a:solidFill>
                  <a:srgbClr val="D35400"/>
                </a:solidFill>
                <a:latin typeface="Consolas" panose="020B0609020204030204"/>
                <a:ea typeface="Consolas" panose="020B0609020204030204"/>
              </a:rPr>
              <a:t>angle_to_tim_val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angle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        </a:t>
            </a:r>
            <a:r>
              <a:rPr lang="en-US" altLang="zh-CN" dirty="0">
                <a:solidFill>
                  <a:srgbClr val="728E00"/>
                </a:solidFill>
                <a:latin typeface="Consolas" panose="020B0609020204030204"/>
                <a:ea typeface="Consolas" panose="020B0609020204030204"/>
              </a:rPr>
              <a:t>if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dirty="0" err="1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val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 != </a:t>
            </a:r>
            <a:r>
              <a:rPr lang="en-US" altLang="zh-CN" dirty="0">
                <a:solidFill>
                  <a:srgbClr val="005C5F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) </a:t>
            </a:r>
            <a:r>
              <a:rPr lang="en-US" altLang="zh-CN" dirty="0">
                <a:solidFill>
                  <a:srgbClr val="D35400"/>
                </a:solidFill>
                <a:latin typeface="Consolas" panose="020B0609020204030204"/>
                <a:ea typeface="Consolas" panose="020B0609020204030204"/>
              </a:rPr>
              <a:t>__</a:t>
            </a:r>
            <a:r>
              <a:rPr lang="en-US" altLang="zh-CN" dirty="0" err="1">
                <a:solidFill>
                  <a:srgbClr val="D35400"/>
                </a:solidFill>
                <a:latin typeface="Consolas" panose="020B0609020204030204"/>
                <a:ea typeface="Consolas" panose="020B0609020204030204"/>
              </a:rPr>
              <a:t>HAL_TIM_SetCompare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&amp;g_atimx_pwm_chy_handle,TIM_CHANNEL_2,val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        </a:t>
            </a:r>
            <a:r>
              <a:rPr lang="en-US" altLang="zh-CN" dirty="0">
                <a:solidFill>
                  <a:srgbClr val="728E00"/>
                </a:solidFill>
                <a:latin typeface="Consolas" panose="020B0609020204030204"/>
                <a:ea typeface="Consolas" panose="020B0609020204030204"/>
              </a:rPr>
              <a:t>break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lang="en-US" altLang="zh-CN" dirty="0">
                <a:solidFill>
                  <a:srgbClr val="728E00"/>
                </a:solidFill>
                <a:latin typeface="Consolas" panose="020B0609020204030204"/>
                <a:ea typeface="Consolas" panose="020B0609020204030204"/>
              </a:rPr>
              <a:t>case</a:t>
            </a:r>
            <a:r>
              <a:rPr lang="en-US" altLang="zh-CN" dirty="0">
                <a:solidFill>
                  <a:srgbClr val="005C5F"/>
                </a:solidFill>
                <a:latin typeface="Consolas" panose="020B0609020204030204"/>
                <a:ea typeface="Consolas" panose="020B0609020204030204"/>
              </a:rPr>
              <a:t>3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        </a:t>
            </a:r>
            <a:r>
              <a:rPr lang="en-US" altLang="zh-CN" dirty="0" err="1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val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 = </a:t>
            </a:r>
            <a:r>
              <a:rPr lang="en-US" altLang="zh-CN" dirty="0" err="1">
                <a:solidFill>
                  <a:srgbClr val="D35400"/>
                </a:solidFill>
                <a:latin typeface="Consolas" panose="020B0609020204030204"/>
                <a:ea typeface="Consolas" panose="020B0609020204030204"/>
              </a:rPr>
              <a:t>angle_to_tim_val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angle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        </a:t>
            </a:r>
            <a:r>
              <a:rPr lang="en-US" altLang="zh-CN" dirty="0">
                <a:solidFill>
                  <a:srgbClr val="728E00"/>
                </a:solidFill>
                <a:latin typeface="Consolas" panose="020B0609020204030204"/>
                <a:ea typeface="Consolas" panose="020B0609020204030204"/>
              </a:rPr>
              <a:t>if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dirty="0" err="1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val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 != </a:t>
            </a:r>
            <a:r>
              <a:rPr lang="en-US" altLang="zh-CN" dirty="0">
                <a:solidFill>
                  <a:srgbClr val="005C5F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) </a:t>
            </a:r>
            <a:r>
              <a:rPr lang="en-US" altLang="zh-CN" dirty="0">
                <a:solidFill>
                  <a:srgbClr val="D35400"/>
                </a:solidFill>
                <a:latin typeface="Consolas" panose="020B0609020204030204"/>
                <a:ea typeface="Consolas" panose="020B0609020204030204"/>
              </a:rPr>
              <a:t>__</a:t>
            </a:r>
            <a:r>
              <a:rPr lang="en-US" altLang="zh-CN" dirty="0" err="1">
                <a:solidFill>
                  <a:srgbClr val="D35400"/>
                </a:solidFill>
                <a:latin typeface="Consolas" panose="020B0609020204030204"/>
                <a:ea typeface="Consolas" panose="020B0609020204030204"/>
              </a:rPr>
              <a:t>HAL_TIM_SetCompare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&amp;g_atimx_pwm_chy_handle,TIM_CHANNEL_3,val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        </a:t>
            </a:r>
            <a:r>
              <a:rPr lang="en-US" altLang="zh-CN" dirty="0">
                <a:solidFill>
                  <a:srgbClr val="728E00"/>
                </a:solidFill>
                <a:latin typeface="Consolas" panose="020B0609020204030204"/>
                <a:ea typeface="Consolas" panose="020B0609020204030204"/>
              </a:rPr>
              <a:t>break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lang="en-US" altLang="zh-CN" dirty="0">
                <a:solidFill>
                  <a:srgbClr val="728E00"/>
                </a:solidFill>
                <a:latin typeface="Consolas" panose="020B0609020204030204"/>
                <a:ea typeface="Consolas" panose="020B0609020204030204"/>
              </a:rPr>
              <a:t>default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        </a:t>
            </a:r>
            <a:r>
              <a:rPr lang="en-US" altLang="zh-CN" dirty="0">
                <a:solidFill>
                  <a:srgbClr val="728E00"/>
                </a:solidFill>
                <a:latin typeface="Consolas" panose="020B0609020204030204"/>
                <a:ea typeface="Consolas" panose="020B0609020204030204"/>
              </a:rPr>
              <a:t>break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}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lang="en-US" altLang="zh-CN" dirty="0">
                <a:solidFill>
                  <a:srgbClr val="728E00"/>
                </a:solidFill>
                <a:latin typeface="Consolas" panose="020B0609020204030204"/>
                <a:ea typeface="Consolas" panose="020B0609020204030204"/>
              </a:rPr>
              <a:t>return </a:t>
            </a:r>
            <a:r>
              <a:rPr lang="en-US" altLang="zh-CN" dirty="0">
                <a:solidFill>
                  <a:srgbClr val="005C5F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054783" y="374795"/>
            <a:ext cx="10586281" cy="390527"/>
          </a:xfrm>
        </p:spPr>
        <p:txBody>
          <a:bodyPr>
            <a:normAutofit fontScale="90000"/>
          </a:bodyPr>
          <a:lstStyle/>
          <a:p>
            <a:r>
              <a:rPr lang="en-US" altLang="zh-CN" sz="2400" dirty="0">
                <a:solidFill>
                  <a:srgbClr val="262626"/>
                </a:solidFill>
                <a:sym typeface="+mn-ea"/>
              </a:rPr>
              <a:t>2.5 PWM</a:t>
            </a:r>
            <a:r>
              <a:rPr lang="zh-CN" altLang="en-US" sz="2400" dirty="0">
                <a:solidFill>
                  <a:srgbClr val="262626"/>
                </a:solidFill>
                <a:sym typeface="+mn-ea"/>
              </a:rPr>
              <a:t>模拟</a:t>
            </a:r>
            <a:r>
              <a:rPr lang="en-US" altLang="zh-CN" sz="2400" dirty="0">
                <a:solidFill>
                  <a:srgbClr val="262626"/>
                </a:solidFill>
                <a:sym typeface="+mn-ea"/>
              </a:rPr>
              <a:t>舵机的控制</a:t>
            </a:r>
            <a:r>
              <a:rPr lang="en-US" altLang="zh-CN" sz="2400" dirty="0">
                <a:solidFill>
                  <a:srgbClr val="262626"/>
                </a:solidFill>
              </a:rPr>
              <a:t>——</a:t>
            </a:r>
            <a:r>
              <a:rPr lang="zh-CN" altLang="en-US" sz="2400" dirty="0">
                <a:solidFill>
                  <a:srgbClr val="262626"/>
                </a:solidFill>
              </a:rPr>
              <a:t>核心代码解析</a:t>
            </a:r>
            <a:r>
              <a:rPr lang="en-US" altLang="zh-CN" sz="2400" dirty="0">
                <a:solidFill>
                  <a:srgbClr val="262626"/>
                </a:solidFill>
              </a:rPr>
              <a:t>-</a:t>
            </a:r>
            <a:r>
              <a:rPr lang="en-US" altLang="zh-CN" sz="2400" dirty="0">
                <a:solidFill>
                  <a:srgbClr val="D35400"/>
                </a:solidFill>
                <a:latin typeface="Consolas" panose="020B0609020204030204"/>
                <a:ea typeface="Consolas" panose="020B0609020204030204"/>
                <a:sym typeface="+mn-ea"/>
              </a:rPr>
              <a:t>__</a:t>
            </a:r>
            <a:r>
              <a:rPr lang="en-US" altLang="zh-CN" sz="2400" dirty="0" err="1">
                <a:solidFill>
                  <a:srgbClr val="D35400"/>
                </a:solidFill>
                <a:latin typeface="Consolas" panose="020B0609020204030204"/>
                <a:ea typeface="Consolas" panose="020B0609020204030204"/>
                <a:sym typeface="+mn-ea"/>
              </a:rPr>
              <a:t>HAL_TIM_SetCompare</a:t>
            </a:r>
            <a:endParaRPr lang="zh-CN" altLang="en-US" sz="2400" dirty="0">
              <a:solidFill>
                <a:srgbClr val="262626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062C9E-4EE2-43BF-9B01-64FCF789734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4767" y="1172663"/>
            <a:ext cx="11486606" cy="1297576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D35400"/>
                </a:solidFill>
                <a:latin typeface="Consolas" panose="020B0609020204030204"/>
                <a:ea typeface="Consolas" panose="020B0609020204030204"/>
                <a:sym typeface="+mn-ea"/>
              </a:rPr>
              <a:t>__</a:t>
            </a:r>
            <a:r>
              <a:rPr lang="en-US" altLang="zh-CN" sz="2400" dirty="0" err="1">
                <a:solidFill>
                  <a:srgbClr val="D35400"/>
                </a:solidFill>
                <a:latin typeface="Consolas" panose="020B0609020204030204"/>
                <a:ea typeface="Consolas" panose="020B0609020204030204"/>
                <a:sym typeface="+mn-ea"/>
              </a:rPr>
              <a:t>HAL_TIM_SetCompare</a:t>
            </a:r>
            <a:r>
              <a:rPr lang="en-US" altLang="zh-CN" sz="24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  <a:sym typeface="+mn-ea"/>
              </a:rPr>
              <a:t>(</a:t>
            </a:r>
            <a:r>
              <a:rPr lang="en-US" altLang="zh-CN" sz="24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  <a:sym typeface="+mn-ea"/>
              </a:rPr>
              <a:t>&amp;g_atimx_pwm_chy_handle,TIM_CHANNEL_1,val</a:t>
            </a:r>
            <a:r>
              <a:rPr lang="en-US" altLang="zh-CN" sz="24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  <a:sym typeface="+mn-ea"/>
              </a:rPr>
              <a:t>)</a:t>
            </a:r>
            <a:r>
              <a:rPr lang="en-US" altLang="zh-CN" sz="2400" dirty="0">
                <a:solidFill>
                  <a:srgbClr val="4E5B61"/>
                </a:solidFill>
                <a:latin typeface="Consolas" panose="020B0609020204030204"/>
                <a:ea typeface="Consolas" panose="020B0609020204030204"/>
                <a:sym typeface="+mn-ea"/>
              </a:rPr>
              <a:t>;</a:t>
            </a:r>
          </a:p>
          <a:p>
            <a:pPr marL="1447602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该函数用于设置定时器（</a:t>
            </a:r>
            <a:r>
              <a:rPr lang="en-US" altLang="zh-CN" sz="20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TIM</a:t>
            </a:r>
            <a:r>
              <a:rPr lang="zh-CN" altLang="en-US" sz="20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）某个通道的比较值（</a:t>
            </a:r>
            <a:r>
              <a:rPr lang="en-US" altLang="zh-CN" sz="20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Capture Compare Register, CCR</a:t>
            </a:r>
            <a:r>
              <a:rPr lang="zh-CN" altLang="en-US" sz="20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），从而改变</a:t>
            </a:r>
            <a:r>
              <a:rPr lang="en-US" altLang="zh-CN" sz="20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PWM</a:t>
            </a:r>
            <a:r>
              <a:rPr lang="zh-CN" altLang="en-US" sz="2000" dirty="0">
                <a:solidFill>
                  <a:srgbClr val="434F54"/>
                </a:solidFill>
                <a:latin typeface="Consolas" panose="020B0609020204030204"/>
                <a:ea typeface="Consolas" panose="020B0609020204030204"/>
              </a:rPr>
              <a:t>信号的占空比。</a:t>
            </a:r>
            <a:endParaRPr lang="zh-CN" altLang="en-US" sz="24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EFADE5C-6C61-6176-869E-C6435407B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030335"/>
              </p:ext>
            </p:extLst>
          </p:nvPr>
        </p:nvGraphicFramePr>
        <p:xfrm>
          <a:off x="867027" y="2877580"/>
          <a:ext cx="10902086" cy="3356827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799282">
                  <a:extLst>
                    <a:ext uri="{9D8B030D-6E8A-4147-A177-3AD203B41FA5}">
                      <a16:colId xmlns:a16="http://schemas.microsoft.com/office/drawing/2014/main" val="1399934884"/>
                    </a:ext>
                  </a:extLst>
                </a:gridCol>
                <a:gridCol w="8102804">
                  <a:extLst>
                    <a:ext uri="{9D8B030D-6E8A-4147-A177-3AD203B41FA5}">
                      <a16:colId xmlns:a16="http://schemas.microsoft.com/office/drawing/2014/main" val="1809543399"/>
                    </a:ext>
                  </a:extLst>
                </a:gridCol>
              </a:tblGrid>
              <a:tr h="32874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effectLst/>
                        </a:rPr>
                        <a:t>参数名</a:t>
                      </a:r>
                    </a:p>
                  </a:txBody>
                  <a:tcPr marL="148341" marR="148341" marT="98894" marB="9889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effectLst/>
                        </a:rPr>
                        <a:t>说明</a:t>
                      </a:r>
                    </a:p>
                  </a:txBody>
                  <a:tcPr marL="148341" marR="148341" marT="98894" marB="98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27998"/>
                  </a:ext>
                </a:extLst>
              </a:tr>
              <a:tr h="1030626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</a:rPr>
                        <a:t>&amp;</a:t>
                      </a:r>
                      <a:r>
                        <a:rPr lang="en-US" sz="1600" b="0" dirty="0" err="1">
                          <a:effectLst/>
                        </a:rPr>
                        <a:t>g_atimx_pwm_chy_handle</a:t>
                      </a:r>
                      <a:endParaRPr lang="en-US" sz="1600" b="0" dirty="0">
                        <a:effectLst/>
                      </a:endParaRPr>
                    </a:p>
                  </a:txBody>
                  <a:tcPr marL="148341" marR="148341" marT="98894" marB="9889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effectLst/>
                        </a:rPr>
                        <a:t>- </a:t>
                      </a:r>
                      <a:r>
                        <a:rPr lang="zh-CN" altLang="en-US" sz="1600" b="0" dirty="0">
                          <a:effectLst/>
                        </a:rPr>
                        <a:t>指向 </a:t>
                      </a:r>
                      <a:r>
                        <a:rPr lang="zh-CN" altLang="en-US" sz="1600" b="1" dirty="0">
                          <a:effectLst/>
                        </a:rPr>
                        <a:t>定时器句柄（</a:t>
                      </a:r>
                      <a:r>
                        <a:rPr lang="en-US" altLang="zh-CN" sz="1600" b="1" dirty="0" err="1">
                          <a:effectLst/>
                        </a:rPr>
                        <a:t>TIM_HandleTypeDef</a:t>
                      </a:r>
                      <a:r>
                        <a:rPr lang="zh-CN" altLang="en-US" sz="1600" b="1" dirty="0">
                          <a:effectLst/>
                        </a:rPr>
                        <a:t>）</a:t>
                      </a:r>
                      <a:r>
                        <a:rPr lang="zh-CN" altLang="en-US" sz="1600" b="0" dirty="0">
                          <a:effectLst/>
                        </a:rPr>
                        <a:t> 的指针</a:t>
                      </a:r>
                      <a:br>
                        <a:rPr lang="zh-CN" altLang="en-US" sz="1600" b="0" dirty="0">
                          <a:effectLst/>
                        </a:rPr>
                      </a:br>
                      <a:r>
                        <a:rPr lang="en-US" altLang="zh-CN" sz="1600" b="0" dirty="0">
                          <a:effectLst/>
                        </a:rPr>
                        <a:t>- </a:t>
                      </a:r>
                      <a:r>
                        <a:rPr lang="zh-CN" altLang="en-US" sz="1600" b="0" dirty="0">
                          <a:effectLst/>
                        </a:rPr>
                        <a:t>句柄存储定时器核心配置：基地址、时钟频率、计数模式等</a:t>
                      </a:r>
                      <a:br>
                        <a:rPr lang="zh-CN" altLang="en-US" sz="1600" b="0" dirty="0">
                          <a:effectLst/>
                        </a:rPr>
                      </a:br>
                      <a:r>
                        <a:rPr lang="en-US" altLang="zh-CN" sz="1600" b="0" dirty="0">
                          <a:effectLst/>
                        </a:rPr>
                        <a:t>- </a:t>
                      </a:r>
                      <a:r>
                        <a:rPr lang="zh-CN" altLang="en-US" sz="1600" b="0" dirty="0">
                          <a:effectLst/>
                        </a:rPr>
                        <a:t>由 </a:t>
                      </a:r>
                      <a:r>
                        <a:rPr lang="en-US" altLang="zh-CN" sz="1600" b="0" dirty="0">
                          <a:effectLst/>
                        </a:rPr>
                        <a:t>HAL </a:t>
                      </a:r>
                      <a:r>
                        <a:rPr lang="zh-CN" altLang="en-US" sz="1600" b="0" dirty="0">
                          <a:effectLst/>
                        </a:rPr>
                        <a:t>库初始化定时器时创建并赋值</a:t>
                      </a:r>
                    </a:p>
                  </a:txBody>
                  <a:tcPr marL="148341" marR="148341" marT="98894" marB="98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94730739"/>
                  </a:ext>
                </a:extLst>
              </a:tr>
              <a:tr h="85394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</a:rPr>
                        <a:t>TIM_CHANNEL_1</a:t>
                      </a:r>
                    </a:p>
                  </a:txBody>
                  <a:tcPr marL="148341" marR="148341" marT="98894" marB="9889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effectLst/>
                        </a:rPr>
                        <a:t>- </a:t>
                      </a:r>
                      <a:r>
                        <a:rPr lang="zh-CN" altLang="en-US" sz="1600" b="0" dirty="0">
                          <a:effectLst/>
                        </a:rPr>
                        <a:t>指定定时器</a:t>
                      </a:r>
                      <a:r>
                        <a:rPr lang="zh-CN" altLang="en-US" sz="1600" b="1" dirty="0">
                          <a:effectLst/>
                        </a:rPr>
                        <a:t>通道号</a:t>
                      </a:r>
                      <a:r>
                        <a:rPr lang="zh-CN" altLang="en-US" sz="1600" b="0" dirty="0">
                          <a:effectLst/>
                        </a:rPr>
                        <a:t>（如 </a:t>
                      </a:r>
                      <a:r>
                        <a:rPr lang="en-US" sz="1600" b="0" dirty="0">
                          <a:effectLst/>
                        </a:rPr>
                        <a:t>TIM_CHANNEL_1/TIM_CHANNEL_2 </a:t>
                      </a:r>
                      <a:r>
                        <a:rPr lang="zh-CN" altLang="en-US" sz="1600" b="0" dirty="0">
                          <a:effectLst/>
                        </a:rPr>
                        <a:t>等）</a:t>
                      </a:r>
                      <a:br>
                        <a:rPr lang="zh-CN" altLang="en-US" sz="1600" b="0" dirty="0">
                          <a:effectLst/>
                        </a:rPr>
                      </a:br>
                      <a:r>
                        <a:rPr lang="en-US" altLang="zh-CN" sz="1600" b="0" dirty="0">
                          <a:effectLst/>
                        </a:rPr>
                        <a:t>- </a:t>
                      </a:r>
                      <a:r>
                        <a:rPr lang="zh-CN" altLang="en-US" sz="1600" b="0" dirty="0">
                          <a:effectLst/>
                        </a:rPr>
                        <a:t>每个通道独立生成 </a:t>
                      </a:r>
                      <a:r>
                        <a:rPr lang="en-US" sz="1600" b="0" dirty="0">
                          <a:effectLst/>
                        </a:rPr>
                        <a:t>PWM，</a:t>
                      </a:r>
                      <a:r>
                        <a:rPr lang="zh-CN" altLang="en-US" sz="1600" b="0" dirty="0">
                          <a:effectLst/>
                        </a:rPr>
                        <a:t>按需选择目标通道控制</a:t>
                      </a:r>
                    </a:p>
                  </a:txBody>
                  <a:tcPr marL="148341" marR="148341" marT="98894" marB="98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96558726"/>
                  </a:ext>
                </a:extLst>
              </a:tr>
              <a:tr h="1030626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effectLst/>
                        </a:rPr>
                        <a:t>val</a:t>
                      </a:r>
                      <a:endParaRPr lang="en-US" sz="1600" b="0" dirty="0">
                        <a:effectLst/>
                      </a:endParaRPr>
                    </a:p>
                  </a:txBody>
                  <a:tcPr marL="148341" marR="148341" marT="98894" marB="9889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effectLst/>
                        </a:rPr>
                        <a:t>- </a:t>
                      </a:r>
                      <a:r>
                        <a:rPr lang="zh-CN" altLang="en-US" sz="1600" b="0" dirty="0">
                          <a:effectLst/>
                        </a:rPr>
                        <a:t>要设置的</a:t>
                      </a:r>
                      <a:r>
                        <a:rPr lang="zh-CN" altLang="en-US" sz="1600" b="1" dirty="0">
                          <a:effectLst/>
                        </a:rPr>
                        <a:t>比较值（</a:t>
                      </a:r>
                      <a:r>
                        <a:rPr lang="en-US" altLang="zh-CN" sz="1600" b="1" dirty="0">
                          <a:effectLst/>
                        </a:rPr>
                        <a:t>CCR </a:t>
                      </a:r>
                      <a:r>
                        <a:rPr lang="zh-CN" altLang="en-US" sz="1600" b="1" dirty="0">
                          <a:effectLst/>
                        </a:rPr>
                        <a:t>值）</a:t>
                      </a:r>
                      <a:r>
                        <a:rPr lang="zh-CN" altLang="en-US" sz="1600" b="0" dirty="0">
                          <a:effectLst/>
                        </a:rPr>
                        <a:t>，直接决定 </a:t>
                      </a:r>
                      <a:r>
                        <a:rPr lang="en-US" altLang="zh-CN" sz="1600" b="0" dirty="0">
                          <a:effectLst/>
                        </a:rPr>
                        <a:t>PWM </a:t>
                      </a:r>
                      <a:r>
                        <a:rPr lang="zh-CN" altLang="en-US" sz="1600" b="0" dirty="0">
                          <a:effectLst/>
                        </a:rPr>
                        <a:t>占空比</a:t>
                      </a:r>
                      <a:br>
                        <a:rPr lang="zh-CN" altLang="en-US" sz="1600" b="0" dirty="0">
                          <a:effectLst/>
                        </a:rPr>
                      </a:br>
                      <a:r>
                        <a:rPr lang="en-US" altLang="zh-CN" sz="1600" b="0" dirty="0">
                          <a:effectLst/>
                        </a:rPr>
                        <a:t>- </a:t>
                      </a:r>
                      <a:r>
                        <a:rPr lang="zh-CN" altLang="en-US" sz="1600" b="0" dirty="0">
                          <a:effectLst/>
                        </a:rPr>
                        <a:t>逻辑：定时器计数值（</a:t>
                      </a:r>
                      <a:r>
                        <a:rPr lang="en-US" altLang="zh-CN" sz="1600" b="0" dirty="0">
                          <a:effectLst/>
                        </a:rPr>
                        <a:t>CNT</a:t>
                      </a:r>
                      <a:r>
                        <a:rPr lang="zh-CN" altLang="en-US" sz="1600" b="0" dirty="0">
                          <a:effectLst/>
                        </a:rPr>
                        <a:t>）＜</a:t>
                      </a:r>
                      <a:r>
                        <a:rPr lang="en-US" altLang="zh-CN" sz="1600" b="0" dirty="0" err="1">
                          <a:effectLst/>
                        </a:rPr>
                        <a:t>val</a:t>
                      </a:r>
                      <a:r>
                        <a:rPr lang="en-US" altLang="zh-CN" sz="1600" b="0" dirty="0">
                          <a:effectLst/>
                        </a:rPr>
                        <a:t> </a:t>
                      </a:r>
                      <a:r>
                        <a:rPr lang="zh-CN" altLang="en-US" sz="1600" b="0" dirty="0">
                          <a:effectLst/>
                        </a:rPr>
                        <a:t>时输出高电平；≥</a:t>
                      </a:r>
                      <a:r>
                        <a:rPr lang="en-US" altLang="zh-CN" sz="1600" b="0" dirty="0" err="1">
                          <a:effectLst/>
                        </a:rPr>
                        <a:t>val</a:t>
                      </a:r>
                      <a:r>
                        <a:rPr lang="en-US" altLang="zh-CN" sz="1600" b="0" dirty="0">
                          <a:effectLst/>
                        </a:rPr>
                        <a:t> </a:t>
                      </a:r>
                      <a:r>
                        <a:rPr lang="zh-CN" altLang="en-US" sz="1600" b="0" dirty="0">
                          <a:effectLst/>
                        </a:rPr>
                        <a:t>时输出低电平</a:t>
                      </a:r>
                      <a:br>
                        <a:rPr lang="zh-CN" altLang="en-US" sz="1600" b="0" dirty="0">
                          <a:effectLst/>
                        </a:rPr>
                      </a:br>
                      <a:r>
                        <a:rPr lang="en-US" altLang="zh-CN" sz="1600" b="0" dirty="0">
                          <a:effectLst/>
                        </a:rPr>
                        <a:t>- </a:t>
                      </a:r>
                      <a:r>
                        <a:rPr lang="zh-CN" altLang="en-US" sz="1600" b="0" dirty="0">
                          <a:effectLst/>
                        </a:rPr>
                        <a:t>取值范围由</a:t>
                      </a:r>
                      <a:r>
                        <a:rPr lang="zh-CN" altLang="en-US" sz="1600" b="1" dirty="0">
                          <a:effectLst/>
                        </a:rPr>
                        <a:t>自动重装载值（</a:t>
                      </a:r>
                      <a:r>
                        <a:rPr lang="en-US" altLang="zh-CN" sz="1600" b="1" dirty="0">
                          <a:effectLst/>
                        </a:rPr>
                        <a:t>ARR</a:t>
                      </a:r>
                      <a:r>
                        <a:rPr lang="zh-CN" altLang="en-US" sz="1600" b="1" dirty="0">
                          <a:effectLst/>
                        </a:rPr>
                        <a:t>） </a:t>
                      </a:r>
                      <a:r>
                        <a:rPr lang="zh-CN" altLang="en-US" sz="1600" b="0" dirty="0">
                          <a:effectLst/>
                        </a:rPr>
                        <a:t>决定（如 </a:t>
                      </a:r>
                      <a:r>
                        <a:rPr lang="en-US" altLang="zh-CN" sz="1600" b="0" dirty="0">
                          <a:effectLst/>
                        </a:rPr>
                        <a:t>ARR=1000 </a:t>
                      </a:r>
                      <a:r>
                        <a:rPr lang="zh-CN" altLang="en-US" sz="1600" b="0" dirty="0">
                          <a:effectLst/>
                        </a:rPr>
                        <a:t>则 </a:t>
                      </a:r>
                      <a:r>
                        <a:rPr lang="en-US" altLang="zh-CN" sz="1600" b="0" dirty="0" err="1">
                          <a:effectLst/>
                        </a:rPr>
                        <a:t>val</a:t>
                      </a:r>
                      <a:r>
                        <a:rPr lang="en-US" altLang="zh-CN" sz="1600" b="0" dirty="0">
                          <a:effectLst/>
                        </a:rPr>
                        <a:t>∈[0,1000]</a:t>
                      </a:r>
                      <a:r>
                        <a:rPr lang="zh-CN" altLang="en-US" sz="1600" b="0" dirty="0">
                          <a:effectLst/>
                        </a:rPr>
                        <a:t>）</a:t>
                      </a:r>
                    </a:p>
                  </a:txBody>
                  <a:tcPr marL="148341" marR="148341" marT="98894" marB="98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1605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2025.7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4047</TotalTime>
  <Words>1107</Words>
  <Application>Microsoft Office PowerPoint</Application>
  <PresentationFormat>宽屏</PresentationFormat>
  <Paragraphs>115</Paragraphs>
  <Slides>12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Source Han Sans</vt:lpstr>
      <vt:lpstr>Source Han Sans CN Regular</vt:lpstr>
      <vt:lpstr>等线</vt:lpstr>
      <vt:lpstr>微软雅黑</vt:lpstr>
      <vt:lpstr>Arial</vt:lpstr>
      <vt:lpstr>Consolas</vt:lpstr>
      <vt:lpstr>Office 主题​​</vt:lpstr>
      <vt:lpstr>Visio</vt:lpstr>
      <vt:lpstr>PowerPoint 演示文稿</vt:lpstr>
      <vt:lpstr>1.开发板上的电路原理图</vt:lpstr>
      <vt:lpstr>1.1 一个舵机接口的原理图</vt:lpstr>
      <vt:lpstr>1. 2 三个舵机接口的电路原理图</vt:lpstr>
      <vt:lpstr>1.3 电机开发板上舵机相关的实物</vt:lpstr>
      <vt:lpstr>2. STM32F407x生成PWM的分析</vt:lpstr>
      <vt:lpstr>2.1 生成舵机PWM控制信号的一般流程</vt:lpstr>
      <vt:lpstr>2.2 定时器怎么生成PWM信号的</vt:lpstr>
      <vt:lpstr>2.3 PWM模拟舵机的控制——核心代码解析-舵机角度转定时器装载值</vt:lpstr>
      <vt:lpstr>2.4 PWM模拟舵机的控制——核心代码解析-舵机角度设定</vt:lpstr>
      <vt:lpstr>2.5 PWM模拟舵机的控制——核心代码解析-__HAL_TIM_SetCompare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94</cp:revision>
  <dcterms:created xsi:type="dcterms:W3CDTF">2025-05-21T06:55:53Z</dcterms:created>
  <dcterms:modified xsi:type="dcterms:W3CDTF">2025-08-01T10:28:33Z</dcterms:modified>
</cp:coreProperties>
</file>