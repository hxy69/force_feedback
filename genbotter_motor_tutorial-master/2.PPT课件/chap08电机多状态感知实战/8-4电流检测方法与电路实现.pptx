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802" r:id="rId3"/>
    <p:sldId id="800" r:id="rId4"/>
    <p:sldId id="805" r:id="rId5"/>
    <p:sldId id="807" r:id="rId6"/>
    <p:sldId id="808" r:id="rId7"/>
    <p:sldId id="806" r:id="rId8"/>
    <p:sldId id="815" r:id="rId9"/>
    <p:sldId id="810" r:id="rId10"/>
    <p:sldId id="814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" autoAdjust="0"/>
    <p:restoredTop sz="48908" autoAdjust="0"/>
  </p:normalViewPr>
  <p:slideViewPr>
    <p:cSldViewPr snapToGrid="0">
      <p:cViewPr varScale="1">
        <p:scale>
          <a:sx n="54" d="100"/>
          <a:sy n="54" d="100"/>
        </p:scale>
        <p:origin x="342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/>
            <a:t>1. </a:t>
          </a:r>
          <a:r>
            <a:rPr lang="zh-CN" altLang="en-US" b="0" i="0"/>
            <a:t>理解电流反馈在电机控制中的重要性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AC45FA2-CC9A-4D6D-AB9B-F83FC130E388}">
      <dgm:prSet/>
      <dgm:spPr/>
      <dgm:t>
        <a:bodyPr/>
        <a:lstStyle/>
        <a:p>
          <a:pPr>
            <a:buNone/>
          </a:pPr>
          <a:r>
            <a:rPr lang="en-US" altLang="zh-CN" b="0" i="0" dirty="0"/>
            <a:t>2. </a:t>
          </a:r>
          <a:r>
            <a:rPr lang="zh-CN" altLang="en-US" b="0" i="0" dirty="0"/>
            <a:t>掌握基于采样电阻的电流检测原理</a:t>
          </a:r>
        </a:p>
      </dgm:t>
    </dgm:pt>
    <dgm:pt modelId="{B0EB4A65-B7D6-4B01-8CBA-C575F14357A8}" type="parTrans" cxnId="{6686CC95-8E79-4E12-9803-ABA2E0BD2660}">
      <dgm:prSet/>
      <dgm:spPr/>
      <dgm:t>
        <a:bodyPr/>
        <a:lstStyle/>
        <a:p>
          <a:endParaRPr lang="zh-CN" altLang="en-US"/>
        </a:p>
      </dgm:t>
    </dgm:pt>
    <dgm:pt modelId="{FA1CF2E1-0ED0-4776-AB26-7715BA206E48}" type="sibTrans" cxnId="{6686CC95-8E79-4E12-9803-ABA2E0BD2660}">
      <dgm:prSet/>
      <dgm:spPr/>
      <dgm:t>
        <a:bodyPr/>
        <a:lstStyle/>
        <a:p>
          <a:endParaRPr lang="zh-CN" altLang="en-US"/>
        </a:p>
      </dgm:t>
    </dgm:pt>
    <dgm:pt modelId="{4C04FF4A-9AC1-47AE-855B-FFD898C93FA8}">
      <dgm:prSet/>
      <dgm:spPr/>
      <dgm:t>
        <a:bodyPr/>
        <a:lstStyle/>
        <a:p>
          <a:pPr>
            <a:buNone/>
          </a:pPr>
          <a:r>
            <a:rPr lang="en-US" altLang="zh-CN" b="0" i="0" dirty="0"/>
            <a:t>3. </a:t>
          </a:r>
          <a:r>
            <a:rPr lang="zh-CN" altLang="en-US" b="0" i="0" dirty="0"/>
            <a:t>学会设计差分放大与滤波电路</a:t>
          </a:r>
        </a:p>
      </dgm:t>
    </dgm:pt>
    <dgm:pt modelId="{E81E25E2-8F72-4C10-97C5-400B50C87F0C}" type="parTrans" cxnId="{8B1FE568-55C1-4440-BFE8-0E3473E14C8E}">
      <dgm:prSet/>
      <dgm:spPr/>
      <dgm:t>
        <a:bodyPr/>
        <a:lstStyle/>
        <a:p>
          <a:endParaRPr lang="zh-CN" altLang="en-US"/>
        </a:p>
      </dgm:t>
    </dgm:pt>
    <dgm:pt modelId="{473E98CB-5B89-4579-8E88-B4B78D7B9086}" type="sibTrans" cxnId="{8B1FE568-55C1-4440-BFE8-0E3473E14C8E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3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4CB32714-ABCC-4DC5-BFC4-4CDD8C6E28AE}" type="pres">
      <dgm:prSet presAssocID="{0AC45FA2-CC9A-4D6D-AB9B-F83FC130E3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75F0CF-483B-4756-85B5-B28B7859975D}" type="pres">
      <dgm:prSet presAssocID="{FA1CF2E1-0ED0-4776-AB26-7715BA206E48}" presName="spacer" presStyleCnt="0"/>
      <dgm:spPr/>
    </dgm:pt>
    <dgm:pt modelId="{7937604F-C20E-4951-B622-14A5C432A96B}" type="pres">
      <dgm:prSet presAssocID="{4C04FF4A-9AC1-47AE-855B-FFD898C93FA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8B1FE568-55C1-4440-BFE8-0E3473E14C8E}" srcId="{8CD2E5DB-863B-4C72-909B-8B419B7117A4}" destId="{4C04FF4A-9AC1-47AE-855B-FFD898C93FA8}" srcOrd="2" destOrd="0" parTransId="{E81E25E2-8F72-4C10-97C5-400B50C87F0C}" sibTransId="{473E98CB-5B89-4579-8E88-B4B78D7B9086}"/>
    <dgm:cxn modelId="{98278181-2A7E-4788-ABD8-B4E4D7ACD365}" type="presOf" srcId="{0AC45FA2-CC9A-4D6D-AB9B-F83FC130E388}" destId="{4CB32714-ABCC-4DC5-BFC4-4CDD8C6E28AE}" srcOrd="0" destOrd="0" presId="urn:microsoft.com/office/officeart/2005/8/layout/vList2"/>
    <dgm:cxn modelId="{6686CC95-8E79-4E12-9803-ABA2E0BD2660}" srcId="{8CD2E5DB-863B-4C72-909B-8B419B7117A4}" destId="{0AC45FA2-CC9A-4D6D-AB9B-F83FC130E388}" srcOrd="1" destOrd="0" parTransId="{B0EB4A65-B7D6-4B01-8CBA-C575F14357A8}" sibTransId="{FA1CF2E1-0ED0-4776-AB26-7715BA206E48}"/>
    <dgm:cxn modelId="{41A4B7DF-A5AD-4DDC-AC2C-F70755BED9D3}" type="presOf" srcId="{4C04FF4A-9AC1-47AE-855B-FFD898C93FA8}" destId="{7937604F-C20E-4951-B622-14A5C432A96B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25A31A90-375E-498D-9C4C-CB4D3243387A}" type="presParOf" srcId="{6BAECC41-F701-41E2-ADAF-5F31946C0A81}" destId="{4CB32714-ABCC-4DC5-BFC4-4CDD8C6E28AE}" srcOrd="2" destOrd="0" presId="urn:microsoft.com/office/officeart/2005/8/layout/vList2"/>
    <dgm:cxn modelId="{C42AB81E-63F1-440C-9BE9-B0FB0F0D84CE}" type="presParOf" srcId="{6BAECC41-F701-41E2-ADAF-5F31946C0A81}" destId="{AE75F0CF-483B-4756-85B5-B28B7859975D}" srcOrd="3" destOrd="0" presId="urn:microsoft.com/office/officeart/2005/8/layout/vList2"/>
    <dgm:cxn modelId="{2313C4FD-4948-46A6-9429-DF8D0CAD1517}" type="presParOf" srcId="{6BAECC41-F701-41E2-ADAF-5F31946C0A81}" destId="{7937604F-C20E-4951-B622-14A5C432A9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647490"/>
          <a:ext cx="8769532" cy="10003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800" b="0" i="0" kern="1200"/>
            <a:t>1. </a:t>
          </a:r>
          <a:r>
            <a:rPr lang="zh-CN" altLang="en-US" sz="3800" b="0" i="0" kern="1200"/>
            <a:t>理解电流反馈在电机控制中的重要性</a:t>
          </a:r>
          <a:endParaRPr lang="zh-CN" sz="3800" kern="1200" dirty="0"/>
        </a:p>
      </dsp:txBody>
      <dsp:txXfrm>
        <a:off x="48833" y="696323"/>
        <a:ext cx="8671866" cy="902684"/>
      </dsp:txXfrm>
    </dsp:sp>
    <dsp:sp modelId="{4CB32714-ABCC-4DC5-BFC4-4CDD8C6E28AE}">
      <dsp:nvSpPr>
        <dsp:cNvPr id="0" name=""/>
        <dsp:cNvSpPr/>
      </dsp:nvSpPr>
      <dsp:spPr>
        <a:xfrm>
          <a:off x="0" y="1803242"/>
          <a:ext cx="8769532" cy="10003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800" b="0" i="0" kern="1200" dirty="0"/>
            <a:t>2. </a:t>
          </a:r>
          <a:r>
            <a:rPr lang="zh-CN" altLang="en-US" sz="3800" b="0" i="0" kern="1200" dirty="0"/>
            <a:t>掌握基于采样电阻的电流检测原理</a:t>
          </a:r>
        </a:p>
      </dsp:txBody>
      <dsp:txXfrm>
        <a:off x="48833" y="1852075"/>
        <a:ext cx="8671866" cy="902684"/>
      </dsp:txXfrm>
    </dsp:sp>
    <dsp:sp modelId="{7937604F-C20E-4951-B622-14A5C432A96B}">
      <dsp:nvSpPr>
        <dsp:cNvPr id="0" name=""/>
        <dsp:cNvSpPr/>
      </dsp:nvSpPr>
      <dsp:spPr>
        <a:xfrm>
          <a:off x="0" y="2913032"/>
          <a:ext cx="8769532" cy="10003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800" b="0" i="0" kern="1200" dirty="0"/>
            <a:t>3. </a:t>
          </a:r>
          <a:r>
            <a:rPr lang="zh-CN" altLang="en-US" sz="3800" b="0" i="0" kern="1200" dirty="0"/>
            <a:t>学会设计差分放大与滤波电路</a:t>
          </a:r>
        </a:p>
      </dsp:txBody>
      <dsp:txXfrm>
        <a:off x="48833" y="2961865"/>
        <a:ext cx="8671866" cy="902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4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8D8B-D989-37D5-F070-5D231348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A216E6-FC5F-BFEA-2B08-975125E87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51C350-39BD-EF1E-741B-9BB79C300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D35AA-93D8-8338-923B-E345AA7C7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98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emf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673970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电机电流检测方法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【08-04】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39663164"/>
              </p:ext>
            </p:extLst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为什么需要检测电流？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CD047FDD-0882-6D07-F5DB-E572CB1C46C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079" y="1044621"/>
            <a:ext cx="5789921" cy="5345255"/>
          </a:xfrm>
        </p:spPr>
        <p:txBody>
          <a:bodyPr>
            <a:normAutofit fontScale="77500" lnSpcReduction="20000"/>
          </a:bodyPr>
          <a:lstStyle/>
          <a:p>
            <a:pPr latinLnBrk="1"/>
            <a:r>
              <a:rPr lang="zh-CN" altLang="en-US" dirty="0"/>
              <a:t>电流 </a:t>
            </a:r>
            <a:r>
              <a:rPr lang="en-US" altLang="zh-CN" dirty="0"/>
              <a:t>= </a:t>
            </a:r>
            <a:r>
              <a:rPr lang="zh-CN" altLang="en-US" dirty="0"/>
              <a:t>电机的</a:t>
            </a:r>
            <a:r>
              <a:rPr lang="en-US" altLang="zh-CN" dirty="0"/>
              <a:t>"</a:t>
            </a:r>
            <a:r>
              <a:rPr lang="zh-CN" altLang="en-US" dirty="0"/>
              <a:t>力量</a:t>
            </a:r>
            <a:r>
              <a:rPr lang="en-US" altLang="zh-CN" dirty="0"/>
              <a:t>"</a:t>
            </a:r>
            <a:r>
              <a:rPr lang="zh-CN" altLang="en-US" dirty="0"/>
              <a:t>表征</a:t>
            </a:r>
          </a:p>
          <a:p>
            <a:pPr latinLnBrk="1"/>
            <a:endParaRPr lang="zh-CN" altLang="en-US" dirty="0"/>
          </a:p>
          <a:p>
            <a:pPr latinLnBrk="1"/>
            <a:r>
              <a:rPr lang="zh-CN" altLang="en-US" dirty="0"/>
              <a:t>核心作用：</a:t>
            </a:r>
          </a:p>
          <a:p>
            <a:pPr latinLnBrk="1"/>
            <a:r>
              <a:rPr lang="en-US" altLang="zh-CN" dirty="0"/>
              <a:t>1. </a:t>
            </a:r>
            <a:r>
              <a:rPr lang="zh-CN" altLang="en-US" dirty="0"/>
              <a:t>力矩控制直接反馈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电流 ∝ 输出扭矩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精准的力控制基础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2. </a:t>
            </a:r>
            <a:r>
              <a:rPr lang="zh-CN" altLang="en-US" dirty="0"/>
              <a:t>系统保护与诊断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过流保护：防止电机和驱动器损坏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堵转检测：异常状态判断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3. </a:t>
            </a:r>
            <a:r>
              <a:rPr lang="zh-CN" altLang="en-US" dirty="0"/>
              <a:t>能效优化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实时功率计算：</a:t>
            </a:r>
            <a:r>
              <a:rPr lang="en-US" altLang="zh-CN" dirty="0"/>
              <a:t>P = V × I</a:t>
            </a:r>
          </a:p>
          <a:p>
            <a:pPr latinLnBrk="1"/>
            <a:r>
              <a:rPr lang="en-US" altLang="zh-CN" dirty="0"/>
              <a:t>   - </a:t>
            </a:r>
            <a:r>
              <a:rPr lang="zh-CN" altLang="en-US" dirty="0"/>
              <a:t>优化控制策略，提高效率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DFAC7A-F267-FE92-B380-94EF250967F8}"/>
              </a:ext>
            </a:extLst>
          </p:cNvPr>
          <p:cNvSpPr txBox="1"/>
          <p:nvPr/>
        </p:nvSpPr>
        <p:spPr>
          <a:xfrm>
            <a:off x="5874327" y="1044621"/>
            <a:ext cx="56988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应用场景：</a:t>
            </a:r>
            <a:endParaRPr lang="zh-CN" altLang="en-US" sz="1600" b="0" i="0" dirty="0">
              <a:solidFill>
                <a:srgbClr val="2C2C36"/>
              </a:solidFill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过流保护（防止烧毁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system-ui"/>
              </a:rPr>
              <a:t>MOS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管或电机）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闭环控制（如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system-ui"/>
              </a:rPr>
              <a:t>FOC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、</a:t>
            </a:r>
            <a:r>
              <a:rPr lang="en-US" altLang="zh-CN" sz="1600" b="0" i="0" dirty="0">
                <a:solidFill>
                  <a:srgbClr val="2C2C36"/>
                </a:solidFill>
                <a:effectLst/>
                <a:latin typeface="system-ui"/>
              </a:rPr>
              <a:t>PID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调速、堵转检测）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能耗分析与效率优化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关键问题：</a:t>
            </a: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 电机电流直接反映了负载大小和运行状态。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AC16EF-1D73-0FFC-EAFB-9658ECB56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227" y="2647359"/>
            <a:ext cx="6402773" cy="40490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D6E21A-9A42-6813-3A02-FC3295C5E408}"/>
              </a:ext>
            </a:extLst>
          </p:cNvPr>
          <p:cNvSpPr txBox="1"/>
          <p:nvPr/>
        </p:nvSpPr>
        <p:spPr>
          <a:xfrm>
            <a:off x="6466235" y="3429000"/>
            <a:ext cx="5048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负载变化时维持转速不变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，核心逻辑就是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通过增加驱动电流来补偿负载转矩的变化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52F4E8-E46F-6F19-8D8C-6A957FD8CC2B}"/>
              </a:ext>
            </a:extLst>
          </p:cNvPr>
          <p:cNvSpPr txBox="1"/>
          <p:nvPr/>
        </p:nvSpPr>
        <p:spPr>
          <a:xfrm>
            <a:off x="6466235" y="4671861"/>
            <a:ext cx="5048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C2C3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电流是电机的‘心跳’，不监测它，你就失去了对系统的掌控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电流检测方法比较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979937-B547-80D1-177E-80F1704340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3860" y="1072330"/>
            <a:ext cx="4487595" cy="5345255"/>
          </a:xfrm>
        </p:spPr>
        <p:txBody>
          <a:bodyPr>
            <a:normAutofit fontScale="62500" lnSpcReduction="20000"/>
          </a:bodyPr>
          <a:lstStyle/>
          <a:p>
            <a:pPr latinLnBrk="1"/>
            <a:r>
              <a:rPr lang="en-US" altLang="zh-CN" dirty="0"/>
              <a:t>1. </a:t>
            </a:r>
            <a:r>
              <a:rPr lang="zh-CN" altLang="en-US" dirty="0"/>
              <a:t>采样电阻法（本实验使用的方法）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优点：成本低、精度高、响应快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缺点：有功率损耗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适用：中小功率电机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2. </a:t>
            </a:r>
            <a:r>
              <a:rPr lang="zh-CN" altLang="en-US" dirty="0"/>
              <a:t>霍尔电流传感器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优点：隔离测量、无损耗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缺点：成本高、有温漂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适用：大功率、高压系统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3. </a:t>
            </a:r>
            <a:r>
              <a:rPr lang="zh-CN" altLang="en-US" dirty="0"/>
              <a:t>电流互感器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优点：完全隔离、耐高压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缺点：仅适用交流</a:t>
            </a:r>
          </a:p>
          <a:p>
            <a:pPr latinLnBrk="1"/>
            <a:r>
              <a:rPr lang="zh-CN" altLang="en-US" dirty="0"/>
              <a:t>   </a:t>
            </a:r>
            <a:r>
              <a:rPr lang="en-US" altLang="zh-CN" dirty="0"/>
              <a:t>- </a:t>
            </a:r>
            <a:r>
              <a:rPr lang="zh-CN" altLang="en-US" dirty="0"/>
              <a:t>适用：工频交流系统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0098C2-580D-3DDD-9F52-F69480631454}"/>
              </a:ext>
            </a:extLst>
          </p:cNvPr>
          <p:cNvSpPr txBox="1"/>
          <p:nvPr/>
        </p:nvSpPr>
        <p:spPr>
          <a:xfrm>
            <a:off x="5200073" y="1002206"/>
            <a:ext cx="3592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核心原理：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 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F Mono"/>
              </a:rPr>
              <a:t>V = I * R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 (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欧姆定律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)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B4742C7-A8D0-1B24-88A4-1243B824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20" y="1418654"/>
            <a:ext cx="5849903" cy="32549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0D8D083-CDFE-771D-E916-707E7D187BD1}"/>
              </a:ext>
            </a:extLst>
          </p:cNvPr>
          <p:cNvSpPr/>
          <p:nvPr/>
        </p:nvSpPr>
        <p:spPr>
          <a:xfrm>
            <a:off x="9208656" y="4099364"/>
            <a:ext cx="92364" cy="295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0107CB-D039-297A-F69E-39E6D834CE5D}"/>
              </a:ext>
            </a:extLst>
          </p:cNvPr>
          <p:cNvSpPr txBox="1"/>
          <p:nvPr/>
        </p:nvSpPr>
        <p:spPr>
          <a:xfrm>
            <a:off x="8776588" y="4099364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R32</a:t>
            </a:r>
            <a:endParaRPr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ABC262-D651-74FF-29AB-2D26D70F73EB}"/>
              </a:ext>
            </a:extLst>
          </p:cNvPr>
          <p:cNvSpPr txBox="1"/>
          <p:nvPr/>
        </p:nvSpPr>
        <p:spPr>
          <a:xfrm>
            <a:off x="7250547" y="4822457"/>
            <a:ext cx="350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采样电阻法检测电流示意图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EABAD3-1319-3942-3190-1FCC715D9EDD}"/>
              </a:ext>
            </a:extLst>
          </p:cNvPr>
          <p:cNvSpPr txBox="1"/>
          <p:nvPr/>
        </p:nvSpPr>
        <p:spPr>
          <a:xfrm>
            <a:off x="5366327" y="5540422"/>
            <a:ext cx="644698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电阻值要小（避免功率损耗和压降影响电机性能），如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20mΩ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。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功率计算：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F Mono"/>
              </a:rPr>
              <a:t>P = I² * R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，确保电阻能承受最大电流。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CF6A76-183E-2BEC-1BCF-31806CFA78A2}"/>
              </a:ext>
            </a:extLst>
          </p:cNvPr>
          <p:cNvSpPr txBox="1"/>
          <p:nvPr/>
        </p:nvSpPr>
        <p:spPr>
          <a:xfrm>
            <a:off x="5791203" y="181558"/>
            <a:ext cx="3509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Stm32</a:t>
            </a:r>
            <a:r>
              <a:rPr lang="zh-CN" altLang="en-US" dirty="0"/>
              <a:t>的</a:t>
            </a:r>
            <a:r>
              <a:rPr lang="en-US" altLang="zh-CN" dirty="0"/>
              <a:t>ADC</a:t>
            </a:r>
            <a:r>
              <a:rPr lang="zh-CN" altLang="en-US" dirty="0"/>
              <a:t>不能直接采集电流，先把电流信号转为电压信号</a:t>
            </a: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 直流有刷电机驱动电流采样电阻法原理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D639FF-798F-1211-195D-746A52246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44" y="1222207"/>
            <a:ext cx="5256796" cy="49230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3BF4F4-BDAE-7B78-362E-BC05A5900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543" y="4550332"/>
            <a:ext cx="4688799" cy="2187596"/>
          </a:xfrm>
          <a:prstGeom prst="rect">
            <a:avLst/>
          </a:prstGeom>
        </p:spPr>
      </p:pic>
      <p:pic>
        <p:nvPicPr>
          <p:cNvPr id="12" name="内容占位符 5">
            <a:extLst>
              <a:ext uri="{FF2B5EF4-FFF2-40B4-BE49-F238E27FC236}">
                <a16:creationId xmlns:a16="http://schemas.microsoft.com/office/drawing/2014/main" id="{1AAC157B-F35B-F221-BBB5-564278838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621" y="903109"/>
            <a:ext cx="5849903" cy="325497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6123708-EBDC-59CE-64AE-1998A5B74B77}"/>
              </a:ext>
            </a:extLst>
          </p:cNvPr>
          <p:cNvGrpSpPr/>
          <p:nvPr/>
        </p:nvGrpSpPr>
        <p:grpSpPr>
          <a:xfrm>
            <a:off x="8287060" y="3600595"/>
            <a:ext cx="524432" cy="307777"/>
            <a:chOff x="8287060" y="3535940"/>
            <a:chExt cx="524432" cy="30777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5BC2E01-942C-AB75-4DCA-4D3F1C01263C}"/>
                </a:ext>
              </a:extLst>
            </p:cNvPr>
            <p:cNvSpPr/>
            <p:nvPr/>
          </p:nvSpPr>
          <p:spPr>
            <a:xfrm>
              <a:off x="8719128" y="3535940"/>
              <a:ext cx="92364" cy="2955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4C63F9E-0EEE-3BFD-AE2C-B3AE6F48D808}"/>
                </a:ext>
              </a:extLst>
            </p:cNvPr>
            <p:cNvSpPr txBox="1"/>
            <p:nvPr/>
          </p:nvSpPr>
          <p:spPr>
            <a:xfrm>
              <a:off x="8287060" y="3535940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R32</a:t>
              </a:r>
              <a:endParaRPr lang="zh-CN" altLang="en-US" sz="1400" dirty="0"/>
            </a:p>
          </p:txBody>
        </p:sp>
      </p:grp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24586D1-F0C5-DC1F-C865-5B9ADBE11F99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5256796" y="3908372"/>
            <a:ext cx="3269272" cy="1504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20096A3-6624-4F93-041E-434D9DEB1455}"/>
              </a:ext>
            </a:extLst>
          </p:cNvPr>
          <p:cNvSpPr txBox="1"/>
          <p:nvPr/>
        </p:nvSpPr>
        <p:spPr>
          <a:xfrm>
            <a:off x="9271342" y="4412545"/>
            <a:ext cx="30286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流过电机的电流又通过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（串联）流入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上流过的电流就是流过电机的电流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通过检测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上的电压推算电流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R32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上的电压太小，需要放大之后才能检测到</a:t>
            </a: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采样电阻选型计算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6D1454-1414-3ABE-E379-E2FCDF3C88E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99837" y="1634837"/>
            <a:ext cx="5179290" cy="1664855"/>
          </a:xfrm>
        </p:spPr>
        <p:txBody>
          <a:bodyPr>
            <a:normAutofit/>
          </a:bodyPr>
          <a:lstStyle/>
          <a:p>
            <a:r>
              <a:rPr lang="zh-CN" altLang="en-US" sz="1600" b="1" dirty="0"/>
              <a:t>🔧 设计参数（简洁清晰）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600" b="1" dirty="0"/>
              <a:t>最大电流</a:t>
            </a:r>
            <a:r>
              <a:rPr lang="zh-CN" altLang="en-US" sz="1600" dirty="0"/>
              <a:t>：    </a:t>
            </a:r>
            <a:r>
              <a:rPr lang="en-US" altLang="zh-CN" sz="1600" dirty="0" err="1"/>
              <a:t>I_max</a:t>
            </a:r>
            <a:r>
              <a:rPr lang="en-US" altLang="zh-CN" sz="1600" dirty="0"/>
              <a:t> = 10 A</a:t>
            </a:r>
            <a:endParaRPr lang="zh-CN" alt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600" b="1" dirty="0"/>
              <a:t>目标压降</a:t>
            </a:r>
            <a:r>
              <a:rPr lang="zh-CN" altLang="en-US" sz="1600" dirty="0"/>
              <a:t>：    </a:t>
            </a:r>
            <a:r>
              <a:rPr lang="en-US" altLang="zh-CN" sz="1600" dirty="0" err="1"/>
              <a:t>V_sense</a:t>
            </a:r>
            <a:r>
              <a:rPr lang="en-US" altLang="zh-CN" sz="1600" dirty="0"/>
              <a:t> = 0.2 V</a:t>
            </a:r>
            <a:br>
              <a:rPr lang="zh-CN" altLang="en-US" sz="1600" dirty="0"/>
            </a:br>
            <a:r>
              <a:rPr lang="zh-CN" altLang="en-US" sz="1600" dirty="0"/>
              <a:t>（</a:t>
            </a:r>
            <a:r>
              <a:rPr lang="en-US" altLang="zh-CN" sz="1600" dirty="0"/>
              <a:t>ADC </a:t>
            </a:r>
            <a:r>
              <a:rPr lang="zh-CN" altLang="en-US" sz="1600" dirty="0"/>
              <a:t>测量范围优化，兼顾精度与噪声抑制）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6E1E3-A15B-87A2-80F4-F079278CC965}"/>
              </a:ext>
            </a:extLst>
          </p:cNvPr>
          <p:cNvSpPr txBox="1"/>
          <p:nvPr/>
        </p:nvSpPr>
        <p:spPr>
          <a:xfrm>
            <a:off x="999836" y="1122279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8F91A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以我们的直流有刷电机驱动板为例：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0D3529-2E8A-C14D-8BA7-226B631CD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01" y="3800192"/>
            <a:ext cx="3933825" cy="7429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BC0912B-956B-933B-44FF-06956A6DFD23}"/>
              </a:ext>
            </a:extLst>
          </p:cNvPr>
          <p:cNvSpPr txBox="1"/>
          <p:nvPr/>
        </p:nvSpPr>
        <p:spPr>
          <a:xfrm>
            <a:off x="1004454" y="3170842"/>
            <a:ext cx="564572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🧮 公式计算</a:t>
            </a:r>
            <a:endParaRPr lang="en-US" altLang="zh-CN" sz="1600" b="1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➤ </a:t>
            </a:r>
            <a:r>
              <a:rPr lang="en-US" altLang="zh-CN" sz="1600" b="1" i="0" dirty="0">
                <a:solidFill>
                  <a:srgbClr val="2C2C36"/>
                </a:solidFill>
                <a:effectLst/>
                <a:latin typeface="system-ui"/>
              </a:rPr>
              <a:t>1. </a:t>
            </a: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电阻值计算</a:t>
            </a:r>
          </a:p>
          <a:p>
            <a:pPr algn="l">
              <a:spcAft>
                <a:spcPts val="900"/>
              </a:spcAft>
              <a:buNone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根据欧姆定律：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A7103B-A824-6AD3-CA02-A6CC564013C1}"/>
              </a:ext>
            </a:extLst>
          </p:cNvPr>
          <p:cNvSpPr txBox="1"/>
          <p:nvPr/>
        </p:nvSpPr>
        <p:spPr>
          <a:xfrm>
            <a:off x="1004454" y="4733171"/>
            <a:ext cx="6096000" cy="700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➤ </a:t>
            </a:r>
            <a:r>
              <a:rPr lang="en-US" altLang="zh-CN" sz="1600" b="1" i="0" dirty="0">
                <a:solidFill>
                  <a:srgbClr val="2C2C36"/>
                </a:solidFill>
                <a:effectLst/>
                <a:latin typeface="system-ui"/>
              </a:rPr>
              <a:t>2. </a:t>
            </a:r>
            <a:r>
              <a:rPr lang="zh-CN" altLang="en-US" sz="1600" b="1" i="0" dirty="0">
                <a:solidFill>
                  <a:srgbClr val="2C2C36"/>
                </a:solidFill>
                <a:effectLst/>
                <a:latin typeface="system-ui"/>
              </a:rPr>
              <a:t>最大功耗计算</a:t>
            </a:r>
          </a:p>
          <a:p>
            <a:pPr algn="l">
              <a:spcAft>
                <a:spcPts val="900"/>
              </a:spcAft>
              <a:buNone/>
            </a:pPr>
            <a:r>
              <a:rPr lang="zh-CN" altLang="en-US" sz="1600" b="0" i="0" dirty="0">
                <a:solidFill>
                  <a:srgbClr val="2C2C36"/>
                </a:solidFill>
                <a:effectLst/>
                <a:latin typeface="system-ui"/>
              </a:rPr>
              <a:t>根据焦耳定律：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5CBF59-D901-14A6-AC61-B7B448547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001" y="5292777"/>
            <a:ext cx="5762625" cy="7001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35679E6-E2F9-375E-65C7-5852D87B2028}"/>
              </a:ext>
            </a:extLst>
          </p:cNvPr>
          <p:cNvSpPr txBox="1"/>
          <p:nvPr/>
        </p:nvSpPr>
        <p:spPr>
          <a:xfrm>
            <a:off x="1136072" y="62204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1" dirty="0">
                <a:solidFill>
                  <a:srgbClr val="2C2C36"/>
                </a:solidFill>
                <a:effectLst/>
                <a:latin typeface="system-ui"/>
              </a:rPr>
              <a:t>实际选型需预留安全余量（推荐 ≥ </a:t>
            </a:r>
            <a:r>
              <a:rPr lang="en-US" altLang="zh-CN" b="0" i="1" dirty="0">
                <a:solidFill>
                  <a:srgbClr val="2C2C36"/>
                </a:solidFill>
                <a:effectLst/>
                <a:latin typeface="system-ui"/>
              </a:rPr>
              <a:t>3× </a:t>
            </a:r>
            <a:r>
              <a:rPr lang="zh-CN" altLang="en-US" b="0" i="1" dirty="0">
                <a:solidFill>
                  <a:srgbClr val="2C2C36"/>
                </a:solidFill>
                <a:effectLst/>
                <a:latin typeface="system-ui"/>
              </a:rPr>
              <a:t>功率裕量）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4DAAFB-AA08-F41A-6EA9-39BA21159207}"/>
              </a:ext>
            </a:extLst>
          </p:cNvPr>
          <p:cNvSpPr txBox="1"/>
          <p:nvPr/>
        </p:nvSpPr>
        <p:spPr>
          <a:xfrm>
            <a:off x="6511636" y="62204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system-ui"/>
              </a:rPr>
              <a:t>让电阻的标称额定功率 ≥ 实际功耗的 </a:t>
            </a:r>
            <a:r>
              <a:rPr lang="en-US" altLang="zh-CN" b="1" i="0" dirty="0">
                <a:effectLst/>
                <a:latin typeface="system-ui"/>
              </a:rPr>
              <a:t>3 </a:t>
            </a:r>
            <a:r>
              <a:rPr lang="zh-CN" altLang="en-US" b="1" i="0" dirty="0">
                <a:effectLst/>
                <a:latin typeface="system-ui"/>
              </a:rPr>
              <a:t>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3D33AC84-00B2-CCAD-2123-5CBDA3421ABB}"/>
              </a:ext>
            </a:extLst>
          </p:cNvPr>
          <p:cNvSpPr/>
          <p:nvPr/>
        </p:nvSpPr>
        <p:spPr>
          <a:xfrm>
            <a:off x="5763493" y="868218"/>
            <a:ext cx="6428508" cy="3844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放大电路设计</a:t>
            </a:r>
            <a:r>
              <a:rPr lang="en-US" altLang="zh-CN" dirty="0"/>
              <a:t>——</a:t>
            </a:r>
            <a:r>
              <a:rPr lang="zh-CN" altLang="en-US" dirty="0"/>
              <a:t>概述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1A03547-4490-5885-36C4-C86330024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1672" y="1486681"/>
            <a:ext cx="5541820" cy="181048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1400" dirty="0"/>
              <a:t>20mΩ </a:t>
            </a:r>
            <a:r>
              <a:rPr lang="zh-CN" altLang="en-US" sz="1400" dirty="0"/>
              <a:t>电阻上流过 </a:t>
            </a:r>
            <a:r>
              <a:rPr lang="en-US" altLang="zh-CN" sz="1400" dirty="0"/>
              <a:t>10A </a:t>
            </a:r>
            <a:r>
              <a:rPr lang="zh-CN" altLang="en-US" sz="1400" dirty="0"/>
              <a:t>电流 → 压降 </a:t>
            </a:r>
            <a:r>
              <a:rPr lang="en-US" altLang="zh-CN" sz="1400" dirty="0"/>
              <a:t>= 0.2V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400" dirty="0"/>
              <a:t>单片机 </a:t>
            </a:r>
            <a:r>
              <a:rPr lang="en-US" altLang="zh-CN" sz="1400" dirty="0"/>
              <a:t>ADC </a:t>
            </a:r>
            <a:r>
              <a:rPr lang="zh-CN" altLang="en-US" sz="1400" dirty="0"/>
              <a:t>通常量程是 </a:t>
            </a:r>
            <a:r>
              <a:rPr lang="en-US" altLang="zh-CN" sz="1400" dirty="0"/>
              <a:t>0~3.3V → 0.2V </a:t>
            </a:r>
            <a:r>
              <a:rPr lang="zh-CN" altLang="en-US" sz="1400" dirty="0"/>
              <a:t>只占满量程的 </a:t>
            </a:r>
            <a:r>
              <a:rPr lang="en-US" altLang="zh-CN" sz="1400" dirty="0"/>
              <a:t>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400" dirty="0"/>
              <a:t>如果 </a:t>
            </a:r>
            <a:r>
              <a:rPr lang="en-US" altLang="zh-CN" sz="1400" dirty="0"/>
              <a:t>ADC </a:t>
            </a:r>
            <a:r>
              <a:rPr lang="zh-CN" altLang="en-US" sz="1400" dirty="0"/>
              <a:t>是 </a:t>
            </a:r>
            <a:r>
              <a:rPr lang="en-US" altLang="zh-CN" sz="1400" dirty="0"/>
              <a:t>12-bit → </a:t>
            </a:r>
            <a:r>
              <a:rPr lang="zh-CN" altLang="en-US" sz="1400" dirty="0"/>
              <a:t>总共 </a:t>
            </a:r>
            <a:r>
              <a:rPr lang="en-US" altLang="zh-CN" sz="1400" dirty="0"/>
              <a:t>4096 </a:t>
            </a:r>
            <a:r>
              <a:rPr lang="zh-CN" altLang="en-US" sz="1400" dirty="0"/>
              <a:t>个点 → </a:t>
            </a:r>
            <a:r>
              <a:rPr lang="en-US" altLang="zh-CN" sz="1400" dirty="0"/>
              <a:t>0.2V </a:t>
            </a:r>
            <a:r>
              <a:rPr lang="zh-CN" altLang="en-US" sz="1400" dirty="0"/>
              <a:t>对应约 </a:t>
            </a:r>
            <a:r>
              <a:rPr lang="en-US" altLang="zh-CN" sz="1400" dirty="0"/>
              <a:t>250 </a:t>
            </a:r>
            <a:r>
              <a:rPr lang="zh-CN" altLang="en-US" sz="1400" dirty="0"/>
              <a:t>个点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400" dirty="0"/>
              <a:t>这意味着：</a:t>
            </a:r>
            <a:r>
              <a:rPr lang="zh-CN" altLang="en-US" sz="1400" b="1" dirty="0"/>
              <a:t>每 </a:t>
            </a:r>
            <a:r>
              <a:rPr lang="en-US" altLang="zh-CN" sz="1400" b="1" dirty="0"/>
              <a:t>1mA </a:t>
            </a:r>
            <a:r>
              <a:rPr lang="zh-CN" altLang="en-US" sz="1400" b="1" dirty="0"/>
              <a:t>电流变化，</a:t>
            </a:r>
            <a:r>
              <a:rPr lang="en-US" altLang="zh-CN" sz="1400" b="1" dirty="0"/>
              <a:t>ADC </a:t>
            </a:r>
            <a:r>
              <a:rPr lang="zh-CN" altLang="en-US" sz="1400" b="1" dirty="0"/>
              <a:t>值只变 </a:t>
            </a:r>
            <a:r>
              <a:rPr lang="en-US" altLang="zh-CN" sz="1400" b="1" dirty="0"/>
              <a:t>0.025 </a:t>
            </a:r>
            <a:r>
              <a:rPr lang="zh-CN" altLang="en-US" sz="1400" b="1" dirty="0"/>
              <a:t>个点！根本无法分辨！</a:t>
            </a:r>
            <a:endParaRPr lang="zh-CN" alt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48B2C7-F87B-CDBE-E441-D2CA66840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875" y="828074"/>
            <a:ext cx="5728130" cy="26725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002DCA4-46E2-DDF9-C943-37477DF456E9}"/>
              </a:ext>
            </a:extLst>
          </p:cNvPr>
          <p:cNvSpPr txBox="1"/>
          <p:nvPr/>
        </p:nvSpPr>
        <p:spPr>
          <a:xfrm>
            <a:off x="554182" y="106828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为什么需要放大？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788F03-B65C-9CB0-0263-75213251381B}"/>
              </a:ext>
            </a:extLst>
          </p:cNvPr>
          <p:cNvSpPr/>
          <p:nvPr/>
        </p:nvSpPr>
        <p:spPr>
          <a:xfrm>
            <a:off x="6096000" y="3454027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输入信号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0A3F4BC-FC47-E301-0BE8-C4BD35FC78D4}"/>
              </a:ext>
            </a:extLst>
          </p:cNvPr>
          <p:cNvSpPr/>
          <p:nvPr/>
        </p:nvSpPr>
        <p:spPr>
          <a:xfrm>
            <a:off x="7586662" y="3454027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差分放大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17BBF58-812C-DFE6-8274-F16FE45C2176}"/>
              </a:ext>
            </a:extLst>
          </p:cNvPr>
          <p:cNvSpPr/>
          <p:nvPr/>
        </p:nvSpPr>
        <p:spPr>
          <a:xfrm>
            <a:off x="9077324" y="3454027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输出缓冲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A9CBCD0-0792-F8F7-83D4-610691063065}"/>
              </a:ext>
            </a:extLst>
          </p:cNvPr>
          <p:cNvSpPr/>
          <p:nvPr/>
        </p:nvSpPr>
        <p:spPr>
          <a:xfrm>
            <a:off x="10567987" y="3454027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给</a:t>
            </a:r>
            <a:r>
              <a:rPr lang="en-US" altLang="zh-CN" dirty="0"/>
              <a:t>MCU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EABE5-8301-C560-BCF7-25EE380D5C12}"/>
              </a:ext>
            </a:extLst>
          </p:cNvPr>
          <p:cNvSpPr txBox="1"/>
          <p:nvPr/>
        </p:nvSpPr>
        <p:spPr>
          <a:xfrm>
            <a:off x="6012875" y="3874716"/>
            <a:ext cx="1256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R32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两端电压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5BB1C9-DAB8-F90E-592A-7BF7AFFDB0BF}"/>
              </a:ext>
            </a:extLst>
          </p:cNvPr>
          <p:cNvSpPr txBox="1"/>
          <p:nvPr/>
        </p:nvSpPr>
        <p:spPr>
          <a:xfrm>
            <a:off x="7540480" y="3874716"/>
            <a:ext cx="126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TP2412-VR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970181-AF63-8238-6A6A-AFD60409FD49}"/>
              </a:ext>
            </a:extLst>
          </p:cNvPr>
          <p:cNvSpPr txBox="1"/>
          <p:nvPr/>
        </p:nvSpPr>
        <p:spPr>
          <a:xfrm>
            <a:off x="9077324" y="3874716"/>
            <a:ext cx="1173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R29, C45, D18, VD5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B1A2C9-0D44-740D-E0AC-DD65BDF5F60F}"/>
              </a:ext>
            </a:extLst>
          </p:cNvPr>
          <p:cNvSpPr txBox="1"/>
          <p:nvPr/>
        </p:nvSpPr>
        <p:spPr>
          <a:xfrm>
            <a:off x="10521804" y="3874716"/>
            <a:ext cx="121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CURT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80506B-2207-4785-09EC-0693B45C2436}"/>
              </a:ext>
            </a:extLst>
          </p:cNvPr>
          <p:cNvSpPr txBox="1"/>
          <p:nvPr/>
        </p:nvSpPr>
        <p:spPr>
          <a:xfrm>
            <a:off x="10521804" y="4362345"/>
            <a:ext cx="168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VCC3.3~1.27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FEC8AB-CAB6-3DDA-8340-5B2EC14EB9F2}"/>
              </a:ext>
            </a:extLst>
          </p:cNvPr>
          <p:cNvSpPr txBox="1"/>
          <p:nvPr/>
        </p:nvSpPr>
        <p:spPr>
          <a:xfrm>
            <a:off x="554182" y="3560835"/>
            <a:ext cx="3297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放大增益（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V7/V6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F80C575-A44C-7CA2-F06A-20AD0D61C0C2}"/>
              </a:ext>
            </a:extLst>
          </p:cNvPr>
          <p:cNvSpPr txBox="1"/>
          <p:nvPr/>
        </p:nvSpPr>
        <p:spPr>
          <a:xfrm>
            <a:off x="8630670" y="2989389"/>
            <a:ext cx="2388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这里不是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1.27V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B449069-E4E3-9C45-E247-DDFE9F0DB4AA}"/>
                  </a:ext>
                </a:extLst>
              </p:cNvPr>
              <p:cNvSpPr txBox="1"/>
              <p:nvPr/>
            </p:nvSpPr>
            <p:spPr>
              <a:xfrm>
                <a:off x="450995" y="4124476"/>
                <a:ext cx="4396845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37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B449069-E4E3-9C45-E247-DDFE9F0DB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95" y="4124476"/>
                <a:ext cx="4396845" cy="565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7382532-879B-C196-66C9-52D4B947F148}"/>
              </a:ext>
            </a:extLst>
          </p:cNvPr>
          <p:cNvSpPr txBox="1"/>
          <p:nvPr/>
        </p:nvSpPr>
        <p:spPr>
          <a:xfrm>
            <a:off x="5671127" y="4895185"/>
            <a:ext cx="6520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上图为差分同向放大电路，不是单端放大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5FDC704-B9D4-6E05-B349-D71DD7342306}"/>
              </a:ext>
            </a:extLst>
          </p:cNvPr>
          <p:cNvSpPr/>
          <p:nvPr/>
        </p:nvSpPr>
        <p:spPr>
          <a:xfrm>
            <a:off x="6862618" y="2170550"/>
            <a:ext cx="1320800" cy="4217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C6C02BC-227F-AA69-8CED-1AA1D25299CE}"/>
              </a:ext>
            </a:extLst>
          </p:cNvPr>
          <p:cNvSpPr/>
          <p:nvPr/>
        </p:nvSpPr>
        <p:spPr>
          <a:xfrm>
            <a:off x="8370742" y="1233087"/>
            <a:ext cx="533114" cy="4217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82C1A58-3D2D-83D3-D9EC-CA6367F62C44}"/>
              </a:ext>
            </a:extLst>
          </p:cNvPr>
          <p:cNvSpPr/>
          <p:nvPr/>
        </p:nvSpPr>
        <p:spPr>
          <a:xfrm>
            <a:off x="6880080" y="1257540"/>
            <a:ext cx="1320800" cy="42171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F614-46DA-96A8-E40F-E4C87E9B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EBD5A25-3635-10CF-9D95-FF0AE7EA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放大电路设计</a:t>
            </a:r>
            <a:r>
              <a:rPr lang="en-US" altLang="zh-CN" dirty="0"/>
              <a:t>——</a:t>
            </a:r>
            <a:r>
              <a:rPr lang="zh-CN" altLang="en-US" dirty="0"/>
              <a:t>输出缓冲</a:t>
            </a:r>
            <a:r>
              <a:rPr lang="en-US" altLang="zh-CN" dirty="0"/>
              <a:t>/</a:t>
            </a:r>
            <a:r>
              <a:rPr lang="zh-CN" altLang="en-US" dirty="0"/>
              <a:t>保护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B195FD-3CF2-9B57-45DE-2790810B3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875" y="735714"/>
            <a:ext cx="5728130" cy="2672504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3020EF6-FDDC-D1ED-DCD8-50EE7DFA0515}"/>
              </a:ext>
            </a:extLst>
          </p:cNvPr>
          <p:cNvSpPr/>
          <p:nvPr/>
        </p:nvSpPr>
        <p:spPr>
          <a:xfrm>
            <a:off x="6096000" y="3213884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输入信号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44DDD7-ED7F-93B1-A8E0-660781B5C76C}"/>
              </a:ext>
            </a:extLst>
          </p:cNvPr>
          <p:cNvSpPr/>
          <p:nvPr/>
        </p:nvSpPr>
        <p:spPr>
          <a:xfrm>
            <a:off x="7586662" y="3213884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差分放大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304322-0444-7EA1-B533-377EA31EBB9E}"/>
              </a:ext>
            </a:extLst>
          </p:cNvPr>
          <p:cNvSpPr/>
          <p:nvPr/>
        </p:nvSpPr>
        <p:spPr>
          <a:xfrm>
            <a:off x="9077324" y="3213884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输出缓冲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32276A1-C3A2-4DAD-5DDD-B1930DB8C226}"/>
              </a:ext>
            </a:extLst>
          </p:cNvPr>
          <p:cNvSpPr/>
          <p:nvPr/>
        </p:nvSpPr>
        <p:spPr>
          <a:xfrm>
            <a:off x="10567987" y="3213884"/>
            <a:ext cx="1173018" cy="3679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给</a:t>
            </a:r>
            <a:r>
              <a:rPr lang="en-US" altLang="zh-CN" dirty="0"/>
              <a:t>MCU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4AB9CC-E4D5-BDC7-3FAE-0BDD02DBFBFB}"/>
              </a:ext>
            </a:extLst>
          </p:cNvPr>
          <p:cNvSpPr txBox="1"/>
          <p:nvPr/>
        </p:nvSpPr>
        <p:spPr>
          <a:xfrm>
            <a:off x="6012875" y="3634573"/>
            <a:ext cx="1256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R32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两端电压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B232F9-9AC1-1322-CBA7-39E9179B1EE1}"/>
              </a:ext>
            </a:extLst>
          </p:cNvPr>
          <p:cNvSpPr txBox="1"/>
          <p:nvPr/>
        </p:nvSpPr>
        <p:spPr>
          <a:xfrm>
            <a:off x="7540480" y="3634573"/>
            <a:ext cx="1265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TP2412-VR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8BAB25-191F-F303-9998-2A2D70ADB266}"/>
              </a:ext>
            </a:extLst>
          </p:cNvPr>
          <p:cNvSpPr txBox="1"/>
          <p:nvPr/>
        </p:nvSpPr>
        <p:spPr>
          <a:xfrm>
            <a:off x="9077324" y="3634573"/>
            <a:ext cx="1173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R29, C45, D18, VD5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781FDE-B260-B922-B596-46BC05D46624}"/>
              </a:ext>
            </a:extLst>
          </p:cNvPr>
          <p:cNvSpPr txBox="1"/>
          <p:nvPr/>
        </p:nvSpPr>
        <p:spPr>
          <a:xfrm>
            <a:off x="10521804" y="3634573"/>
            <a:ext cx="121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CURT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F07E1C-8487-ABA3-A486-62DE1000B9EE}"/>
              </a:ext>
            </a:extLst>
          </p:cNvPr>
          <p:cNvSpPr txBox="1"/>
          <p:nvPr/>
        </p:nvSpPr>
        <p:spPr>
          <a:xfrm>
            <a:off x="10521804" y="4122202"/>
            <a:ext cx="1681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VCC3.3~1.27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11B6746D-B8B0-A063-9397-4676EF5EE2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125" y="909186"/>
            <a:ext cx="5741413" cy="5948814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system-ui"/>
              </a:rPr>
              <a:t>➤ </a:t>
            </a:r>
            <a:r>
              <a:rPr lang="en-US" altLang="zh-CN" sz="1600" b="1" dirty="0">
                <a:solidFill>
                  <a:srgbClr val="FF0000"/>
                </a:solidFill>
                <a:latin typeface="system-ui"/>
              </a:rPr>
              <a:t>R29 = 100Ω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作用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：限流电阻，防止后级电路（如 </a:t>
            </a:r>
            <a:r>
              <a:rPr lang="en-US" altLang="zh-CN" sz="1400" dirty="0">
                <a:solidFill>
                  <a:srgbClr val="2C2C36"/>
                </a:solidFill>
                <a:latin typeface="system-ui"/>
              </a:rPr>
              <a:t>MCU ADC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）短路时烧毁运放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system-ui"/>
              </a:rPr>
              <a:t>➤ </a:t>
            </a:r>
            <a:r>
              <a:rPr lang="en-US" altLang="zh-CN" sz="1600" b="1" dirty="0">
                <a:solidFill>
                  <a:srgbClr val="FF0000"/>
                </a:solidFill>
                <a:latin typeface="system-ui"/>
              </a:rPr>
              <a:t>C45 = 10uF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作用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：滤波电容，吸收高频噪声（特别是 </a:t>
            </a:r>
            <a:r>
              <a:rPr lang="en-US" altLang="zh-CN" sz="1400" dirty="0">
                <a:solidFill>
                  <a:srgbClr val="2C2C36"/>
                </a:solidFill>
                <a:latin typeface="system-ui"/>
              </a:rPr>
              <a:t>PWM 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开关噪声）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位置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：靠近运放输出端，形成“本地储能”，稳定电压</a:t>
            </a:r>
            <a:endParaRPr lang="en-US" altLang="zh-CN" sz="1400" dirty="0">
              <a:solidFill>
                <a:srgbClr val="2C2C36"/>
              </a:solidFill>
              <a:latin typeface="system-ui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system-ui"/>
              </a:rPr>
              <a:t>➤ </a:t>
            </a:r>
            <a:r>
              <a:rPr lang="en-US" altLang="zh-CN" sz="1600" b="1" dirty="0">
                <a:solidFill>
                  <a:srgbClr val="FF0000"/>
                </a:solidFill>
                <a:latin typeface="system-ui"/>
              </a:rPr>
              <a:t>D18 (1N4148) + VD5 (PESD3V3L1BA-N)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作用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：钳位二极管 </a:t>
            </a:r>
            <a:r>
              <a:rPr lang="en-US" altLang="zh-CN" sz="1400" dirty="0">
                <a:solidFill>
                  <a:srgbClr val="2C2C36"/>
                </a:solidFill>
                <a:latin typeface="system-ui"/>
              </a:rPr>
              <a:t>+ ESD 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保护二极管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工作原理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当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CURT </a:t>
            </a: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输出电压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&gt; 3.3V + 0.7V</a:t>
            </a: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（二极管导通压降）→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D18 </a:t>
            </a: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导通，把多余电压拉到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VCC3.3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当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CURT </a:t>
            </a: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输出电压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&lt; 0V → VD5 </a:t>
            </a:r>
            <a:r>
              <a:rPr lang="zh-CN" altLang="en-US" sz="1200" dirty="0">
                <a:solidFill>
                  <a:srgbClr val="2C2C36"/>
                </a:solidFill>
                <a:latin typeface="system-ui"/>
              </a:rPr>
              <a:t>导通，把负电压拉到 </a:t>
            </a:r>
            <a:r>
              <a:rPr lang="en-US" altLang="zh-CN" sz="1200" dirty="0">
                <a:solidFill>
                  <a:srgbClr val="2C2C36"/>
                </a:solidFill>
                <a:latin typeface="system-ui"/>
              </a:rPr>
              <a:t>GND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C2C36"/>
                </a:solidFill>
                <a:latin typeface="system-ui"/>
              </a:rPr>
              <a:t>目的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：保护 </a:t>
            </a:r>
            <a:r>
              <a:rPr lang="en-US" altLang="zh-CN" sz="1400" dirty="0">
                <a:solidFill>
                  <a:srgbClr val="2C2C36"/>
                </a:solidFill>
                <a:latin typeface="system-ui"/>
              </a:rPr>
              <a:t>MCU 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的 </a:t>
            </a:r>
            <a:r>
              <a:rPr lang="en-US" altLang="zh-CN" sz="1400" dirty="0">
                <a:solidFill>
                  <a:srgbClr val="2C2C36"/>
                </a:solidFill>
                <a:latin typeface="system-ui"/>
              </a:rPr>
              <a:t>ADC </a:t>
            </a:r>
            <a:r>
              <a:rPr lang="zh-CN" altLang="en-US" sz="1400" dirty="0">
                <a:solidFill>
                  <a:srgbClr val="2C2C36"/>
                </a:solidFill>
                <a:latin typeface="system-ui"/>
              </a:rPr>
              <a:t>引脚不被过压或负压损坏！</a:t>
            </a:r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2117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6E090-4087-5C47-9383-069244BD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STM32 ADC</a:t>
            </a:r>
            <a:r>
              <a:rPr lang="zh-CN" altLang="en-US" dirty="0"/>
              <a:t>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86DD4-6CB9-B31A-87AC-D5AAC5C152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2470" y="2336049"/>
            <a:ext cx="5182352" cy="3617671"/>
          </a:xfrm>
        </p:spPr>
        <p:txBody>
          <a:bodyPr>
            <a:normAutofit fontScale="55000" lnSpcReduction="20000"/>
          </a:bodyPr>
          <a:lstStyle/>
          <a:p>
            <a:pPr latinLnBrk="1"/>
            <a:r>
              <a:rPr lang="zh-CN" altLang="en-US" dirty="0"/>
              <a:t>关键配置参数：</a:t>
            </a:r>
          </a:p>
          <a:p>
            <a:pPr latinLnBrk="1"/>
            <a:endParaRPr lang="zh-CN" altLang="en-US" dirty="0"/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采样时钟：确保转换速度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采样时间：根据信号源阻抗调整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触发方式：软件触发</a:t>
            </a:r>
            <a:r>
              <a:rPr lang="en-US" altLang="zh-CN" dirty="0"/>
              <a:t>/</a:t>
            </a:r>
            <a:r>
              <a:rPr lang="zh-CN" altLang="en-US" dirty="0"/>
              <a:t>定时器触发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数据对齐：右对齐便于计算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校准：启用内部校准提高精度</a:t>
            </a:r>
          </a:p>
          <a:p>
            <a:pPr latinLnBrk="1"/>
            <a:endParaRPr lang="en-US" altLang="zh-CN" dirty="0"/>
          </a:p>
          <a:p>
            <a:pPr latinLnBrk="1"/>
            <a:r>
              <a:rPr lang="zh-CN" altLang="en-US" dirty="0"/>
              <a:t>步骤：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初始化</a:t>
            </a:r>
            <a:r>
              <a:rPr lang="en-US" altLang="zh-CN" dirty="0"/>
              <a:t>ADC</a:t>
            </a:r>
            <a:r>
              <a:rPr lang="zh-CN" altLang="en-US" dirty="0"/>
              <a:t>参数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配置规则通道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启用</a:t>
            </a:r>
            <a:r>
              <a:rPr lang="en-US" altLang="zh-CN" dirty="0"/>
              <a:t>DMA</a:t>
            </a:r>
            <a:r>
              <a:rPr lang="zh-CN" altLang="en-US" dirty="0"/>
              <a:t>传输</a:t>
            </a:r>
            <a:r>
              <a:rPr lang="en-US" altLang="zh-CN" dirty="0"/>
              <a:t>(</a:t>
            </a:r>
            <a:r>
              <a:rPr lang="zh-CN" altLang="en-US" dirty="0"/>
              <a:t>多通道时</a:t>
            </a:r>
            <a:r>
              <a:rPr lang="en-US" altLang="zh-CN" dirty="0"/>
              <a:t>)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执行校准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zh-CN" altLang="en-US" dirty="0"/>
              <a:t>启动转换</a:t>
            </a:r>
            <a:endParaRPr lang="en-US" altLang="zh-CN" dirty="0"/>
          </a:p>
          <a:p>
            <a:pPr marL="457200" indent="-457200" latinLnBrk="1">
              <a:buFontTx/>
              <a:buChar char="-"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463A95-2501-9AF5-A43A-8CC7628BF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4" y="1226450"/>
            <a:ext cx="3561412" cy="16616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0F65FB-4145-2F0A-42DF-F6B63F597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1201"/>
            <a:ext cx="5733288" cy="283556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1FAB92-9C60-3963-1CC2-5579FCE9BA65}"/>
              </a:ext>
            </a:extLst>
          </p:cNvPr>
          <p:cNvCxnSpPr/>
          <p:nvPr/>
        </p:nvCxnSpPr>
        <p:spPr>
          <a:xfrm>
            <a:off x="3195782" y="1985818"/>
            <a:ext cx="471054" cy="224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AA7DAA54-5FC8-63B3-7797-F9879F02FF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211" y="1334751"/>
            <a:ext cx="2873231" cy="877261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ADF7E68-9588-90B4-8BFE-7A3B8C79E6D0}"/>
              </a:ext>
            </a:extLst>
          </p:cNvPr>
          <p:cNvCxnSpPr>
            <a:cxnSpLocks/>
          </p:cNvCxnSpPr>
          <p:nvPr/>
        </p:nvCxnSpPr>
        <p:spPr>
          <a:xfrm flipV="1">
            <a:off x="4692073" y="1690255"/>
            <a:ext cx="1766641" cy="2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FC660C8-45DB-CA28-0940-6CA07D3470C6}"/>
              </a:ext>
            </a:extLst>
          </p:cNvPr>
          <p:cNvSpPr txBox="1"/>
          <p:nvPr/>
        </p:nvSpPr>
        <p:spPr>
          <a:xfrm>
            <a:off x="6797964" y="1041784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IN8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EC9A1C-0D74-8EFD-93C6-C0042BF16E7C}"/>
              </a:ext>
            </a:extLst>
          </p:cNvPr>
          <p:cNvSpPr txBox="1"/>
          <p:nvPr/>
        </p:nvSpPr>
        <p:spPr>
          <a:xfrm>
            <a:off x="9086777" y="5902098"/>
            <a:ext cx="273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具体实现步骤见实验案例</a:t>
            </a:r>
          </a:p>
        </p:txBody>
      </p:sp>
    </p:spTree>
    <p:extLst>
      <p:ext uri="{BB962C8B-B14F-4D97-AF65-F5344CB8AC3E}">
        <p14:creationId xmlns:p14="http://schemas.microsoft.com/office/powerpoint/2010/main" val="426098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ABC1D-C4AD-8FC9-8FD0-56201BAD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55F83-6A5C-525C-4802-BAD8263C61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514350" indent="-514350" latinLnBrk="1">
              <a:buAutoNum type="arabicPeriod"/>
            </a:pPr>
            <a:r>
              <a:rPr lang="zh-CN" altLang="en-US" dirty="0"/>
              <a:t>如果采样电阻的阻值选择过大，会有什么问题？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功率损耗大</a:t>
            </a:r>
            <a:r>
              <a:rPr lang="zh-CN" altLang="en-US" dirty="0"/>
              <a:t>：电阻发热严重，效率降低。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影响电机性能</a:t>
            </a:r>
            <a:r>
              <a:rPr lang="zh-CN" altLang="en-US" dirty="0"/>
              <a:t>：过大压降导致电机供电电压不足。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发热与稳定性</a:t>
            </a:r>
            <a:r>
              <a:rPr lang="zh-CN" altLang="en-US" dirty="0"/>
              <a:t>：温升引起阻值漂移，测量不准。</a:t>
            </a:r>
            <a:endParaRPr lang="en-US" altLang="zh-CN" dirty="0"/>
          </a:p>
          <a:p>
            <a:pPr marL="514350" indent="-514350" latinLnBrk="1">
              <a:buAutoNum type="arabicPeriod"/>
            </a:pPr>
            <a:r>
              <a:rPr lang="zh-CN" altLang="en-US" dirty="0"/>
              <a:t>如何在不增加硬件成本的情况下提高电流测量精度？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软件校准</a:t>
            </a:r>
            <a:r>
              <a:rPr lang="zh-CN" altLang="en-US" dirty="0"/>
              <a:t>：进行零点和增益校准。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数字滤波</a:t>
            </a:r>
            <a:r>
              <a:rPr lang="zh-CN" altLang="en-US" dirty="0"/>
              <a:t>：使用滑动平均或低通滤波平滑数据。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过采样技术</a:t>
            </a:r>
            <a:r>
              <a:rPr lang="zh-CN" altLang="en-US" dirty="0"/>
              <a:t>：通过多次采样提高分辨率。</a:t>
            </a:r>
            <a:endParaRPr lang="en-US" altLang="zh-CN" dirty="0"/>
          </a:p>
          <a:p>
            <a:pPr marL="514350" indent="-514350" latinLnBrk="1">
              <a:buAutoNum type="arabicPeriod"/>
            </a:pPr>
            <a:r>
              <a:rPr lang="zh-CN" altLang="en-US" dirty="0"/>
              <a:t>过流保护为什么要设置硬件和软件两级保护？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硬件保护</a:t>
            </a:r>
            <a:r>
              <a:rPr lang="zh-CN" altLang="en-US" dirty="0"/>
              <a:t>：响应快（微秒级），防止瞬时过流损坏器件。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软件保护</a:t>
            </a:r>
            <a:r>
              <a:rPr lang="zh-CN" altLang="en-US" dirty="0"/>
              <a:t>：处理复杂逻辑，实现分级限流和恢复。</a:t>
            </a:r>
            <a:endParaRPr lang="en-US" altLang="zh-CN" dirty="0"/>
          </a:p>
          <a:p>
            <a:pPr marL="1504752" lvl="1" indent="-514350" latinLnBrk="1">
              <a:buAutoNum type="arabicPeriod"/>
            </a:pPr>
            <a:r>
              <a:rPr lang="zh-CN" altLang="en-US" b="1" dirty="0"/>
              <a:t>冗余安全</a:t>
            </a:r>
            <a:r>
              <a:rPr lang="zh-CN" altLang="en-US" dirty="0"/>
              <a:t>：确保硬件失效时软件仍能提供保护。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201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6674</TotalTime>
  <Words>1071</Words>
  <Application>Microsoft Office PowerPoint</Application>
  <PresentationFormat>宽屏</PresentationFormat>
  <Paragraphs>156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SF Mono</vt:lpstr>
      <vt:lpstr>Source Han Sans</vt:lpstr>
      <vt:lpstr>Source Han Sans CN Regular</vt:lpstr>
      <vt:lpstr>system-ui</vt:lpstr>
      <vt:lpstr>等线</vt:lpstr>
      <vt:lpstr>微软雅黑</vt:lpstr>
      <vt:lpstr>Arial</vt:lpstr>
      <vt:lpstr>Cambria Math</vt:lpstr>
      <vt:lpstr>Office 主题​​</vt:lpstr>
      <vt:lpstr>PowerPoint 演示文稿</vt:lpstr>
      <vt:lpstr>学习目标</vt:lpstr>
      <vt:lpstr>1. 为什么需要检测电流？</vt:lpstr>
      <vt:lpstr>2.电流检测方法比较</vt:lpstr>
      <vt:lpstr>3.  直流有刷电机驱动电流采样电阻法原理</vt:lpstr>
      <vt:lpstr>4. 采样电阻选型计算</vt:lpstr>
      <vt:lpstr>5. 放大电路设计——概述</vt:lpstr>
      <vt:lpstr>5. 放大电路设计——输出缓冲/保护</vt:lpstr>
      <vt:lpstr>6. STM32 ADC配置</vt:lpstr>
      <vt:lpstr>思考题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170</cp:revision>
  <dcterms:created xsi:type="dcterms:W3CDTF">2025-05-21T06:55:53Z</dcterms:created>
  <dcterms:modified xsi:type="dcterms:W3CDTF">2025-12-22T03:36:13Z</dcterms:modified>
</cp:coreProperties>
</file>