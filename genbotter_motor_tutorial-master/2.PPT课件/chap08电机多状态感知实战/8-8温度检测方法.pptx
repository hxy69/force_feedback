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802" r:id="rId3"/>
    <p:sldId id="800" r:id="rId4"/>
    <p:sldId id="807" r:id="rId5"/>
    <p:sldId id="805" r:id="rId6"/>
    <p:sldId id="812" r:id="rId7"/>
    <p:sldId id="808" r:id="rId8"/>
    <p:sldId id="806" r:id="rId9"/>
    <p:sldId id="813" r:id="rId10"/>
    <p:sldId id="809" r:id="rId11"/>
    <p:sldId id="810" r:id="rId12"/>
    <p:sldId id="811" r:id="rId13"/>
    <p:sldId id="28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zh-CN" altLang="en-US" b="1" i="0" dirty="0"/>
            <a:t>理解温度检测在电机驱动中的重要性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32C205AB-472E-4A73-B20D-D929529CED45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1" i="0" dirty="0"/>
            <a:t>掌握热敏电阻（</a:t>
          </a:r>
          <a:r>
            <a:rPr lang="en-US" altLang="zh-CN" b="1" i="0" dirty="0"/>
            <a:t>NTC</a:t>
          </a:r>
          <a:r>
            <a:rPr lang="zh-CN" altLang="en-US" b="1" i="0" dirty="0"/>
            <a:t>）温度检测原理</a:t>
          </a:r>
          <a:endParaRPr lang="zh-CN" altLang="en-US" b="0" i="0" dirty="0"/>
        </a:p>
      </dgm:t>
    </dgm:pt>
    <dgm:pt modelId="{B636BC45-6AF5-434C-B4A3-A8C5A22FE534}" type="parTrans" cxnId="{201199A2-E62C-4276-A9ED-9906F59A1166}">
      <dgm:prSet/>
      <dgm:spPr/>
      <dgm:t>
        <a:bodyPr/>
        <a:lstStyle/>
        <a:p>
          <a:endParaRPr lang="zh-CN" altLang="en-US"/>
        </a:p>
      </dgm:t>
    </dgm:pt>
    <dgm:pt modelId="{030BA8E6-0311-4AA2-B7A7-DBBFD0F793A7}" type="sibTrans" cxnId="{201199A2-E62C-4276-A9ED-9906F59A1166}">
      <dgm:prSet/>
      <dgm:spPr/>
      <dgm:t>
        <a:bodyPr/>
        <a:lstStyle/>
        <a:p>
          <a:endParaRPr lang="zh-CN" altLang="en-US"/>
        </a:p>
      </dgm:t>
    </dgm:pt>
    <dgm:pt modelId="{CAE4901C-80EB-4FA7-B61A-B8CEAA2EA1DE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1" i="0" dirty="0"/>
            <a:t>掌握完整的测温链条</a:t>
          </a:r>
        </a:p>
      </dgm:t>
    </dgm:pt>
    <dgm:pt modelId="{BD1ADFE2-0F31-4F1A-89FE-B5E6EFBC5862}" type="parTrans" cxnId="{06C1E1BD-DD80-432B-BA77-050BEDB09B69}">
      <dgm:prSet/>
      <dgm:spPr/>
      <dgm:t>
        <a:bodyPr/>
        <a:lstStyle/>
        <a:p>
          <a:endParaRPr lang="zh-CN" altLang="en-US"/>
        </a:p>
      </dgm:t>
    </dgm:pt>
    <dgm:pt modelId="{BEB99743-3C81-477E-8A4E-28E576DFF034}" type="sibTrans" cxnId="{06C1E1BD-DD80-432B-BA77-050BEDB09B69}">
      <dgm:prSet/>
      <dgm:spPr/>
      <dgm:t>
        <a:bodyPr/>
        <a:lstStyle/>
        <a:p>
          <a:endParaRPr lang="zh-CN" altLang="en-US"/>
        </a:p>
      </dgm:t>
    </dgm:pt>
    <dgm:pt modelId="{8BEAB6D4-C9BA-4E04-9E79-5A24D5ADA80E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dirty="0"/>
            <a:t>传感器 → </a:t>
          </a:r>
          <a:r>
            <a:rPr lang="en-US" altLang="zh-CN" b="0" dirty="0"/>
            <a:t>ADC → </a:t>
          </a:r>
          <a:r>
            <a:rPr lang="zh-CN" altLang="en-US" b="0" dirty="0"/>
            <a:t>软件 → 保护</a:t>
          </a:r>
          <a:endParaRPr lang="zh-CN" altLang="en-US" b="0" i="0" dirty="0"/>
        </a:p>
      </dgm:t>
    </dgm:pt>
    <dgm:pt modelId="{12E681BB-1674-4A39-8EDC-0A1DBC05AEF7}" type="parTrans" cxnId="{792E4EB1-7171-4303-A704-4F49FA837FCD}">
      <dgm:prSet/>
      <dgm:spPr/>
      <dgm:t>
        <a:bodyPr/>
        <a:lstStyle/>
        <a:p>
          <a:endParaRPr lang="zh-CN" altLang="en-US"/>
        </a:p>
      </dgm:t>
    </dgm:pt>
    <dgm:pt modelId="{5AB6014B-39B0-4ACA-9768-AAC38FC2116E}" type="sibTrans" cxnId="{792E4EB1-7171-4303-A704-4F49FA837FCD}">
      <dgm:prSet/>
      <dgm:spPr/>
      <dgm:t>
        <a:bodyPr/>
        <a:lstStyle/>
        <a:p>
          <a:endParaRPr lang="zh-CN" altLang="en-US"/>
        </a:p>
      </dgm:t>
    </dgm:pt>
    <dgm:pt modelId="{3A5B578A-AE0A-478B-B89D-4E61F27D9B79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 dirty="0"/>
            <a:t>掌握</a:t>
          </a:r>
          <a:r>
            <a:rPr lang="en-US" altLang="zh-CN" b="0" i="0" dirty="0"/>
            <a:t>STM32 ADC</a:t>
          </a:r>
          <a:r>
            <a:rPr lang="zh-CN" altLang="en-US" b="0" i="0" dirty="0"/>
            <a:t>采集温度信号的配置方法</a:t>
          </a:r>
        </a:p>
      </dgm:t>
    </dgm:pt>
    <dgm:pt modelId="{9627600B-6D1F-4383-9B8B-076DA46C4887}" type="parTrans" cxnId="{93992B88-9BBF-42D1-9560-D1782F7A0327}">
      <dgm:prSet/>
      <dgm:spPr/>
      <dgm:t>
        <a:bodyPr/>
        <a:lstStyle/>
        <a:p>
          <a:endParaRPr lang="zh-CN" altLang="en-US"/>
        </a:p>
      </dgm:t>
    </dgm:pt>
    <dgm:pt modelId="{1B7E3CF6-04DB-4892-A9BB-836654154DB3}" type="sibTrans" cxnId="{93992B88-9BBF-42D1-9560-D1782F7A0327}">
      <dgm:prSet/>
      <dgm:spPr/>
      <dgm:t>
        <a:bodyPr/>
        <a:lstStyle/>
        <a:p>
          <a:endParaRPr lang="zh-CN" altLang="en-US"/>
        </a:p>
      </dgm:t>
    </dgm:pt>
    <dgm:pt modelId="{E9A572B7-0401-45D6-9A6B-942051D081CF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 dirty="0"/>
            <a:t>电机测温为什么选择</a:t>
          </a:r>
          <a:r>
            <a:rPr lang="en-US" altLang="zh-CN" b="0" i="0" dirty="0"/>
            <a:t>NTC</a:t>
          </a:r>
          <a:r>
            <a:rPr lang="zh-CN" altLang="en-US" b="0" i="0" dirty="0"/>
            <a:t>方案</a:t>
          </a:r>
        </a:p>
      </dgm:t>
    </dgm:pt>
    <dgm:pt modelId="{93006876-5791-4ED1-B9BB-4ECDFD86BF4D}" type="parTrans" cxnId="{A0B88080-A189-4351-A186-765006975326}">
      <dgm:prSet/>
      <dgm:spPr/>
      <dgm:t>
        <a:bodyPr/>
        <a:lstStyle/>
        <a:p>
          <a:endParaRPr lang="zh-CN" altLang="en-US"/>
        </a:p>
      </dgm:t>
    </dgm:pt>
    <dgm:pt modelId="{24299627-47E9-451D-A123-2949CE5B4268}" type="sibTrans" cxnId="{A0B88080-A189-4351-A186-765006975326}">
      <dgm:prSet/>
      <dgm:spPr/>
      <dgm:t>
        <a:bodyPr/>
        <a:lstStyle/>
        <a:p>
          <a:endParaRPr lang="zh-CN" altLang="en-US"/>
        </a:p>
      </dgm:t>
    </dgm:pt>
    <dgm:pt modelId="{4EB7EF46-EE59-4FCA-BB8F-DBA46C7F931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altLang="zh-CN" b="0" i="0" dirty="0"/>
            <a:t>NTC</a:t>
          </a:r>
          <a:r>
            <a:rPr lang="zh-CN" altLang="en-US" b="0" i="0" dirty="0"/>
            <a:t>测温电路原理图</a:t>
          </a:r>
        </a:p>
      </dgm:t>
    </dgm:pt>
    <dgm:pt modelId="{7C5AC89A-801A-408D-82C5-5DCED91872F2}" type="parTrans" cxnId="{9825FCE8-6D6D-4A6D-8C07-5944D99F1B26}">
      <dgm:prSet/>
      <dgm:spPr/>
      <dgm:t>
        <a:bodyPr/>
        <a:lstStyle/>
        <a:p>
          <a:endParaRPr lang="zh-CN" altLang="en-US"/>
        </a:p>
      </dgm:t>
    </dgm:pt>
    <dgm:pt modelId="{82672393-FBEE-4843-9792-1DE6F39FEBDD}" type="sibTrans" cxnId="{9825FCE8-6D6D-4A6D-8C07-5944D99F1B26}">
      <dgm:prSet/>
      <dgm:spPr/>
      <dgm:t>
        <a:bodyPr/>
        <a:lstStyle/>
        <a:p>
          <a:endParaRPr lang="zh-CN" altLang="en-US"/>
        </a:p>
      </dgm:t>
    </dgm:pt>
    <dgm:pt modelId="{72940AC1-3AE8-4742-A85D-BE00486A4EC1}">
      <dgm:prSet/>
      <dgm:spPr/>
      <dgm:t>
        <a:bodyPr/>
        <a:lstStyle/>
        <a:p>
          <a:r>
            <a:rPr lang="zh-CN" altLang="en-US" dirty="0"/>
            <a:t>温度变化的原因</a:t>
          </a:r>
          <a:endParaRPr lang="zh-CN" dirty="0"/>
        </a:p>
      </dgm:t>
    </dgm:pt>
    <dgm:pt modelId="{3173E63C-8B34-49CA-A96C-037620521C48}" type="parTrans" cxnId="{C93A1006-4DE3-4DB5-BF01-050953509BCC}">
      <dgm:prSet/>
      <dgm:spPr/>
      <dgm:t>
        <a:bodyPr/>
        <a:lstStyle/>
        <a:p>
          <a:endParaRPr lang="zh-CN" altLang="en-US"/>
        </a:p>
      </dgm:t>
    </dgm:pt>
    <dgm:pt modelId="{062F63AC-5C99-4346-9378-3125B29031AB}" type="sibTrans" cxnId="{C93A1006-4DE3-4DB5-BF01-050953509BCC}">
      <dgm:prSet/>
      <dgm:spPr/>
      <dgm:t>
        <a:bodyPr/>
        <a:lstStyle/>
        <a:p>
          <a:endParaRPr lang="zh-CN" altLang="en-US"/>
        </a:p>
      </dgm:t>
    </dgm:pt>
    <dgm:pt modelId="{97E4FF47-4F44-46CD-8CEA-E1864B9192D3}">
      <dgm:prSet/>
      <dgm:spPr/>
      <dgm:t>
        <a:bodyPr/>
        <a:lstStyle/>
        <a:p>
          <a:r>
            <a:rPr lang="zh-CN" altLang="en-US" dirty="0"/>
            <a:t>温度过高的恶果</a:t>
          </a:r>
          <a:endParaRPr lang="zh-CN" dirty="0"/>
        </a:p>
      </dgm:t>
    </dgm:pt>
    <dgm:pt modelId="{8F00538D-A456-4201-A7C2-A14A6EB20140}" type="parTrans" cxnId="{45CBEB86-C171-46D6-902D-5C73FB3D8B5F}">
      <dgm:prSet/>
      <dgm:spPr/>
      <dgm:t>
        <a:bodyPr/>
        <a:lstStyle/>
        <a:p>
          <a:endParaRPr lang="zh-CN" altLang="en-US"/>
        </a:p>
      </dgm:t>
    </dgm:pt>
    <dgm:pt modelId="{A70A21C5-F3C6-496A-A7DE-6883BF4EBEA1}" type="sibTrans" cxnId="{45CBEB86-C171-46D6-902D-5C73FB3D8B5F}">
      <dgm:prSet/>
      <dgm:spPr/>
      <dgm:t>
        <a:bodyPr/>
        <a:lstStyle/>
        <a:p>
          <a:endParaRPr lang="zh-CN" altLang="en-US"/>
        </a:p>
      </dgm:t>
    </dgm:pt>
    <dgm:pt modelId="{6BAECC41-F701-41E2-ADAF-5F31946C0A81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1CE5FAD2-50A8-4032-BAEC-E3A01D2341AE}" type="pres">
      <dgm:prSet presAssocID="{E64E6344-03F3-41EA-B2B3-D9F732B8BD60}" presName="parentText" presStyleLbl="node1" presStyleIdx="0" presStyleCnt="3" custLinFactNeighborX="7821" custLinFactNeighborY="-41997">
        <dgm:presLayoutVars>
          <dgm:chMax val="0"/>
          <dgm:bulletEnabled val="1"/>
        </dgm:presLayoutVars>
      </dgm:prSet>
      <dgm:spPr/>
    </dgm:pt>
    <dgm:pt modelId="{A0C42107-FDFB-47A4-B3E0-4BC60711D64D}" type="pres">
      <dgm:prSet presAssocID="{E64E6344-03F3-41EA-B2B3-D9F732B8BD60}" presName="childText" presStyleLbl="revTx" presStyleIdx="0" presStyleCnt="3">
        <dgm:presLayoutVars>
          <dgm:bulletEnabled val="1"/>
        </dgm:presLayoutVars>
      </dgm:prSet>
      <dgm:spPr/>
    </dgm:pt>
    <dgm:pt modelId="{D602BA50-B201-4066-95E0-B0C3C6C1008A}" type="pres">
      <dgm:prSet presAssocID="{32C205AB-472E-4A73-B20D-D929529CED4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8CB2ED-7C7D-4F31-B581-CCE703EB5EE2}" type="pres">
      <dgm:prSet presAssocID="{32C205AB-472E-4A73-B20D-D929529CED45}" presName="childText" presStyleLbl="revTx" presStyleIdx="1" presStyleCnt="3">
        <dgm:presLayoutVars>
          <dgm:bulletEnabled val="1"/>
        </dgm:presLayoutVars>
      </dgm:prSet>
      <dgm:spPr/>
    </dgm:pt>
    <dgm:pt modelId="{7FA81BCB-DC42-47B2-AC2D-EE5E0D859055}" type="pres">
      <dgm:prSet presAssocID="{CAE4901C-80EB-4FA7-B61A-B8CEAA2EA1D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079913B-D5DC-47BF-9D14-1124A0157355}" type="pres">
      <dgm:prSet presAssocID="{CAE4901C-80EB-4FA7-B61A-B8CEAA2EA1D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93A1006-4DE3-4DB5-BF01-050953509BCC}" srcId="{E64E6344-03F3-41EA-B2B3-D9F732B8BD60}" destId="{72940AC1-3AE8-4742-A85D-BE00486A4EC1}" srcOrd="0" destOrd="0" parTransId="{3173E63C-8B34-49CA-A96C-037620521C48}" sibTransId="{062F63AC-5C99-4346-9378-3125B29031AB}"/>
    <dgm:cxn modelId="{154E170A-8F88-4F13-ABC4-DDB5575C7D12}" type="presOf" srcId="{8CD2E5DB-863B-4C72-909B-8B419B7117A4}" destId="{6BAECC41-F701-41E2-ADAF-5F31946C0A81}" srcOrd="0" destOrd="0" presId="urn:microsoft.com/office/officeart/2005/8/layout/vList2"/>
    <dgm:cxn modelId="{A3F8470C-C616-4CA8-A820-6C38F6F5CF2A}" type="presOf" srcId="{32C205AB-472E-4A73-B20D-D929529CED45}" destId="{D602BA50-B201-4066-95E0-B0C3C6C1008A}" srcOrd="0" destOrd="0" presId="urn:microsoft.com/office/officeart/2005/8/layout/vList2"/>
    <dgm:cxn modelId="{1C7BA24C-FC51-446D-A137-4B85924597C5}" type="presOf" srcId="{97E4FF47-4F44-46CD-8CEA-E1864B9192D3}" destId="{A0C42107-FDFB-47A4-B3E0-4BC60711D64D}" srcOrd="0" destOrd="1" presId="urn:microsoft.com/office/officeart/2005/8/layout/vList2"/>
    <dgm:cxn modelId="{A0B88080-A189-4351-A186-765006975326}" srcId="{32C205AB-472E-4A73-B20D-D929529CED45}" destId="{E9A572B7-0401-45D6-9A6B-942051D081CF}" srcOrd="0" destOrd="0" parTransId="{93006876-5791-4ED1-B9BB-4ECDFD86BF4D}" sibTransId="{24299627-47E9-451D-A123-2949CE5B4268}"/>
    <dgm:cxn modelId="{7F12F783-691D-4D69-A54D-80CABC37FB79}" type="presOf" srcId="{3A5B578A-AE0A-478B-B89D-4E61F27D9B79}" destId="{5079913B-D5DC-47BF-9D14-1124A0157355}" srcOrd="0" destOrd="1" presId="urn:microsoft.com/office/officeart/2005/8/layout/vList2"/>
    <dgm:cxn modelId="{45CBEB86-C171-46D6-902D-5C73FB3D8B5F}" srcId="{E64E6344-03F3-41EA-B2B3-D9F732B8BD60}" destId="{97E4FF47-4F44-46CD-8CEA-E1864B9192D3}" srcOrd="1" destOrd="0" parTransId="{8F00538D-A456-4201-A7C2-A14A6EB20140}" sibTransId="{A70A21C5-F3C6-496A-A7DE-6883BF4EBEA1}"/>
    <dgm:cxn modelId="{93992B88-9BBF-42D1-9560-D1782F7A0327}" srcId="{CAE4901C-80EB-4FA7-B61A-B8CEAA2EA1DE}" destId="{3A5B578A-AE0A-478B-B89D-4E61F27D9B79}" srcOrd="1" destOrd="0" parTransId="{9627600B-6D1F-4383-9B8B-076DA46C4887}" sibTransId="{1B7E3CF6-04DB-4892-A9BB-836654154DB3}"/>
    <dgm:cxn modelId="{BD5F8388-755F-454F-ABC7-BAAC33804CC4}" type="presOf" srcId="{CAE4901C-80EB-4FA7-B61A-B8CEAA2EA1DE}" destId="{7FA81BCB-DC42-47B2-AC2D-EE5E0D859055}" srcOrd="0" destOrd="0" presId="urn:microsoft.com/office/officeart/2005/8/layout/vList2"/>
    <dgm:cxn modelId="{700D7E9D-9981-4628-ABEA-642DC13FD255}" type="presOf" srcId="{E9A572B7-0401-45D6-9A6B-942051D081CF}" destId="{CE8CB2ED-7C7D-4F31-B581-CCE703EB5EE2}" srcOrd="0" destOrd="0" presId="urn:microsoft.com/office/officeart/2005/8/layout/vList2"/>
    <dgm:cxn modelId="{201199A2-E62C-4276-A9ED-9906F59A1166}" srcId="{8CD2E5DB-863B-4C72-909B-8B419B7117A4}" destId="{32C205AB-472E-4A73-B20D-D929529CED45}" srcOrd="1" destOrd="0" parTransId="{B636BC45-6AF5-434C-B4A3-A8C5A22FE534}" sibTransId="{030BA8E6-0311-4AA2-B7A7-DBBFD0F793A7}"/>
    <dgm:cxn modelId="{792E4EB1-7171-4303-A704-4F49FA837FCD}" srcId="{CAE4901C-80EB-4FA7-B61A-B8CEAA2EA1DE}" destId="{8BEAB6D4-C9BA-4E04-9E79-5A24D5ADA80E}" srcOrd="0" destOrd="0" parTransId="{12E681BB-1674-4A39-8EDC-0A1DBC05AEF7}" sibTransId="{5AB6014B-39B0-4ACA-9768-AAC38FC2116E}"/>
    <dgm:cxn modelId="{08D697B1-1915-490A-AFCE-3AD32A9497BD}" type="presOf" srcId="{72940AC1-3AE8-4742-A85D-BE00486A4EC1}" destId="{A0C42107-FDFB-47A4-B3E0-4BC60711D64D}" srcOrd="0" destOrd="0" presId="urn:microsoft.com/office/officeart/2005/8/layout/vList2"/>
    <dgm:cxn modelId="{08A123BD-1EA4-4E8D-A324-C0079C70871B}" type="presOf" srcId="{8BEAB6D4-C9BA-4E04-9E79-5A24D5ADA80E}" destId="{5079913B-D5DC-47BF-9D14-1124A0157355}" srcOrd="0" destOrd="0" presId="urn:microsoft.com/office/officeart/2005/8/layout/vList2"/>
    <dgm:cxn modelId="{06C1E1BD-DD80-432B-BA77-050BEDB09B69}" srcId="{8CD2E5DB-863B-4C72-909B-8B419B7117A4}" destId="{CAE4901C-80EB-4FA7-B61A-B8CEAA2EA1DE}" srcOrd="2" destOrd="0" parTransId="{BD1ADFE2-0F31-4F1A-89FE-B5E6EFBC5862}" sibTransId="{BEB99743-3C81-477E-8A4E-28E576DFF034}"/>
    <dgm:cxn modelId="{8132F8D7-68C3-4CC6-8897-5C941D712427}" type="presOf" srcId="{E64E6344-03F3-41EA-B2B3-D9F732B8BD60}" destId="{1CE5FAD2-50A8-4032-BAEC-E3A01D2341AE}" srcOrd="0" destOrd="0" presId="urn:microsoft.com/office/officeart/2005/8/layout/vList2"/>
    <dgm:cxn modelId="{9825FCE8-6D6D-4A6D-8C07-5944D99F1B26}" srcId="{32C205AB-472E-4A73-B20D-D929529CED45}" destId="{4EB7EF46-EE59-4FCA-BB8F-DBA46C7F931C}" srcOrd="1" destOrd="0" parTransId="{7C5AC89A-801A-408D-82C5-5DCED91872F2}" sibTransId="{82672393-FBEE-4843-9792-1DE6F39FEBDD}"/>
    <dgm:cxn modelId="{0D8861FC-13BE-4D3C-A816-981BB6799EB7}" type="presOf" srcId="{4EB7EF46-EE59-4FCA-BB8F-DBA46C7F931C}" destId="{CE8CB2ED-7C7D-4F31-B581-CCE703EB5EE2}" srcOrd="0" destOrd="1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9DBC3C9F-56C1-4725-AC48-BB0714E39545}" type="presParOf" srcId="{6BAECC41-F701-41E2-ADAF-5F31946C0A81}" destId="{1CE5FAD2-50A8-4032-BAEC-E3A01D2341AE}" srcOrd="0" destOrd="0" presId="urn:microsoft.com/office/officeart/2005/8/layout/vList2"/>
    <dgm:cxn modelId="{09ABE46E-F28A-4D45-9AB9-02487EEF32E7}" type="presParOf" srcId="{6BAECC41-F701-41E2-ADAF-5F31946C0A81}" destId="{A0C42107-FDFB-47A4-B3E0-4BC60711D64D}" srcOrd="1" destOrd="0" presId="urn:microsoft.com/office/officeart/2005/8/layout/vList2"/>
    <dgm:cxn modelId="{EA4DCB6A-AD7E-44C4-905B-C6F386B1964F}" type="presParOf" srcId="{6BAECC41-F701-41E2-ADAF-5F31946C0A81}" destId="{D602BA50-B201-4066-95E0-B0C3C6C1008A}" srcOrd="2" destOrd="0" presId="urn:microsoft.com/office/officeart/2005/8/layout/vList2"/>
    <dgm:cxn modelId="{5D60F50A-6DA1-4F52-AEA4-4CA7DA5311F9}" type="presParOf" srcId="{6BAECC41-F701-41E2-ADAF-5F31946C0A81}" destId="{CE8CB2ED-7C7D-4F31-B581-CCE703EB5EE2}" srcOrd="3" destOrd="0" presId="urn:microsoft.com/office/officeart/2005/8/layout/vList2"/>
    <dgm:cxn modelId="{03242185-8252-4B94-B56A-43530233C4DA}" type="presParOf" srcId="{6BAECC41-F701-41E2-ADAF-5F31946C0A81}" destId="{7FA81BCB-DC42-47B2-AC2D-EE5E0D859055}" srcOrd="4" destOrd="0" presId="urn:microsoft.com/office/officeart/2005/8/layout/vList2"/>
    <dgm:cxn modelId="{D346B215-82EC-4C20-B546-662E46E12935}" type="presParOf" srcId="{6BAECC41-F701-41E2-ADAF-5F31946C0A81}" destId="{5079913B-D5DC-47BF-9D14-1124A015735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4CCF00-63D9-40BD-A1EB-F1EA31A758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A0867BA-4DE1-4C1E-B29F-73E44F65851B}">
      <dgm:prSet/>
      <dgm:spPr/>
      <dgm:t>
        <a:bodyPr/>
        <a:lstStyle/>
        <a:p>
          <a:r>
            <a:rPr lang="zh-CN" altLang="en-US" b="0" i="0"/>
            <a:t>足够采样时间</a:t>
          </a:r>
          <a:endParaRPr lang="zh-CN" dirty="0"/>
        </a:p>
      </dgm:t>
    </dgm:pt>
    <dgm:pt modelId="{B623B1BA-26ED-4402-95A2-FDBCC6906791}" type="parTrans" cxnId="{2B157835-7A6D-41FC-9912-FB20AC97DEC8}">
      <dgm:prSet/>
      <dgm:spPr/>
      <dgm:t>
        <a:bodyPr/>
        <a:lstStyle/>
        <a:p>
          <a:endParaRPr lang="zh-CN" altLang="en-US"/>
        </a:p>
      </dgm:t>
    </dgm:pt>
    <dgm:pt modelId="{02DEC5C9-7658-4DC0-8050-C05CD8EE48F2}" type="sibTrans" cxnId="{2B157835-7A6D-41FC-9912-FB20AC97DEC8}">
      <dgm:prSet/>
      <dgm:spPr/>
      <dgm:t>
        <a:bodyPr/>
        <a:lstStyle/>
        <a:p>
          <a:endParaRPr lang="zh-CN" altLang="en-US"/>
        </a:p>
      </dgm:t>
    </dgm:pt>
    <dgm:pt modelId="{A7129D25-089C-4BEF-B12C-D2DA8CE91DB7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/>
            <a:t>原因：</a:t>
          </a:r>
          <a:r>
            <a:rPr lang="en-US" altLang="zh-CN" b="0" i="0"/>
            <a:t>NTC </a:t>
          </a:r>
          <a:r>
            <a:rPr lang="zh-CN" altLang="en-US" b="0" i="0"/>
            <a:t>阻值较大，需充分采集稳定信号</a:t>
          </a:r>
        </a:p>
      </dgm:t>
    </dgm:pt>
    <dgm:pt modelId="{A687FDFB-DEF6-4CDD-9121-628115DBE789}" type="parTrans" cxnId="{1DB62009-99FA-4716-928C-D7790A7E669E}">
      <dgm:prSet/>
      <dgm:spPr/>
      <dgm:t>
        <a:bodyPr/>
        <a:lstStyle/>
        <a:p>
          <a:endParaRPr lang="zh-CN" altLang="en-US"/>
        </a:p>
      </dgm:t>
    </dgm:pt>
    <dgm:pt modelId="{EF4CE138-C5EF-4BA7-A5A9-884A8A94C701}" type="sibTrans" cxnId="{1DB62009-99FA-4716-928C-D7790A7E669E}">
      <dgm:prSet/>
      <dgm:spPr/>
      <dgm:t>
        <a:bodyPr/>
        <a:lstStyle/>
        <a:p>
          <a:endParaRPr lang="zh-CN" altLang="en-US"/>
        </a:p>
      </dgm:t>
    </dgm:pt>
    <dgm:pt modelId="{5067CEDA-75F8-4074-A1F8-5EBFC811DA21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/>
            <a:t>扫描模式 </a:t>
          </a:r>
          <a:r>
            <a:rPr lang="en-US" altLang="zh-CN" b="0" i="0"/>
            <a:t>+ </a:t>
          </a:r>
          <a:r>
            <a:rPr lang="en-US" b="0" i="0"/>
            <a:t>DMA</a:t>
          </a:r>
        </a:p>
      </dgm:t>
    </dgm:pt>
    <dgm:pt modelId="{30E1BE4D-DBF5-4C4A-B7A7-07AD5AD14AFA}" type="parTrans" cxnId="{3CCF0FB0-9B67-49AC-B438-1ED974ACEF3F}">
      <dgm:prSet/>
      <dgm:spPr/>
      <dgm:t>
        <a:bodyPr/>
        <a:lstStyle/>
        <a:p>
          <a:endParaRPr lang="zh-CN" altLang="en-US"/>
        </a:p>
      </dgm:t>
    </dgm:pt>
    <dgm:pt modelId="{0B9EA9A9-1427-4DA3-829A-970836B77ED3}" type="sibTrans" cxnId="{3CCF0FB0-9B67-49AC-B438-1ED974ACEF3F}">
      <dgm:prSet/>
      <dgm:spPr/>
      <dgm:t>
        <a:bodyPr/>
        <a:lstStyle/>
        <a:p>
          <a:endParaRPr lang="zh-CN" altLang="en-US"/>
        </a:p>
      </dgm:t>
    </dgm:pt>
    <dgm:pt modelId="{E4BA385F-2BBA-446F-B29F-2C8E794AAE3E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/>
            <a:t>应用：同步采集温度、电流、电压多参数</a:t>
          </a:r>
        </a:p>
      </dgm:t>
    </dgm:pt>
    <dgm:pt modelId="{BC967083-6FB5-4DC9-8011-07EAC3C26DB8}" type="parTrans" cxnId="{50091C06-1C0A-44A7-BB9D-B80A583C3C40}">
      <dgm:prSet/>
      <dgm:spPr/>
      <dgm:t>
        <a:bodyPr/>
        <a:lstStyle/>
        <a:p>
          <a:endParaRPr lang="zh-CN" altLang="en-US"/>
        </a:p>
      </dgm:t>
    </dgm:pt>
    <dgm:pt modelId="{4F93DF7E-AAAC-47A3-A88C-90DD4C0D90CB}" type="sibTrans" cxnId="{50091C06-1C0A-44A7-BB9D-B80A583C3C40}">
      <dgm:prSet/>
      <dgm:spPr/>
      <dgm:t>
        <a:bodyPr/>
        <a:lstStyle/>
        <a:p>
          <a:endParaRPr lang="zh-CN" altLang="en-US"/>
        </a:p>
      </dgm:t>
    </dgm:pt>
    <dgm:pt modelId="{6DB8C1DF-6D42-4760-9C49-9566CA5BBF18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/>
            <a:t>优势：高效采集，不占用过多 </a:t>
          </a:r>
          <a:r>
            <a:rPr lang="en-US" altLang="zh-CN" b="0" i="0"/>
            <a:t>CPU </a:t>
          </a:r>
          <a:r>
            <a:rPr lang="zh-CN" altLang="en-US" b="0" i="0"/>
            <a:t>资源</a:t>
          </a:r>
        </a:p>
      </dgm:t>
    </dgm:pt>
    <dgm:pt modelId="{23B6314D-261F-4692-A00C-DE8D5AA75769}" type="parTrans" cxnId="{2E62109F-4355-40FA-90A9-EA2455A1F8D2}">
      <dgm:prSet/>
      <dgm:spPr/>
      <dgm:t>
        <a:bodyPr/>
        <a:lstStyle/>
        <a:p>
          <a:endParaRPr lang="zh-CN" altLang="en-US"/>
        </a:p>
      </dgm:t>
    </dgm:pt>
    <dgm:pt modelId="{70033C71-C68A-4123-9DDD-7246886829B8}" type="sibTrans" cxnId="{2E62109F-4355-40FA-90A9-EA2455A1F8D2}">
      <dgm:prSet/>
      <dgm:spPr/>
      <dgm:t>
        <a:bodyPr/>
        <a:lstStyle/>
        <a:p>
          <a:endParaRPr lang="zh-CN" altLang="en-US"/>
        </a:p>
      </dgm:t>
    </dgm:pt>
    <dgm:pt modelId="{3FBEE608-F7D5-4F7D-AD14-4492DC030ABD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/>
            <a:t>校准 </a:t>
          </a:r>
          <a:r>
            <a:rPr lang="en-US" altLang="zh-CN" b="0" i="0"/>
            <a:t>+ </a:t>
          </a:r>
          <a:r>
            <a:rPr lang="zh-CN" altLang="en-US" b="0" i="0"/>
            <a:t>稳定参考电压</a:t>
          </a:r>
        </a:p>
      </dgm:t>
    </dgm:pt>
    <dgm:pt modelId="{37781F3C-A24C-4329-9D23-8243F3F9256D}" type="parTrans" cxnId="{D356BA33-5BD2-4D60-A017-36A753B8868D}">
      <dgm:prSet/>
      <dgm:spPr/>
      <dgm:t>
        <a:bodyPr/>
        <a:lstStyle/>
        <a:p>
          <a:endParaRPr lang="zh-CN" altLang="en-US"/>
        </a:p>
      </dgm:t>
    </dgm:pt>
    <dgm:pt modelId="{0EF254FF-B473-48D2-A5E4-6B622FB9F6C3}" type="sibTrans" cxnId="{D356BA33-5BD2-4D60-A017-36A753B8868D}">
      <dgm:prSet/>
      <dgm:spPr/>
      <dgm:t>
        <a:bodyPr/>
        <a:lstStyle/>
        <a:p>
          <a:endParaRPr lang="zh-CN" altLang="en-US"/>
        </a:p>
      </dgm:t>
    </dgm:pt>
    <dgm:pt modelId="{4CDAB916-68B2-410A-AED5-36748B5D7334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/>
            <a:t>解决 </a:t>
          </a:r>
          <a:r>
            <a:rPr lang="en-US" altLang="zh-CN" b="0" i="0"/>
            <a:t>ADC </a:t>
          </a:r>
          <a:r>
            <a:rPr lang="zh-CN" altLang="en-US" b="0" i="0"/>
            <a:t>固有偏差，提升采样精度</a:t>
          </a:r>
        </a:p>
      </dgm:t>
    </dgm:pt>
    <dgm:pt modelId="{3D28FE0F-A701-48EB-8041-7E503B24A6B6}" type="parTrans" cxnId="{B8E445BE-BFCA-4C9E-8743-2A75DFA5906A}">
      <dgm:prSet/>
      <dgm:spPr/>
      <dgm:t>
        <a:bodyPr/>
        <a:lstStyle/>
        <a:p>
          <a:endParaRPr lang="zh-CN" altLang="en-US"/>
        </a:p>
      </dgm:t>
    </dgm:pt>
    <dgm:pt modelId="{CA261E21-1FFB-41D9-A97F-9EF1BD957068}" type="sibTrans" cxnId="{B8E445BE-BFCA-4C9E-8743-2A75DFA5906A}">
      <dgm:prSet/>
      <dgm:spPr/>
      <dgm:t>
        <a:bodyPr/>
        <a:lstStyle/>
        <a:p>
          <a:endParaRPr lang="zh-CN" altLang="en-US"/>
        </a:p>
      </dgm:t>
    </dgm:pt>
    <dgm:pt modelId="{63D412BE-F5A2-4C63-B214-D71E577FCE41}" type="pres">
      <dgm:prSet presAssocID="{5A4CCF00-63D9-40BD-A1EB-F1EA31A758D0}" presName="linear" presStyleCnt="0">
        <dgm:presLayoutVars>
          <dgm:dir/>
          <dgm:animLvl val="lvl"/>
          <dgm:resizeHandles val="exact"/>
        </dgm:presLayoutVars>
      </dgm:prSet>
      <dgm:spPr/>
    </dgm:pt>
    <dgm:pt modelId="{B0CD33CF-CE3A-4CA9-9F41-289454191330}" type="pres">
      <dgm:prSet presAssocID="{3A0867BA-4DE1-4C1E-B29F-73E44F65851B}" presName="parentLin" presStyleCnt="0"/>
      <dgm:spPr/>
    </dgm:pt>
    <dgm:pt modelId="{F5B43B2C-E514-4611-8C73-AC81352C6CDB}" type="pres">
      <dgm:prSet presAssocID="{3A0867BA-4DE1-4C1E-B29F-73E44F65851B}" presName="parentLeftMargin" presStyleLbl="node1" presStyleIdx="0" presStyleCnt="3"/>
      <dgm:spPr/>
    </dgm:pt>
    <dgm:pt modelId="{64E32DFF-F225-44D6-8B35-5529CF347D7C}" type="pres">
      <dgm:prSet presAssocID="{3A0867BA-4DE1-4C1E-B29F-73E44F65851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115FD85-7CF2-4965-A07E-F796F87E232B}" type="pres">
      <dgm:prSet presAssocID="{3A0867BA-4DE1-4C1E-B29F-73E44F65851B}" presName="negativeSpace" presStyleCnt="0"/>
      <dgm:spPr/>
    </dgm:pt>
    <dgm:pt modelId="{A2321286-42C3-4270-BDE7-8EA82D9DC1FB}" type="pres">
      <dgm:prSet presAssocID="{3A0867BA-4DE1-4C1E-B29F-73E44F65851B}" presName="childText" presStyleLbl="conFgAcc1" presStyleIdx="0" presStyleCnt="3">
        <dgm:presLayoutVars>
          <dgm:bulletEnabled val="1"/>
        </dgm:presLayoutVars>
      </dgm:prSet>
      <dgm:spPr/>
    </dgm:pt>
    <dgm:pt modelId="{BD152507-EEA8-41E7-96AD-6238F215CA9C}" type="pres">
      <dgm:prSet presAssocID="{02DEC5C9-7658-4DC0-8050-C05CD8EE48F2}" presName="spaceBetweenRectangles" presStyleCnt="0"/>
      <dgm:spPr/>
    </dgm:pt>
    <dgm:pt modelId="{79ECAAB6-54E4-41DE-BC1B-382CA58ABDA0}" type="pres">
      <dgm:prSet presAssocID="{5067CEDA-75F8-4074-A1F8-5EBFC811DA21}" presName="parentLin" presStyleCnt="0"/>
      <dgm:spPr/>
    </dgm:pt>
    <dgm:pt modelId="{7CCABA8F-6E8D-498A-A764-C0EB8773260E}" type="pres">
      <dgm:prSet presAssocID="{5067CEDA-75F8-4074-A1F8-5EBFC811DA21}" presName="parentLeftMargin" presStyleLbl="node1" presStyleIdx="0" presStyleCnt="3"/>
      <dgm:spPr/>
    </dgm:pt>
    <dgm:pt modelId="{13B810AA-9A6C-44B2-B4F2-5AF155FEF0AF}" type="pres">
      <dgm:prSet presAssocID="{5067CEDA-75F8-4074-A1F8-5EBFC811DA2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8DB408C-095A-41C0-A49B-DC5BD6F9EE11}" type="pres">
      <dgm:prSet presAssocID="{5067CEDA-75F8-4074-A1F8-5EBFC811DA21}" presName="negativeSpace" presStyleCnt="0"/>
      <dgm:spPr/>
    </dgm:pt>
    <dgm:pt modelId="{EE861192-A8B3-424F-BAFD-1191F71ACA81}" type="pres">
      <dgm:prSet presAssocID="{5067CEDA-75F8-4074-A1F8-5EBFC811DA21}" presName="childText" presStyleLbl="conFgAcc1" presStyleIdx="1" presStyleCnt="3">
        <dgm:presLayoutVars>
          <dgm:bulletEnabled val="1"/>
        </dgm:presLayoutVars>
      </dgm:prSet>
      <dgm:spPr/>
    </dgm:pt>
    <dgm:pt modelId="{F54E5C4C-2679-44D0-9697-548B585D3014}" type="pres">
      <dgm:prSet presAssocID="{0B9EA9A9-1427-4DA3-829A-970836B77ED3}" presName="spaceBetweenRectangles" presStyleCnt="0"/>
      <dgm:spPr/>
    </dgm:pt>
    <dgm:pt modelId="{7B58D28C-FA71-4574-94D0-46A06B14D6D6}" type="pres">
      <dgm:prSet presAssocID="{3FBEE608-F7D5-4F7D-AD14-4492DC030ABD}" presName="parentLin" presStyleCnt="0"/>
      <dgm:spPr/>
    </dgm:pt>
    <dgm:pt modelId="{D5AD987E-C5F7-4E53-A103-8CC9A217EDB5}" type="pres">
      <dgm:prSet presAssocID="{3FBEE608-F7D5-4F7D-AD14-4492DC030ABD}" presName="parentLeftMargin" presStyleLbl="node1" presStyleIdx="1" presStyleCnt="3"/>
      <dgm:spPr/>
    </dgm:pt>
    <dgm:pt modelId="{0D48A5CE-366D-461F-B41A-994AE0CA9416}" type="pres">
      <dgm:prSet presAssocID="{3FBEE608-F7D5-4F7D-AD14-4492DC030AB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B6935D9-5286-448C-922F-BD5942BC319D}" type="pres">
      <dgm:prSet presAssocID="{3FBEE608-F7D5-4F7D-AD14-4492DC030ABD}" presName="negativeSpace" presStyleCnt="0"/>
      <dgm:spPr/>
    </dgm:pt>
    <dgm:pt modelId="{7B1AB52F-5D3F-4F9A-B141-11D380726C52}" type="pres">
      <dgm:prSet presAssocID="{3FBEE608-F7D5-4F7D-AD14-4492DC030AB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0091C06-1C0A-44A7-BB9D-B80A583C3C40}" srcId="{5067CEDA-75F8-4074-A1F8-5EBFC811DA21}" destId="{E4BA385F-2BBA-446F-B29F-2C8E794AAE3E}" srcOrd="0" destOrd="0" parTransId="{BC967083-6FB5-4DC9-8011-07EAC3C26DB8}" sibTransId="{4F93DF7E-AAAC-47A3-A88C-90DD4C0D90CB}"/>
    <dgm:cxn modelId="{1DB62009-99FA-4716-928C-D7790A7E669E}" srcId="{3A0867BA-4DE1-4C1E-B29F-73E44F65851B}" destId="{A7129D25-089C-4BEF-B12C-D2DA8CE91DB7}" srcOrd="0" destOrd="0" parTransId="{A687FDFB-DEF6-4CDD-9121-628115DBE789}" sibTransId="{EF4CE138-C5EF-4BA7-A5A9-884A8A94C701}"/>
    <dgm:cxn modelId="{D356BA33-5BD2-4D60-A017-36A753B8868D}" srcId="{5A4CCF00-63D9-40BD-A1EB-F1EA31A758D0}" destId="{3FBEE608-F7D5-4F7D-AD14-4492DC030ABD}" srcOrd="2" destOrd="0" parTransId="{37781F3C-A24C-4329-9D23-8243F3F9256D}" sibTransId="{0EF254FF-B473-48D2-A5E4-6B622FB9F6C3}"/>
    <dgm:cxn modelId="{2B157835-7A6D-41FC-9912-FB20AC97DEC8}" srcId="{5A4CCF00-63D9-40BD-A1EB-F1EA31A758D0}" destId="{3A0867BA-4DE1-4C1E-B29F-73E44F65851B}" srcOrd="0" destOrd="0" parTransId="{B623B1BA-26ED-4402-95A2-FDBCC6906791}" sibTransId="{02DEC5C9-7658-4DC0-8050-C05CD8EE48F2}"/>
    <dgm:cxn modelId="{C472B13C-9135-414C-A820-7219AC3CDE7D}" type="presOf" srcId="{4CDAB916-68B2-410A-AED5-36748B5D7334}" destId="{7B1AB52F-5D3F-4F9A-B141-11D380726C52}" srcOrd="0" destOrd="0" presId="urn:microsoft.com/office/officeart/2005/8/layout/list1"/>
    <dgm:cxn modelId="{5F985A5D-4319-43CF-A4B8-3E3EDA0CAFDA}" type="presOf" srcId="{3FBEE608-F7D5-4F7D-AD14-4492DC030ABD}" destId="{0D48A5CE-366D-461F-B41A-994AE0CA9416}" srcOrd="1" destOrd="0" presId="urn:microsoft.com/office/officeart/2005/8/layout/list1"/>
    <dgm:cxn modelId="{148E3842-9BF8-4F25-AFEA-6316261A1098}" type="presOf" srcId="{3A0867BA-4DE1-4C1E-B29F-73E44F65851B}" destId="{64E32DFF-F225-44D6-8B35-5529CF347D7C}" srcOrd="1" destOrd="0" presId="urn:microsoft.com/office/officeart/2005/8/layout/list1"/>
    <dgm:cxn modelId="{48B45549-8C20-4EAC-B9DC-171E9F5506BC}" type="presOf" srcId="{3A0867BA-4DE1-4C1E-B29F-73E44F65851B}" destId="{F5B43B2C-E514-4611-8C73-AC81352C6CDB}" srcOrd="0" destOrd="0" presId="urn:microsoft.com/office/officeart/2005/8/layout/list1"/>
    <dgm:cxn modelId="{CBE7DC82-E018-4D56-A996-A06555953AA0}" type="presOf" srcId="{E4BA385F-2BBA-446F-B29F-2C8E794AAE3E}" destId="{EE861192-A8B3-424F-BAFD-1191F71ACA81}" srcOrd="0" destOrd="0" presId="urn:microsoft.com/office/officeart/2005/8/layout/list1"/>
    <dgm:cxn modelId="{0A1F5786-CF72-48E5-98A0-65B59A56FD81}" type="presOf" srcId="{A7129D25-089C-4BEF-B12C-D2DA8CE91DB7}" destId="{A2321286-42C3-4270-BDE7-8EA82D9DC1FB}" srcOrd="0" destOrd="0" presId="urn:microsoft.com/office/officeart/2005/8/layout/list1"/>
    <dgm:cxn modelId="{C6C67597-15A8-423A-B0E6-21387A92DB2B}" type="presOf" srcId="{6DB8C1DF-6D42-4760-9C49-9566CA5BBF18}" destId="{EE861192-A8B3-424F-BAFD-1191F71ACA81}" srcOrd="0" destOrd="1" presId="urn:microsoft.com/office/officeart/2005/8/layout/list1"/>
    <dgm:cxn modelId="{2E62109F-4355-40FA-90A9-EA2455A1F8D2}" srcId="{5067CEDA-75F8-4074-A1F8-5EBFC811DA21}" destId="{6DB8C1DF-6D42-4760-9C49-9566CA5BBF18}" srcOrd="1" destOrd="0" parTransId="{23B6314D-261F-4692-A00C-DE8D5AA75769}" sibTransId="{70033C71-C68A-4123-9DDD-7246886829B8}"/>
    <dgm:cxn modelId="{375095A7-8154-49D3-9924-D6D229C30449}" type="presOf" srcId="{5A4CCF00-63D9-40BD-A1EB-F1EA31A758D0}" destId="{63D412BE-F5A2-4C63-B214-D71E577FCE41}" srcOrd="0" destOrd="0" presId="urn:microsoft.com/office/officeart/2005/8/layout/list1"/>
    <dgm:cxn modelId="{3CCF0FB0-9B67-49AC-B438-1ED974ACEF3F}" srcId="{5A4CCF00-63D9-40BD-A1EB-F1EA31A758D0}" destId="{5067CEDA-75F8-4074-A1F8-5EBFC811DA21}" srcOrd="1" destOrd="0" parTransId="{30E1BE4D-DBF5-4C4A-B7A7-07AD5AD14AFA}" sibTransId="{0B9EA9A9-1427-4DA3-829A-970836B77ED3}"/>
    <dgm:cxn modelId="{B8E445BE-BFCA-4C9E-8743-2A75DFA5906A}" srcId="{3FBEE608-F7D5-4F7D-AD14-4492DC030ABD}" destId="{4CDAB916-68B2-410A-AED5-36748B5D7334}" srcOrd="0" destOrd="0" parTransId="{3D28FE0F-A701-48EB-8041-7E503B24A6B6}" sibTransId="{CA261E21-1FFB-41D9-A97F-9EF1BD957068}"/>
    <dgm:cxn modelId="{79D4BFCF-3591-4FEC-B393-6026204A9B3B}" type="presOf" srcId="{5067CEDA-75F8-4074-A1F8-5EBFC811DA21}" destId="{7CCABA8F-6E8D-498A-A764-C0EB8773260E}" srcOrd="0" destOrd="0" presId="urn:microsoft.com/office/officeart/2005/8/layout/list1"/>
    <dgm:cxn modelId="{DD824AE4-09FF-4DE0-91CC-5C049B61046A}" type="presOf" srcId="{3FBEE608-F7D5-4F7D-AD14-4492DC030ABD}" destId="{D5AD987E-C5F7-4E53-A103-8CC9A217EDB5}" srcOrd="0" destOrd="0" presId="urn:microsoft.com/office/officeart/2005/8/layout/list1"/>
    <dgm:cxn modelId="{2967BCFA-6292-4927-8EAC-1B7203278086}" type="presOf" srcId="{5067CEDA-75F8-4074-A1F8-5EBFC811DA21}" destId="{13B810AA-9A6C-44B2-B4F2-5AF155FEF0AF}" srcOrd="1" destOrd="0" presId="urn:microsoft.com/office/officeart/2005/8/layout/list1"/>
    <dgm:cxn modelId="{23E35F3A-BEC7-4A8B-A04F-084F8D05EB4C}" type="presParOf" srcId="{63D412BE-F5A2-4C63-B214-D71E577FCE41}" destId="{B0CD33CF-CE3A-4CA9-9F41-289454191330}" srcOrd="0" destOrd="0" presId="urn:microsoft.com/office/officeart/2005/8/layout/list1"/>
    <dgm:cxn modelId="{6577DEBC-02AE-4107-8923-8EBFB095D986}" type="presParOf" srcId="{B0CD33CF-CE3A-4CA9-9F41-289454191330}" destId="{F5B43B2C-E514-4611-8C73-AC81352C6CDB}" srcOrd="0" destOrd="0" presId="urn:microsoft.com/office/officeart/2005/8/layout/list1"/>
    <dgm:cxn modelId="{31C6A8E7-9784-4399-A702-20840F178BC1}" type="presParOf" srcId="{B0CD33CF-CE3A-4CA9-9F41-289454191330}" destId="{64E32DFF-F225-44D6-8B35-5529CF347D7C}" srcOrd="1" destOrd="0" presId="urn:microsoft.com/office/officeart/2005/8/layout/list1"/>
    <dgm:cxn modelId="{6C3825AC-BD22-4C07-A5F6-D8630A98F803}" type="presParOf" srcId="{63D412BE-F5A2-4C63-B214-D71E577FCE41}" destId="{B115FD85-7CF2-4965-A07E-F796F87E232B}" srcOrd="1" destOrd="0" presId="urn:microsoft.com/office/officeart/2005/8/layout/list1"/>
    <dgm:cxn modelId="{D8E17A35-6168-40BB-8392-8FDA27D4C42C}" type="presParOf" srcId="{63D412BE-F5A2-4C63-B214-D71E577FCE41}" destId="{A2321286-42C3-4270-BDE7-8EA82D9DC1FB}" srcOrd="2" destOrd="0" presId="urn:microsoft.com/office/officeart/2005/8/layout/list1"/>
    <dgm:cxn modelId="{94D7D514-56DF-4460-8582-418752D4893D}" type="presParOf" srcId="{63D412BE-F5A2-4C63-B214-D71E577FCE41}" destId="{BD152507-EEA8-41E7-96AD-6238F215CA9C}" srcOrd="3" destOrd="0" presId="urn:microsoft.com/office/officeart/2005/8/layout/list1"/>
    <dgm:cxn modelId="{35F40B39-F678-4F72-9628-BE43D342748C}" type="presParOf" srcId="{63D412BE-F5A2-4C63-B214-D71E577FCE41}" destId="{79ECAAB6-54E4-41DE-BC1B-382CA58ABDA0}" srcOrd="4" destOrd="0" presId="urn:microsoft.com/office/officeart/2005/8/layout/list1"/>
    <dgm:cxn modelId="{A660DF2C-CD6E-4170-A897-F334FD40A32E}" type="presParOf" srcId="{79ECAAB6-54E4-41DE-BC1B-382CA58ABDA0}" destId="{7CCABA8F-6E8D-498A-A764-C0EB8773260E}" srcOrd="0" destOrd="0" presId="urn:microsoft.com/office/officeart/2005/8/layout/list1"/>
    <dgm:cxn modelId="{3D4082AC-4D58-47B6-B411-7F30AD4508F0}" type="presParOf" srcId="{79ECAAB6-54E4-41DE-BC1B-382CA58ABDA0}" destId="{13B810AA-9A6C-44B2-B4F2-5AF155FEF0AF}" srcOrd="1" destOrd="0" presId="urn:microsoft.com/office/officeart/2005/8/layout/list1"/>
    <dgm:cxn modelId="{F59ED78C-55F7-4576-A48F-AB9BBB2CFA2B}" type="presParOf" srcId="{63D412BE-F5A2-4C63-B214-D71E577FCE41}" destId="{68DB408C-095A-41C0-A49B-DC5BD6F9EE11}" srcOrd="5" destOrd="0" presId="urn:microsoft.com/office/officeart/2005/8/layout/list1"/>
    <dgm:cxn modelId="{5DA217D9-5155-41BB-915D-0F7106967F21}" type="presParOf" srcId="{63D412BE-F5A2-4C63-B214-D71E577FCE41}" destId="{EE861192-A8B3-424F-BAFD-1191F71ACA81}" srcOrd="6" destOrd="0" presId="urn:microsoft.com/office/officeart/2005/8/layout/list1"/>
    <dgm:cxn modelId="{074B50BC-EEDC-4A52-A686-37F4826BECD1}" type="presParOf" srcId="{63D412BE-F5A2-4C63-B214-D71E577FCE41}" destId="{F54E5C4C-2679-44D0-9697-548B585D3014}" srcOrd="7" destOrd="0" presId="urn:microsoft.com/office/officeart/2005/8/layout/list1"/>
    <dgm:cxn modelId="{348E6378-663D-483F-9FF6-7902C7CC7E8B}" type="presParOf" srcId="{63D412BE-F5A2-4C63-B214-D71E577FCE41}" destId="{7B58D28C-FA71-4574-94D0-46A06B14D6D6}" srcOrd="8" destOrd="0" presId="urn:microsoft.com/office/officeart/2005/8/layout/list1"/>
    <dgm:cxn modelId="{10D9BBE2-B41D-4034-8334-4B889F8A1C3B}" type="presParOf" srcId="{7B58D28C-FA71-4574-94D0-46A06B14D6D6}" destId="{D5AD987E-C5F7-4E53-A103-8CC9A217EDB5}" srcOrd="0" destOrd="0" presId="urn:microsoft.com/office/officeart/2005/8/layout/list1"/>
    <dgm:cxn modelId="{ED5A0CA1-AE28-4BE4-804F-B2963D7C3E5D}" type="presParOf" srcId="{7B58D28C-FA71-4574-94D0-46A06B14D6D6}" destId="{0D48A5CE-366D-461F-B41A-994AE0CA9416}" srcOrd="1" destOrd="0" presId="urn:microsoft.com/office/officeart/2005/8/layout/list1"/>
    <dgm:cxn modelId="{34A470BC-C10E-4FCD-9C27-F0491A7C96E1}" type="presParOf" srcId="{63D412BE-F5A2-4C63-B214-D71E577FCE41}" destId="{2B6935D9-5286-448C-922F-BD5942BC319D}" srcOrd="9" destOrd="0" presId="urn:microsoft.com/office/officeart/2005/8/layout/list1"/>
    <dgm:cxn modelId="{2C9255F1-146E-481D-BDBB-448ABCE9471F}" type="presParOf" srcId="{63D412BE-F5A2-4C63-B214-D71E577FCE41}" destId="{7B1AB52F-5D3F-4F9A-B141-11D380726C5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5FAD2-50A8-4032-BAEC-E3A01D2341AE}">
      <dsp:nvSpPr>
        <dsp:cNvPr id="0" name=""/>
        <dsp:cNvSpPr/>
      </dsp:nvSpPr>
      <dsp:spPr>
        <a:xfrm>
          <a:off x="0" y="0"/>
          <a:ext cx="8778240" cy="7371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i="0" kern="1200" dirty="0"/>
            <a:t>理解温度检测在电机驱动中的重要性</a:t>
          </a:r>
          <a:endParaRPr lang="zh-CN" sz="2800" kern="1200" dirty="0"/>
        </a:p>
      </dsp:txBody>
      <dsp:txXfrm>
        <a:off x="35982" y="35982"/>
        <a:ext cx="8706276" cy="665136"/>
      </dsp:txXfrm>
    </dsp:sp>
    <dsp:sp modelId="{A0C42107-FDFB-47A4-B3E0-4BC60711D64D}">
      <dsp:nvSpPr>
        <dsp:cNvPr id="0" name=""/>
        <dsp:cNvSpPr/>
      </dsp:nvSpPr>
      <dsp:spPr>
        <a:xfrm>
          <a:off x="0" y="787448"/>
          <a:ext cx="8778240" cy="84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709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kern="1200" dirty="0"/>
            <a:t>温度变化的原因</a:t>
          </a:r>
          <a:endParaRPr lang="zh-CN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kern="1200" dirty="0"/>
            <a:t>温度过高的恶果</a:t>
          </a:r>
          <a:endParaRPr lang="zh-CN" sz="2200" kern="1200" dirty="0"/>
        </a:p>
      </dsp:txBody>
      <dsp:txXfrm>
        <a:off x="0" y="787448"/>
        <a:ext cx="8778240" cy="840420"/>
      </dsp:txXfrm>
    </dsp:sp>
    <dsp:sp modelId="{D602BA50-B201-4066-95E0-B0C3C6C1008A}">
      <dsp:nvSpPr>
        <dsp:cNvPr id="0" name=""/>
        <dsp:cNvSpPr/>
      </dsp:nvSpPr>
      <dsp:spPr>
        <a:xfrm>
          <a:off x="0" y="1627868"/>
          <a:ext cx="8778240" cy="7371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2800" b="1" i="0" kern="1200" dirty="0"/>
            <a:t>掌握热敏电阻（</a:t>
          </a:r>
          <a:r>
            <a:rPr lang="en-US" altLang="zh-CN" sz="2800" b="1" i="0" kern="1200" dirty="0"/>
            <a:t>NTC</a:t>
          </a:r>
          <a:r>
            <a:rPr lang="zh-CN" altLang="en-US" sz="2800" b="1" i="0" kern="1200" dirty="0"/>
            <a:t>）温度检测原理</a:t>
          </a:r>
          <a:endParaRPr lang="zh-CN" altLang="en-US" sz="2800" b="0" i="0" kern="1200" dirty="0"/>
        </a:p>
      </dsp:txBody>
      <dsp:txXfrm>
        <a:off x="35982" y="1663850"/>
        <a:ext cx="8706276" cy="665136"/>
      </dsp:txXfrm>
    </dsp:sp>
    <dsp:sp modelId="{CE8CB2ED-7C7D-4F31-B581-CCE703EB5EE2}">
      <dsp:nvSpPr>
        <dsp:cNvPr id="0" name=""/>
        <dsp:cNvSpPr/>
      </dsp:nvSpPr>
      <dsp:spPr>
        <a:xfrm>
          <a:off x="0" y="2364968"/>
          <a:ext cx="8778240" cy="84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709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zh-CN" altLang="en-US" sz="2200" b="0" i="0" kern="1200" dirty="0"/>
            <a:t>电机测温为什么选择</a:t>
          </a:r>
          <a:r>
            <a:rPr lang="en-US" altLang="zh-CN" sz="2200" b="0" i="0" kern="1200" dirty="0"/>
            <a:t>NTC</a:t>
          </a:r>
          <a:r>
            <a:rPr lang="zh-CN" altLang="en-US" sz="2200" b="0" i="0" kern="1200" dirty="0"/>
            <a:t>方案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altLang="zh-CN" sz="2200" b="0" i="0" kern="1200" dirty="0"/>
            <a:t>NTC</a:t>
          </a:r>
          <a:r>
            <a:rPr lang="zh-CN" altLang="en-US" sz="2200" b="0" i="0" kern="1200" dirty="0"/>
            <a:t>测温电路原理图</a:t>
          </a:r>
        </a:p>
      </dsp:txBody>
      <dsp:txXfrm>
        <a:off x="0" y="2364968"/>
        <a:ext cx="8778240" cy="840420"/>
      </dsp:txXfrm>
    </dsp:sp>
    <dsp:sp modelId="{7FA81BCB-DC42-47B2-AC2D-EE5E0D859055}">
      <dsp:nvSpPr>
        <dsp:cNvPr id="0" name=""/>
        <dsp:cNvSpPr/>
      </dsp:nvSpPr>
      <dsp:spPr>
        <a:xfrm>
          <a:off x="0" y="3205388"/>
          <a:ext cx="8778240" cy="7371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2800" b="1" i="0" kern="1200" dirty="0"/>
            <a:t>掌握完整的测温链条</a:t>
          </a:r>
        </a:p>
      </dsp:txBody>
      <dsp:txXfrm>
        <a:off x="35982" y="3241370"/>
        <a:ext cx="8706276" cy="665136"/>
      </dsp:txXfrm>
    </dsp:sp>
    <dsp:sp modelId="{5079913B-D5DC-47BF-9D14-1124A0157355}">
      <dsp:nvSpPr>
        <dsp:cNvPr id="0" name=""/>
        <dsp:cNvSpPr/>
      </dsp:nvSpPr>
      <dsp:spPr>
        <a:xfrm>
          <a:off x="0" y="3942488"/>
          <a:ext cx="8778240" cy="840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8709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zh-CN" altLang="en-US" sz="2200" b="0" kern="1200" dirty="0"/>
            <a:t>传感器 → </a:t>
          </a:r>
          <a:r>
            <a:rPr lang="en-US" altLang="zh-CN" sz="2200" b="0" kern="1200" dirty="0"/>
            <a:t>ADC → </a:t>
          </a:r>
          <a:r>
            <a:rPr lang="zh-CN" altLang="en-US" sz="2200" b="0" kern="1200" dirty="0"/>
            <a:t>软件 → 保护</a:t>
          </a:r>
          <a:endParaRPr lang="zh-CN" altLang="en-US" sz="2200" b="0" i="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zh-CN" altLang="en-US" sz="2200" b="0" i="0" kern="1200" dirty="0"/>
            <a:t>掌握</a:t>
          </a:r>
          <a:r>
            <a:rPr lang="en-US" altLang="zh-CN" sz="2200" b="0" i="0" kern="1200" dirty="0"/>
            <a:t>STM32 ADC</a:t>
          </a:r>
          <a:r>
            <a:rPr lang="zh-CN" altLang="en-US" sz="2200" b="0" i="0" kern="1200" dirty="0"/>
            <a:t>采集温度信号的配置方法</a:t>
          </a:r>
        </a:p>
      </dsp:txBody>
      <dsp:txXfrm>
        <a:off x="0" y="3942488"/>
        <a:ext cx="8778240" cy="8404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21286-42C3-4270-BDE7-8EA82D9DC1FB}">
      <dsp:nvSpPr>
        <dsp:cNvPr id="0" name=""/>
        <dsp:cNvSpPr/>
      </dsp:nvSpPr>
      <dsp:spPr>
        <a:xfrm>
          <a:off x="0" y="273002"/>
          <a:ext cx="5023944" cy="1017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9914" tIns="354076" rIns="38991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1700" b="0" i="0" kern="1200"/>
            <a:t>原因：</a:t>
          </a:r>
          <a:r>
            <a:rPr lang="en-US" altLang="zh-CN" sz="1700" b="0" i="0" kern="1200"/>
            <a:t>NTC </a:t>
          </a:r>
          <a:r>
            <a:rPr lang="zh-CN" altLang="en-US" sz="1700" b="0" i="0" kern="1200"/>
            <a:t>阻值较大，需充分采集稳定信号</a:t>
          </a:r>
        </a:p>
      </dsp:txBody>
      <dsp:txXfrm>
        <a:off x="0" y="273002"/>
        <a:ext cx="5023944" cy="1017450"/>
      </dsp:txXfrm>
    </dsp:sp>
    <dsp:sp modelId="{64E32DFF-F225-44D6-8B35-5529CF347D7C}">
      <dsp:nvSpPr>
        <dsp:cNvPr id="0" name=""/>
        <dsp:cNvSpPr/>
      </dsp:nvSpPr>
      <dsp:spPr>
        <a:xfrm>
          <a:off x="251197" y="22082"/>
          <a:ext cx="351676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925" tIns="0" rIns="1329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0" i="0" kern="1200"/>
            <a:t>足够采样时间</a:t>
          </a:r>
          <a:endParaRPr lang="zh-CN" sz="1700" kern="1200" dirty="0"/>
        </a:p>
      </dsp:txBody>
      <dsp:txXfrm>
        <a:off x="275695" y="46580"/>
        <a:ext cx="3467764" cy="452844"/>
      </dsp:txXfrm>
    </dsp:sp>
    <dsp:sp modelId="{EE861192-A8B3-424F-BAFD-1191F71ACA81}">
      <dsp:nvSpPr>
        <dsp:cNvPr id="0" name=""/>
        <dsp:cNvSpPr/>
      </dsp:nvSpPr>
      <dsp:spPr>
        <a:xfrm>
          <a:off x="0" y="1633172"/>
          <a:ext cx="5023944" cy="107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9914" tIns="354076" rIns="38991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1700" b="0" i="0" kern="1200"/>
            <a:t>应用：同步采集温度、电流、电压多参数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1700" b="0" i="0" kern="1200"/>
            <a:t>优势：高效采集，不占用过多 </a:t>
          </a:r>
          <a:r>
            <a:rPr lang="en-US" altLang="zh-CN" sz="1700" b="0" i="0" kern="1200"/>
            <a:t>CPU </a:t>
          </a:r>
          <a:r>
            <a:rPr lang="zh-CN" altLang="en-US" sz="1700" b="0" i="0" kern="1200"/>
            <a:t>资源</a:t>
          </a:r>
        </a:p>
      </dsp:txBody>
      <dsp:txXfrm>
        <a:off x="0" y="1633172"/>
        <a:ext cx="5023944" cy="1071000"/>
      </dsp:txXfrm>
    </dsp:sp>
    <dsp:sp modelId="{13B810AA-9A6C-44B2-B4F2-5AF155FEF0AF}">
      <dsp:nvSpPr>
        <dsp:cNvPr id="0" name=""/>
        <dsp:cNvSpPr/>
      </dsp:nvSpPr>
      <dsp:spPr>
        <a:xfrm>
          <a:off x="251197" y="1382252"/>
          <a:ext cx="351676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925" tIns="0" rIns="1329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1700" b="0" i="0" kern="1200"/>
            <a:t>扫描模式 </a:t>
          </a:r>
          <a:r>
            <a:rPr lang="en-US" altLang="zh-CN" sz="1700" b="0" i="0" kern="1200"/>
            <a:t>+ </a:t>
          </a:r>
          <a:r>
            <a:rPr lang="en-US" sz="1700" b="0" i="0" kern="1200"/>
            <a:t>DMA</a:t>
          </a:r>
        </a:p>
      </dsp:txBody>
      <dsp:txXfrm>
        <a:off x="275695" y="1406750"/>
        <a:ext cx="3467764" cy="452844"/>
      </dsp:txXfrm>
    </dsp:sp>
    <dsp:sp modelId="{7B1AB52F-5D3F-4F9A-B141-11D380726C52}">
      <dsp:nvSpPr>
        <dsp:cNvPr id="0" name=""/>
        <dsp:cNvSpPr/>
      </dsp:nvSpPr>
      <dsp:spPr>
        <a:xfrm>
          <a:off x="0" y="3046892"/>
          <a:ext cx="5023944" cy="749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9914" tIns="354076" rIns="38991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zh-CN" altLang="en-US" sz="1700" b="0" i="0" kern="1200"/>
            <a:t>解决 </a:t>
          </a:r>
          <a:r>
            <a:rPr lang="en-US" altLang="zh-CN" sz="1700" b="0" i="0" kern="1200"/>
            <a:t>ADC </a:t>
          </a:r>
          <a:r>
            <a:rPr lang="zh-CN" altLang="en-US" sz="1700" b="0" i="0" kern="1200"/>
            <a:t>固有偏差，提升采样精度</a:t>
          </a:r>
        </a:p>
      </dsp:txBody>
      <dsp:txXfrm>
        <a:off x="0" y="3046892"/>
        <a:ext cx="5023944" cy="749700"/>
      </dsp:txXfrm>
    </dsp:sp>
    <dsp:sp modelId="{0D48A5CE-366D-461F-B41A-994AE0CA9416}">
      <dsp:nvSpPr>
        <dsp:cNvPr id="0" name=""/>
        <dsp:cNvSpPr/>
      </dsp:nvSpPr>
      <dsp:spPr>
        <a:xfrm>
          <a:off x="251197" y="2795972"/>
          <a:ext cx="351676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925" tIns="0" rIns="1329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1700" b="0" i="0" kern="1200"/>
            <a:t>校准 </a:t>
          </a:r>
          <a:r>
            <a:rPr lang="en-US" altLang="zh-CN" sz="1700" b="0" i="0" kern="1200"/>
            <a:t>+ </a:t>
          </a:r>
          <a:r>
            <a:rPr lang="zh-CN" altLang="en-US" sz="1700" b="0" i="0" kern="1200"/>
            <a:t>稳定参考电压</a:t>
          </a:r>
        </a:p>
      </dsp:txBody>
      <dsp:txXfrm>
        <a:off x="275695" y="2820470"/>
        <a:ext cx="346776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这一节我们来讲电机驱动板里的</a:t>
            </a:r>
            <a:r>
              <a:rPr lang="zh-CN" altLang="en-US" b="1" dirty="0"/>
              <a:t>温度检测方法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在实际项目中，很多板子不是“算错了”，而是</a:t>
            </a:r>
            <a:r>
              <a:rPr lang="zh-CN" altLang="en-US" b="1" dirty="0"/>
              <a:t>热没管住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今天我们就从工程角度，完整看一套：</a:t>
            </a:r>
            <a:br>
              <a:rPr lang="zh-CN" altLang="en-US" dirty="0"/>
            </a:br>
            <a:r>
              <a:rPr lang="zh-CN" altLang="en-US" b="1" dirty="0"/>
              <a:t>从温度传感器，到 </a:t>
            </a:r>
            <a:r>
              <a:rPr lang="en-US" altLang="zh-CN" b="1" dirty="0"/>
              <a:t>STM32</a:t>
            </a:r>
            <a:r>
              <a:rPr lang="zh-CN" altLang="en-US" b="1" dirty="0"/>
              <a:t>，再到过温保护逻辑</a:t>
            </a:r>
            <a:r>
              <a:rPr lang="zh-CN" altLang="en-US" dirty="0"/>
              <a:t>的实现方案。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这一节学完，你至少应该搞清楚三件事。</a:t>
            </a:r>
            <a:br>
              <a:rPr lang="zh-CN" altLang="en-US" dirty="0"/>
            </a:br>
            <a:r>
              <a:rPr lang="zh-CN" altLang="en-US" dirty="0"/>
              <a:t>第一，</a:t>
            </a:r>
            <a:r>
              <a:rPr lang="zh-CN" altLang="en-US" b="1" dirty="0"/>
              <a:t>为什么电机驱动板一定要测温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第二，工程上为什么几乎都选 </a:t>
            </a:r>
            <a:r>
              <a:rPr lang="en-US" altLang="zh-CN" b="1" dirty="0"/>
              <a:t>NTC </a:t>
            </a:r>
            <a:r>
              <a:rPr lang="zh-CN" altLang="en-US" b="1" dirty="0"/>
              <a:t>热敏电阻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第三，如何在 </a:t>
            </a:r>
            <a:r>
              <a:rPr lang="en-US" altLang="zh-CN" dirty="0"/>
              <a:t>STM32 </a:t>
            </a:r>
            <a:r>
              <a:rPr lang="zh-CN" altLang="en-US" dirty="0"/>
              <a:t>里，把温度真正用起来，而不只是“读个数”。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在电机系统里，发热的地方很多：</a:t>
            </a:r>
            <a:br>
              <a:rPr lang="zh-CN" altLang="en-US" dirty="0"/>
            </a:br>
            <a:r>
              <a:rPr lang="en-US" altLang="zh-CN" dirty="0"/>
              <a:t>MOSFET</a:t>
            </a:r>
            <a:r>
              <a:rPr lang="zh-CN" altLang="en-US" dirty="0"/>
              <a:t>、驱动芯片、电机绕组，都会持续产生热量。</a:t>
            </a:r>
            <a:br>
              <a:rPr lang="zh-CN" altLang="en-US" dirty="0"/>
            </a:br>
            <a:r>
              <a:rPr lang="zh-CN" altLang="en-US" dirty="0"/>
              <a:t>温度一旦失控，最直接的后果就是</a:t>
            </a:r>
            <a:r>
              <a:rPr lang="en-US" altLang="zh-CN" dirty="0"/>
              <a:t>——</a:t>
            </a:r>
            <a:r>
              <a:rPr lang="zh-CN" altLang="en-US" dirty="0"/>
              <a:t>器件寿命急剧下降，严重时直接炸板。</a:t>
            </a:r>
          </a:p>
          <a:p>
            <a:r>
              <a:rPr lang="zh-CN" altLang="en-US" dirty="0"/>
              <a:t>但温度有个特点：</a:t>
            </a:r>
            <a:br>
              <a:rPr lang="zh-CN" altLang="en-US" dirty="0"/>
            </a:br>
            <a:r>
              <a:rPr lang="zh-CN" altLang="en-US" b="1" dirty="0"/>
              <a:t>它是慢变量，却最容易被忽视。</a:t>
            </a:r>
            <a:endParaRPr lang="zh-CN" altLang="en-US" dirty="0"/>
          </a:p>
          <a:p>
            <a:r>
              <a:rPr lang="zh-CN" altLang="en-US" dirty="0"/>
              <a:t>很多项目电流、电压都算得很精细，</a:t>
            </a:r>
            <a:br>
              <a:rPr lang="zh-CN" altLang="en-US" dirty="0"/>
            </a:br>
            <a:r>
              <a:rPr lang="zh-CN" altLang="en-US" dirty="0"/>
              <a:t>结果最后问题出在：</a:t>
            </a:r>
            <a:r>
              <a:rPr lang="zh-CN" altLang="en-US" b="1" dirty="0"/>
              <a:t>热没有闭环控制。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先看一下常见的几种测温方案。</a:t>
            </a:r>
            <a:br>
              <a:rPr lang="zh-CN" altLang="en-US" dirty="0"/>
            </a:br>
            <a:r>
              <a:rPr lang="zh-CN" altLang="en-US" dirty="0"/>
              <a:t>有热敏电阻，也有数字温度传感器，比如 </a:t>
            </a:r>
            <a:r>
              <a:rPr lang="en-US" altLang="zh-CN" dirty="0"/>
              <a:t>DS18B20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还有工业级的 </a:t>
            </a:r>
            <a:r>
              <a:rPr lang="en-US" altLang="zh-CN" dirty="0"/>
              <a:t>PT100</a:t>
            </a:r>
            <a:r>
              <a:rPr lang="zh-CN" altLang="en-US" dirty="0"/>
              <a:t>、热电偶。</a:t>
            </a:r>
          </a:p>
          <a:p>
            <a:r>
              <a:rPr lang="zh-CN" altLang="en-US" dirty="0"/>
              <a:t>但在电机驱动板里，我们追求的不是“实验室级精度”，</a:t>
            </a:r>
            <a:br>
              <a:rPr lang="zh-CN" altLang="en-US" dirty="0"/>
            </a:br>
            <a:r>
              <a:rPr lang="zh-CN" altLang="en-US" dirty="0"/>
              <a:t>而是三点：</a:t>
            </a:r>
            <a:br>
              <a:rPr lang="zh-CN" altLang="en-US" dirty="0"/>
            </a:br>
            <a:r>
              <a:rPr lang="zh-CN" altLang="en-US" b="1" dirty="0"/>
              <a:t>低成本、快响应、易集成。</a:t>
            </a:r>
            <a:endParaRPr lang="zh-CN" altLang="en-US" dirty="0"/>
          </a:p>
          <a:p>
            <a:r>
              <a:rPr lang="zh-CN" altLang="en-US" dirty="0"/>
              <a:t>所以你会发现，</a:t>
            </a:r>
            <a:br>
              <a:rPr lang="zh-CN" altLang="en-US" dirty="0"/>
            </a:br>
            <a:r>
              <a:rPr lang="zh-CN" altLang="en-US" b="1" dirty="0"/>
              <a:t>绝大多数电机驱动板，用的都是 </a:t>
            </a:r>
            <a:r>
              <a:rPr lang="en-US" altLang="zh-CN" b="1" dirty="0"/>
              <a:t>NTC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r>
              <a:rPr lang="zh-CN" altLang="en-US" dirty="0"/>
              <a:t>本教程选用的是一颗 </a:t>
            </a:r>
            <a:r>
              <a:rPr lang="en-US" altLang="zh-CN" dirty="0"/>
              <a:t>10k </a:t>
            </a:r>
            <a:r>
              <a:rPr lang="zh-CN" altLang="en-US" dirty="0"/>
              <a:t>的 </a:t>
            </a:r>
            <a:r>
              <a:rPr lang="en-US" altLang="zh-CN" dirty="0"/>
              <a:t>NTC </a:t>
            </a:r>
            <a:r>
              <a:rPr lang="zh-CN" altLang="en-US" dirty="0"/>
              <a:t>热敏电阻，</a:t>
            </a:r>
            <a:br>
              <a:rPr lang="zh-CN" altLang="en-US" dirty="0"/>
            </a:br>
            <a:r>
              <a:rPr lang="zh-CN" altLang="en-US" dirty="0"/>
              <a:t>型号是 </a:t>
            </a:r>
            <a:r>
              <a:rPr lang="en-US" altLang="zh-CN" dirty="0"/>
              <a:t>NCP18XH103F03RB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这里强调一点：</a:t>
            </a:r>
            <a:br>
              <a:rPr lang="zh-CN" altLang="en-US" dirty="0"/>
            </a:br>
            <a:r>
              <a:rPr lang="zh-CN" altLang="en-US" dirty="0"/>
              <a:t>不是说只有这一颗能用，</a:t>
            </a:r>
            <a:br>
              <a:rPr lang="zh-CN" altLang="en-US" dirty="0"/>
            </a:br>
            <a:r>
              <a:rPr lang="zh-CN" altLang="en-US" dirty="0"/>
              <a:t>而是 </a:t>
            </a:r>
            <a:r>
              <a:rPr lang="en-US" altLang="zh-CN" b="1" dirty="0"/>
              <a:t>10k NTC </a:t>
            </a:r>
            <a:r>
              <a:rPr lang="zh-CN" altLang="en-US" b="1" dirty="0"/>
              <a:t>是行业里非常成熟、非常通用的方案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对教学和工程来说，这种器件最稳妥。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先看最基础的测温原理。</a:t>
            </a:r>
            <a:br>
              <a:rPr lang="zh-CN" altLang="en-US" dirty="0"/>
            </a:br>
            <a:r>
              <a:rPr lang="zh-CN" altLang="en-US" dirty="0"/>
              <a:t>一个 </a:t>
            </a:r>
            <a:r>
              <a:rPr lang="en-US" altLang="zh-CN" dirty="0"/>
              <a:t>NTC</a:t>
            </a:r>
            <a:r>
              <a:rPr lang="zh-CN" altLang="en-US" dirty="0"/>
              <a:t>，加一个分压电阻，接到 </a:t>
            </a:r>
            <a:r>
              <a:rPr lang="en-US" altLang="zh-CN" dirty="0"/>
              <a:t>STM32 </a:t>
            </a:r>
            <a:r>
              <a:rPr lang="zh-CN" altLang="en-US" dirty="0"/>
              <a:t>的 </a:t>
            </a:r>
            <a:r>
              <a:rPr lang="en-US" altLang="zh-CN" dirty="0"/>
              <a:t>ADC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它背后的逻辑其实非常简单：</a:t>
            </a:r>
            <a:br>
              <a:rPr lang="zh-CN" altLang="en-US" dirty="0"/>
            </a:br>
            <a:r>
              <a:rPr lang="zh-CN" altLang="en-US" dirty="0"/>
              <a:t>温度变化 → </a:t>
            </a:r>
            <a:r>
              <a:rPr lang="en-US" altLang="zh-CN" dirty="0"/>
              <a:t>NTC </a:t>
            </a:r>
            <a:r>
              <a:rPr lang="zh-CN" altLang="en-US" dirty="0"/>
              <a:t>电阻变化 → 分压点电压变化 → </a:t>
            </a:r>
            <a:r>
              <a:rPr lang="en-US" altLang="zh-CN" dirty="0"/>
              <a:t>ADC </a:t>
            </a:r>
            <a:r>
              <a:rPr lang="zh-CN" altLang="en-US" dirty="0"/>
              <a:t>数字量。</a:t>
            </a:r>
          </a:p>
          <a:p>
            <a:r>
              <a:rPr lang="zh-CN" altLang="en-US" dirty="0"/>
              <a:t>所以本质上，</a:t>
            </a:r>
            <a:br>
              <a:rPr lang="zh-CN" altLang="en-US" dirty="0"/>
            </a:br>
            <a:r>
              <a:rPr lang="zh-CN" altLang="en-US" b="1" dirty="0"/>
              <a:t>我们不是在“测温度”，而是在测电压。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DAA2-E0A4-F6A2-2139-A47678ED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C5BECE-56EB-50FA-5A8E-408FC7D8F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E7C067-12F3-7E03-DB63-31AEB3908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但在真实的电机环境下，仅有一个分压是不够的。</a:t>
            </a:r>
            <a:br>
              <a:rPr lang="zh-CN" altLang="en-US" dirty="0"/>
            </a:br>
            <a:r>
              <a:rPr lang="zh-CN" altLang="en-US" dirty="0"/>
              <a:t>因为这里有 </a:t>
            </a:r>
            <a:r>
              <a:rPr lang="en-US" altLang="zh-CN" dirty="0"/>
              <a:t>PWM</a:t>
            </a:r>
            <a:r>
              <a:rPr lang="zh-CN" altLang="en-US" dirty="0"/>
              <a:t>、高电流、强干扰。</a:t>
            </a:r>
          </a:p>
          <a:p>
            <a:r>
              <a:rPr lang="zh-CN" altLang="en-US" dirty="0"/>
              <a:t>所以工程上通常会加三类东西：</a:t>
            </a:r>
            <a:br>
              <a:rPr lang="zh-CN" altLang="en-US" dirty="0"/>
            </a:br>
            <a:r>
              <a:rPr lang="zh-CN" altLang="en-US" dirty="0"/>
              <a:t>第一，</a:t>
            </a:r>
            <a:r>
              <a:rPr lang="en-US" altLang="zh-CN" dirty="0"/>
              <a:t>RC </a:t>
            </a:r>
            <a:r>
              <a:rPr lang="zh-CN" altLang="en-US" dirty="0"/>
              <a:t>滤波，用来抑制开关噪声；</a:t>
            </a:r>
            <a:br>
              <a:rPr lang="zh-CN" altLang="en-US" dirty="0"/>
            </a:br>
            <a:r>
              <a:rPr lang="zh-CN" altLang="en-US" dirty="0"/>
              <a:t>第二，运放缓冲，解决高阻抗问题；</a:t>
            </a:r>
            <a:br>
              <a:rPr lang="zh-CN" altLang="en-US" dirty="0"/>
            </a:br>
            <a:r>
              <a:rPr lang="zh-CN" altLang="en-US" dirty="0"/>
              <a:t>第三，</a:t>
            </a:r>
            <a:r>
              <a:rPr lang="en-US" altLang="zh-CN" dirty="0"/>
              <a:t>ESD </a:t>
            </a:r>
            <a:r>
              <a:rPr lang="zh-CN" altLang="en-US" dirty="0"/>
              <a:t>保护，防静电、防误操作。</a:t>
            </a:r>
          </a:p>
          <a:p>
            <a:r>
              <a:rPr lang="zh-CN" altLang="en-US" dirty="0"/>
              <a:t>一句话总结就是：</a:t>
            </a:r>
            <a:br>
              <a:rPr lang="zh-CN" altLang="en-US" dirty="0"/>
            </a:br>
            <a:r>
              <a:rPr lang="zh-CN" altLang="en-US" b="1" dirty="0"/>
              <a:t>能测到温度，不等于能稳定测温。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52538F-9D2A-C3BC-4A4B-B5AF748F6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050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温度检测在软件里，第一个关键就是 </a:t>
            </a:r>
            <a:r>
              <a:rPr lang="en-US" altLang="zh-CN" dirty="0"/>
              <a:t>ADC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这里有几个工程上必须注意的点：</a:t>
            </a:r>
            <a:br>
              <a:rPr lang="zh-CN" altLang="en-US" dirty="0"/>
            </a:br>
            <a:r>
              <a:rPr lang="zh-CN" altLang="en-US" dirty="0"/>
              <a:t>第一，</a:t>
            </a:r>
            <a:r>
              <a:rPr lang="en-US" altLang="zh-CN" dirty="0"/>
              <a:t>NTC </a:t>
            </a:r>
            <a:r>
              <a:rPr lang="zh-CN" altLang="en-US" dirty="0"/>
              <a:t>阻值偏大，采样时间一定要设得足够长；</a:t>
            </a:r>
            <a:br>
              <a:rPr lang="zh-CN" altLang="en-US" dirty="0"/>
            </a:br>
            <a:r>
              <a:rPr lang="zh-CN" altLang="en-US" dirty="0"/>
              <a:t>第二，温度、电流、电压通常一起采，用扫描模式加 </a:t>
            </a:r>
            <a:r>
              <a:rPr lang="en-US" altLang="zh-CN" dirty="0"/>
              <a:t>DMA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第三，</a:t>
            </a:r>
            <a:r>
              <a:rPr lang="en-US" altLang="zh-CN" dirty="0"/>
              <a:t>ADC </a:t>
            </a:r>
            <a:r>
              <a:rPr lang="zh-CN" altLang="en-US" dirty="0"/>
              <a:t>本身有偏差，需要校准，同时保证参考电压稳定。</a:t>
            </a:r>
          </a:p>
          <a:p>
            <a:r>
              <a:rPr lang="zh-CN" altLang="en-US" dirty="0"/>
              <a:t>不需要死记寄存器，</a:t>
            </a:r>
            <a:br>
              <a:rPr lang="zh-CN" altLang="en-US" dirty="0"/>
            </a:br>
            <a:r>
              <a:rPr lang="zh-CN" altLang="en-US" b="1" dirty="0"/>
              <a:t>理解这些原则就够了。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543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 </a:t>
            </a:r>
            <a:r>
              <a:rPr lang="en-US" altLang="zh-CN" dirty="0"/>
              <a:t>ADC </a:t>
            </a:r>
            <a:r>
              <a:rPr lang="zh-CN" altLang="en-US" dirty="0"/>
              <a:t>到温度，常见有两种思路：</a:t>
            </a:r>
            <a:br>
              <a:rPr lang="zh-CN" altLang="en-US" dirty="0"/>
            </a:br>
            <a:r>
              <a:rPr lang="zh-CN" altLang="en-US" dirty="0"/>
              <a:t>一种是公式法，比如 </a:t>
            </a:r>
            <a:r>
              <a:rPr lang="en-US" altLang="zh-CN" dirty="0"/>
              <a:t>Steinhart-Hart</a:t>
            </a:r>
            <a:r>
              <a:rPr lang="zh-CN" altLang="en-US" dirty="0"/>
              <a:t>；</a:t>
            </a:r>
            <a:br>
              <a:rPr lang="zh-CN" altLang="en-US" dirty="0"/>
            </a:br>
            <a:r>
              <a:rPr lang="zh-CN" altLang="en-US" dirty="0"/>
              <a:t>另一种是查表法。</a:t>
            </a:r>
          </a:p>
          <a:p>
            <a:r>
              <a:rPr lang="zh-CN" altLang="en-US" dirty="0"/>
              <a:t>在实际工程中，我更推荐：</a:t>
            </a:r>
            <a:br>
              <a:rPr lang="zh-CN" altLang="en-US" dirty="0"/>
            </a:br>
            <a:r>
              <a:rPr lang="zh-CN" altLang="en-US" b="1" dirty="0"/>
              <a:t>查表 </a:t>
            </a:r>
            <a:r>
              <a:rPr lang="en-US" altLang="zh-CN" b="1" dirty="0"/>
              <a:t>+ </a:t>
            </a:r>
            <a:r>
              <a:rPr lang="zh-CN" altLang="en-US" b="1" dirty="0"/>
              <a:t>插值。</a:t>
            </a:r>
            <a:endParaRPr lang="zh-CN" altLang="en-US" dirty="0"/>
          </a:p>
          <a:p>
            <a:r>
              <a:rPr lang="zh-CN" altLang="en-US" dirty="0"/>
              <a:t>原因很简单：</a:t>
            </a:r>
            <a:br>
              <a:rPr lang="zh-CN" altLang="en-US" dirty="0"/>
            </a:br>
            <a:r>
              <a:rPr lang="zh-CN" altLang="en-US" dirty="0"/>
              <a:t>运算量小、速度快、结果稳定。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这里给一个简单的示例代码。</a:t>
            </a:r>
            <a:br>
              <a:rPr lang="zh-CN" altLang="en-US" dirty="0"/>
            </a:br>
            <a:r>
              <a:rPr lang="zh-CN" altLang="en-US" dirty="0"/>
              <a:t>整体流程就是：</a:t>
            </a:r>
            <a:br>
              <a:rPr lang="zh-CN" altLang="en-US" dirty="0"/>
            </a:br>
            <a:r>
              <a:rPr lang="en-US" altLang="zh-CN" dirty="0"/>
              <a:t>ADC → </a:t>
            </a:r>
            <a:r>
              <a:rPr lang="zh-CN" altLang="en-US" dirty="0"/>
              <a:t>电压 → 电阻 → 温度。</a:t>
            </a:r>
          </a:p>
          <a:p>
            <a:r>
              <a:rPr lang="zh-CN" altLang="en-US" dirty="0"/>
              <a:t>查表函数你可以自己实现，</a:t>
            </a:r>
            <a:br>
              <a:rPr lang="zh-CN" altLang="en-US" dirty="0"/>
            </a:br>
            <a:r>
              <a:rPr lang="zh-CN" altLang="en-US" dirty="0"/>
              <a:t>具体用多少点，取决于你对精度和存储空间的权衡。</a:t>
            </a:r>
          </a:p>
          <a:p>
            <a:r>
              <a:rPr lang="zh-CN" altLang="en-US" dirty="0"/>
              <a:t>对电机驱动来说，</a:t>
            </a:r>
            <a:br>
              <a:rPr lang="zh-CN" altLang="en-US" dirty="0"/>
            </a:br>
            <a:r>
              <a:rPr lang="zh-CN" altLang="en-US" b="1" dirty="0"/>
              <a:t>稳定比“多算一位小数”重要得多。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实际运行时你会发现，</a:t>
            </a:r>
            <a:br>
              <a:rPr lang="zh-CN" altLang="en-US" dirty="0"/>
            </a:br>
            <a:r>
              <a:rPr lang="en-US" altLang="zh-CN" dirty="0"/>
              <a:t>ADC </a:t>
            </a:r>
            <a:r>
              <a:rPr lang="zh-CN" altLang="en-US" dirty="0"/>
              <a:t>的值是会抖的。</a:t>
            </a:r>
          </a:p>
          <a:p>
            <a:r>
              <a:rPr lang="zh-CN" altLang="en-US" dirty="0"/>
              <a:t>但温度本身不可能“瞬间跳变”，</a:t>
            </a:r>
            <a:br>
              <a:rPr lang="zh-CN" altLang="en-US" dirty="0"/>
            </a:br>
            <a:r>
              <a:rPr lang="zh-CN" altLang="en-US" dirty="0"/>
              <a:t>所以这里一定要做软件滤波。</a:t>
            </a:r>
          </a:p>
          <a:p>
            <a:r>
              <a:rPr lang="zh-CN" altLang="en-US" dirty="0"/>
              <a:t>常见的方法就是：</a:t>
            </a:r>
            <a:br>
              <a:rPr lang="zh-CN" altLang="en-US" dirty="0"/>
            </a:br>
            <a:r>
              <a:rPr lang="zh-CN" altLang="en-US" dirty="0"/>
              <a:t>移动平均，或者一阶低通。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454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如果你希望测得更准，可以从三个方面入手：</a:t>
            </a:r>
            <a:br>
              <a:rPr lang="zh-CN" altLang="en-US" dirty="0"/>
            </a:br>
            <a:r>
              <a:rPr lang="zh-CN" altLang="en-US" dirty="0"/>
              <a:t>电阻精度、参考电压、以及简单的校准。</a:t>
            </a:r>
          </a:p>
          <a:p>
            <a:r>
              <a:rPr lang="zh-CN" altLang="en-US" dirty="0"/>
              <a:t>但要记住一句话：</a:t>
            </a:r>
            <a:br>
              <a:rPr lang="zh-CN" altLang="en-US" dirty="0"/>
            </a:br>
            <a:r>
              <a:rPr lang="zh-CN" altLang="en-US" b="1" dirty="0"/>
              <a:t>在电机驱动系统中，稳定性永远优先于极限精度。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70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6104373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电机驱动板温度检测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【08-08】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44267413"/>
              </p:ext>
            </p:extLst>
          </p:nvPr>
        </p:nvGraphicFramePr>
        <p:xfrm>
          <a:off x="1706880" y="1201783"/>
          <a:ext cx="8778240" cy="4833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1"/>
            <a:r>
              <a:rPr lang="en-US" altLang="zh-CN" dirty="0"/>
              <a:t>1. </a:t>
            </a:r>
            <a:r>
              <a:rPr lang="zh-CN" altLang="en-US" dirty="0"/>
              <a:t>为什么需要温度检测？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85FBB5-E4BB-6309-32FF-8C709A924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1" y="3373886"/>
            <a:ext cx="2946626" cy="2304042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45122EA-A28A-75CA-1DDF-D7CF7CFAD78D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029714" y="1344187"/>
            <a:ext cx="7303226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核心发热部件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MOSFET、驱动芯片、电机绕组都会发热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过热的后果：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器件寿命急剧下降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严重时直接炸板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B3B0A1-3C20-C2D3-B720-E10F326A33D5}"/>
              </a:ext>
            </a:extLst>
          </p:cNvPr>
          <p:cNvSpPr txBox="1"/>
          <p:nvPr/>
        </p:nvSpPr>
        <p:spPr>
          <a:xfrm>
            <a:off x="4197531" y="5308596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电机系统里，温度是“慢变量”，但最容易忽视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9AF7C6E-6EE5-C694-2494-74AFEADB1FFB}"/>
              </a:ext>
            </a:extLst>
          </p:cNvPr>
          <p:cNvSpPr txBox="1"/>
          <p:nvPr/>
        </p:nvSpPr>
        <p:spPr>
          <a:xfrm>
            <a:off x="4197531" y="5885057"/>
            <a:ext cx="5314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000000"/>
                </a:solidFill>
                <a:effectLst/>
                <a:latin typeface="Inter"/>
              </a:rPr>
              <a:t>温度检测是系统稳定运行的 “安全防线”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7081449-3A17-DEB6-33D0-95746E26E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418" y="3311237"/>
            <a:ext cx="2638396" cy="236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温度传感器选型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6D1B291-7EBF-96EB-447A-FE91F6E46DA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8"/>
            <a:ext cx="10688441" cy="1699852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/>
              <a:t>常用的测温方案</a:t>
            </a:r>
            <a:endParaRPr lang="en-US" altLang="zh-CN" sz="2000" dirty="0"/>
          </a:p>
          <a:p>
            <a:pPr lvl="1"/>
            <a:r>
              <a:rPr lang="zh-CN" altLang="en-US" sz="1800" dirty="0"/>
              <a:t>热敏电阻（</a:t>
            </a:r>
            <a:r>
              <a:rPr lang="en-US" altLang="zh-CN" sz="1800" dirty="0"/>
              <a:t>NTC/PTC</a:t>
            </a:r>
            <a:r>
              <a:rPr lang="zh-CN" altLang="en-US" sz="1800" dirty="0"/>
              <a:t>）</a:t>
            </a:r>
          </a:p>
          <a:p>
            <a:pPr lvl="1"/>
            <a:r>
              <a:rPr lang="zh-CN" altLang="en-US" sz="1800" dirty="0"/>
              <a:t>数字温度传感器（如</a:t>
            </a:r>
            <a:r>
              <a:rPr lang="en-US" altLang="zh-CN" sz="1800" dirty="0"/>
              <a:t>DS18B20</a:t>
            </a:r>
            <a:r>
              <a:rPr lang="zh-CN" altLang="en-US" sz="1800" dirty="0"/>
              <a:t>）</a:t>
            </a:r>
          </a:p>
          <a:p>
            <a:pPr lvl="1"/>
            <a:r>
              <a:rPr lang="zh-CN" altLang="en-US" sz="1800" dirty="0"/>
              <a:t>热电偶与</a:t>
            </a:r>
            <a:r>
              <a:rPr lang="en-US" altLang="zh-CN" sz="1800" dirty="0"/>
              <a:t>PT100</a:t>
            </a:r>
            <a:r>
              <a:rPr lang="zh-CN" altLang="en-US" sz="1800" dirty="0"/>
              <a:t>（工业级）</a:t>
            </a:r>
          </a:p>
          <a:p>
            <a:r>
              <a:rPr lang="zh-CN" altLang="en-US" sz="2000" b="1" dirty="0"/>
              <a:t>本教程选用：</a:t>
            </a:r>
            <a:r>
              <a:rPr lang="en-US" altLang="zh-CN" sz="2000" b="1" dirty="0"/>
              <a:t>NTC</a:t>
            </a:r>
            <a:r>
              <a:rPr lang="zh-CN" altLang="en-US" sz="2000" b="1" dirty="0"/>
              <a:t>热敏电阻（</a:t>
            </a:r>
            <a:r>
              <a:rPr lang="en-US" altLang="zh-CN" sz="2000" b="1" dirty="0"/>
              <a:t>NCP18XH103F03RB</a:t>
            </a:r>
            <a:r>
              <a:rPr lang="zh-CN" altLang="en-US" sz="2000" b="1" dirty="0"/>
              <a:t>）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EE1CACD-5008-290A-4BE9-B9EBB15C30B9}"/>
              </a:ext>
            </a:extLst>
          </p:cNvPr>
          <p:cNvSpPr txBox="1"/>
          <p:nvPr/>
        </p:nvSpPr>
        <p:spPr>
          <a:xfrm>
            <a:off x="1400351" y="4420517"/>
            <a:ext cx="8645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电机驱动板追求的是：低成本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快响应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易集成，而不是绝对精度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E2AC317-186D-4C08-2D37-12B143441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87818"/>
              </p:ext>
            </p:extLst>
          </p:nvPr>
        </p:nvGraphicFramePr>
        <p:xfrm>
          <a:off x="1473924" y="2787869"/>
          <a:ext cx="9089575" cy="1463040"/>
        </p:xfrm>
        <a:graphic>
          <a:graphicData uri="http://schemas.openxmlformats.org/drawingml/2006/table">
            <a:tbl>
              <a:tblPr/>
              <a:tblGrid>
                <a:gridCol w="1817915">
                  <a:extLst>
                    <a:ext uri="{9D8B030D-6E8A-4147-A177-3AD203B41FA5}">
                      <a16:colId xmlns:a16="http://schemas.microsoft.com/office/drawing/2014/main" val="3129764135"/>
                    </a:ext>
                  </a:extLst>
                </a:gridCol>
                <a:gridCol w="1817915">
                  <a:extLst>
                    <a:ext uri="{9D8B030D-6E8A-4147-A177-3AD203B41FA5}">
                      <a16:colId xmlns:a16="http://schemas.microsoft.com/office/drawing/2014/main" val="1930306834"/>
                    </a:ext>
                  </a:extLst>
                </a:gridCol>
                <a:gridCol w="1817915">
                  <a:extLst>
                    <a:ext uri="{9D8B030D-6E8A-4147-A177-3AD203B41FA5}">
                      <a16:colId xmlns:a16="http://schemas.microsoft.com/office/drawing/2014/main" val="4115078530"/>
                    </a:ext>
                  </a:extLst>
                </a:gridCol>
                <a:gridCol w="1817915">
                  <a:extLst>
                    <a:ext uri="{9D8B030D-6E8A-4147-A177-3AD203B41FA5}">
                      <a16:colId xmlns:a16="http://schemas.microsoft.com/office/drawing/2014/main" val="2594705819"/>
                    </a:ext>
                  </a:extLst>
                </a:gridCol>
                <a:gridCol w="1817915">
                  <a:extLst>
                    <a:ext uri="{9D8B030D-6E8A-4147-A177-3AD203B41FA5}">
                      <a16:colId xmlns:a16="http://schemas.microsoft.com/office/drawing/2014/main" val="1893278711"/>
                    </a:ext>
                  </a:extLst>
                </a:gridCol>
              </a:tblGrid>
              <a:tr h="3342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方案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接口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成本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响应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/>
                        <a:t>适合电机驱动？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38461"/>
                  </a:ext>
                </a:extLst>
              </a:tr>
              <a:tr h="334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NTC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 强烈推荐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561277"/>
                  </a:ext>
                </a:extLst>
              </a:tr>
              <a:tr h="334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DS18B20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单总线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❌不推荐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72423"/>
                  </a:ext>
                </a:extLst>
              </a:tr>
              <a:tr h="334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PT100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模拟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/>
                        <a:t>工业级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926695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16701A99-2455-DCDE-F952-AA35AD696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924" y="5118188"/>
            <a:ext cx="1052887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dirty="0"/>
              <a:t>选型依据：</a:t>
            </a:r>
            <a:endParaRPr lang="en-US" altLang="zh-CN" dirty="0"/>
          </a:p>
          <a:p>
            <a:pPr lvl="1"/>
            <a:r>
              <a:rPr lang="zh-CN" altLang="en-US" dirty="0"/>
              <a:t>电机驱动板需求：低成本 </a:t>
            </a:r>
            <a:r>
              <a:rPr lang="en-US" altLang="zh-CN" dirty="0"/>
              <a:t>+ </a:t>
            </a:r>
            <a:r>
              <a:rPr lang="zh-CN" altLang="en-US" dirty="0"/>
              <a:t>快响应 </a:t>
            </a:r>
            <a:r>
              <a:rPr lang="en-US" altLang="zh-CN" dirty="0"/>
              <a:t>+ </a:t>
            </a:r>
            <a:r>
              <a:rPr lang="zh-CN" altLang="en-US" dirty="0"/>
              <a:t>易集成（非绝对精度）</a:t>
            </a:r>
          </a:p>
          <a:p>
            <a:pPr lvl="1"/>
            <a:r>
              <a:rPr lang="zh-CN" altLang="en-US" dirty="0"/>
              <a:t>本教程选用：</a:t>
            </a:r>
            <a:r>
              <a:rPr lang="en-US" altLang="zh-CN" dirty="0"/>
              <a:t>NTC </a:t>
            </a:r>
            <a:r>
              <a:rPr lang="zh-CN" altLang="en-US" dirty="0"/>
              <a:t>热敏电阻（</a:t>
            </a:r>
            <a:r>
              <a:rPr lang="en-US" altLang="zh-CN" dirty="0"/>
              <a:t>NCP18XH103F03RB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行业共识：</a:t>
            </a:r>
            <a:r>
              <a:rPr lang="en-US" altLang="zh-CN" dirty="0"/>
              <a:t>10k NTC </a:t>
            </a:r>
            <a:r>
              <a:rPr lang="zh-CN" altLang="en-US" dirty="0"/>
              <a:t>技术成熟、通用性强</a:t>
            </a:r>
          </a:p>
        </p:txBody>
      </p:sp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温度检测电路设计（基础电路）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4E42BC96-81E2-0E46-2DB7-E5B5EF97B34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05" y="2926080"/>
            <a:ext cx="6204954" cy="2195757"/>
          </a:xfr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0E5323C7-FDB9-6372-07E2-3405A1624D37}"/>
              </a:ext>
            </a:extLst>
          </p:cNvPr>
          <p:cNvSpPr/>
          <p:nvPr/>
        </p:nvSpPr>
        <p:spPr>
          <a:xfrm>
            <a:off x="3345534" y="4050096"/>
            <a:ext cx="834580" cy="590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D33C09F-4D08-041C-4CF2-21C2F2A37CA2}"/>
              </a:ext>
            </a:extLst>
          </p:cNvPr>
          <p:cNvSpPr/>
          <p:nvPr/>
        </p:nvSpPr>
        <p:spPr>
          <a:xfrm>
            <a:off x="2725783" y="3126377"/>
            <a:ext cx="3944981" cy="1789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95892CB-B73D-36FC-4310-71074CA7B989}"/>
              </a:ext>
            </a:extLst>
          </p:cNvPr>
          <p:cNvSpPr/>
          <p:nvPr/>
        </p:nvSpPr>
        <p:spPr>
          <a:xfrm>
            <a:off x="2937186" y="4145069"/>
            <a:ext cx="2822484" cy="1524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924BE7C-19A4-590A-AF53-E94F548A975F}"/>
              </a:ext>
            </a:extLst>
          </p:cNvPr>
          <p:cNvSpPr txBox="1"/>
          <p:nvPr/>
        </p:nvSpPr>
        <p:spPr>
          <a:xfrm>
            <a:off x="5759670" y="4050096"/>
            <a:ext cx="6022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给</a:t>
            </a:r>
            <a:r>
              <a:rPr lang="en-US" altLang="zh-CN" b="1" dirty="0">
                <a:solidFill>
                  <a:srgbClr val="FF0000"/>
                </a:solidFill>
              </a:rPr>
              <a:t>ADC</a:t>
            </a:r>
            <a:r>
              <a:rPr lang="zh-CN" altLang="en-US" b="1" dirty="0">
                <a:solidFill>
                  <a:srgbClr val="FF0000"/>
                </a:solidFill>
              </a:rPr>
              <a:t>，算出</a:t>
            </a:r>
            <a:r>
              <a:rPr lang="en-US" altLang="zh-CN" b="1" dirty="0">
                <a:solidFill>
                  <a:srgbClr val="FF0000"/>
                </a:solidFill>
              </a:rPr>
              <a:t>V</a:t>
            </a:r>
            <a:r>
              <a:rPr lang="en-US" altLang="zh-CN" b="1" baseline="-25000" dirty="0">
                <a:solidFill>
                  <a:srgbClr val="FF0000"/>
                </a:solidFill>
              </a:rPr>
              <a:t>TEMP</a:t>
            </a:r>
            <a:r>
              <a:rPr lang="zh-CN" altLang="en-US" b="1" dirty="0">
                <a:solidFill>
                  <a:srgbClr val="FF0000"/>
                </a:solidFill>
              </a:rPr>
              <a:t>，再算出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b="1" baseline="-25000" dirty="0">
                <a:solidFill>
                  <a:srgbClr val="FF0000"/>
                </a:solidFill>
              </a:rPr>
              <a:t>t</a:t>
            </a:r>
            <a:r>
              <a:rPr lang="zh-CN" altLang="en-US" b="1" dirty="0">
                <a:solidFill>
                  <a:srgbClr val="FF0000"/>
                </a:solidFill>
              </a:rPr>
              <a:t>，再由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b="1" baseline="-25000" dirty="0">
                <a:solidFill>
                  <a:srgbClr val="FF0000"/>
                </a:solidFill>
              </a:rPr>
              <a:t>t</a:t>
            </a:r>
            <a:r>
              <a:rPr lang="zh-CN" altLang="en-US" b="1" dirty="0">
                <a:solidFill>
                  <a:srgbClr val="FF0000"/>
                </a:solidFill>
              </a:rPr>
              <a:t>算出温度（或查表）</a:t>
            </a:r>
            <a:endParaRPr lang="zh-CN" altLang="en-US" b="1" baseline="-25000" dirty="0">
              <a:solidFill>
                <a:srgbClr val="FF0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64A3039-9609-032E-3F1F-C2DE844ED8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566" y="4671260"/>
            <a:ext cx="2931317" cy="1192163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171B25B-3D29-FF3C-0CFA-447C9DF7D76A}"/>
              </a:ext>
            </a:extLst>
          </p:cNvPr>
          <p:cNvSpPr txBox="1"/>
          <p:nvPr/>
        </p:nvSpPr>
        <p:spPr>
          <a:xfrm>
            <a:off x="2882637" y="3762668"/>
            <a:ext cx="102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V</a:t>
            </a:r>
            <a:r>
              <a:rPr lang="en-US" altLang="zh-CN" b="1" baseline="-25000" dirty="0">
                <a:solidFill>
                  <a:srgbClr val="FF0000"/>
                </a:solidFill>
              </a:rPr>
              <a:t>TEMP</a:t>
            </a:r>
            <a:endParaRPr lang="zh-CN" alt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FECF3A4-CA32-E1D5-D80D-E107C168A3E3}"/>
              </a:ext>
            </a:extLst>
          </p:cNvPr>
          <p:cNvSpPr txBox="1"/>
          <p:nvPr/>
        </p:nvSpPr>
        <p:spPr>
          <a:xfrm>
            <a:off x="2323540" y="2456600"/>
            <a:ext cx="1395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热敏电阻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b="1" baseline="-25000" dirty="0">
                <a:solidFill>
                  <a:srgbClr val="FF0000"/>
                </a:solidFill>
              </a:rPr>
              <a:t>t</a:t>
            </a:r>
            <a:endParaRPr lang="zh-CN" altLang="en-US" b="1" baseline="-25000" dirty="0">
              <a:solidFill>
                <a:srgbClr val="FF0000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5655606-3802-0C57-9400-762ACE289299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1950720" y="2825932"/>
            <a:ext cx="1070330" cy="779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62BE1D7-F2E7-AAE7-450D-C344EAC5E261}"/>
              </a:ext>
            </a:extLst>
          </p:cNvPr>
          <p:cNvSpPr txBox="1"/>
          <p:nvPr/>
        </p:nvSpPr>
        <p:spPr>
          <a:xfrm>
            <a:off x="801187" y="1733698"/>
            <a:ext cx="9267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 → 电阻（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变化）→ 电压（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VTEMP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变化）→ 数字量（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采集）</a:t>
            </a: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E472D-6D00-7C58-A5AA-D7BD1034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CC3C50A-83C9-31D3-184C-8C343940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温度检测电路设计</a:t>
            </a:r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AF2D29B8-C612-518C-5183-4CF29FDB0DD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88" y="1255115"/>
            <a:ext cx="5443039" cy="1926137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AA7C072-ECA9-3C9B-FE50-9BC40D7C2A4D}"/>
              </a:ext>
            </a:extLst>
          </p:cNvPr>
          <p:cNvSpPr txBox="1"/>
          <p:nvPr/>
        </p:nvSpPr>
        <p:spPr>
          <a:xfrm>
            <a:off x="5783009" y="2751186"/>
            <a:ext cx="77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V1.1</a:t>
            </a:r>
            <a:endParaRPr lang="zh-CN" altLang="en-US" b="1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4401C7E-D260-0DC4-BDD2-281A3D640658}"/>
              </a:ext>
            </a:extLst>
          </p:cNvPr>
          <p:cNvGrpSpPr/>
          <p:nvPr/>
        </p:nvGrpSpPr>
        <p:grpSpPr>
          <a:xfrm>
            <a:off x="7973791" y="37011"/>
            <a:ext cx="3330921" cy="1198394"/>
            <a:chOff x="7206450" y="0"/>
            <a:chExt cx="3873362" cy="137970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506E792-EDB5-505A-8319-41AAFE5D3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6450" y="0"/>
              <a:ext cx="3873362" cy="1379709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E2A10BB-5F8E-8718-9110-1E37355597B7}"/>
                </a:ext>
              </a:extLst>
            </p:cNvPr>
            <p:cNvSpPr txBox="1"/>
            <p:nvPr/>
          </p:nvSpPr>
          <p:spPr>
            <a:xfrm>
              <a:off x="10380662" y="943281"/>
              <a:ext cx="609918" cy="3543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V1.0</a:t>
              </a:r>
              <a:endParaRPr lang="zh-CN" altLang="en-US" sz="1400" dirty="0"/>
            </a:p>
          </p:txBody>
        </p:sp>
      </p:grpSp>
      <p:sp>
        <p:nvSpPr>
          <p:cNvPr id="8" name="箭头: 右 7">
            <a:extLst>
              <a:ext uri="{FF2B5EF4-FFF2-40B4-BE49-F238E27FC236}">
                <a16:creationId xmlns:a16="http://schemas.microsoft.com/office/drawing/2014/main" id="{ACCC21F6-6BE5-D4E1-42C1-9D3AEB41859C}"/>
              </a:ext>
            </a:extLst>
          </p:cNvPr>
          <p:cNvSpPr/>
          <p:nvPr/>
        </p:nvSpPr>
        <p:spPr>
          <a:xfrm>
            <a:off x="5899204" y="1880646"/>
            <a:ext cx="1141068" cy="1343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F1B372-A210-57FC-FC91-1F8823054C09}"/>
              </a:ext>
            </a:extLst>
          </p:cNvPr>
          <p:cNvSpPr txBox="1"/>
          <p:nvPr/>
        </p:nvSpPr>
        <p:spPr>
          <a:xfrm>
            <a:off x="7040272" y="1795845"/>
            <a:ext cx="114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给</a:t>
            </a:r>
            <a:r>
              <a:rPr lang="en-US" altLang="zh-CN" b="1" dirty="0">
                <a:solidFill>
                  <a:srgbClr val="FF0000"/>
                </a:solidFill>
              </a:rPr>
              <a:t>ADC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3FF8AEE-9F7C-A7DB-3C5E-2029A8FED7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188" y="3259352"/>
            <a:ext cx="2024560" cy="82338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64DA579-82C9-E02B-2EF1-63041BF381CD}"/>
              </a:ext>
            </a:extLst>
          </p:cNvPr>
          <p:cNvSpPr txBox="1"/>
          <p:nvPr/>
        </p:nvSpPr>
        <p:spPr>
          <a:xfrm>
            <a:off x="3282694" y="2517967"/>
            <a:ext cx="1573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solidFill>
                  <a:srgbClr val="0F1115"/>
                </a:solidFill>
                <a:effectLst/>
                <a:latin typeface="quote-cjk-patch"/>
              </a:rPr>
              <a:t>缓冲、放大、滤波</a:t>
            </a: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8E69BD-29EE-A13A-E247-FB07E9BDA589}"/>
              </a:ext>
            </a:extLst>
          </p:cNvPr>
          <p:cNvSpPr txBox="1"/>
          <p:nvPr/>
        </p:nvSpPr>
        <p:spPr>
          <a:xfrm>
            <a:off x="5003416" y="2315325"/>
            <a:ext cx="1372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ESD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保护二极管</a:t>
            </a:r>
            <a:endParaRPr lang="en-US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sz="1400" dirty="0"/>
              <a:t>防静电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201BFBC-E709-4F43-E000-7253D75BEE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971" y="3586865"/>
            <a:ext cx="3510794" cy="3271135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2616EA8-2AD1-D8E6-FC4D-D96CB403802A}"/>
              </a:ext>
            </a:extLst>
          </p:cNvPr>
          <p:cNvSpPr txBox="1"/>
          <p:nvPr/>
        </p:nvSpPr>
        <p:spPr>
          <a:xfrm>
            <a:off x="8404971" y="3207790"/>
            <a:ext cx="3690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NCP18XH103…</a:t>
            </a:r>
            <a:r>
              <a:rPr lang="zh-CN" altLang="en-US" sz="1400" dirty="0"/>
              <a:t>的一些特性，查用户手册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AA58032-11D2-8B89-C80E-48CE985EB7AB}"/>
              </a:ext>
            </a:extLst>
          </p:cNvPr>
          <p:cNvSpPr txBox="1"/>
          <p:nvPr/>
        </p:nvSpPr>
        <p:spPr>
          <a:xfrm>
            <a:off x="3949905" y="6223690"/>
            <a:ext cx="351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NCP18XH103F03RB </a:t>
            </a:r>
            <a:r>
              <a:rPr lang="zh-CN" altLang="en-US" dirty="0"/>
              <a:t>热敏电阻</a:t>
            </a:r>
            <a:r>
              <a:rPr lang="en-US" altLang="zh-CN" dirty="0"/>
              <a:t>.pdf</a:t>
            </a:r>
            <a:endParaRPr lang="zh-CN" altLang="en-US" dirty="0"/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20A95791-86E3-6FDE-CF68-18BD6FDC4A8A}"/>
              </a:ext>
            </a:extLst>
          </p:cNvPr>
          <p:cNvSpPr/>
          <p:nvPr/>
        </p:nvSpPr>
        <p:spPr>
          <a:xfrm>
            <a:off x="7460699" y="6279587"/>
            <a:ext cx="944272" cy="2575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BBC03CD-0DE8-6550-86F6-1D928C066CAB}"/>
              </a:ext>
            </a:extLst>
          </p:cNvPr>
          <p:cNvSpPr txBox="1"/>
          <p:nvPr/>
        </p:nvSpPr>
        <p:spPr>
          <a:xfrm>
            <a:off x="3949905" y="5837164"/>
            <a:ext cx="351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热敏电阻用户手册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DDE22C-9B1F-9C59-0CE6-B3BD6366C8F7}"/>
              </a:ext>
            </a:extLst>
          </p:cNvPr>
          <p:cNvSpPr txBox="1"/>
          <p:nvPr/>
        </p:nvSpPr>
        <p:spPr>
          <a:xfrm>
            <a:off x="2636485" y="2790764"/>
            <a:ext cx="14329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RC </a:t>
            </a:r>
            <a:r>
              <a:rPr lang="zh-CN" altLang="en-US" sz="1400" dirty="0"/>
              <a:t>滤波</a:t>
            </a:r>
            <a:endParaRPr lang="en-US" altLang="zh-CN" sz="1400" dirty="0"/>
          </a:p>
          <a:p>
            <a:r>
              <a:rPr lang="zh-CN" altLang="en-US" sz="1400" dirty="0"/>
              <a:t>抑制开关噪声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B8A7AF-8A07-F69B-8EE5-2C6F608A6FA5}"/>
              </a:ext>
            </a:extLst>
          </p:cNvPr>
          <p:cNvSpPr txBox="1"/>
          <p:nvPr/>
        </p:nvSpPr>
        <p:spPr>
          <a:xfrm>
            <a:off x="964024" y="869238"/>
            <a:ext cx="6330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运放（</a:t>
            </a:r>
            <a:r>
              <a:rPr lang="en-US" altLang="zh-CN" sz="1400" dirty="0"/>
              <a:t>LMV358*</a:t>
            </a:r>
            <a:r>
              <a:rPr lang="zh-CN" altLang="en-US" sz="1400" dirty="0"/>
              <a:t>）的输入阻抗极高（理论上无穷大），因此它几乎不从信号源（分压电路）汲取电流，避免了因负载效应导致的测量误差。</a:t>
            </a:r>
            <a:endParaRPr lang="zh-CN" altLang="en-US" sz="11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309C16-2856-5D13-6B9F-A30C63CD3EE9}"/>
              </a:ext>
            </a:extLst>
          </p:cNvPr>
          <p:cNvSpPr txBox="1"/>
          <p:nvPr/>
        </p:nvSpPr>
        <p:spPr>
          <a:xfrm>
            <a:off x="1112188" y="4324542"/>
            <a:ext cx="4223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能测到温度 ≠ 能在电机环境下稳定测温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705CE2-6826-D0C6-E594-438B57750BA2}"/>
              </a:ext>
            </a:extLst>
          </p:cNvPr>
          <p:cNvSpPr txBox="1"/>
          <p:nvPr/>
        </p:nvSpPr>
        <p:spPr>
          <a:xfrm>
            <a:off x="7973791" y="1253470"/>
            <a:ext cx="3941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V1.0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与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Inter"/>
              </a:rPr>
              <a:t>V1.1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Inter"/>
              </a:rPr>
              <a:t>核心原理一致，器件编号略有差异</a:t>
            </a:r>
          </a:p>
        </p:txBody>
      </p:sp>
    </p:spTree>
    <p:extLst>
      <p:ext uri="{BB962C8B-B14F-4D97-AF65-F5344CB8AC3E}">
        <p14:creationId xmlns:p14="http://schemas.microsoft.com/office/powerpoint/2010/main" val="176671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驱动板上温度测量的要点</a:t>
            </a:r>
          </a:p>
        </p:txBody>
      </p:sp>
      <p:graphicFrame>
        <p:nvGraphicFramePr>
          <p:cNvPr id="14" name="内容占位符 13">
            <a:extLst>
              <a:ext uri="{FF2B5EF4-FFF2-40B4-BE49-F238E27FC236}">
                <a16:creationId xmlns:a16="http://schemas.microsoft.com/office/drawing/2014/main" id="{9F4DEE0E-550D-D5DA-4DAD-DD8353809DF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002532735"/>
              </p:ext>
            </p:extLst>
          </p:nvPr>
        </p:nvGraphicFramePr>
        <p:xfrm>
          <a:off x="7062953" y="1346200"/>
          <a:ext cx="5023944" cy="381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F49372CB-498A-422E-89DE-35C9686479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050565"/>
            <a:ext cx="5448300" cy="4114309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98270F2-5C28-3A07-EAF7-2096B425B779}"/>
              </a:ext>
            </a:extLst>
          </p:cNvPr>
          <p:cNvCxnSpPr/>
          <p:nvPr/>
        </p:nvCxnSpPr>
        <p:spPr>
          <a:xfrm flipH="1">
            <a:off x="3708400" y="1346200"/>
            <a:ext cx="990600" cy="131929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F04FDAB-93B3-39B4-5B75-F484DD7E9245}"/>
              </a:ext>
            </a:extLst>
          </p:cNvPr>
          <p:cNvSpPr txBox="1"/>
          <p:nvPr/>
        </p:nvSpPr>
        <p:spPr>
          <a:xfrm>
            <a:off x="4776426" y="1165985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热敏电阻的位置</a:t>
            </a:r>
            <a:endParaRPr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5C36D6-005C-F088-4C12-5009491690E5}"/>
              </a:ext>
            </a:extLst>
          </p:cNvPr>
          <p:cNvSpPr txBox="1"/>
          <p:nvPr/>
        </p:nvSpPr>
        <p:spPr>
          <a:xfrm>
            <a:off x="857250" y="560930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测量的位置通常靠近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MOSFET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或板子热点区域，而不是电机外壳。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AF545A-16BA-33C7-02C9-2A7959B8AD9E}"/>
              </a:ext>
            </a:extLst>
          </p:cNvPr>
          <p:cNvSpPr txBox="1"/>
          <p:nvPr/>
        </p:nvSpPr>
        <p:spPr>
          <a:xfrm>
            <a:off x="7988240" y="5609302"/>
            <a:ext cx="3060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配置需要注意的点</a:t>
            </a:r>
          </a:p>
        </p:txBody>
      </p:sp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 温度计算与校准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1FD5506-931A-D310-F73C-9E603E98B529}"/>
              </a:ext>
            </a:extLst>
          </p:cNvPr>
          <p:cNvSpPr txBox="1"/>
          <p:nvPr/>
        </p:nvSpPr>
        <p:spPr>
          <a:xfrm>
            <a:off x="1112188" y="3826122"/>
            <a:ext cx="59392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float </a:t>
            </a:r>
            <a:r>
              <a:rPr lang="en-US" altLang="zh-CN" dirty="0" err="1"/>
              <a:t>calculate_temperature</a:t>
            </a:r>
            <a:r>
              <a:rPr lang="en-US" altLang="zh-CN" dirty="0"/>
              <a:t>(uint16_t </a:t>
            </a:r>
            <a:r>
              <a:rPr lang="en-US" altLang="zh-CN" dirty="0" err="1"/>
              <a:t>adc_value</a:t>
            </a:r>
            <a:r>
              <a:rPr lang="en-US" altLang="zh-CN" dirty="0"/>
              <a:t>) {</a:t>
            </a:r>
          </a:p>
          <a:p>
            <a:r>
              <a:rPr lang="en-US" altLang="zh-CN" dirty="0"/>
              <a:t>    // ADC</a:t>
            </a:r>
            <a:r>
              <a:rPr lang="zh-CN" altLang="en-US" dirty="0"/>
              <a:t>数字量转电压（</a:t>
            </a:r>
            <a:r>
              <a:rPr lang="en-US" altLang="zh-CN" dirty="0"/>
              <a:t>12</a:t>
            </a:r>
            <a:r>
              <a:rPr lang="zh-CN" altLang="en-US" dirty="0"/>
              <a:t>位</a:t>
            </a:r>
            <a:r>
              <a:rPr lang="en-US" altLang="zh-CN" dirty="0"/>
              <a:t>ADC</a:t>
            </a:r>
            <a:r>
              <a:rPr lang="zh-CN" altLang="en-US" dirty="0"/>
              <a:t>，</a:t>
            </a:r>
            <a:r>
              <a:rPr lang="en-US" altLang="zh-CN" dirty="0"/>
              <a:t>3.3V</a:t>
            </a:r>
            <a:r>
              <a:rPr lang="zh-CN" altLang="en-US" dirty="0"/>
              <a:t>量程）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float voltage = </a:t>
            </a:r>
            <a:r>
              <a:rPr lang="en-US" altLang="zh-CN" dirty="0" err="1"/>
              <a:t>adc_value</a:t>
            </a:r>
            <a:r>
              <a:rPr lang="en-US" altLang="zh-CN" dirty="0"/>
              <a:t> * 3.3f / 4095.0f;</a:t>
            </a:r>
          </a:p>
          <a:p>
            <a:r>
              <a:rPr lang="en-US" altLang="zh-CN" dirty="0"/>
              <a:t>    // </a:t>
            </a:r>
            <a:r>
              <a:rPr lang="zh-CN" altLang="en-US" dirty="0"/>
              <a:t>分压公式计算</a:t>
            </a:r>
            <a:r>
              <a:rPr lang="en-US" altLang="zh-CN" dirty="0"/>
              <a:t>NTC</a:t>
            </a:r>
            <a:r>
              <a:rPr lang="zh-CN" altLang="en-US" dirty="0"/>
              <a:t>当前阻值</a:t>
            </a:r>
            <a:r>
              <a:rPr lang="en-US" altLang="zh-CN" dirty="0"/>
              <a:t>Rt</a:t>
            </a:r>
          </a:p>
          <a:p>
            <a:r>
              <a:rPr lang="en-US" altLang="zh-CN" dirty="0"/>
              <a:t>    float rt = 4.7f * (3.3f / voltage - 1.0f); </a:t>
            </a:r>
          </a:p>
          <a:p>
            <a:r>
              <a:rPr lang="en-US" altLang="zh-CN" dirty="0"/>
              <a:t>    // </a:t>
            </a:r>
            <a:r>
              <a:rPr lang="zh-CN" altLang="en-US" dirty="0"/>
              <a:t>查表</a:t>
            </a:r>
            <a:r>
              <a:rPr lang="en-US" altLang="zh-CN" dirty="0"/>
              <a:t>+</a:t>
            </a:r>
            <a:r>
              <a:rPr lang="zh-CN" altLang="en-US" dirty="0"/>
              <a:t>插值计算温度（自定义</a:t>
            </a:r>
            <a:r>
              <a:rPr lang="en-US" altLang="zh-CN" dirty="0" err="1"/>
              <a:t>lookup_temp</a:t>
            </a:r>
            <a:r>
              <a:rPr lang="zh-CN" altLang="en-US" dirty="0"/>
              <a:t>函数）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float temp = </a:t>
            </a:r>
            <a:r>
              <a:rPr lang="en-US" altLang="zh-CN" dirty="0" err="1"/>
              <a:t>lookup_temp</a:t>
            </a:r>
            <a:r>
              <a:rPr lang="en-US" altLang="zh-CN" dirty="0"/>
              <a:t>(rt); </a:t>
            </a:r>
          </a:p>
          <a:p>
            <a:r>
              <a:rPr lang="en-US" altLang="zh-CN" dirty="0"/>
              <a:t>    return temp;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7D4EB4-4D90-4625-375F-0ACE2C993D01}"/>
              </a:ext>
            </a:extLst>
          </p:cNvPr>
          <p:cNvSpPr txBox="1"/>
          <p:nvPr/>
        </p:nvSpPr>
        <p:spPr>
          <a:xfrm>
            <a:off x="1112188" y="319816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参考代码：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E378777-3E14-75F7-E9E3-C2311773C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1647" y="5931404"/>
            <a:ext cx="26648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查表函数可自行实现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精度 vs 计算量的权衡</a:t>
            </a:r>
          </a:p>
        </p:txBody>
      </p:sp>
      <p:graphicFrame>
        <p:nvGraphicFramePr>
          <p:cNvPr id="11" name="内容占位符 10">
            <a:extLst>
              <a:ext uri="{FF2B5EF4-FFF2-40B4-BE49-F238E27FC236}">
                <a16:creationId xmlns:a16="http://schemas.microsoft.com/office/drawing/2014/main" id="{4ABF2079-A9B9-F92F-93A7-151EDE492404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04812272"/>
              </p:ext>
            </p:extLst>
          </p:nvPr>
        </p:nvGraphicFramePr>
        <p:xfrm>
          <a:off x="1112188" y="1282471"/>
          <a:ext cx="10688565" cy="1749406"/>
        </p:xfrm>
        <a:graphic>
          <a:graphicData uri="http://schemas.openxmlformats.org/drawingml/2006/table">
            <a:tbl>
              <a:tblPr/>
              <a:tblGrid>
                <a:gridCol w="3230617">
                  <a:extLst>
                    <a:ext uri="{9D8B030D-6E8A-4147-A177-3AD203B41FA5}">
                      <a16:colId xmlns:a16="http://schemas.microsoft.com/office/drawing/2014/main" val="3397628136"/>
                    </a:ext>
                  </a:extLst>
                </a:gridCol>
                <a:gridCol w="3895093">
                  <a:extLst>
                    <a:ext uri="{9D8B030D-6E8A-4147-A177-3AD203B41FA5}">
                      <a16:colId xmlns:a16="http://schemas.microsoft.com/office/drawing/2014/main" val="3704906993"/>
                    </a:ext>
                  </a:extLst>
                </a:gridCol>
                <a:gridCol w="3562855">
                  <a:extLst>
                    <a:ext uri="{9D8B030D-6E8A-4147-A177-3AD203B41FA5}">
                      <a16:colId xmlns:a16="http://schemas.microsoft.com/office/drawing/2014/main" val="2971746142"/>
                    </a:ext>
                  </a:extLst>
                </a:gridCol>
              </a:tblGrid>
              <a:tr h="5858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 dirty="0">
                          <a:effectLst/>
                        </a:rPr>
                        <a:t>工程建议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098424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公式法（</a:t>
                      </a:r>
                      <a:r>
                        <a:rPr lang="en-US" b="0" dirty="0">
                          <a:effectLst/>
                        </a:rPr>
                        <a:t>Steinhart-Hart）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精度高、计算复杂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❌ 不推荐实时用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393038"/>
                  </a:ext>
                </a:extLst>
              </a:tr>
              <a:tr h="585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查表法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计算量小、响应快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✅ 工程首选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269540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3ADFF296-0101-5297-74C7-9D82C97E7718}"/>
              </a:ext>
            </a:extLst>
          </p:cNvPr>
          <p:cNvSpPr txBox="1"/>
          <p:nvPr/>
        </p:nvSpPr>
        <p:spPr>
          <a:xfrm>
            <a:off x="7630510" y="5931404"/>
            <a:ext cx="3909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后面代码示例用公式法（为教学方便）</a:t>
            </a:r>
            <a:b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工程实现推荐查表法（工程友好）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71701-CA3E-D933-D917-F62CB7009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公式法（</a:t>
            </a:r>
            <a:r>
              <a:rPr lang="en-US" altLang="zh-CN" dirty="0"/>
              <a:t>Steinhart-Hart）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1D598A-AC30-C6FB-84FB-F7FBFFF0ED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6390" y="903570"/>
            <a:ext cx="9273941" cy="522869"/>
          </a:xfrm>
        </p:spPr>
        <p:txBody>
          <a:bodyPr>
            <a:normAutofit fontScale="92500"/>
          </a:bodyPr>
          <a:lstStyle/>
          <a:p>
            <a:r>
              <a:rPr lang="en-US" altLang="zh-CN" sz="2000" dirty="0"/>
              <a:t>Steinhart–Hart </a:t>
            </a:r>
            <a:r>
              <a:rPr lang="zh-CN" altLang="en-US" sz="2000" dirty="0"/>
              <a:t>公式，本质上就是一个把 </a:t>
            </a:r>
            <a:r>
              <a:rPr lang="en-US" altLang="zh-CN" sz="2000" dirty="0"/>
              <a:t>NTC </a:t>
            </a:r>
            <a:r>
              <a:rPr lang="zh-CN" altLang="en-US" sz="2000" dirty="0"/>
              <a:t>电阻值，映射成温度的经验模型。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FED986-A66B-8882-402F-94988039A5C2}"/>
              </a:ext>
            </a:extLst>
          </p:cNvPr>
          <p:cNvSpPr txBox="1"/>
          <p:nvPr/>
        </p:nvSpPr>
        <p:spPr>
          <a:xfrm>
            <a:off x="300984" y="1637393"/>
            <a:ext cx="7035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STM32 ADC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帮助能测到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，然后我们算出了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NTC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的电阻值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8C2C90-A93D-E752-EBA9-B0DE37379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90" y="2913273"/>
            <a:ext cx="4304611" cy="10631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C6E9F7C-8D2B-FE89-110E-80F1ABB5BBE4}"/>
              </a:ext>
            </a:extLst>
          </p:cNvPr>
          <p:cNvSpPr txBox="1"/>
          <p:nvPr/>
        </p:nvSpPr>
        <p:spPr>
          <a:xfrm>
            <a:off x="206390" y="2304886"/>
            <a:ext cx="5312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用“拟合公式”，来描述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NTC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的非线性特性。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Steinhart-Hart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DC0436E-F4BA-AF32-66BB-0F8DDBB7CA4E}"/>
                  </a:ext>
                </a:extLst>
              </p:cNvPr>
              <p:cNvSpPr txBox="1"/>
              <p:nvPr/>
            </p:nvSpPr>
            <p:spPr>
              <a:xfrm>
                <a:off x="206390" y="4028116"/>
                <a:ext cx="5143376" cy="2655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① 左边：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buNone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左边是温度的倒数，单位是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开尔文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>
                  <a:buNone/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buNone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② 右边：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是什么？</a:t>
                </a:r>
              </a:p>
              <a:p>
                <a:pPr>
                  <a:buNone/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不是你算出来的，而是 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厂商已经帮你算好的参数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>
                  <a:buNone/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buNone/>
                </a:pP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③ 为什么有 </a:t>
                </a:r>
                <a:r>
                  <a:rPr lang="en-US" altLang="zh-CN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ln(R)</a:t>
                </a:r>
                <a:r>
                  <a:rPr lang="zh-CN" altLang="en-US" sz="16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</a:p>
              <a:p>
                <a:pPr>
                  <a:buNone/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因为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NTC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的阻值变化，本身就是指数型的，用对数以后，更容易拟合。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DC0436E-F4BA-AF32-66BB-0F8DDBB7C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90" y="4028116"/>
                <a:ext cx="5143376" cy="2655983"/>
              </a:xfrm>
              <a:prstGeom prst="rect">
                <a:avLst/>
              </a:prstGeom>
              <a:blipFill>
                <a:blip r:embed="rId3"/>
                <a:stretch>
                  <a:fillRect l="-711" b="-2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88FD9FD3-4D40-C269-FCB6-B4331D2AC44E}"/>
              </a:ext>
            </a:extLst>
          </p:cNvPr>
          <p:cNvSpPr txBox="1"/>
          <p:nvPr/>
        </p:nvSpPr>
        <p:spPr>
          <a:xfrm>
            <a:off x="5663131" y="2295410"/>
            <a:ext cx="4593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简化版，公式法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Steinhart–Hart / </a:t>
            </a:r>
            <a:r>
              <a:rPr lang="el-G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β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D7B714E-7DD5-5FD7-F987-0170C44C2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19" y="2839560"/>
            <a:ext cx="2785406" cy="11369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5BBEC64-4710-625F-8E16-E647D612E29B}"/>
              </a:ext>
            </a:extLst>
          </p:cNvPr>
          <p:cNvSpPr txBox="1"/>
          <p:nvPr/>
        </p:nvSpPr>
        <p:spPr>
          <a:xfrm>
            <a:off x="5873620" y="3976460"/>
            <a:ext cx="5206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T0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是对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NTC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非线性特性的“三个标定点”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A11186-0C23-51CA-ED23-50507A378007}"/>
              </a:ext>
            </a:extLst>
          </p:cNvPr>
          <p:cNvSpPr txBox="1"/>
          <p:nvPr/>
        </p:nvSpPr>
        <p:spPr>
          <a:xfrm>
            <a:off x="5864772" y="4488981"/>
            <a:ext cx="5475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β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材料常数，查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NTC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电阻数据手册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88C1FB-30EB-38AC-1331-48B5A1051A46}"/>
              </a:ext>
            </a:extLst>
          </p:cNvPr>
          <p:cNvSpPr txBox="1"/>
          <p:nvPr/>
        </p:nvSpPr>
        <p:spPr>
          <a:xfrm>
            <a:off x="5864773" y="5032279"/>
            <a:ext cx="54758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是“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参考温度点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”，常选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℃（换成开尔文温度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+273.15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549C4F-B135-BEE5-35D9-AA275EC19AAF}"/>
              </a:ext>
            </a:extLst>
          </p:cNvPr>
          <p:cNvSpPr txBox="1"/>
          <p:nvPr/>
        </p:nvSpPr>
        <p:spPr>
          <a:xfrm>
            <a:off x="5864773" y="5575578"/>
            <a:ext cx="54758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T0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温度下的阻值。常见值：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k</a:t>
            </a:r>
            <a:r>
              <a:rPr lang="el-GR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Ω @ 25 ℃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4C91BA-8AE7-ACFA-9A4D-FABEBC828728}"/>
              </a:ext>
            </a:extLst>
          </p:cNvPr>
          <p:cNvSpPr txBox="1"/>
          <p:nvPr/>
        </p:nvSpPr>
        <p:spPr>
          <a:xfrm>
            <a:off x="5873620" y="6144651"/>
            <a:ext cx="53497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计算更简单，后面的实验案例用这个公式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C111AA1-999C-AD03-F51D-2CD06D9CB20F}"/>
              </a:ext>
            </a:extLst>
          </p:cNvPr>
          <p:cNvCxnSpPr/>
          <p:nvPr/>
        </p:nvCxnSpPr>
        <p:spPr>
          <a:xfrm>
            <a:off x="5508203" y="2215288"/>
            <a:ext cx="0" cy="4703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69D79F43-E567-69F5-EA34-F2962B33F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050" y="909897"/>
            <a:ext cx="2660613" cy="306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3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CF2A9-7A30-F72D-9601-727F72CB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软件滤波与温度保护逻辑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174659-F929-0C7C-3CDB-471046A4D03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4171" y="1053858"/>
            <a:ext cx="6941329" cy="3003135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核心问题</a:t>
            </a:r>
          </a:p>
          <a:p>
            <a:r>
              <a:rPr lang="en-US" altLang="zh-CN" sz="2000" dirty="0"/>
              <a:t>ADC </a:t>
            </a:r>
            <a:r>
              <a:rPr lang="zh-CN" altLang="en-US" sz="2000" dirty="0"/>
              <a:t>采样抖动、</a:t>
            </a:r>
            <a:r>
              <a:rPr lang="en-US" altLang="zh-CN" sz="2000" dirty="0"/>
              <a:t>PWM </a:t>
            </a:r>
            <a:r>
              <a:rPr lang="zh-CN" altLang="en-US" sz="2000" dirty="0"/>
              <a:t>噪声干扰</a:t>
            </a:r>
          </a:p>
          <a:p>
            <a:r>
              <a:rPr lang="zh-CN" altLang="en-US" sz="2000" dirty="0"/>
              <a:t>温度物理特性：不会 “瞬间跳变”</a:t>
            </a:r>
          </a:p>
          <a:p>
            <a:r>
              <a:rPr lang="zh-CN" altLang="en-US" sz="2000" b="1" dirty="0"/>
              <a:t>软件滤波方案</a:t>
            </a:r>
          </a:p>
          <a:p>
            <a:r>
              <a:rPr lang="zh-CN" altLang="en-US" sz="2000" dirty="0"/>
              <a:t>移动平均：取 </a:t>
            </a:r>
            <a:r>
              <a:rPr lang="en-US" altLang="zh-CN" sz="2000" dirty="0"/>
              <a:t>N </a:t>
            </a:r>
            <a:r>
              <a:rPr lang="zh-CN" altLang="en-US" sz="2000" dirty="0"/>
              <a:t>次采样平均值，抑制随机噪声</a:t>
            </a:r>
          </a:p>
          <a:p>
            <a:r>
              <a:rPr lang="zh-CN" altLang="en-US" sz="2000" dirty="0"/>
              <a:t>一阶低通：</a:t>
            </a:r>
            <a:r>
              <a:rPr lang="en-US" altLang="zh-CN" sz="2000" dirty="0"/>
              <a:t>output = α×input + (1-α)×</a:t>
            </a:r>
            <a:r>
              <a:rPr lang="en-US" altLang="zh-CN" sz="2000" dirty="0" err="1"/>
              <a:t>last_output</a:t>
            </a:r>
            <a:r>
              <a:rPr lang="zh-CN" altLang="en-US" sz="2000" dirty="0"/>
              <a:t>（平衡响应与滤波）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C2E7B0-3807-C979-13BD-BCB4CF681C80}"/>
              </a:ext>
            </a:extLst>
          </p:cNvPr>
          <p:cNvSpPr txBox="1"/>
          <p:nvPr/>
        </p:nvSpPr>
        <p:spPr>
          <a:xfrm>
            <a:off x="6374674" y="1053858"/>
            <a:ext cx="5181600" cy="2159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457109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90402" lvl="1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523695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133173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742651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状态示例</a:t>
            </a:r>
          </a:p>
          <a:p>
            <a:pPr lvl="1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51494C-322A-8481-5C38-79BACD1CA896}"/>
              </a:ext>
            </a:extLst>
          </p:cNvPr>
          <p:cNvSpPr txBox="1"/>
          <p:nvPr/>
        </p:nvSpPr>
        <p:spPr>
          <a:xfrm>
            <a:off x="7538695" y="4797028"/>
            <a:ext cx="401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电机和温度相关的几种状态及其动作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20AC69E-0172-C4FE-558C-C4B6F986E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369618"/>
              </p:ext>
            </p:extLst>
          </p:nvPr>
        </p:nvGraphicFramePr>
        <p:xfrm>
          <a:off x="7115500" y="1751975"/>
          <a:ext cx="4394343" cy="2922976"/>
        </p:xfrm>
        <a:graphic>
          <a:graphicData uri="http://schemas.openxmlformats.org/drawingml/2006/table">
            <a:tbl>
              <a:tblPr/>
              <a:tblGrid>
                <a:gridCol w="846892">
                  <a:extLst>
                    <a:ext uri="{9D8B030D-6E8A-4147-A177-3AD203B41FA5}">
                      <a16:colId xmlns:a16="http://schemas.microsoft.com/office/drawing/2014/main" val="2881498453"/>
                    </a:ext>
                  </a:extLst>
                </a:gridCol>
                <a:gridCol w="1934864">
                  <a:extLst>
                    <a:ext uri="{9D8B030D-6E8A-4147-A177-3AD203B41FA5}">
                      <a16:colId xmlns:a16="http://schemas.microsoft.com/office/drawing/2014/main" val="3915173378"/>
                    </a:ext>
                  </a:extLst>
                </a:gridCol>
                <a:gridCol w="1612587">
                  <a:extLst>
                    <a:ext uri="{9D8B030D-6E8A-4147-A177-3AD203B41FA5}">
                      <a16:colId xmlns:a16="http://schemas.microsoft.com/office/drawing/2014/main" val="1573045026"/>
                    </a:ext>
                  </a:extLst>
                </a:gridCol>
              </a:tblGrid>
              <a:tr h="363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触发条件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执行动作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577572"/>
                  </a:ext>
                </a:extLst>
              </a:tr>
              <a:tr h="63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正常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温度在额定范围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系统正常运行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778676"/>
                  </a:ext>
                </a:extLst>
              </a:tr>
              <a:tr h="63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预警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温度超正常范围未达临界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降功率 </a:t>
                      </a:r>
                      <a:r>
                        <a:rPr lang="en-US" altLang="zh-CN" b="0">
                          <a:effectLst/>
                        </a:rPr>
                        <a:t>+ </a:t>
                      </a:r>
                      <a:r>
                        <a:rPr lang="zh-CN" altLang="en-US" b="0">
                          <a:effectLst/>
                        </a:rPr>
                        <a:t>提示预警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855127"/>
                  </a:ext>
                </a:extLst>
              </a:tr>
              <a:tr h="63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过温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温度达到临界值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立即关断电机驱动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784853"/>
                  </a:ext>
                </a:extLst>
              </a:tr>
              <a:tr h="636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恢复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>
                          <a:effectLst/>
                        </a:rPr>
                        <a:t>温度降至安全阈值（滞回）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0" dirty="0">
                          <a:effectLst/>
                        </a:rPr>
                        <a:t>恢复正常运行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09346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2A9D689-759A-0081-59AA-27EF000D1C2A}"/>
              </a:ext>
            </a:extLst>
          </p:cNvPr>
          <p:cNvSpPr txBox="1"/>
          <p:nvPr/>
        </p:nvSpPr>
        <p:spPr>
          <a:xfrm>
            <a:off x="682157" y="4135308"/>
            <a:ext cx="62441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例如（一阶低通）：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上一秒温度：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算出来：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55℃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（有噪声，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秒不可能跳变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℃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 = 0.2</a:t>
            </a:r>
          </a:p>
          <a:p>
            <a:pPr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计算：</a:t>
            </a:r>
          </a:p>
          <a:p>
            <a:pPr rtl="0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 = 0.2 × 55 + 0.8 × 50</a:t>
            </a:r>
          </a:p>
          <a:p>
            <a:pPr rtl="0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= 11 + 40</a:t>
            </a:r>
          </a:p>
          <a:p>
            <a:pPr rtl="0"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= 51℃</a:t>
            </a:r>
          </a:p>
        </p:txBody>
      </p:sp>
    </p:spTree>
    <p:extLst>
      <p:ext uri="{BB962C8B-B14F-4D97-AF65-F5344CB8AC3E}">
        <p14:creationId xmlns:p14="http://schemas.microsoft.com/office/powerpoint/2010/main" val="2911831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77F60-B93D-9A38-45A6-8F18DE535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</a:t>
            </a:r>
            <a:r>
              <a:rPr lang="zh-CN" altLang="en-US" dirty="0"/>
              <a:t>测量精度优化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08776E-33D7-AC79-809C-2F2E8CC595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2740377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关键优化措施</a:t>
            </a:r>
          </a:p>
          <a:p>
            <a:pPr lvl="1"/>
            <a:r>
              <a:rPr lang="zh-CN" altLang="en-US" dirty="0"/>
              <a:t>电阻精度：选用 </a:t>
            </a:r>
            <a:r>
              <a:rPr lang="en-US" altLang="zh-CN" dirty="0"/>
              <a:t>±1% </a:t>
            </a:r>
            <a:r>
              <a:rPr lang="zh-CN" altLang="en-US" dirty="0"/>
              <a:t>精度的固定电阻（减少分压误差）</a:t>
            </a:r>
          </a:p>
          <a:p>
            <a:pPr lvl="1"/>
            <a:r>
              <a:rPr lang="zh-CN" altLang="en-US" dirty="0"/>
              <a:t>参考电压：保证 </a:t>
            </a:r>
            <a:r>
              <a:rPr lang="en-US" altLang="zh-CN" dirty="0"/>
              <a:t>ADC </a:t>
            </a:r>
            <a:r>
              <a:rPr lang="zh-CN" altLang="en-US" dirty="0"/>
              <a:t>参考电压稳定（滤波 </a:t>
            </a:r>
            <a:r>
              <a:rPr lang="en-US" altLang="zh-CN" dirty="0"/>
              <a:t>+ </a:t>
            </a:r>
            <a:r>
              <a:rPr lang="zh-CN" altLang="en-US" dirty="0"/>
              <a:t>稳压）</a:t>
            </a:r>
          </a:p>
          <a:p>
            <a:pPr lvl="1"/>
            <a:r>
              <a:rPr lang="zh-CN" altLang="en-US" dirty="0"/>
              <a:t>温度校准：两点校准（冰水混合物 </a:t>
            </a:r>
            <a:r>
              <a:rPr lang="en-US" altLang="zh-CN" dirty="0"/>
              <a:t>0℃</a:t>
            </a:r>
            <a:r>
              <a:rPr lang="zh-CN" altLang="en-US" dirty="0"/>
              <a:t>、沸水 </a:t>
            </a:r>
            <a:r>
              <a:rPr lang="en-US" altLang="zh-CN" dirty="0"/>
              <a:t>100℃</a:t>
            </a:r>
            <a:r>
              <a:rPr lang="zh-CN" altLang="en-US" dirty="0"/>
              <a:t>）</a:t>
            </a:r>
          </a:p>
          <a:p>
            <a:r>
              <a:rPr lang="zh-CN" altLang="en-US" b="1" dirty="0"/>
              <a:t>核心原则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对电机驱动板：稳定性 </a:t>
            </a:r>
            <a:r>
              <a:rPr lang="en-US" altLang="zh-CN" dirty="0"/>
              <a:t>&gt; </a:t>
            </a:r>
            <a:r>
              <a:rPr lang="zh-CN" altLang="en-US" dirty="0"/>
              <a:t>极限精度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B56802-2259-6833-FAC5-D843C825BE93}"/>
              </a:ext>
            </a:extLst>
          </p:cNvPr>
          <p:cNvSpPr txBox="1"/>
          <p:nvPr/>
        </p:nvSpPr>
        <p:spPr>
          <a:xfrm>
            <a:off x="1433286" y="4107484"/>
            <a:ext cx="4484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对电机驱动来说：</a:t>
            </a:r>
            <a:br>
              <a:rPr lang="zh-CN" altLang="en-US" sz="2400" dirty="0"/>
            </a:br>
            <a:r>
              <a:rPr lang="zh-CN" altLang="en-US" sz="2400" b="1" dirty="0"/>
              <a:t>稳定性 </a:t>
            </a:r>
            <a:r>
              <a:rPr lang="en-US" altLang="zh-CN" sz="2400" b="1" dirty="0"/>
              <a:t>&gt; </a:t>
            </a:r>
            <a:r>
              <a:rPr lang="zh-CN" altLang="en-US" sz="2400" b="1" dirty="0"/>
              <a:t>极限精度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35325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F7939-C5FE-AC91-11B1-974594D3E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 </a:t>
            </a:r>
            <a:r>
              <a:rPr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E1EA9E-628D-9791-AFA5-983EEA7DF74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4190805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如果使用</a:t>
            </a:r>
            <a:r>
              <a:rPr lang="en-US" altLang="zh-CN" dirty="0"/>
              <a:t>PT100</a:t>
            </a:r>
            <a:r>
              <a:rPr lang="zh-CN" altLang="en-US" dirty="0"/>
              <a:t>，电路应该如何调整？</a:t>
            </a:r>
            <a:endParaRPr lang="en-US" altLang="zh-CN" dirty="0"/>
          </a:p>
          <a:p>
            <a:pPr marL="1504752" lvl="1" indent="-514350">
              <a:buFont typeface="+mj-lt"/>
              <a:buAutoNum type="arabicPeriod"/>
            </a:pPr>
            <a:r>
              <a:rPr lang="en-US" altLang="zh-CN" dirty="0"/>
              <a:t>PT100 </a:t>
            </a:r>
            <a:r>
              <a:rPr lang="zh-CN" altLang="en-US" dirty="0"/>
              <a:t>测的是“微小电阻变化”，而不是“大幅阻值变化”</a:t>
            </a:r>
            <a:r>
              <a:rPr lang="en-US" altLang="zh-CN" dirty="0"/>
              <a:t>,</a:t>
            </a:r>
            <a:r>
              <a:rPr lang="zh-CN" altLang="en-US" dirty="0"/>
              <a:t>直接分压 → </a:t>
            </a:r>
            <a:r>
              <a:rPr lang="en-US" altLang="zh-CN" dirty="0"/>
              <a:t>ADC </a:t>
            </a:r>
            <a:r>
              <a:rPr lang="zh-CN" altLang="en-US" dirty="0"/>
              <a:t>分辨率严重不足</a:t>
            </a:r>
            <a:endParaRPr lang="en-US" altLang="zh-CN" dirty="0"/>
          </a:p>
          <a:p>
            <a:pPr marL="1504752" lvl="1" indent="-514350">
              <a:buFont typeface="+mj-lt"/>
              <a:buAutoNum type="arabicPeriod"/>
            </a:pPr>
            <a:r>
              <a:rPr lang="zh-CN" altLang="en-US" dirty="0"/>
              <a:t>恒流源激励（必须）、高精度放大电路、高分辨率</a:t>
            </a:r>
            <a:r>
              <a:rPr lang="en-US" altLang="zh-CN" dirty="0"/>
              <a:t>ADC+</a:t>
            </a:r>
            <a:r>
              <a:rPr lang="zh-CN" altLang="en-US" dirty="0"/>
              <a:t>稳定参考电压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如何实现温度变化的趋势预测？</a:t>
            </a:r>
            <a:endParaRPr lang="en-US" altLang="zh-CN" dirty="0"/>
          </a:p>
          <a:p>
            <a:pPr marL="1504752" lvl="1" indent="-514350">
              <a:buFont typeface="+mj-lt"/>
              <a:buAutoNum type="arabicPeriod"/>
            </a:pPr>
            <a:r>
              <a:rPr lang="zh-CN" altLang="en-US" dirty="0"/>
              <a:t>为什么要预测？好的系统，是在“快到危险”之前就开始收敛功率</a:t>
            </a:r>
            <a:endParaRPr lang="en-US" altLang="zh-CN" dirty="0"/>
          </a:p>
          <a:p>
            <a:pPr marL="1504752" lvl="1" indent="-514350">
              <a:buFont typeface="+mj-lt"/>
              <a:buAutoNum type="arabicPeriod"/>
            </a:pPr>
            <a:r>
              <a:rPr lang="zh-CN" altLang="en-US" dirty="0"/>
              <a:t>怎么预测？温度变化率、滑动窗口斜率、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温度检测响应时间与保护延迟如何权衡？</a:t>
            </a:r>
            <a:endParaRPr lang="en-US" altLang="zh-CN" dirty="0"/>
          </a:p>
          <a:p>
            <a:pPr marL="1504752" lvl="1" indent="-514350">
              <a:buFont typeface="+mj-lt"/>
              <a:buAutoNum type="arabicPeriod"/>
            </a:pPr>
            <a:r>
              <a:rPr lang="zh-CN" altLang="en-US" dirty="0"/>
              <a:t>硬件侧（不可忽视）、软件侧都会影响响应时间</a:t>
            </a:r>
            <a:endParaRPr lang="en-US" altLang="zh-CN" dirty="0"/>
          </a:p>
          <a:p>
            <a:pPr marL="1504752" lvl="1" indent="-514350">
              <a:buFont typeface="+mj-lt"/>
              <a:buAutoNum type="arabicPeriod"/>
            </a:pPr>
            <a:r>
              <a:rPr lang="zh-CN" altLang="en-US" dirty="0"/>
              <a:t>温度保护是一个“分层 </a:t>
            </a:r>
            <a:r>
              <a:rPr lang="en-US" altLang="zh-CN" dirty="0"/>
              <a:t>+ </a:t>
            </a:r>
            <a:r>
              <a:rPr lang="zh-CN" altLang="en-US" dirty="0"/>
              <a:t>策略”的系统工程，快路径</a:t>
            </a:r>
            <a:r>
              <a:rPr lang="en-US" altLang="zh-CN" dirty="0"/>
              <a:t>+</a:t>
            </a:r>
            <a:r>
              <a:rPr lang="zh-CN" altLang="en-US" dirty="0"/>
              <a:t>慢路径结合的策略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EE14BF-062C-4B93-B336-83BA373DBCBC}"/>
              </a:ext>
            </a:extLst>
          </p:cNvPr>
          <p:cNvSpPr txBox="1"/>
          <p:nvPr/>
        </p:nvSpPr>
        <p:spPr>
          <a:xfrm>
            <a:off x="952624" y="53576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温度检测不是为了“看温度”，</a:t>
            </a:r>
            <a:br>
              <a:rPr lang="zh-CN" altLang="en-US" dirty="0"/>
            </a:br>
            <a:r>
              <a:rPr lang="zh-CN" altLang="en-US" dirty="0"/>
              <a:t>而是为了让系统在极限工况下还能活下来。</a:t>
            </a:r>
          </a:p>
        </p:txBody>
      </p:sp>
    </p:spTree>
    <p:extLst>
      <p:ext uri="{BB962C8B-B14F-4D97-AF65-F5344CB8AC3E}">
        <p14:creationId xmlns:p14="http://schemas.microsoft.com/office/powerpoint/2010/main" val="4145194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2025.9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6763</TotalTime>
  <Words>2069</Words>
  <Application>Microsoft Office PowerPoint</Application>
  <PresentationFormat>宽屏</PresentationFormat>
  <Paragraphs>228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Inter</vt:lpstr>
      <vt:lpstr>quote-cjk-patch</vt:lpstr>
      <vt:lpstr>Source Han Sans</vt:lpstr>
      <vt:lpstr>Source Han Sans CN Regular</vt:lpstr>
      <vt:lpstr>等线</vt:lpstr>
      <vt:lpstr>微软雅黑</vt:lpstr>
      <vt:lpstr>Arial</vt:lpstr>
      <vt:lpstr>Cambria Math</vt:lpstr>
      <vt:lpstr>Office 主题​​</vt:lpstr>
      <vt:lpstr>PowerPoint 演示文稿</vt:lpstr>
      <vt:lpstr>学习目标</vt:lpstr>
      <vt:lpstr>1. 为什么需要温度检测？</vt:lpstr>
      <vt:lpstr>2.温度传感器选型</vt:lpstr>
      <vt:lpstr>3.温度检测电路设计（基础电路）</vt:lpstr>
      <vt:lpstr>3.温度检测电路设计</vt:lpstr>
      <vt:lpstr>4. 驱动板上温度测量的要点</vt:lpstr>
      <vt:lpstr>5.  温度计算与校准</vt:lpstr>
      <vt:lpstr>公式法（Steinhart-Hart）</vt:lpstr>
      <vt:lpstr>6. 软件滤波与温度保护逻辑</vt:lpstr>
      <vt:lpstr>7. 测量精度优化</vt:lpstr>
      <vt:lpstr>8. 思考题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188</cp:revision>
  <dcterms:created xsi:type="dcterms:W3CDTF">2025-05-21T06:55:53Z</dcterms:created>
  <dcterms:modified xsi:type="dcterms:W3CDTF">2025-12-22T07:25:55Z</dcterms:modified>
</cp:coreProperties>
</file>