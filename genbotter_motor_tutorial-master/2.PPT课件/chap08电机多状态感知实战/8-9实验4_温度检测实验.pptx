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9" r:id="rId2"/>
    <p:sldId id="812" r:id="rId3"/>
    <p:sldId id="813" r:id="rId4"/>
    <p:sldId id="824" r:id="rId5"/>
    <p:sldId id="825" r:id="rId6"/>
    <p:sldId id="814" r:id="rId7"/>
    <p:sldId id="815" r:id="rId8"/>
    <p:sldId id="816" r:id="rId9"/>
    <p:sldId id="817" r:id="rId10"/>
    <p:sldId id="818" r:id="rId11"/>
    <p:sldId id="819" r:id="rId12"/>
    <p:sldId id="820" r:id="rId13"/>
    <p:sldId id="822" r:id="rId14"/>
    <p:sldId id="826" r:id="rId15"/>
    <p:sldId id="823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2E5DB-863B-4C72-909B-8B419B7117A4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E64E6344-03F3-41EA-B2B3-D9F732B8BD60}">
      <dgm:prSet/>
      <dgm:spPr/>
      <dgm:t>
        <a:bodyPr/>
        <a:lstStyle/>
        <a:p>
          <a:r>
            <a:rPr lang="en-US" altLang="zh-CN" b="0" i="0" dirty="0"/>
            <a:t>1. </a:t>
          </a:r>
          <a:r>
            <a:rPr lang="zh-CN" altLang="en-US" b="0" i="0" dirty="0"/>
            <a:t>实验准备</a:t>
          </a:r>
          <a:endParaRPr lang="zh-CN" dirty="0"/>
        </a:p>
      </dgm:t>
    </dgm:pt>
    <dgm:pt modelId="{69A6EF17-7BDA-4CB4-9F0E-5679408CF513}" type="par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DC89421-7892-4BB5-8A47-F6705D342A56}" type="sib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109618A9-9CED-407D-A872-0CABCF012998}">
      <dgm:prSet/>
      <dgm:spPr/>
      <dgm:t>
        <a:bodyPr/>
        <a:lstStyle/>
        <a:p>
          <a:pPr>
            <a:buNone/>
          </a:pPr>
          <a:r>
            <a:rPr lang="en-US" altLang="zh-CN" b="0" i="0" dirty="0"/>
            <a:t>3. </a:t>
          </a:r>
          <a:r>
            <a:rPr lang="zh-CN" altLang="en-US" b="0" i="0" dirty="0"/>
            <a:t>代码讲解</a:t>
          </a:r>
        </a:p>
      </dgm:t>
    </dgm:pt>
    <dgm:pt modelId="{EE8EAFB2-6FD1-475F-9B6E-53C4370D93F2}" type="parTrans" cxnId="{5A5B0D48-EA45-4B5B-AAF9-210555B9C735}">
      <dgm:prSet/>
      <dgm:spPr/>
      <dgm:t>
        <a:bodyPr/>
        <a:lstStyle/>
        <a:p>
          <a:endParaRPr lang="zh-CN" altLang="en-US"/>
        </a:p>
      </dgm:t>
    </dgm:pt>
    <dgm:pt modelId="{4DD84F73-C57A-4346-B31E-B56A6510E5D8}" type="sibTrans" cxnId="{5A5B0D48-EA45-4B5B-AAF9-210555B9C735}">
      <dgm:prSet/>
      <dgm:spPr/>
      <dgm:t>
        <a:bodyPr/>
        <a:lstStyle/>
        <a:p>
          <a:endParaRPr lang="zh-CN" altLang="en-US"/>
        </a:p>
      </dgm:t>
    </dgm:pt>
    <dgm:pt modelId="{08B5FF31-E8F0-4ED2-8614-7229D43CA5D1}">
      <dgm:prSet/>
      <dgm:spPr/>
      <dgm:t>
        <a:bodyPr/>
        <a:lstStyle/>
        <a:p>
          <a:pPr>
            <a:buNone/>
          </a:pPr>
          <a:r>
            <a:rPr lang="en-US" altLang="zh-CN" b="0" i="0" dirty="0"/>
            <a:t>4.  </a:t>
          </a:r>
          <a:r>
            <a:rPr lang="zh-CN" altLang="en-US" b="0" i="0" dirty="0"/>
            <a:t>效果演示</a:t>
          </a:r>
        </a:p>
      </dgm:t>
    </dgm:pt>
    <dgm:pt modelId="{66D6E4D7-F6B0-436B-B15E-ED2149BE62DD}" type="parTrans" cxnId="{6AAF04CC-1E38-4430-8E83-E79FC443E3F8}">
      <dgm:prSet/>
      <dgm:spPr/>
      <dgm:t>
        <a:bodyPr/>
        <a:lstStyle/>
        <a:p>
          <a:endParaRPr lang="zh-CN" altLang="en-US"/>
        </a:p>
      </dgm:t>
    </dgm:pt>
    <dgm:pt modelId="{DBDF3FFE-C4EA-4007-AA91-5C62A6F35BE9}" type="sibTrans" cxnId="{6AAF04CC-1E38-4430-8E83-E79FC443E3F8}">
      <dgm:prSet/>
      <dgm:spPr/>
      <dgm:t>
        <a:bodyPr/>
        <a:lstStyle/>
        <a:p>
          <a:endParaRPr lang="zh-CN" altLang="en-US"/>
        </a:p>
      </dgm:t>
    </dgm:pt>
    <dgm:pt modelId="{77BAB172-1786-472F-A8A7-A2448B34CA23}">
      <dgm:prSet/>
      <dgm:spPr/>
      <dgm:t>
        <a:bodyPr/>
        <a:lstStyle/>
        <a:p>
          <a:r>
            <a:rPr lang="en-US" altLang="zh-CN" b="0" i="0" dirty="0"/>
            <a:t>2. </a:t>
          </a:r>
          <a:r>
            <a:rPr lang="en-US" altLang="zh-CN" b="0" i="0" dirty="0" err="1"/>
            <a:t>CubeMX</a:t>
          </a:r>
          <a:r>
            <a:rPr lang="zh-CN" altLang="en-US" b="0" i="0" dirty="0"/>
            <a:t>配置</a:t>
          </a:r>
          <a:endParaRPr lang="zh-CN" dirty="0"/>
        </a:p>
      </dgm:t>
    </dgm:pt>
    <dgm:pt modelId="{78AA464F-0627-4BF8-A18B-1CC03EF1457C}" type="parTrans" cxnId="{E8C248E3-AF51-48EF-A976-1944476435EB}">
      <dgm:prSet/>
      <dgm:spPr/>
      <dgm:t>
        <a:bodyPr/>
        <a:lstStyle/>
        <a:p>
          <a:endParaRPr lang="zh-CN" altLang="en-US"/>
        </a:p>
      </dgm:t>
    </dgm:pt>
    <dgm:pt modelId="{692E2EB7-F87E-48C3-BCCC-4BC603C5F2B1}" type="sibTrans" cxnId="{E8C248E3-AF51-48EF-A976-1944476435EB}">
      <dgm:prSet/>
      <dgm:spPr/>
      <dgm:t>
        <a:bodyPr/>
        <a:lstStyle/>
        <a:p>
          <a:endParaRPr lang="zh-CN" altLang="en-US"/>
        </a:p>
      </dgm:t>
    </dgm:pt>
    <dgm:pt modelId="{6BAECC41-F701-41E2-ADAF-5F31946C0A81}" type="pres">
      <dgm:prSet presAssocID="{8CD2E5DB-863B-4C72-909B-8B419B7117A4}" presName="linear" presStyleCnt="0">
        <dgm:presLayoutVars>
          <dgm:animLvl val="lvl"/>
          <dgm:resizeHandles val="exact"/>
        </dgm:presLayoutVars>
      </dgm:prSet>
      <dgm:spPr/>
    </dgm:pt>
    <dgm:pt modelId="{1CE5FAD2-50A8-4032-BAEC-E3A01D2341AE}" type="pres">
      <dgm:prSet presAssocID="{E64E6344-03F3-41EA-B2B3-D9F732B8BD60}" presName="parentText" presStyleLbl="node1" presStyleIdx="0" presStyleCnt="4" custLinFactNeighborX="7821" custLinFactNeighborY="-41997">
        <dgm:presLayoutVars>
          <dgm:chMax val="0"/>
          <dgm:bulletEnabled val="1"/>
        </dgm:presLayoutVars>
      </dgm:prSet>
      <dgm:spPr/>
    </dgm:pt>
    <dgm:pt modelId="{65251149-4757-4207-AFC6-0F0FA7894A0E}" type="pres">
      <dgm:prSet presAssocID="{0DC89421-7892-4BB5-8A47-F6705D342A56}" presName="spacer" presStyleCnt="0"/>
      <dgm:spPr/>
    </dgm:pt>
    <dgm:pt modelId="{EB2011D0-4BCA-4380-8E2E-EAFBFAFC726F}" type="pres">
      <dgm:prSet presAssocID="{77BAB172-1786-472F-A8A7-A2448B34CA2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F2A3BAF-1909-4CF2-866B-D404B070EC02}" type="pres">
      <dgm:prSet presAssocID="{692E2EB7-F87E-48C3-BCCC-4BC603C5F2B1}" presName="spacer" presStyleCnt="0"/>
      <dgm:spPr/>
    </dgm:pt>
    <dgm:pt modelId="{A4C779C8-29D7-4F4F-8146-CD794E9E1D12}" type="pres">
      <dgm:prSet presAssocID="{109618A9-9CED-407D-A872-0CABCF01299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B4B97A9-FD74-4278-8578-9E7AC7C3B6E4}" type="pres">
      <dgm:prSet presAssocID="{4DD84F73-C57A-4346-B31E-B56A6510E5D8}" presName="spacer" presStyleCnt="0"/>
      <dgm:spPr/>
    </dgm:pt>
    <dgm:pt modelId="{15F2F528-08EB-4CEC-A963-20FFBB334CC4}" type="pres">
      <dgm:prSet presAssocID="{08B5FF31-E8F0-4ED2-8614-7229D43CA5D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54E170A-8F88-4F13-ABC4-DDB5575C7D12}" type="presOf" srcId="{8CD2E5DB-863B-4C72-909B-8B419B7117A4}" destId="{6BAECC41-F701-41E2-ADAF-5F31946C0A81}" srcOrd="0" destOrd="0" presId="urn:microsoft.com/office/officeart/2005/8/layout/vList2"/>
    <dgm:cxn modelId="{624C912B-314A-40A4-B2AF-325F7CBA9791}" type="presOf" srcId="{E64E6344-03F3-41EA-B2B3-D9F732B8BD60}" destId="{1CE5FAD2-50A8-4032-BAEC-E3A01D2341AE}" srcOrd="0" destOrd="0" presId="urn:microsoft.com/office/officeart/2005/8/layout/vList2"/>
    <dgm:cxn modelId="{5A5B0D48-EA45-4B5B-AAF9-210555B9C735}" srcId="{8CD2E5DB-863B-4C72-909B-8B419B7117A4}" destId="{109618A9-9CED-407D-A872-0CABCF012998}" srcOrd="2" destOrd="0" parTransId="{EE8EAFB2-6FD1-475F-9B6E-53C4370D93F2}" sibTransId="{4DD84F73-C57A-4346-B31E-B56A6510E5D8}"/>
    <dgm:cxn modelId="{17886369-5210-4874-A4C6-C7A1C2CB8047}" type="presOf" srcId="{77BAB172-1786-472F-A8A7-A2448B34CA23}" destId="{EB2011D0-4BCA-4380-8E2E-EAFBFAFC726F}" srcOrd="0" destOrd="0" presId="urn:microsoft.com/office/officeart/2005/8/layout/vList2"/>
    <dgm:cxn modelId="{C72B09C2-D1B5-46A8-A4E9-7F16F1677CDD}" type="presOf" srcId="{08B5FF31-E8F0-4ED2-8614-7229D43CA5D1}" destId="{15F2F528-08EB-4CEC-A963-20FFBB334CC4}" srcOrd="0" destOrd="0" presId="urn:microsoft.com/office/officeart/2005/8/layout/vList2"/>
    <dgm:cxn modelId="{6AAF04CC-1E38-4430-8E83-E79FC443E3F8}" srcId="{8CD2E5DB-863B-4C72-909B-8B419B7117A4}" destId="{08B5FF31-E8F0-4ED2-8614-7229D43CA5D1}" srcOrd="3" destOrd="0" parTransId="{66D6E4D7-F6B0-436B-B15E-ED2149BE62DD}" sibTransId="{DBDF3FFE-C4EA-4007-AA91-5C62A6F35BE9}"/>
    <dgm:cxn modelId="{E8C248E3-AF51-48EF-A976-1944476435EB}" srcId="{8CD2E5DB-863B-4C72-909B-8B419B7117A4}" destId="{77BAB172-1786-472F-A8A7-A2448B34CA23}" srcOrd="1" destOrd="0" parTransId="{78AA464F-0627-4BF8-A18B-1CC03EF1457C}" sibTransId="{692E2EB7-F87E-48C3-BCCC-4BC603C5F2B1}"/>
    <dgm:cxn modelId="{472BD5EA-F261-4C9D-BE4A-899FD761B3A6}" type="presOf" srcId="{109618A9-9CED-407D-A872-0CABCF012998}" destId="{A4C779C8-29D7-4F4F-8146-CD794E9E1D12}" srcOrd="0" destOrd="0" presId="urn:microsoft.com/office/officeart/2005/8/layout/vList2"/>
    <dgm:cxn modelId="{08D3F0FE-4B45-4766-B833-483B36DF029C}" srcId="{8CD2E5DB-863B-4C72-909B-8B419B7117A4}" destId="{E64E6344-03F3-41EA-B2B3-D9F732B8BD60}" srcOrd="0" destOrd="0" parTransId="{69A6EF17-7BDA-4CB4-9F0E-5679408CF513}" sibTransId="{0DC89421-7892-4BB5-8A47-F6705D342A56}"/>
    <dgm:cxn modelId="{8B92AD0C-3066-4BB8-B98C-08FF2A91A944}" type="presParOf" srcId="{6BAECC41-F701-41E2-ADAF-5F31946C0A81}" destId="{1CE5FAD2-50A8-4032-BAEC-E3A01D2341AE}" srcOrd="0" destOrd="0" presId="urn:microsoft.com/office/officeart/2005/8/layout/vList2"/>
    <dgm:cxn modelId="{EB4A4393-125C-455B-B7EE-43BC6440AF90}" type="presParOf" srcId="{6BAECC41-F701-41E2-ADAF-5F31946C0A81}" destId="{65251149-4757-4207-AFC6-0F0FA7894A0E}" srcOrd="1" destOrd="0" presId="urn:microsoft.com/office/officeart/2005/8/layout/vList2"/>
    <dgm:cxn modelId="{E04CBADC-F757-40A5-B3BD-65FF108EBD17}" type="presParOf" srcId="{6BAECC41-F701-41E2-ADAF-5F31946C0A81}" destId="{EB2011D0-4BCA-4380-8E2E-EAFBFAFC726F}" srcOrd="2" destOrd="0" presId="urn:microsoft.com/office/officeart/2005/8/layout/vList2"/>
    <dgm:cxn modelId="{EBDA0C55-AA26-4323-B653-7903B1673670}" type="presParOf" srcId="{6BAECC41-F701-41E2-ADAF-5F31946C0A81}" destId="{0F2A3BAF-1909-4CF2-866B-D404B070EC02}" srcOrd="3" destOrd="0" presId="urn:microsoft.com/office/officeart/2005/8/layout/vList2"/>
    <dgm:cxn modelId="{55A5B54C-52B9-45C8-A8FF-547B2BAFDC1B}" type="presParOf" srcId="{6BAECC41-F701-41E2-ADAF-5F31946C0A81}" destId="{A4C779C8-29D7-4F4F-8146-CD794E9E1D12}" srcOrd="4" destOrd="0" presId="urn:microsoft.com/office/officeart/2005/8/layout/vList2"/>
    <dgm:cxn modelId="{B5DF7568-8AAF-4340-B130-C888E465F5D0}" type="presParOf" srcId="{6BAECC41-F701-41E2-ADAF-5F31946C0A81}" destId="{5B4B97A9-FD74-4278-8578-9E7AC7C3B6E4}" srcOrd="5" destOrd="0" presId="urn:microsoft.com/office/officeart/2005/8/layout/vList2"/>
    <dgm:cxn modelId="{99329013-76B3-4211-92B2-132078DB07BD}" type="presParOf" srcId="{6BAECC41-F701-41E2-ADAF-5F31946C0A81}" destId="{15F2F528-08EB-4CEC-A963-20FFBB334CC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9D6517-1B6B-43E0-B5A5-7A6917C70F6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FBB719F-E058-4EB6-A748-DC31120040FB}">
      <dgm:prSet/>
      <dgm:spPr/>
      <dgm:t>
        <a:bodyPr/>
        <a:lstStyle/>
        <a:p>
          <a:r>
            <a:rPr lang="zh-CN" dirty="0"/>
            <a:t>硬件</a:t>
          </a:r>
        </a:p>
      </dgm:t>
    </dgm:pt>
    <dgm:pt modelId="{1E501074-DEEF-4E97-B2F2-66A53A86DB70}" type="parTrans" cxnId="{9D8ED64D-58B8-4AC9-9539-AF45634651F2}">
      <dgm:prSet/>
      <dgm:spPr/>
      <dgm:t>
        <a:bodyPr/>
        <a:lstStyle/>
        <a:p>
          <a:endParaRPr lang="zh-CN" altLang="en-US"/>
        </a:p>
      </dgm:t>
    </dgm:pt>
    <dgm:pt modelId="{E81B2E6E-8DB4-43A9-84DF-0E06DD3ABAD0}" type="sibTrans" cxnId="{9D8ED64D-58B8-4AC9-9539-AF45634651F2}">
      <dgm:prSet/>
      <dgm:spPr/>
      <dgm:t>
        <a:bodyPr/>
        <a:lstStyle/>
        <a:p>
          <a:endParaRPr lang="zh-CN" altLang="en-US"/>
        </a:p>
      </dgm:t>
    </dgm:pt>
    <dgm:pt modelId="{B5EFB022-93B1-4B5F-BCFD-6A9318CFCEDC}">
      <dgm:prSet/>
      <dgm:spPr/>
      <dgm:t>
        <a:bodyPr/>
        <a:lstStyle/>
        <a:p>
          <a:r>
            <a:rPr lang="en-US" dirty="0" err="1"/>
            <a:t>GenBotter</a:t>
          </a:r>
          <a:r>
            <a:rPr lang="en-US" dirty="0"/>
            <a:t> </a:t>
          </a:r>
          <a:r>
            <a:rPr lang="zh-CN" dirty="0"/>
            <a:t>电机开发板</a:t>
          </a:r>
        </a:p>
      </dgm:t>
    </dgm:pt>
    <dgm:pt modelId="{74E7325C-22BA-4B4A-B58D-1E854F0C0E05}" type="parTrans" cxnId="{E4EA9E74-39C5-43CC-91FD-70F6FD25D524}">
      <dgm:prSet/>
      <dgm:spPr/>
      <dgm:t>
        <a:bodyPr/>
        <a:lstStyle/>
        <a:p>
          <a:endParaRPr lang="zh-CN" altLang="en-US"/>
        </a:p>
      </dgm:t>
    </dgm:pt>
    <dgm:pt modelId="{FF46F5B5-1302-45F0-AE8C-9E36443F75FB}" type="sibTrans" cxnId="{E4EA9E74-39C5-43CC-91FD-70F6FD25D524}">
      <dgm:prSet/>
      <dgm:spPr/>
      <dgm:t>
        <a:bodyPr/>
        <a:lstStyle/>
        <a:p>
          <a:endParaRPr lang="zh-CN" altLang="en-US"/>
        </a:p>
      </dgm:t>
    </dgm:pt>
    <dgm:pt modelId="{4EE6BD22-F0C1-4AFA-BAD1-A6CD24F0A8FA}">
      <dgm:prSet/>
      <dgm:spPr/>
      <dgm:t>
        <a:bodyPr/>
        <a:lstStyle/>
        <a:p>
          <a:r>
            <a:rPr lang="en-US" dirty="0" err="1"/>
            <a:t>GenBotter</a:t>
          </a:r>
          <a:r>
            <a:rPr lang="en-US" dirty="0"/>
            <a:t> </a:t>
          </a:r>
          <a:r>
            <a:rPr lang="zh-CN" dirty="0"/>
            <a:t>直流有刷电机驱动板</a:t>
          </a:r>
        </a:p>
      </dgm:t>
    </dgm:pt>
    <dgm:pt modelId="{86B46CBD-45A4-45A5-8EBA-E76CBBF13BE4}" type="parTrans" cxnId="{ABCF088E-6CF5-4C56-873D-2418B3EEA2DA}">
      <dgm:prSet/>
      <dgm:spPr/>
      <dgm:t>
        <a:bodyPr/>
        <a:lstStyle/>
        <a:p>
          <a:endParaRPr lang="zh-CN" altLang="en-US"/>
        </a:p>
      </dgm:t>
    </dgm:pt>
    <dgm:pt modelId="{B31FDBC7-EA80-482C-AE3B-C782B29351B4}" type="sibTrans" cxnId="{ABCF088E-6CF5-4C56-873D-2418B3EEA2DA}">
      <dgm:prSet/>
      <dgm:spPr/>
      <dgm:t>
        <a:bodyPr/>
        <a:lstStyle/>
        <a:p>
          <a:endParaRPr lang="zh-CN" altLang="en-US"/>
        </a:p>
      </dgm:t>
    </dgm:pt>
    <dgm:pt modelId="{D63941AD-3CDF-4008-83E4-BB5DBD675286}">
      <dgm:prSet/>
      <dgm:spPr/>
      <dgm:t>
        <a:bodyPr/>
        <a:lstStyle/>
        <a:p>
          <a:r>
            <a:rPr lang="en-US" altLang="zh-CN" dirty="0"/>
            <a:t>4.0</a:t>
          </a:r>
          <a:r>
            <a:rPr lang="zh-CN" altLang="en-US" dirty="0"/>
            <a:t>寸</a:t>
          </a:r>
          <a:r>
            <a:rPr lang="zh-CN" dirty="0"/>
            <a:t>并口显示屏</a:t>
          </a:r>
        </a:p>
      </dgm:t>
    </dgm:pt>
    <dgm:pt modelId="{19101EC5-E3B6-4762-8946-C18E864F13D4}" type="parTrans" cxnId="{91B2CAF1-2A5D-4F84-AC85-A37B4120A9C8}">
      <dgm:prSet/>
      <dgm:spPr/>
      <dgm:t>
        <a:bodyPr/>
        <a:lstStyle/>
        <a:p>
          <a:endParaRPr lang="zh-CN" altLang="en-US"/>
        </a:p>
      </dgm:t>
    </dgm:pt>
    <dgm:pt modelId="{4A242EEC-BDFA-47EF-B9C1-3FBB23460D23}" type="sibTrans" cxnId="{91B2CAF1-2A5D-4F84-AC85-A37B4120A9C8}">
      <dgm:prSet/>
      <dgm:spPr/>
      <dgm:t>
        <a:bodyPr/>
        <a:lstStyle/>
        <a:p>
          <a:endParaRPr lang="zh-CN" altLang="en-US"/>
        </a:p>
      </dgm:t>
    </dgm:pt>
    <dgm:pt modelId="{1BA2BE32-A77D-4A2E-A933-B85EF850617B}">
      <dgm:prSet/>
      <dgm:spPr/>
      <dgm:t>
        <a:bodyPr/>
        <a:lstStyle/>
        <a:p>
          <a:r>
            <a:rPr lang="zh-CN" dirty="0"/>
            <a:t>直流有刷电机</a:t>
          </a:r>
        </a:p>
      </dgm:t>
    </dgm:pt>
    <dgm:pt modelId="{6D58C910-6332-4254-8481-BAAADC4C7641}" type="parTrans" cxnId="{7B142770-3676-4C1A-B8CE-5F2F11F5AB97}">
      <dgm:prSet/>
      <dgm:spPr/>
      <dgm:t>
        <a:bodyPr/>
        <a:lstStyle/>
        <a:p>
          <a:endParaRPr lang="zh-CN" altLang="en-US"/>
        </a:p>
      </dgm:t>
    </dgm:pt>
    <dgm:pt modelId="{42D956EC-34F8-4355-AEC2-8FDD1AE99F18}" type="sibTrans" cxnId="{7B142770-3676-4C1A-B8CE-5F2F11F5AB97}">
      <dgm:prSet/>
      <dgm:spPr/>
      <dgm:t>
        <a:bodyPr/>
        <a:lstStyle/>
        <a:p>
          <a:endParaRPr lang="zh-CN" altLang="en-US"/>
        </a:p>
      </dgm:t>
    </dgm:pt>
    <dgm:pt modelId="{E64A0BB7-20F0-4DAD-A664-27A0F5081DD1}">
      <dgm:prSet/>
      <dgm:spPr/>
      <dgm:t>
        <a:bodyPr/>
        <a:lstStyle/>
        <a:p>
          <a:r>
            <a:rPr lang="zh-CN" dirty="0"/>
            <a:t>软件</a:t>
          </a:r>
        </a:p>
      </dgm:t>
    </dgm:pt>
    <dgm:pt modelId="{8B09AFBA-DCCA-4AC4-9317-702D13397043}" type="parTrans" cxnId="{B7AFFC42-04F1-40FF-93EF-AF79FF9AFD5A}">
      <dgm:prSet/>
      <dgm:spPr/>
      <dgm:t>
        <a:bodyPr/>
        <a:lstStyle/>
        <a:p>
          <a:endParaRPr lang="zh-CN" altLang="en-US"/>
        </a:p>
      </dgm:t>
    </dgm:pt>
    <dgm:pt modelId="{DA3E1B31-3471-4733-9421-F4B3BC7FC4AE}" type="sibTrans" cxnId="{B7AFFC42-04F1-40FF-93EF-AF79FF9AFD5A}">
      <dgm:prSet/>
      <dgm:spPr/>
      <dgm:t>
        <a:bodyPr/>
        <a:lstStyle/>
        <a:p>
          <a:endParaRPr lang="zh-CN" altLang="en-US"/>
        </a:p>
      </dgm:t>
    </dgm:pt>
    <dgm:pt modelId="{BEB626EE-DD92-4FAF-9B2E-365F56EC5A5B}">
      <dgm:prSet/>
      <dgm:spPr/>
      <dgm:t>
        <a:bodyPr/>
        <a:lstStyle/>
        <a:p>
          <a:r>
            <a:rPr lang="en-US" altLang="zh-CN" dirty="0" err="1"/>
            <a:t>CubeMX</a:t>
          </a:r>
          <a:endParaRPr lang="zh-CN" dirty="0"/>
        </a:p>
      </dgm:t>
    </dgm:pt>
    <dgm:pt modelId="{167E02FB-2C86-450E-B70D-378A5DB216F3}" type="parTrans" cxnId="{39453870-426D-4732-8654-358A031AAC16}">
      <dgm:prSet/>
      <dgm:spPr/>
      <dgm:t>
        <a:bodyPr/>
        <a:lstStyle/>
        <a:p>
          <a:endParaRPr lang="zh-CN" altLang="en-US"/>
        </a:p>
      </dgm:t>
    </dgm:pt>
    <dgm:pt modelId="{86A1445D-7C33-4EA1-8302-24479C178297}" type="sibTrans" cxnId="{39453870-426D-4732-8654-358A031AAC16}">
      <dgm:prSet/>
      <dgm:spPr/>
      <dgm:t>
        <a:bodyPr/>
        <a:lstStyle/>
        <a:p>
          <a:endParaRPr lang="zh-CN" altLang="en-US"/>
        </a:p>
      </dgm:t>
    </dgm:pt>
    <dgm:pt modelId="{D936016B-06B6-4E8E-A6EF-36A00D8EA9E1}">
      <dgm:prSet/>
      <dgm:spPr/>
      <dgm:t>
        <a:bodyPr/>
        <a:lstStyle/>
        <a:p>
          <a:r>
            <a:rPr lang="en-US" altLang="zh-CN" dirty="0"/>
            <a:t>Keil MDK</a:t>
          </a:r>
          <a:endParaRPr lang="zh-CN" dirty="0"/>
        </a:p>
      </dgm:t>
    </dgm:pt>
    <dgm:pt modelId="{EAFE1159-1B3D-4553-8F6C-31F96DF01BEA}" type="parTrans" cxnId="{8A29455D-B677-4E00-AD3E-939472FC936A}">
      <dgm:prSet/>
      <dgm:spPr/>
      <dgm:t>
        <a:bodyPr/>
        <a:lstStyle/>
        <a:p>
          <a:endParaRPr lang="zh-CN" altLang="en-US"/>
        </a:p>
      </dgm:t>
    </dgm:pt>
    <dgm:pt modelId="{43128A46-50EF-4400-9604-A415C4E1B1A1}" type="sibTrans" cxnId="{8A29455D-B677-4E00-AD3E-939472FC936A}">
      <dgm:prSet/>
      <dgm:spPr/>
      <dgm:t>
        <a:bodyPr/>
        <a:lstStyle/>
        <a:p>
          <a:endParaRPr lang="zh-CN" altLang="en-US"/>
        </a:p>
      </dgm:t>
    </dgm:pt>
    <dgm:pt modelId="{D8062ED9-17EE-4CBA-A55C-CBAFEC284F0C}">
      <dgm:prSet/>
      <dgm:spPr/>
      <dgm:t>
        <a:bodyPr/>
        <a:lstStyle/>
        <a:p>
          <a:r>
            <a:rPr lang="en-US" altLang="zh-CN" dirty="0"/>
            <a:t>VS Code</a:t>
          </a:r>
          <a:endParaRPr lang="zh-CN" dirty="0"/>
        </a:p>
      </dgm:t>
    </dgm:pt>
    <dgm:pt modelId="{BB5045DE-305B-4A07-9849-89E24308890B}" type="parTrans" cxnId="{D16AC5DE-4977-4417-A780-637FCE236A32}">
      <dgm:prSet/>
      <dgm:spPr/>
      <dgm:t>
        <a:bodyPr/>
        <a:lstStyle/>
        <a:p>
          <a:endParaRPr lang="zh-CN" altLang="en-US"/>
        </a:p>
      </dgm:t>
    </dgm:pt>
    <dgm:pt modelId="{B7FC834F-4079-4D49-A33A-79924F702D7B}" type="sibTrans" cxnId="{D16AC5DE-4977-4417-A780-637FCE236A32}">
      <dgm:prSet/>
      <dgm:spPr/>
      <dgm:t>
        <a:bodyPr/>
        <a:lstStyle/>
        <a:p>
          <a:endParaRPr lang="zh-CN" altLang="en-US"/>
        </a:p>
      </dgm:t>
    </dgm:pt>
    <dgm:pt modelId="{75A000C8-3372-4D1E-A871-663CEFBE8429}">
      <dgm:prSet/>
      <dgm:spPr/>
      <dgm:t>
        <a:bodyPr/>
        <a:lstStyle/>
        <a:p>
          <a:r>
            <a:rPr lang="zh-CN" altLang="en-US" dirty="0"/>
            <a:t>串口调试助手</a:t>
          </a:r>
          <a:endParaRPr lang="zh-CN" dirty="0"/>
        </a:p>
      </dgm:t>
    </dgm:pt>
    <dgm:pt modelId="{75A52971-D52F-474C-B2AF-B66E69633673}" type="parTrans" cxnId="{0C8C34CA-BAC7-4BA6-99A6-B13ABF0BEA0E}">
      <dgm:prSet/>
      <dgm:spPr/>
      <dgm:t>
        <a:bodyPr/>
        <a:lstStyle/>
        <a:p>
          <a:endParaRPr lang="zh-CN" altLang="en-US"/>
        </a:p>
      </dgm:t>
    </dgm:pt>
    <dgm:pt modelId="{67E05EAE-241C-4599-838C-0C30CC29530A}" type="sibTrans" cxnId="{0C8C34CA-BAC7-4BA6-99A6-B13ABF0BEA0E}">
      <dgm:prSet/>
      <dgm:spPr/>
      <dgm:t>
        <a:bodyPr/>
        <a:lstStyle/>
        <a:p>
          <a:endParaRPr lang="zh-CN" altLang="en-US"/>
        </a:p>
      </dgm:t>
    </dgm:pt>
    <dgm:pt modelId="{C8BF4160-D806-4355-842A-EA9E84133ED7}" type="pres">
      <dgm:prSet presAssocID="{759D6517-1B6B-43E0-B5A5-7A6917C70F67}" presName="Name0" presStyleCnt="0">
        <dgm:presLayoutVars>
          <dgm:dir/>
          <dgm:animLvl val="lvl"/>
          <dgm:resizeHandles val="exact"/>
        </dgm:presLayoutVars>
      </dgm:prSet>
      <dgm:spPr/>
    </dgm:pt>
    <dgm:pt modelId="{AA964193-5352-4D30-9809-8157BEA12671}" type="pres">
      <dgm:prSet presAssocID="{6FBB719F-E058-4EB6-A748-DC31120040FB}" presName="linNode" presStyleCnt="0"/>
      <dgm:spPr/>
    </dgm:pt>
    <dgm:pt modelId="{CD32B981-FF31-40F2-B24A-4D83BD8F36B9}" type="pres">
      <dgm:prSet presAssocID="{6FBB719F-E058-4EB6-A748-DC31120040FB}" presName="parentText" presStyleLbl="node1" presStyleIdx="0" presStyleCnt="2" custScaleX="71071">
        <dgm:presLayoutVars>
          <dgm:chMax val="1"/>
          <dgm:bulletEnabled val="1"/>
        </dgm:presLayoutVars>
      </dgm:prSet>
      <dgm:spPr/>
    </dgm:pt>
    <dgm:pt modelId="{D28DA57C-B6ED-472D-87B2-D8953F050074}" type="pres">
      <dgm:prSet presAssocID="{6FBB719F-E058-4EB6-A748-DC31120040FB}" presName="descendantText" presStyleLbl="alignAccFollowNode1" presStyleIdx="0" presStyleCnt="2">
        <dgm:presLayoutVars>
          <dgm:bulletEnabled val="1"/>
        </dgm:presLayoutVars>
      </dgm:prSet>
      <dgm:spPr/>
    </dgm:pt>
    <dgm:pt modelId="{043136DC-30B3-4CEE-B131-EDC062678E23}" type="pres">
      <dgm:prSet presAssocID="{E81B2E6E-8DB4-43A9-84DF-0E06DD3ABAD0}" presName="sp" presStyleCnt="0"/>
      <dgm:spPr/>
    </dgm:pt>
    <dgm:pt modelId="{9754A1DE-D389-44A8-AA95-932938CFCC76}" type="pres">
      <dgm:prSet presAssocID="{E64A0BB7-20F0-4DAD-A664-27A0F5081DD1}" presName="linNode" presStyleCnt="0"/>
      <dgm:spPr/>
    </dgm:pt>
    <dgm:pt modelId="{9EE075D3-BE46-4B5A-B2E6-D4D85AF75D46}" type="pres">
      <dgm:prSet presAssocID="{E64A0BB7-20F0-4DAD-A664-27A0F5081DD1}" presName="parentText" presStyleLbl="node1" presStyleIdx="1" presStyleCnt="2" custScaleX="71071">
        <dgm:presLayoutVars>
          <dgm:chMax val="1"/>
          <dgm:bulletEnabled val="1"/>
        </dgm:presLayoutVars>
      </dgm:prSet>
      <dgm:spPr/>
    </dgm:pt>
    <dgm:pt modelId="{80914EE3-4760-4E7B-8202-5B2F751E0A85}" type="pres">
      <dgm:prSet presAssocID="{E64A0BB7-20F0-4DAD-A664-27A0F5081DD1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27A44808-5A45-4B0B-9275-6757AAA78F9D}" type="presOf" srcId="{4EE6BD22-F0C1-4AFA-BAD1-A6CD24F0A8FA}" destId="{D28DA57C-B6ED-472D-87B2-D8953F050074}" srcOrd="0" destOrd="1" presId="urn:microsoft.com/office/officeart/2005/8/layout/vList5"/>
    <dgm:cxn modelId="{E516D131-0C17-416F-B9DB-55E39E5BED1C}" type="presOf" srcId="{B5EFB022-93B1-4B5F-BCFD-6A9318CFCEDC}" destId="{D28DA57C-B6ED-472D-87B2-D8953F050074}" srcOrd="0" destOrd="0" presId="urn:microsoft.com/office/officeart/2005/8/layout/vList5"/>
    <dgm:cxn modelId="{79E9243A-3FCE-42B4-A3B4-1BCDFAD9ED61}" type="presOf" srcId="{D8062ED9-17EE-4CBA-A55C-CBAFEC284F0C}" destId="{80914EE3-4760-4E7B-8202-5B2F751E0A85}" srcOrd="0" destOrd="2" presId="urn:microsoft.com/office/officeart/2005/8/layout/vList5"/>
    <dgm:cxn modelId="{8A29455D-B677-4E00-AD3E-939472FC936A}" srcId="{E64A0BB7-20F0-4DAD-A664-27A0F5081DD1}" destId="{D936016B-06B6-4E8E-A6EF-36A00D8EA9E1}" srcOrd="1" destOrd="0" parTransId="{EAFE1159-1B3D-4553-8F6C-31F96DF01BEA}" sibTransId="{43128A46-50EF-4400-9604-A415C4E1B1A1}"/>
    <dgm:cxn modelId="{5CD6365E-2013-497A-A18D-2BCC43F72131}" type="presOf" srcId="{1BA2BE32-A77D-4A2E-A933-B85EF850617B}" destId="{D28DA57C-B6ED-472D-87B2-D8953F050074}" srcOrd="0" destOrd="3" presId="urn:microsoft.com/office/officeart/2005/8/layout/vList5"/>
    <dgm:cxn modelId="{B7AFFC42-04F1-40FF-93EF-AF79FF9AFD5A}" srcId="{759D6517-1B6B-43E0-B5A5-7A6917C70F67}" destId="{E64A0BB7-20F0-4DAD-A664-27A0F5081DD1}" srcOrd="1" destOrd="0" parTransId="{8B09AFBA-DCCA-4AC4-9317-702D13397043}" sibTransId="{DA3E1B31-3471-4733-9421-F4B3BC7FC4AE}"/>
    <dgm:cxn modelId="{32C11767-88C3-40E6-94F7-524BF70E9D9D}" type="presOf" srcId="{D936016B-06B6-4E8E-A6EF-36A00D8EA9E1}" destId="{80914EE3-4760-4E7B-8202-5B2F751E0A85}" srcOrd="0" destOrd="1" presId="urn:microsoft.com/office/officeart/2005/8/layout/vList5"/>
    <dgm:cxn modelId="{9D8ED64D-58B8-4AC9-9539-AF45634651F2}" srcId="{759D6517-1B6B-43E0-B5A5-7A6917C70F67}" destId="{6FBB719F-E058-4EB6-A748-DC31120040FB}" srcOrd="0" destOrd="0" parTransId="{1E501074-DEEF-4E97-B2F2-66A53A86DB70}" sibTransId="{E81B2E6E-8DB4-43A9-84DF-0E06DD3ABAD0}"/>
    <dgm:cxn modelId="{7B142770-3676-4C1A-B8CE-5F2F11F5AB97}" srcId="{6FBB719F-E058-4EB6-A748-DC31120040FB}" destId="{1BA2BE32-A77D-4A2E-A933-B85EF850617B}" srcOrd="3" destOrd="0" parTransId="{6D58C910-6332-4254-8481-BAAADC4C7641}" sibTransId="{42D956EC-34F8-4355-AEC2-8FDD1AE99F18}"/>
    <dgm:cxn modelId="{39453870-426D-4732-8654-358A031AAC16}" srcId="{E64A0BB7-20F0-4DAD-A664-27A0F5081DD1}" destId="{BEB626EE-DD92-4FAF-9B2E-365F56EC5A5B}" srcOrd="0" destOrd="0" parTransId="{167E02FB-2C86-450E-B70D-378A5DB216F3}" sibTransId="{86A1445D-7C33-4EA1-8302-24479C178297}"/>
    <dgm:cxn modelId="{4E30DF53-F7F2-454D-B8A9-9100778475DA}" type="presOf" srcId="{D63941AD-3CDF-4008-83E4-BB5DBD675286}" destId="{D28DA57C-B6ED-472D-87B2-D8953F050074}" srcOrd="0" destOrd="2" presId="urn:microsoft.com/office/officeart/2005/8/layout/vList5"/>
    <dgm:cxn modelId="{E4EA9E74-39C5-43CC-91FD-70F6FD25D524}" srcId="{6FBB719F-E058-4EB6-A748-DC31120040FB}" destId="{B5EFB022-93B1-4B5F-BCFD-6A9318CFCEDC}" srcOrd="0" destOrd="0" parTransId="{74E7325C-22BA-4B4A-B58D-1E854F0C0E05}" sibTransId="{FF46F5B5-1302-45F0-AE8C-9E36443F75FB}"/>
    <dgm:cxn modelId="{63D3F47C-AE30-4DAE-B2D4-870A5F99C6DE}" type="presOf" srcId="{75A000C8-3372-4D1E-A871-663CEFBE8429}" destId="{80914EE3-4760-4E7B-8202-5B2F751E0A85}" srcOrd="0" destOrd="3" presId="urn:microsoft.com/office/officeart/2005/8/layout/vList5"/>
    <dgm:cxn modelId="{ABCF088E-6CF5-4C56-873D-2418B3EEA2DA}" srcId="{6FBB719F-E058-4EB6-A748-DC31120040FB}" destId="{4EE6BD22-F0C1-4AFA-BAD1-A6CD24F0A8FA}" srcOrd="1" destOrd="0" parTransId="{86B46CBD-45A4-45A5-8EBA-E76CBBF13BE4}" sibTransId="{B31FDBC7-EA80-482C-AE3B-C782B29351B4}"/>
    <dgm:cxn modelId="{0C8C34CA-BAC7-4BA6-99A6-B13ABF0BEA0E}" srcId="{E64A0BB7-20F0-4DAD-A664-27A0F5081DD1}" destId="{75A000C8-3372-4D1E-A871-663CEFBE8429}" srcOrd="3" destOrd="0" parTransId="{75A52971-D52F-474C-B2AF-B66E69633673}" sibTransId="{67E05EAE-241C-4599-838C-0C30CC29530A}"/>
    <dgm:cxn modelId="{D16AC5DE-4977-4417-A780-637FCE236A32}" srcId="{E64A0BB7-20F0-4DAD-A664-27A0F5081DD1}" destId="{D8062ED9-17EE-4CBA-A55C-CBAFEC284F0C}" srcOrd="2" destOrd="0" parTransId="{BB5045DE-305B-4A07-9849-89E24308890B}" sibTransId="{B7FC834F-4079-4D49-A33A-79924F702D7B}"/>
    <dgm:cxn modelId="{BE0F49E4-0329-4A5F-BCF8-1A5DB011DA0E}" type="presOf" srcId="{759D6517-1B6B-43E0-B5A5-7A6917C70F67}" destId="{C8BF4160-D806-4355-842A-EA9E84133ED7}" srcOrd="0" destOrd="0" presId="urn:microsoft.com/office/officeart/2005/8/layout/vList5"/>
    <dgm:cxn modelId="{63DD2FED-CF36-45B9-97E8-B3B2A63CB0B1}" type="presOf" srcId="{6FBB719F-E058-4EB6-A748-DC31120040FB}" destId="{CD32B981-FF31-40F2-B24A-4D83BD8F36B9}" srcOrd="0" destOrd="0" presId="urn:microsoft.com/office/officeart/2005/8/layout/vList5"/>
    <dgm:cxn modelId="{18877CEE-634E-4ABC-9EA1-D287DCA9D81C}" type="presOf" srcId="{BEB626EE-DD92-4FAF-9B2E-365F56EC5A5B}" destId="{80914EE3-4760-4E7B-8202-5B2F751E0A85}" srcOrd="0" destOrd="0" presId="urn:microsoft.com/office/officeart/2005/8/layout/vList5"/>
    <dgm:cxn modelId="{91B2CAF1-2A5D-4F84-AC85-A37B4120A9C8}" srcId="{6FBB719F-E058-4EB6-A748-DC31120040FB}" destId="{D63941AD-3CDF-4008-83E4-BB5DBD675286}" srcOrd="2" destOrd="0" parTransId="{19101EC5-E3B6-4762-8946-C18E864F13D4}" sibTransId="{4A242EEC-BDFA-47EF-B9C1-3FBB23460D23}"/>
    <dgm:cxn modelId="{AB6474FD-21ED-4854-BF8A-9C039B420F46}" type="presOf" srcId="{E64A0BB7-20F0-4DAD-A664-27A0F5081DD1}" destId="{9EE075D3-BE46-4B5A-B2E6-D4D85AF75D46}" srcOrd="0" destOrd="0" presId="urn:microsoft.com/office/officeart/2005/8/layout/vList5"/>
    <dgm:cxn modelId="{4966DDE6-1C8A-42D9-B202-5DCF76431A94}" type="presParOf" srcId="{C8BF4160-D806-4355-842A-EA9E84133ED7}" destId="{AA964193-5352-4D30-9809-8157BEA12671}" srcOrd="0" destOrd="0" presId="urn:microsoft.com/office/officeart/2005/8/layout/vList5"/>
    <dgm:cxn modelId="{C8703A37-801C-49E0-BD20-E4185A358A6A}" type="presParOf" srcId="{AA964193-5352-4D30-9809-8157BEA12671}" destId="{CD32B981-FF31-40F2-B24A-4D83BD8F36B9}" srcOrd="0" destOrd="0" presId="urn:microsoft.com/office/officeart/2005/8/layout/vList5"/>
    <dgm:cxn modelId="{EACAB64C-B647-4F4D-8222-B75AE32F6C7A}" type="presParOf" srcId="{AA964193-5352-4D30-9809-8157BEA12671}" destId="{D28DA57C-B6ED-472D-87B2-D8953F050074}" srcOrd="1" destOrd="0" presId="urn:microsoft.com/office/officeart/2005/8/layout/vList5"/>
    <dgm:cxn modelId="{1F01052F-F8A5-42DC-876B-BBBC4E5BAF69}" type="presParOf" srcId="{C8BF4160-D806-4355-842A-EA9E84133ED7}" destId="{043136DC-30B3-4CEE-B131-EDC062678E23}" srcOrd="1" destOrd="0" presId="urn:microsoft.com/office/officeart/2005/8/layout/vList5"/>
    <dgm:cxn modelId="{08134F6E-8BDF-4A47-A3C2-F1F5D13D1660}" type="presParOf" srcId="{C8BF4160-D806-4355-842A-EA9E84133ED7}" destId="{9754A1DE-D389-44A8-AA95-932938CFCC76}" srcOrd="2" destOrd="0" presId="urn:microsoft.com/office/officeart/2005/8/layout/vList5"/>
    <dgm:cxn modelId="{2A33B673-AD83-4A55-BC16-D1C4129B3323}" type="presParOf" srcId="{9754A1DE-D389-44A8-AA95-932938CFCC76}" destId="{9EE075D3-BE46-4B5A-B2E6-D4D85AF75D46}" srcOrd="0" destOrd="0" presId="urn:microsoft.com/office/officeart/2005/8/layout/vList5"/>
    <dgm:cxn modelId="{1BFEB238-DAEF-4D56-9AFF-3906B17F2186}" type="presParOf" srcId="{9754A1DE-D389-44A8-AA95-932938CFCC76}" destId="{80914EE3-4760-4E7B-8202-5B2F751E0A8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5FAD2-50A8-4032-BAEC-E3A01D2341AE}">
      <dsp:nvSpPr>
        <dsp:cNvPr id="0" name=""/>
        <dsp:cNvSpPr/>
      </dsp:nvSpPr>
      <dsp:spPr>
        <a:xfrm>
          <a:off x="0" y="0"/>
          <a:ext cx="8769532" cy="1053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000" b="0" i="0" kern="1200" dirty="0"/>
            <a:t>1. </a:t>
          </a:r>
          <a:r>
            <a:rPr lang="zh-CN" altLang="en-US" sz="4000" b="0" i="0" kern="1200" dirty="0"/>
            <a:t>实验准备</a:t>
          </a:r>
          <a:endParaRPr lang="zh-CN" sz="4000" kern="1200" dirty="0"/>
        </a:p>
      </dsp:txBody>
      <dsp:txXfrm>
        <a:off x="51403" y="51403"/>
        <a:ext cx="8666726" cy="950194"/>
      </dsp:txXfrm>
    </dsp:sp>
    <dsp:sp modelId="{EB2011D0-4BCA-4380-8E2E-EAFBFAFC726F}">
      <dsp:nvSpPr>
        <dsp:cNvPr id="0" name=""/>
        <dsp:cNvSpPr/>
      </dsp:nvSpPr>
      <dsp:spPr>
        <a:xfrm>
          <a:off x="0" y="1192816"/>
          <a:ext cx="8769532" cy="1053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000" b="0" i="0" kern="1200" dirty="0"/>
            <a:t>2. </a:t>
          </a:r>
          <a:r>
            <a:rPr lang="en-US" altLang="zh-CN" sz="4000" b="0" i="0" kern="1200" dirty="0" err="1"/>
            <a:t>CubeMX</a:t>
          </a:r>
          <a:r>
            <a:rPr lang="zh-CN" altLang="en-US" sz="4000" b="0" i="0" kern="1200" dirty="0"/>
            <a:t>配置</a:t>
          </a:r>
          <a:endParaRPr lang="zh-CN" sz="4000" kern="1200" dirty="0"/>
        </a:p>
      </dsp:txBody>
      <dsp:txXfrm>
        <a:off x="51403" y="1244219"/>
        <a:ext cx="8666726" cy="950194"/>
      </dsp:txXfrm>
    </dsp:sp>
    <dsp:sp modelId="{A4C779C8-29D7-4F4F-8146-CD794E9E1D12}">
      <dsp:nvSpPr>
        <dsp:cNvPr id="0" name=""/>
        <dsp:cNvSpPr/>
      </dsp:nvSpPr>
      <dsp:spPr>
        <a:xfrm>
          <a:off x="0" y="2361017"/>
          <a:ext cx="8769532" cy="1053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000" b="0" i="0" kern="1200" dirty="0"/>
            <a:t>3. </a:t>
          </a:r>
          <a:r>
            <a:rPr lang="zh-CN" altLang="en-US" sz="4000" b="0" i="0" kern="1200" dirty="0"/>
            <a:t>代码讲解</a:t>
          </a:r>
        </a:p>
      </dsp:txBody>
      <dsp:txXfrm>
        <a:off x="51403" y="2412420"/>
        <a:ext cx="8666726" cy="950194"/>
      </dsp:txXfrm>
    </dsp:sp>
    <dsp:sp modelId="{15F2F528-08EB-4CEC-A963-20FFBB334CC4}">
      <dsp:nvSpPr>
        <dsp:cNvPr id="0" name=""/>
        <dsp:cNvSpPr/>
      </dsp:nvSpPr>
      <dsp:spPr>
        <a:xfrm>
          <a:off x="0" y="3529217"/>
          <a:ext cx="8769532" cy="1053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000" b="0" i="0" kern="1200" dirty="0"/>
            <a:t>4.  </a:t>
          </a:r>
          <a:r>
            <a:rPr lang="zh-CN" altLang="en-US" sz="4000" b="0" i="0" kern="1200" dirty="0"/>
            <a:t>效果演示</a:t>
          </a:r>
        </a:p>
      </dsp:txBody>
      <dsp:txXfrm>
        <a:off x="51403" y="3580620"/>
        <a:ext cx="8666726" cy="9501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8DA57C-B6ED-472D-87B2-D8953F050074}">
      <dsp:nvSpPr>
        <dsp:cNvPr id="0" name=""/>
        <dsp:cNvSpPr/>
      </dsp:nvSpPr>
      <dsp:spPr>
        <a:xfrm rot="5400000">
          <a:off x="908483" y="313895"/>
          <a:ext cx="2098374" cy="199530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 err="1"/>
            <a:t>GenBotter</a:t>
          </a:r>
          <a:r>
            <a:rPr lang="en-US" sz="1700" kern="1200" dirty="0"/>
            <a:t> </a:t>
          </a:r>
          <a:r>
            <a:rPr lang="zh-CN" sz="1700" kern="1200" dirty="0"/>
            <a:t>电机开发板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 err="1"/>
            <a:t>GenBotter</a:t>
          </a:r>
          <a:r>
            <a:rPr lang="en-US" sz="1700" kern="1200" dirty="0"/>
            <a:t> </a:t>
          </a:r>
          <a:r>
            <a:rPr lang="zh-CN" sz="1700" kern="1200" dirty="0"/>
            <a:t>直流有刷电机驱动板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4.0</a:t>
          </a:r>
          <a:r>
            <a:rPr lang="zh-CN" altLang="en-US" sz="1700" kern="1200" dirty="0"/>
            <a:t>寸</a:t>
          </a:r>
          <a:r>
            <a:rPr lang="zh-CN" sz="1700" kern="1200" dirty="0"/>
            <a:t>并口显示屏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700" kern="1200" dirty="0"/>
            <a:t>直流有刷电机</a:t>
          </a:r>
        </a:p>
      </dsp:txBody>
      <dsp:txXfrm rot="-5400000">
        <a:off x="960016" y="359766"/>
        <a:ext cx="1897905" cy="1903568"/>
      </dsp:txXfrm>
    </dsp:sp>
    <dsp:sp modelId="{CD32B981-FF31-40F2-B24A-4D83BD8F36B9}">
      <dsp:nvSpPr>
        <dsp:cNvPr id="0" name=""/>
        <dsp:cNvSpPr/>
      </dsp:nvSpPr>
      <dsp:spPr>
        <a:xfrm>
          <a:off x="162343" y="65"/>
          <a:ext cx="797673" cy="2622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500" kern="1200" dirty="0"/>
            <a:t>硬件</a:t>
          </a:r>
        </a:p>
      </dsp:txBody>
      <dsp:txXfrm>
        <a:off x="201282" y="39004"/>
        <a:ext cx="719795" cy="2545089"/>
      </dsp:txXfrm>
    </dsp:sp>
    <dsp:sp modelId="{80914EE3-4760-4E7B-8202-5B2F751E0A85}">
      <dsp:nvSpPr>
        <dsp:cNvPr id="0" name=""/>
        <dsp:cNvSpPr/>
      </dsp:nvSpPr>
      <dsp:spPr>
        <a:xfrm rot="5400000">
          <a:off x="908483" y="3068011"/>
          <a:ext cx="2098374" cy="199530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 err="1"/>
            <a:t>CubeMX</a:t>
          </a:r>
          <a:endParaRPr lang="zh-C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Keil MDK</a:t>
          </a:r>
          <a:endParaRPr lang="zh-C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VS Code</a:t>
          </a:r>
          <a:endParaRPr lang="zh-C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700" kern="1200" dirty="0"/>
            <a:t>串口调试助手</a:t>
          </a:r>
          <a:endParaRPr lang="zh-CN" sz="1700" kern="1200" dirty="0"/>
        </a:p>
      </dsp:txBody>
      <dsp:txXfrm rot="-5400000">
        <a:off x="960016" y="3113882"/>
        <a:ext cx="1897905" cy="1903568"/>
      </dsp:txXfrm>
    </dsp:sp>
    <dsp:sp modelId="{9EE075D3-BE46-4B5A-B2E6-D4D85AF75D46}">
      <dsp:nvSpPr>
        <dsp:cNvPr id="0" name=""/>
        <dsp:cNvSpPr/>
      </dsp:nvSpPr>
      <dsp:spPr>
        <a:xfrm>
          <a:off x="162343" y="2754181"/>
          <a:ext cx="797673" cy="2622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500" kern="1200" dirty="0"/>
            <a:t>软件</a:t>
          </a:r>
        </a:p>
      </dsp:txBody>
      <dsp:txXfrm>
        <a:off x="201282" y="2793120"/>
        <a:ext cx="719795" cy="2545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22AB-E850-55D6-BF70-AFD49BA9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5DC59-E56D-8CC8-AD96-B891A3C5D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2B885-EF80-29AB-AA5A-2EDEAF719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01B8C-A88D-B88F-003C-4692EBD19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059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2EE9-0B0A-BB5E-9299-C017AF18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47F151-790E-5C60-EAC1-34E1CC6E9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6AECB-05A3-B382-9E64-8D6BBEBB3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54E931-82B3-66FA-4302-8B72BDBC9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344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2055954" y="2818708"/>
            <a:ext cx="7297052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电机驱动板温度检测</a:t>
            </a:r>
            <a:r>
              <a:rPr kumimoji="1" lang="en-US" altLang="zh-CN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【08-09】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内容目录</a:t>
            </a:r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4418066D-7B8A-06B6-8BF8-68AAD7754025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1785257" y="1306286"/>
          <a:ext cx="8769532" cy="4606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45564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实验系统准备</a:t>
            </a:r>
            <a:r>
              <a:rPr lang="en-US" altLang="zh-CN" dirty="0"/>
              <a:t>-</a:t>
            </a:r>
            <a:r>
              <a:rPr lang="zh-CN" altLang="en-US" dirty="0"/>
              <a:t>硬件连接</a:t>
            </a:r>
          </a:p>
        </p:txBody>
      </p:sp>
      <p:graphicFrame>
        <p:nvGraphicFramePr>
          <p:cNvPr id="2" name="内容占位符 1">
            <a:extLst>
              <a:ext uri="{FF2B5EF4-FFF2-40B4-BE49-F238E27FC236}">
                <a16:creationId xmlns:a16="http://schemas.microsoft.com/office/drawing/2014/main" id="{18A1F6AF-5F0E-ECA0-40E8-2CEEFDDF3C0B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0" y="1105990"/>
          <a:ext cx="3117669" cy="5377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7C1A0E9-01D1-4021-4311-2632D726A46C}"/>
              </a:ext>
            </a:extLst>
          </p:cNvPr>
          <p:cNvSpPr/>
          <p:nvPr/>
        </p:nvSpPr>
        <p:spPr>
          <a:xfrm>
            <a:off x="3969652" y="1035864"/>
            <a:ext cx="2336826" cy="69484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开发电脑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7389DF7A-D9B4-35B5-3EA2-23E393BFEC5C}"/>
              </a:ext>
            </a:extLst>
          </p:cNvPr>
          <p:cNvSpPr/>
          <p:nvPr/>
        </p:nvSpPr>
        <p:spPr>
          <a:xfrm>
            <a:off x="3905251" y="2072348"/>
            <a:ext cx="1022522" cy="5225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下载器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FCABB95-F800-BA4B-164B-29A44CCE0E9A}"/>
              </a:ext>
            </a:extLst>
          </p:cNvPr>
          <p:cNvSpPr/>
          <p:nvPr/>
        </p:nvSpPr>
        <p:spPr>
          <a:xfrm>
            <a:off x="5052257" y="2108213"/>
            <a:ext cx="1318614" cy="5225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type-C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7A84FE8-AC1B-EE3B-A7BC-CF40B367E591}"/>
              </a:ext>
            </a:extLst>
          </p:cNvPr>
          <p:cNvSpPr/>
          <p:nvPr/>
        </p:nvSpPr>
        <p:spPr>
          <a:xfrm>
            <a:off x="3905261" y="3096048"/>
            <a:ext cx="2465608" cy="64767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电机开发板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8CAC81E-8BAE-4A3D-83D1-F4308B555B59}"/>
              </a:ext>
            </a:extLst>
          </p:cNvPr>
          <p:cNvSpPr/>
          <p:nvPr/>
        </p:nvSpPr>
        <p:spPr>
          <a:xfrm>
            <a:off x="7072434" y="3075894"/>
            <a:ext cx="2335632" cy="6879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直流有刷电机驱动板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BAA8AF2-B79D-0520-3F7F-8FA641D7E5E3}"/>
              </a:ext>
            </a:extLst>
          </p:cNvPr>
          <p:cNvSpPr/>
          <p:nvPr/>
        </p:nvSpPr>
        <p:spPr>
          <a:xfrm>
            <a:off x="9623678" y="3075893"/>
            <a:ext cx="2440303" cy="6879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直流有刷电机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58C0A8D-79CE-9BD6-E0AE-D64261633B43}"/>
              </a:ext>
            </a:extLst>
          </p:cNvPr>
          <p:cNvSpPr/>
          <p:nvPr/>
        </p:nvSpPr>
        <p:spPr>
          <a:xfrm>
            <a:off x="3905263" y="3967212"/>
            <a:ext cx="2465604" cy="51664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12V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CD7E517F-7C44-79C5-F5CE-374BC0C7830D}"/>
              </a:ext>
            </a:extLst>
          </p:cNvPr>
          <p:cNvCxnSpPr>
            <a:cxnSpLocks/>
            <a:stCxn id="43" idx="0"/>
            <a:endCxn id="40" idx="2"/>
          </p:cNvCxnSpPr>
          <p:nvPr/>
        </p:nvCxnSpPr>
        <p:spPr>
          <a:xfrm flipV="1">
            <a:off x="5138065" y="3743718"/>
            <a:ext cx="0" cy="223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C3A257B2-0167-8427-0ACF-19038FE714E6}"/>
              </a:ext>
            </a:extLst>
          </p:cNvPr>
          <p:cNvCxnSpPr>
            <a:cxnSpLocks/>
            <a:stCxn id="43" idx="3"/>
            <a:endCxn id="41" idx="2"/>
          </p:cNvCxnSpPr>
          <p:nvPr/>
        </p:nvCxnSpPr>
        <p:spPr>
          <a:xfrm flipV="1">
            <a:off x="6370867" y="3763871"/>
            <a:ext cx="1869383" cy="4616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3165072E-AAE5-9663-F6BF-080617512B6C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 flipV="1">
            <a:off x="9408066" y="3419882"/>
            <a:ext cx="21561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8B650DD3-393F-10A8-942B-BB0ECB431833}"/>
              </a:ext>
            </a:extLst>
          </p:cNvPr>
          <p:cNvCxnSpPr>
            <a:cxnSpLocks/>
            <a:stCxn id="42" idx="0"/>
            <a:endCxn id="41" idx="0"/>
          </p:cNvCxnSpPr>
          <p:nvPr/>
        </p:nvCxnSpPr>
        <p:spPr>
          <a:xfrm rot="16200000" flipH="1" flipV="1">
            <a:off x="9542039" y="1774103"/>
            <a:ext cx="1" cy="2603580"/>
          </a:xfrm>
          <a:prstGeom prst="bentConnector3">
            <a:avLst>
              <a:gd name="adj1" fmla="val -228600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A7A75FA1-9C9B-5029-7110-3203314A433C}"/>
              </a:ext>
            </a:extLst>
          </p:cNvPr>
          <p:cNvCxnSpPr>
            <a:cxnSpLocks/>
            <a:stCxn id="41" idx="1"/>
            <a:endCxn id="40" idx="3"/>
          </p:cNvCxnSpPr>
          <p:nvPr/>
        </p:nvCxnSpPr>
        <p:spPr>
          <a:xfrm flipH="1">
            <a:off x="6370869" y="3419883"/>
            <a:ext cx="70156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D4D56036-DAB5-C3E7-4EFE-D721B8492280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5711564" y="2630727"/>
            <a:ext cx="0" cy="462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9BBD0F39-EDB3-5D43-208B-204F780A6BE8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4416512" y="2594862"/>
            <a:ext cx="0" cy="498299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66E67EF3-B737-D020-46F3-79AAB9B76000}"/>
              </a:ext>
            </a:extLst>
          </p:cNvPr>
          <p:cNvCxnSpPr>
            <a:cxnSpLocks/>
            <a:stCxn id="39" idx="0"/>
          </p:cNvCxnSpPr>
          <p:nvPr/>
        </p:nvCxnSpPr>
        <p:spPr>
          <a:xfrm flipH="1" flipV="1">
            <a:off x="5711563" y="1715295"/>
            <a:ext cx="1" cy="392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05515A5-4DDC-804C-1EF2-238E9EDF27AB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4416511" y="1724094"/>
            <a:ext cx="1" cy="348254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BBB76EF1-9B26-38B3-CD01-BDF6A6C59A4E}"/>
              </a:ext>
            </a:extLst>
          </p:cNvPr>
          <p:cNvSpPr txBox="1"/>
          <p:nvPr/>
        </p:nvSpPr>
        <p:spPr>
          <a:xfrm>
            <a:off x="10360610" y="2523240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霍尔编码器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6B8DF3C-15D9-9F25-9135-5601492FAEF3}"/>
              </a:ext>
            </a:extLst>
          </p:cNvPr>
          <p:cNvSpPr txBox="1"/>
          <p:nvPr/>
        </p:nvSpPr>
        <p:spPr>
          <a:xfrm>
            <a:off x="8771484" y="2497857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霍尔编码器接口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8FA4082-7AE2-59DB-EF4B-FD80E12FD060}"/>
              </a:ext>
            </a:extLst>
          </p:cNvPr>
          <p:cNvSpPr txBox="1"/>
          <p:nvPr/>
        </p:nvSpPr>
        <p:spPr>
          <a:xfrm>
            <a:off x="9570329" y="3740610"/>
            <a:ext cx="17443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电机驱动接口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M+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M-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1318BE1-A07D-144A-AF21-1F674BFF0348}"/>
              </a:ext>
            </a:extLst>
          </p:cNvPr>
          <p:cNvSpPr txBox="1"/>
          <p:nvPr/>
        </p:nvSpPr>
        <p:spPr>
          <a:xfrm>
            <a:off x="8240249" y="3942932"/>
            <a:ext cx="957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电源接口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F398B3B-8F9D-E673-F3B9-328CAFA957CC}"/>
              </a:ext>
            </a:extLst>
          </p:cNvPr>
          <p:cNvSpPr txBox="1"/>
          <p:nvPr/>
        </p:nvSpPr>
        <p:spPr>
          <a:xfrm>
            <a:off x="6544041" y="342531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排线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0F27807-4FC7-84A1-DFBA-9EDDDD8E2715}"/>
              </a:ext>
            </a:extLst>
          </p:cNvPr>
          <p:cNvSpPr txBox="1"/>
          <p:nvPr/>
        </p:nvSpPr>
        <p:spPr>
          <a:xfrm>
            <a:off x="5812521" y="3257676"/>
            <a:ext cx="6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PM1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9BD7C83-195B-2F8E-156D-39C90E1A31FC}"/>
              </a:ext>
            </a:extLst>
          </p:cNvPr>
          <p:cNvSpPr txBox="1"/>
          <p:nvPr/>
        </p:nvSpPr>
        <p:spPr>
          <a:xfrm>
            <a:off x="5810777" y="2641567"/>
            <a:ext cx="792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681B290-6256-534B-8C7C-0410A1F2B730}"/>
              </a:ext>
            </a:extLst>
          </p:cNvPr>
          <p:cNvSpPr txBox="1"/>
          <p:nvPr/>
        </p:nvSpPr>
        <p:spPr>
          <a:xfrm>
            <a:off x="5732556" y="1769658"/>
            <a:ext cx="638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D70EA5D-A0DC-A690-30A9-E0CDC5F7DBD8}"/>
              </a:ext>
            </a:extLst>
          </p:cNvPr>
          <p:cNvSpPr txBox="1"/>
          <p:nvPr/>
        </p:nvSpPr>
        <p:spPr>
          <a:xfrm>
            <a:off x="4515725" y="2630260"/>
            <a:ext cx="54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SWD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958C93B-DCC1-FB4E-CFC3-467F33EEC5DB}"/>
              </a:ext>
            </a:extLst>
          </p:cNvPr>
          <p:cNvSpPr txBox="1"/>
          <p:nvPr/>
        </p:nvSpPr>
        <p:spPr>
          <a:xfrm>
            <a:off x="4470842" y="1735134"/>
            <a:ext cx="638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CDDAC8CA-AF26-AA95-1199-DE70936D99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5215" y="4913509"/>
            <a:ext cx="3032934" cy="1881392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99463425-6A4D-4933-B54B-2D45082E8B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9123" y="5085426"/>
            <a:ext cx="2154555" cy="1582059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094D63E6-D5B4-B373-D3AC-90E0D59AC7AB}"/>
              </a:ext>
            </a:extLst>
          </p:cNvPr>
          <p:cNvSpPr txBox="1"/>
          <p:nvPr/>
        </p:nvSpPr>
        <p:spPr>
          <a:xfrm>
            <a:off x="9548498" y="3296148"/>
            <a:ext cx="5533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1/6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B89D9A2-0074-EB39-7954-F9E93D4E421F}"/>
              </a:ext>
            </a:extLst>
          </p:cNvPr>
          <p:cNvSpPr txBox="1"/>
          <p:nvPr/>
        </p:nvSpPr>
        <p:spPr>
          <a:xfrm>
            <a:off x="10859143" y="2822154"/>
            <a:ext cx="596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2~5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10495E7C-157C-2DF1-FBD0-AB3442403EE3}"/>
              </a:ext>
            </a:extLst>
          </p:cNvPr>
          <p:cNvSpPr txBox="1"/>
          <p:nvPr/>
        </p:nvSpPr>
        <p:spPr>
          <a:xfrm>
            <a:off x="6544041" y="1294014"/>
            <a:ext cx="5314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与前面的霍尔、电流、电压检测实验接线一样</a:t>
            </a:r>
          </a:p>
        </p:txBody>
      </p:sp>
      <p:sp>
        <p:nvSpPr>
          <p:cNvPr id="3" name="箭头: 左右 2">
            <a:extLst>
              <a:ext uri="{FF2B5EF4-FFF2-40B4-BE49-F238E27FC236}">
                <a16:creationId xmlns:a16="http://schemas.microsoft.com/office/drawing/2014/main" id="{D9FA32D8-78EA-64C9-5E97-88E330BA1C16}"/>
              </a:ext>
            </a:extLst>
          </p:cNvPr>
          <p:cNvSpPr/>
          <p:nvPr/>
        </p:nvSpPr>
        <p:spPr>
          <a:xfrm>
            <a:off x="6602982" y="5930537"/>
            <a:ext cx="1330527" cy="14390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E02BEE-60BD-B744-28CB-48812ABBAB0D}"/>
              </a:ext>
            </a:extLst>
          </p:cNvPr>
          <p:cNvSpPr txBox="1"/>
          <p:nvPr/>
        </p:nvSpPr>
        <p:spPr>
          <a:xfrm>
            <a:off x="9693311" y="5775319"/>
            <a:ext cx="23316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关注温度采集的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PM1_VTEMP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端口</a:t>
            </a:r>
          </a:p>
        </p:txBody>
      </p:sp>
    </p:spTree>
    <p:extLst>
      <p:ext uri="{BB962C8B-B14F-4D97-AF65-F5344CB8AC3E}">
        <p14:creationId xmlns:p14="http://schemas.microsoft.com/office/powerpoint/2010/main" val="372302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DE58FE-369B-382E-CFC3-693CF979F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实验系统准备</a:t>
            </a:r>
            <a:r>
              <a:rPr lang="en-US" altLang="zh-CN" dirty="0"/>
              <a:t>-</a:t>
            </a:r>
            <a:r>
              <a:rPr lang="zh-CN" altLang="en-US" dirty="0"/>
              <a:t>软件代码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216C3A-72AB-5DEE-5542-979661FB70D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8"/>
            <a:ext cx="10621067" cy="1071034"/>
          </a:xfrm>
        </p:spPr>
        <p:txBody>
          <a:bodyPr>
            <a:normAutofit fontScale="77500" lnSpcReduction="20000"/>
          </a:bodyPr>
          <a:lstStyle/>
          <a:p>
            <a:pPr marL="457200" indent="-457200" latinLnBrk="1">
              <a:buFont typeface="Arial" panose="020B0604020202020204" pitchFamily="34" charset="0"/>
              <a:buChar char="•"/>
            </a:pPr>
            <a:r>
              <a:rPr lang="zh-CN" altLang="en-US" sz="2400" dirty="0"/>
              <a:t>复制上一个案例“</a:t>
            </a:r>
            <a:r>
              <a:rPr lang="en-US" altLang="zh-CN" sz="2400" dirty="0"/>
              <a:t>brush_motor_4</a:t>
            </a:r>
            <a:r>
              <a:rPr lang="zh-CN" altLang="en-US" sz="2400" dirty="0"/>
              <a:t>”并重命名为“</a:t>
            </a:r>
            <a:r>
              <a:rPr lang="en-US" altLang="zh-CN" sz="2400" dirty="0"/>
              <a:t>brush_motor_5</a:t>
            </a:r>
            <a:r>
              <a:rPr lang="zh-CN" altLang="en-US" sz="2400" dirty="0"/>
              <a:t>”</a:t>
            </a:r>
            <a:endParaRPr lang="en-US" altLang="zh-CN" sz="2400" dirty="0"/>
          </a:p>
          <a:p>
            <a:pPr marL="457200" indent="-457200" latinLnBrk="1">
              <a:buFont typeface="Arial" panose="020B0604020202020204" pitchFamily="34" charset="0"/>
              <a:buChar char="•"/>
            </a:pPr>
            <a:r>
              <a:rPr lang="zh-CN" altLang="en-US" sz="2400" dirty="0"/>
              <a:t>将其中的“</a:t>
            </a:r>
            <a:r>
              <a:rPr lang="en-US" altLang="zh-CN" sz="2400" dirty="0"/>
              <a:t>brush_motor_4.ioc</a:t>
            </a:r>
            <a:r>
              <a:rPr lang="zh-CN" altLang="en-US" sz="2400" dirty="0"/>
              <a:t>”文件重命名为“</a:t>
            </a:r>
            <a:r>
              <a:rPr lang="en-US" altLang="zh-CN" sz="2400" dirty="0"/>
              <a:t>brush_motor_5.ioc”</a:t>
            </a:r>
          </a:p>
          <a:p>
            <a:pPr marL="457200" indent="-457200" latinLnBrk="1">
              <a:buFont typeface="Arial" panose="020B0604020202020204" pitchFamily="34" charset="0"/>
              <a:buChar char="•"/>
            </a:pPr>
            <a:r>
              <a:rPr lang="zh-CN" altLang="en-US" sz="2400" dirty="0"/>
              <a:t>修改“</a:t>
            </a:r>
            <a:r>
              <a:rPr lang="en-US" altLang="zh-CN" sz="2400" dirty="0"/>
              <a:t>MDK-ARM</a:t>
            </a:r>
            <a:r>
              <a:rPr lang="zh-CN" altLang="en-US" sz="2400" dirty="0"/>
              <a:t>”文件夹中的内容</a:t>
            </a:r>
            <a:endParaRPr lang="en-US" altLang="zh-CN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F33EBD-FA4B-F4A8-FE20-E63156B6E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57" y="2413428"/>
            <a:ext cx="2295525" cy="26384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1467B61-E290-C496-185E-2A61DBF67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8334" y="2351515"/>
            <a:ext cx="2343150" cy="2762250"/>
          </a:xfrm>
          <a:prstGeom prst="rect">
            <a:avLst/>
          </a:prstGeom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9BFE0716-AA1A-1A01-FF11-EFCE5BEAFCAD}"/>
              </a:ext>
            </a:extLst>
          </p:cNvPr>
          <p:cNvSpPr/>
          <p:nvPr/>
        </p:nvSpPr>
        <p:spPr>
          <a:xfrm>
            <a:off x="3317966" y="3666309"/>
            <a:ext cx="1166948" cy="2873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FBCB5B-A79C-240C-8E56-BF32F1DC164D}"/>
              </a:ext>
            </a:extLst>
          </p:cNvPr>
          <p:cNvSpPr txBox="1"/>
          <p:nvPr/>
        </p:nvSpPr>
        <p:spPr>
          <a:xfrm>
            <a:off x="1346993" y="506322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DBBA6C-0562-D6A2-5767-895D0D5387AB}"/>
              </a:ext>
            </a:extLst>
          </p:cNvPr>
          <p:cNvSpPr txBox="1"/>
          <p:nvPr/>
        </p:nvSpPr>
        <p:spPr>
          <a:xfrm>
            <a:off x="5218837" y="512514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C7A80D0-0B4E-E133-691A-AC6660177E1A}"/>
              </a:ext>
            </a:extLst>
          </p:cNvPr>
          <p:cNvSpPr txBox="1"/>
          <p:nvPr/>
        </p:nvSpPr>
        <p:spPr>
          <a:xfrm>
            <a:off x="8353923" y="5538699"/>
            <a:ext cx="1566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（转下页续）</a:t>
            </a:r>
          </a:p>
        </p:txBody>
      </p:sp>
    </p:spTree>
    <p:extLst>
      <p:ext uri="{BB962C8B-B14F-4D97-AF65-F5344CB8AC3E}">
        <p14:creationId xmlns:p14="http://schemas.microsoft.com/office/powerpoint/2010/main" val="570720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63098-4ABF-2AD6-0222-60B2494E2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D7751E-DF07-522C-21D5-BAC00343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实验系统准备</a:t>
            </a:r>
            <a:r>
              <a:rPr lang="en-US" altLang="zh-CN" dirty="0"/>
              <a:t>-</a:t>
            </a:r>
            <a:r>
              <a:rPr lang="zh-CN" altLang="en-US" dirty="0"/>
              <a:t>软件代码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BC7A36-BF27-5FF8-C2D0-0116EDA5E7C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8"/>
            <a:ext cx="10621067" cy="583353"/>
          </a:xfrm>
        </p:spPr>
        <p:txBody>
          <a:bodyPr>
            <a:normAutofit/>
          </a:bodyPr>
          <a:lstStyle/>
          <a:p>
            <a:pPr marL="457200" indent="-457200" latinLnBrk="1">
              <a:buFont typeface="Arial" panose="020B0604020202020204" pitchFamily="34" charset="0"/>
              <a:buChar char="•"/>
            </a:pPr>
            <a:r>
              <a:rPr lang="zh-CN" altLang="en-US" sz="2400" dirty="0"/>
              <a:t>修改</a:t>
            </a:r>
            <a:r>
              <a:rPr lang="en-US" altLang="zh-CN" sz="2400" dirty="0"/>
              <a:t>brush_motor_5.uvprojx</a:t>
            </a:r>
            <a:r>
              <a:rPr lang="zh-CN" altLang="en-US" sz="2400" dirty="0"/>
              <a:t>的工程配置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C76F973-01BE-3D10-FC7A-7F51C4F084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90" y="1777702"/>
            <a:ext cx="5091124" cy="386925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4A4D5BD-DCE2-6088-8D83-0786B4D89FD4}"/>
              </a:ext>
            </a:extLst>
          </p:cNvPr>
          <p:cNvSpPr txBox="1"/>
          <p:nvPr/>
        </p:nvSpPr>
        <p:spPr>
          <a:xfrm>
            <a:off x="3280854" y="3098728"/>
            <a:ext cx="1670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改为：</a:t>
            </a:r>
            <a:endParaRPr lang="en-US" altLang="zh-CN" dirty="0"/>
          </a:p>
          <a:p>
            <a:r>
              <a:rPr lang="en-US" altLang="zh-CN" dirty="0"/>
              <a:t>brush_motor_5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D56BDBA-5CAB-CC13-18E0-79D0E0977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775" y="1777702"/>
            <a:ext cx="5219185" cy="3966581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16CEE68-A309-DD70-BAC4-40168AFAA49C}"/>
              </a:ext>
            </a:extLst>
          </p:cNvPr>
          <p:cNvSpPr txBox="1"/>
          <p:nvPr/>
        </p:nvSpPr>
        <p:spPr>
          <a:xfrm>
            <a:off x="624358" y="4145281"/>
            <a:ext cx="2656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修改</a:t>
            </a:r>
            <a:r>
              <a:rPr lang="en-US" altLang="zh-CN" dirty="0"/>
              <a:t>Folder for Objects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brush_motor_5</a:t>
            </a:r>
            <a:endParaRPr lang="zh-CN" altLang="en-US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DCBDE1C-440E-6F2A-25AD-19F753AB286B}"/>
              </a:ext>
            </a:extLst>
          </p:cNvPr>
          <p:cNvCxnSpPr/>
          <p:nvPr/>
        </p:nvCxnSpPr>
        <p:spPr>
          <a:xfrm flipH="1" flipV="1">
            <a:off x="3892731" y="2612571"/>
            <a:ext cx="200298" cy="470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21E19FD-ED97-A501-F9D0-5DBC28C94567}"/>
              </a:ext>
            </a:extLst>
          </p:cNvPr>
          <p:cNvCxnSpPr>
            <a:stCxn id="17" idx="0"/>
          </p:cNvCxnSpPr>
          <p:nvPr/>
        </p:nvCxnSpPr>
        <p:spPr>
          <a:xfrm flipH="1" flipV="1">
            <a:off x="1506583" y="2673531"/>
            <a:ext cx="446023" cy="1471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3DBE130F-6BD6-DF62-EE5D-421EA2A8B921}"/>
              </a:ext>
            </a:extLst>
          </p:cNvPr>
          <p:cNvCxnSpPr>
            <a:stCxn id="17" idx="0"/>
          </p:cNvCxnSpPr>
          <p:nvPr/>
        </p:nvCxnSpPr>
        <p:spPr>
          <a:xfrm flipV="1">
            <a:off x="1952606" y="2969623"/>
            <a:ext cx="128743" cy="1175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4C150F2A-B9FC-7823-2C3D-C55544BE7C56}"/>
              </a:ext>
            </a:extLst>
          </p:cNvPr>
          <p:cNvSpPr txBox="1"/>
          <p:nvPr/>
        </p:nvSpPr>
        <p:spPr>
          <a:xfrm>
            <a:off x="1642767" y="557371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F65AB05-9919-AE28-3663-B3141C20FC45}"/>
              </a:ext>
            </a:extLst>
          </p:cNvPr>
          <p:cNvSpPr txBox="1"/>
          <p:nvPr/>
        </p:nvSpPr>
        <p:spPr>
          <a:xfrm>
            <a:off x="8716785" y="570881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0EC8763C-04B3-850D-B71E-366F6242A02B}"/>
              </a:ext>
            </a:extLst>
          </p:cNvPr>
          <p:cNvSpPr/>
          <p:nvPr/>
        </p:nvSpPr>
        <p:spPr>
          <a:xfrm>
            <a:off x="5495109" y="3760992"/>
            <a:ext cx="1050666" cy="3842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343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F5B1-56F1-7FB3-C99A-F65C87E7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F16F9BE7-9E72-F164-C557-26993843C8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931" y="873595"/>
            <a:ext cx="5478458" cy="5984405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7607EF24-1BCC-9855-0824-7FD83ED5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2.</a:t>
            </a:r>
            <a:r>
              <a:rPr lang="zh-CN" altLang="en-US" sz="3200" dirty="0"/>
              <a:t>  实验步骤</a:t>
            </a:r>
            <a:r>
              <a:rPr lang="en-US" altLang="zh-CN" sz="3200" dirty="0"/>
              <a:t>1——</a:t>
            </a:r>
            <a:r>
              <a:rPr lang="en-US" altLang="zh-CN" sz="3200" dirty="0" err="1"/>
              <a:t>CubeMX</a:t>
            </a:r>
            <a:r>
              <a:rPr lang="zh-CN" altLang="en-US" sz="3200" dirty="0"/>
              <a:t>配置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8AE8AD5-7C74-3CF8-4E8B-22E413C687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87" y="944972"/>
            <a:ext cx="3209842" cy="178701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9BE8963-3700-823B-26B2-51E84200D2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31" y="3232513"/>
            <a:ext cx="4059763" cy="2079715"/>
          </a:xfrm>
          <a:prstGeom prst="rect">
            <a:avLst/>
          </a:prstGeom>
        </p:spPr>
      </p:pic>
      <p:sp>
        <p:nvSpPr>
          <p:cNvPr id="6" name="箭头: 左右 5">
            <a:extLst>
              <a:ext uri="{FF2B5EF4-FFF2-40B4-BE49-F238E27FC236}">
                <a16:creationId xmlns:a16="http://schemas.microsoft.com/office/drawing/2014/main" id="{4D6F895B-F494-8185-C0F1-69B5AA7D04AF}"/>
              </a:ext>
            </a:extLst>
          </p:cNvPr>
          <p:cNvSpPr/>
          <p:nvPr/>
        </p:nvSpPr>
        <p:spPr>
          <a:xfrm rot="5400000">
            <a:off x="1517313" y="2885227"/>
            <a:ext cx="697018" cy="390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22F564-297B-6D7F-3933-C8498E4FBE8A}"/>
              </a:ext>
            </a:extLst>
          </p:cNvPr>
          <p:cNvSpPr txBox="1"/>
          <p:nvPr/>
        </p:nvSpPr>
        <p:spPr>
          <a:xfrm>
            <a:off x="5225142" y="2470371"/>
            <a:ext cx="5365247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PA0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：使用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ADC1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，独立工作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074F5F35-1961-6DD7-EDB9-E4E4F670093A}"/>
              </a:ext>
            </a:extLst>
          </p:cNvPr>
          <p:cNvCxnSpPr>
            <a:cxnSpLocks/>
          </p:cNvCxnSpPr>
          <p:nvPr/>
        </p:nvCxnSpPr>
        <p:spPr>
          <a:xfrm>
            <a:off x="915638" y="1994263"/>
            <a:ext cx="634488" cy="22990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5DF44531-5192-5C7F-320A-2A20C217F77B}"/>
              </a:ext>
            </a:extLst>
          </p:cNvPr>
          <p:cNvSpPr txBox="1"/>
          <p:nvPr/>
        </p:nvSpPr>
        <p:spPr>
          <a:xfrm>
            <a:off x="9162131" y="6313928"/>
            <a:ext cx="3029869" cy="33855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Rank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的顺序决定了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的顺序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5B5A0C6-CFF3-6FC7-17AB-77231F8063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30" y="5312227"/>
            <a:ext cx="3740726" cy="128342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2C5B0634-1698-0D43-3C86-81551B7150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789" y="1509864"/>
            <a:ext cx="3686175" cy="65722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2A8697F-FAE9-E87E-F548-6AD8CA35ADDB}"/>
              </a:ext>
            </a:extLst>
          </p:cNvPr>
          <p:cNvSpPr txBox="1"/>
          <p:nvPr/>
        </p:nvSpPr>
        <p:spPr>
          <a:xfrm>
            <a:off x="8068789" y="1140532"/>
            <a:ext cx="4126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给</a:t>
            </a:r>
            <a:r>
              <a:rPr lang="en-US" altLang="zh-CN" dirty="0"/>
              <a:t>ADC1_IN0</a:t>
            </a:r>
            <a:r>
              <a:rPr lang="zh-CN" altLang="en-US" dirty="0"/>
              <a:t>的</a:t>
            </a:r>
            <a:r>
              <a:rPr lang="en-US" altLang="zh-CN" dirty="0"/>
              <a:t>IO</a:t>
            </a:r>
            <a:r>
              <a:rPr lang="zh-CN" altLang="en-US" dirty="0"/>
              <a:t>口编辑一个用户标签</a:t>
            </a:r>
          </a:p>
        </p:txBody>
      </p:sp>
    </p:spTree>
    <p:extLst>
      <p:ext uri="{BB962C8B-B14F-4D97-AF65-F5344CB8AC3E}">
        <p14:creationId xmlns:p14="http://schemas.microsoft.com/office/powerpoint/2010/main" val="975183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1FB9E-35C1-3E6A-9692-D9E2B434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altLang="zh-CN" dirty="0" err="1"/>
              <a:t>CubeMX</a:t>
            </a:r>
            <a:r>
              <a:rPr lang="zh-CN" altLang="en-US" dirty="0"/>
              <a:t>，</a:t>
            </a:r>
            <a:r>
              <a:rPr lang="en-US" altLang="zh-CN" dirty="0"/>
              <a:t>ADC</a:t>
            </a:r>
            <a:r>
              <a:rPr lang="zh-CN" altLang="en-US" dirty="0"/>
              <a:t>参数解释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7E490AAE-98D8-EE9C-2BEC-2679D8E150BA}"/>
              </a:ext>
            </a:extLst>
          </p:cNvPr>
          <p:cNvGraphicFramePr>
            <a:graphicFrameLocks noGrp="1"/>
          </p:cNvGraphicFramePr>
          <p:nvPr/>
        </p:nvGraphicFramePr>
        <p:xfrm>
          <a:off x="3230880" y="832932"/>
          <a:ext cx="8961120" cy="6025064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2481943">
                  <a:extLst>
                    <a:ext uri="{9D8B030D-6E8A-4147-A177-3AD203B41FA5}">
                      <a16:colId xmlns:a16="http://schemas.microsoft.com/office/drawing/2014/main" val="522714887"/>
                    </a:ext>
                  </a:extLst>
                </a:gridCol>
                <a:gridCol w="6479177">
                  <a:extLst>
                    <a:ext uri="{9D8B030D-6E8A-4147-A177-3AD203B41FA5}">
                      <a16:colId xmlns:a16="http://schemas.microsoft.com/office/drawing/2014/main" val="4181313984"/>
                    </a:ext>
                  </a:extLst>
                </a:gridCol>
              </a:tblGrid>
              <a:tr h="2140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参数名称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参数意义与作用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2945526686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`Mode`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的工作模式。独立模式下，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ADC1、ADC2、ADC3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互不干扰，各自独立工作。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3050167487"/>
                  </a:ext>
                </a:extLst>
              </a:tr>
              <a:tr h="4579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`Clock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Prescaler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时钟源。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时钟由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APB2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总线时钟（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PCLK2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）分频得到。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F407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最大时钟频率为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36MHz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446020414"/>
                  </a:ext>
                </a:extLst>
              </a:tr>
              <a:tr h="4810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`Resolution`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分辨率和转换时间。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位分辨率提供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4096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级量化，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个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时钟周期是完成一次转换所需的最小时间。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807587088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`Data Alignment`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结果寄存器的数据对齐方式。右对齐意味着数据放在寄存器的低位。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2877312303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`Scan Conversion Mode`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启用扫描模式，允许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按顺序转换多个通道。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127637481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`Continuous Conversion Mode`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启用连续转换模式。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在启动后会自动、无限次地进行转换。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773908965"/>
                  </a:ext>
                </a:extLst>
              </a:tr>
              <a:tr h="3236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`Discontinuous Conversion Mode`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启用间断模式，用于在扫描模式下将通道分组转换。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2092728758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`DMA Continuous Requests`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启用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连续请求。每次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转换完成后，都会向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控制器发出请求。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176057556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`End Of Conversion Selection`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选择转换结束标志（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EOC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）的触发条件。此设置表示在单通道转换结束后置位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EOC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标志。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480351742"/>
                  </a:ext>
                </a:extLst>
              </a:tr>
              <a:tr h="2434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`Number Of Conversion`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设置常规转换序列中的通道数量。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2353072450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`External Trigger Conversion Source`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设置启动常规转换的触发源。软件启动意味着通过代码调用函数来启动转换。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4175007996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`External Trigger Conversion Edge`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设置外部触发信号的边沿（上升沿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下降沿）。由于未启用外部触发，此项无效。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3600575466"/>
                  </a:ext>
                </a:extLst>
              </a:tr>
              <a:tr h="2434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`Rank`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设置通道在转换序列中的序号。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36298378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`Channel`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选择要转换的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通道。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513747357"/>
                  </a:ext>
                </a:extLst>
              </a:tr>
              <a:tr h="4810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`Sampling Time`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的采样时间。较长的采样时间可以提高精度，尤其是在信号源阻抗较高或存在噪声的情况下。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171185171"/>
                  </a:ext>
                </a:extLst>
              </a:tr>
              <a:tr h="2434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`Number Of Conversions`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设置注入转换序列中的通道数量。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043894168"/>
                  </a:ext>
                </a:extLst>
              </a:tr>
              <a:tr h="2434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`Enable Analog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WatchDog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Mode`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启用模拟看门狗功能，当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值超出预设阈值时产生中断。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4188437308"/>
                  </a:ext>
                </a:extLst>
              </a:tr>
            </a:tbl>
          </a:graphicData>
        </a:graphic>
      </p:graphicFrame>
      <p:pic>
        <p:nvPicPr>
          <p:cNvPr id="6" name="内容占位符 5" descr="图形用户界面&#10;&#10;AI 生成的内容可能不正确。">
            <a:extLst>
              <a:ext uri="{FF2B5EF4-FFF2-40B4-BE49-F238E27FC236}">
                <a16:creationId xmlns:a16="http://schemas.microsoft.com/office/drawing/2014/main" id="{4A90A5CB-C2A3-BDB8-BE48-7FA9655CF50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" y="914764"/>
            <a:ext cx="3074126" cy="317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8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8F7E-ABCF-13FA-71F1-5AE281A1C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23158A1-C324-89E6-D498-905FA29D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 </a:t>
            </a:r>
            <a:r>
              <a:rPr lang="en-US" altLang="zh-CN" dirty="0" err="1"/>
              <a:t>CubeMX</a:t>
            </a:r>
            <a:r>
              <a:rPr lang="zh-CN" altLang="en-US" dirty="0"/>
              <a:t>，</a:t>
            </a:r>
            <a:r>
              <a:rPr lang="en-US" altLang="zh-CN" dirty="0"/>
              <a:t>ADC</a:t>
            </a:r>
            <a:r>
              <a:rPr lang="zh-CN" altLang="en-US" dirty="0"/>
              <a:t>参数解释</a:t>
            </a:r>
            <a:r>
              <a:rPr lang="en-US" altLang="zh-CN" dirty="0"/>
              <a:t>2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F91791A-7A34-148A-5691-02A220A5C00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64" y="976799"/>
            <a:ext cx="7839075" cy="1200150"/>
          </a:xfr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B22AFCC-1ACD-068E-EACA-86E5739545D7}"/>
              </a:ext>
            </a:extLst>
          </p:cNvPr>
          <p:cNvGraphicFramePr>
            <a:graphicFrameLocks noGrp="1"/>
          </p:cNvGraphicFramePr>
          <p:nvPr/>
        </p:nvGraphicFramePr>
        <p:xfrm>
          <a:off x="664028" y="2388427"/>
          <a:ext cx="11449594" cy="3792067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579152">
                  <a:extLst>
                    <a:ext uri="{9D8B030D-6E8A-4147-A177-3AD203B41FA5}">
                      <a16:colId xmlns:a16="http://schemas.microsoft.com/office/drawing/2014/main" val="3231221286"/>
                    </a:ext>
                  </a:extLst>
                </a:gridCol>
                <a:gridCol w="904072">
                  <a:extLst>
                    <a:ext uri="{9D8B030D-6E8A-4147-A177-3AD203B41FA5}">
                      <a16:colId xmlns:a16="http://schemas.microsoft.com/office/drawing/2014/main" val="618548237"/>
                    </a:ext>
                  </a:extLst>
                </a:gridCol>
                <a:gridCol w="3128564">
                  <a:extLst>
                    <a:ext uri="{9D8B030D-6E8A-4147-A177-3AD203B41FA5}">
                      <a16:colId xmlns:a16="http://schemas.microsoft.com/office/drawing/2014/main" val="3715987180"/>
                    </a:ext>
                  </a:extLst>
                </a:gridCol>
                <a:gridCol w="5837806">
                  <a:extLst>
                    <a:ext uri="{9D8B030D-6E8A-4147-A177-3AD203B41FA5}">
                      <a16:colId xmlns:a16="http://schemas.microsoft.com/office/drawing/2014/main" val="3164117658"/>
                    </a:ext>
                  </a:extLst>
                </a:gridCol>
              </a:tblGrid>
              <a:tr h="5790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中断源名称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Enabled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参数意义与作用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针对本项目的评价与建议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1574398684"/>
                  </a:ext>
                </a:extLst>
              </a:tr>
              <a:tr h="14529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ADC1, ADC2 and ADC3 global interrupts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✅ 勾选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这是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ADC1/2/3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的全局中断。当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转换完成、发生错误或触发看门狗时，会进入这个中断服务函数（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ISR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）。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主要依赖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，但保留此中断可以用于：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捕获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错误（如溢出）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调试时确认转换是否完成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作为备用方案，在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失效时使用轮询。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">
                        <a:buFontTx/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优先级设置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：抢占优先级为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，表示它比大多数外设中断（如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UART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、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I2C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）优先级高，但低于系统关键中断（如</a:t>
                      </a:r>
                      <a:r>
                        <a:rPr lang="en-US" altLang="zh-CN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SysTick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）。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504636075"/>
                  </a:ext>
                </a:extLst>
              </a:tr>
              <a:tr h="17600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DMA2 stream0 global interrupt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✅ 勾选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这是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DMA2 Stream 0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的全局中断。当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传输完成、发生错误或半传输时，会进入这个中断服务函数。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中断主要有两个用途：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传输完成通知：在每次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传输完成后（循环模式下，每完成一次转换就会触发），你可以在此中断中更新状态变量或执行其他操作。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错误处理：捕获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传输错误。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">
                        <a:buFontTx/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优先级设置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：抢占优先级为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，是最高优先级。这确保了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传输事件能被及时处理，避免数据丢失或缓冲区溢出。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3842552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7875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544A4-BB61-F10D-DA85-FD241263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</a:t>
            </a:r>
            <a:r>
              <a:rPr lang="zh-CN" altLang="en-US" dirty="0"/>
              <a:t> </a:t>
            </a:r>
            <a:r>
              <a:rPr lang="en-US" altLang="zh-CN" dirty="0" err="1"/>
              <a:t>CubeMX</a:t>
            </a:r>
            <a:r>
              <a:rPr lang="zh-CN" altLang="en-US" dirty="0"/>
              <a:t>，</a:t>
            </a:r>
            <a:r>
              <a:rPr lang="en-US" altLang="zh-CN" dirty="0"/>
              <a:t>ADC</a:t>
            </a:r>
            <a:r>
              <a:rPr lang="zh-CN" altLang="en-US" dirty="0"/>
              <a:t>参数解释</a:t>
            </a:r>
            <a:r>
              <a:rPr lang="en-US" altLang="zh-CN" dirty="0"/>
              <a:t>3</a:t>
            </a:r>
            <a:endParaRPr lang="zh-CN" altLang="en-US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0AF92773-BF37-DEC3-15A5-5942F9C0F359}"/>
              </a:ext>
            </a:extLst>
          </p:cNvPr>
          <p:cNvGraphicFramePr>
            <a:graphicFrameLocks noGrp="1"/>
          </p:cNvGraphicFramePr>
          <p:nvPr/>
        </p:nvGraphicFramePr>
        <p:xfrm>
          <a:off x="5016137" y="1197814"/>
          <a:ext cx="6950823" cy="4663057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907177">
                  <a:extLst>
                    <a:ext uri="{9D8B030D-6E8A-4147-A177-3AD203B41FA5}">
                      <a16:colId xmlns:a16="http://schemas.microsoft.com/office/drawing/2014/main" val="2354223607"/>
                    </a:ext>
                  </a:extLst>
                </a:gridCol>
                <a:gridCol w="1863635">
                  <a:extLst>
                    <a:ext uri="{9D8B030D-6E8A-4147-A177-3AD203B41FA5}">
                      <a16:colId xmlns:a16="http://schemas.microsoft.com/office/drawing/2014/main" val="1171904036"/>
                    </a:ext>
                  </a:extLst>
                </a:gridCol>
                <a:gridCol w="3180011">
                  <a:extLst>
                    <a:ext uri="{9D8B030D-6E8A-4147-A177-3AD203B41FA5}">
                      <a16:colId xmlns:a16="http://schemas.microsoft.com/office/drawing/2014/main" val="2666830209"/>
                    </a:ext>
                  </a:extLst>
                </a:gridCol>
              </a:tblGrid>
              <a:tr h="399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配置项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说明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2412899"/>
                  </a:ext>
                </a:extLst>
              </a:tr>
              <a:tr h="3992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 Request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`ADC1`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指定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ADC1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为数据源。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35157806"/>
                  </a:ext>
                </a:extLst>
              </a:tr>
              <a:tr h="3992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Stream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`DMA2 Stream 0`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这是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ADC1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的标准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通道。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48607347"/>
                  </a:ext>
                </a:extLst>
              </a:tr>
              <a:tr h="4281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Direction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`Peripheral To Memory`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数据从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寄存器流向内存。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9077918"/>
                  </a:ext>
                </a:extLst>
              </a:tr>
              <a:tr h="3992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Priority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`Medium`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对于电流检测足够。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4747103"/>
                  </a:ext>
                </a:extLst>
              </a:tr>
              <a:tr h="6538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Mode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`Circular`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关键！确保持续、无间断地更新最新数据。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35763772"/>
                  </a:ext>
                </a:extLst>
              </a:tr>
              <a:tr h="5042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Increment Address (Peripheral)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未勾选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外设地址固定，必须禁用。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1090991"/>
                  </a:ext>
                </a:extLst>
              </a:tr>
              <a:tr h="700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Increment Address (Memory)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勾选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多轮采样求平均值，简单的均值滤波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21058808"/>
                  </a:ext>
                </a:extLst>
              </a:tr>
              <a:tr h="7787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Data Width 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(Peripheral 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和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Memory)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`Half Word`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与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位结果寄存器匹配。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81457563"/>
                  </a:ext>
                </a:extLst>
              </a:tr>
            </a:tbl>
          </a:graphicData>
        </a:graphic>
      </p:graphicFrame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89D81379-ADB1-E62A-B25B-850A900ED4E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40" y="874178"/>
            <a:ext cx="4634343" cy="3415447"/>
          </a:xfrm>
        </p:spPr>
      </p:pic>
    </p:spTree>
    <p:extLst>
      <p:ext uri="{BB962C8B-B14F-4D97-AF65-F5344CB8AC3E}">
        <p14:creationId xmlns:p14="http://schemas.microsoft.com/office/powerpoint/2010/main" val="221034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2D0F52-C187-4779-7139-487A3F2AE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zh-CN" altLang="en-US" dirty="0"/>
              <a:t>实验步骤</a:t>
            </a:r>
            <a:r>
              <a:rPr lang="en-US" altLang="zh-CN" dirty="0"/>
              <a:t>2 – </a:t>
            </a:r>
            <a:r>
              <a:rPr lang="en-US" altLang="zh-CN" dirty="0" err="1"/>
              <a:t>CubeMX</a:t>
            </a:r>
            <a:r>
              <a:rPr lang="zh-CN" altLang="en-US" dirty="0"/>
              <a:t>生成的代码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64F8933-E140-57F0-A31D-828A7B17D5B2}"/>
              </a:ext>
            </a:extLst>
          </p:cNvPr>
          <p:cNvGraphicFramePr>
            <a:graphicFrameLocks noGrp="1"/>
          </p:cNvGraphicFramePr>
          <p:nvPr/>
        </p:nvGraphicFramePr>
        <p:xfrm>
          <a:off x="3265714" y="1297577"/>
          <a:ext cx="8804367" cy="4650379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341511">
                  <a:extLst>
                    <a:ext uri="{9D8B030D-6E8A-4147-A177-3AD203B41FA5}">
                      <a16:colId xmlns:a16="http://schemas.microsoft.com/office/drawing/2014/main" val="1153950025"/>
                    </a:ext>
                  </a:extLst>
                </a:gridCol>
                <a:gridCol w="3528067">
                  <a:extLst>
                    <a:ext uri="{9D8B030D-6E8A-4147-A177-3AD203B41FA5}">
                      <a16:colId xmlns:a16="http://schemas.microsoft.com/office/drawing/2014/main" val="2913996224"/>
                    </a:ext>
                  </a:extLst>
                </a:gridCol>
                <a:gridCol w="2934789">
                  <a:extLst>
                    <a:ext uri="{9D8B030D-6E8A-4147-A177-3AD203B41FA5}">
                      <a16:colId xmlns:a16="http://schemas.microsoft.com/office/drawing/2014/main" val="696132650"/>
                    </a:ext>
                  </a:extLst>
                </a:gridCol>
              </a:tblGrid>
              <a:tr h="439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effectLst/>
                        </a:rPr>
                        <a:t>层级目录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核心文件 </a:t>
                      </a:r>
                      <a:r>
                        <a:rPr lang="en-US" altLang="zh-CN" b="1">
                          <a:effectLst/>
                        </a:rPr>
                        <a:t>/ </a:t>
                      </a:r>
                      <a:r>
                        <a:rPr lang="zh-CN" altLang="en-US" b="1">
                          <a:effectLst/>
                        </a:rPr>
                        <a:t>子目录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功能说明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661220"/>
                  </a:ext>
                </a:extLst>
              </a:tr>
              <a:tr h="1461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BRUSH_MOTOR_3</a:t>
                      </a:r>
                    </a:p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（</a:t>
                      </a:r>
                      <a:r>
                        <a:rPr lang="zh-CN" altLang="en-US" b="0" dirty="0">
                          <a:effectLst/>
                        </a:rPr>
                        <a:t>工程根目录）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- Core</a:t>
                      </a:r>
                    </a:p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- Drivers</a:t>
                      </a:r>
                    </a:p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- MDK-ARM</a:t>
                      </a:r>
                    </a:p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- .</a:t>
                      </a:r>
                      <a:r>
                        <a:rPr lang="en-US" b="0" dirty="0" err="1">
                          <a:effectLst/>
                        </a:rPr>
                        <a:t>mxproject</a:t>
                      </a:r>
                      <a:r>
                        <a:rPr lang="en-US" b="0" dirty="0">
                          <a:effectLst/>
                        </a:rPr>
                        <a:t>/brush_motor_3.ioc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有刷电机电流测量项目总目录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343846"/>
                  </a:ext>
                </a:extLst>
              </a:tr>
              <a:tr h="769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├─ 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├─ Inc（</a:t>
                      </a:r>
                      <a:r>
                        <a:rPr lang="zh-CN" altLang="en-US" b="0" dirty="0">
                          <a:effectLst/>
                        </a:rPr>
                        <a:t>头文件）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dirty="0">
                          <a:effectLst/>
                        </a:rPr>
                        <a:t>存放 </a:t>
                      </a:r>
                      <a:r>
                        <a:rPr lang="en-US" b="0" dirty="0">
                          <a:effectLst/>
                        </a:rPr>
                        <a:t>ADC/DMA/GPIO </a:t>
                      </a:r>
                      <a:r>
                        <a:rPr lang="zh-CN" altLang="en-US" b="0" dirty="0">
                          <a:effectLst/>
                        </a:rPr>
                        <a:t>等外设配置头文件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6116474"/>
                  </a:ext>
                </a:extLst>
              </a:tr>
              <a:tr h="76976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└─ </a:t>
                      </a:r>
                      <a:r>
                        <a:rPr lang="en-US" b="0" dirty="0" err="1">
                          <a:effectLst/>
                        </a:rPr>
                        <a:t>Src</a:t>
                      </a:r>
                      <a:r>
                        <a:rPr lang="en-US" b="0" dirty="0">
                          <a:effectLst/>
                        </a:rPr>
                        <a:t>（</a:t>
                      </a:r>
                      <a:r>
                        <a:rPr lang="zh-CN" altLang="en-US" b="0" dirty="0">
                          <a:effectLst/>
                        </a:rPr>
                        <a:t>源文件）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实现电流采样、电机控制等业务逻辑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402882"/>
                  </a:ext>
                </a:extLst>
              </a:tr>
              <a:tr h="769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├─ Drivers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├─ CMSIS</a:t>
                      </a:r>
                    </a:p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└─ STM32F4xx_HAL_Driver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dirty="0">
                          <a:effectLst/>
                        </a:rPr>
                        <a:t>芯片内核 </a:t>
                      </a:r>
                      <a:r>
                        <a:rPr lang="en-US" altLang="zh-CN" b="0" dirty="0">
                          <a:effectLst/>
                        </a:rPr>
                        <a:t>/ </a:t>
                      </a:r>
                      <a:r>
                        <a:rPr lang="zh-CN" altLang="en-US" b="0" dirty="0">
                          <a:effectLst/>
                        </a:rPr>
                        <a:t>外设驱动库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389582"/>
                  </a:ext>
                </a:extLst>
              </a:tr>
              <a:tr h="439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└─ MDK-ARM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（Keil </a:t>
                      </a:r>
                      <a:r>
                        <a:rPr lang="zh-CN" altLang="en-US" b="0">
                          <a:effectLst/>
                        </a:rPr>
                        <a:t>工程文件）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dirty="0">
                          <a:effectLst/>
                        </a:rPr>
                        <a:t>开发环境工程配置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898205"/>
                  </a:ext>
                </a:extLst>
              </a:tr>
            </a:tbl>
          </a:graphicData>
        </a:graphic>
      </p:graphicFrame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36250AC2-ED72-857D-8C51-B09ACED0194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68" y="850300"/>
            <a:ext cx="1975626" cy="6007700"/>
          </a:xfrm>
        </p:spPr>
      </p:pic>
    </p:spTree>
    <p:extLst>
      <p:ext uri="{BB962C8B-B14F-4D97-AF65-F5344CB8AC3E}">
        <p14:creationId xmlns:p14="http://schemas.microsoft.com/office/powerpoint/2010/main" val="550853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43A813E-455E-2C8C-9402-7B518A4E862E}"/>
              </a:ext>
            </a:extLst>
          </p:cNvPr>
          <p:cNvSpPr/>
          <p:nvPr/>
        </p:nvSpPr>
        <p:spPr>
          <a:xfrm>
            <a:off x="7707084" y="5171502"/>
            <a:ext cx="4188825" cy="7098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D09FCC0-ABAD-FE2B-31F1-353D35736061}"/>
              </a:ext>
            </a:extLst>
          </p:cNvPr>
          <p:cNvSpPr/>
          <p:nvPr/>
        </p:nvSpPr>
        <p:spPr>
          <a:xfrm>
            <a:off x="7733211" y="5921829"/>
            <a:ext cx="4188825" cy="7098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601BB4C-4F17-4BF5-17C1-A9C05731F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7. </a:t>
            </a:r>
            <a:r>
              <a:rPr lang="zh-CN" altLang="en-US" sz="2400" dirty="0"/>
              <a:t>实验步骤</a:t>
            </a:r>
            <a:r>
              <a:rPr lang="en-US" altLang="zh-CN" sz="2400" dirty="0"/>
              <a:t>3 – </a:t>
            </a:r>
            <a:r>
              <a:rPr lang="zh-CN" altLang="en-US" sz="2400" dirty="0"/>
              <a:t>手动添加代码</a:t>
            </a:r>
            <a:r>
              <a:rPr lang="en-US" altLang="zh-CN" sz="2400" dirty="0"/>
              <a:t>-ADC</a:t>
            </a:r>
            <a:r>
              <a:rPr lang="zh-CN" altLang="en-US" sz="2400" dirty="0"/>
              <a:t>模块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369BF3F-DEB0-3D21-2224-958915195497}"/>
              </a:ext>
            </a:extLst>
          </p:cNvPr>
          <p:cNvSpPr txBox="1"/>
          <p:nvPr/>
        </p:nvSpPr>
        <p:spPr>
          <a:xfrm>
            <a:off x="148045" y="1008408"/>
            <a:ext cx="3108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1. </a:t>
            </a:r>
            <a:r>
              <a:rPr lang="en-US" altLang="zh-CN" b="1" i="0" dirty="0" err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adc.h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中手动添加的代码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58A8A0C-7E47-318C-1A65-EEBBEB362BCC}"/>
              </a:ext>
            </a:extLst>
          </p:cNvPr>
          <p:cNvSpPr txBox="1"/>
          <p:nvPr/>
        </p:nvSpPr>
        <p:spPr>
          <a:xfrm>
            <a:off x="78377" y="1534780"/>
            <a:ext cx="31850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Private defines */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#</a:t>
            </a: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define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 ADC_CHANNEL_NUM 3       // </a:t>
            </a:r>
            <a:r>
              <a:rPr lang="zh-CN" altLang="en-US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单通道（电流</a:t>
            </a:r>
            <a:r>
              <a:rPr lang="zh-CN" altLang="en-US" sz="1200" dirty="0">
                <a:solidFill>
                  <a:srgbClr val="C99100"/>
                </a:solidFill>
                <a:latin typeface="var(--md-box-global-font-family-mono)"/>
              </a:rPr>
              <a:t>和电压</a:t>
            </a:r>
            <a:r>
              <a:rPr lang="zh-CN" altLang="en-US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）</a:t>
            </a:r>
            <a:endParaRPr lang="zh-CN" altLang="en-US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#</a:t>
            </a: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define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 ADC_SAMPLE_COUNT 500   // </a:t>
            </a:r>
            <a:r>
              <a:rPr lang="zh-CN" altLang="en-US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单次滤波的采样次数（可根据需求调整）</a:t>
            </a:r>
            <a:endParaRPr lang="zh-CN" altLang="en-US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  <a:p>
            <a:r>
              <a:rPr lang="en-US" altLang="zh-CN" sz="1200" dirty="0">
                <a:solidFill>
                  <a:srgbClr val="C99100"/>
                </a:solidFill>
                <a:latin typeface="var(--md-box-global-font-family-mono)"/>
              </a:rPr>
              <a:t>// </a:t>
            </a:r>
            <a:r>
              <a:rPr lang="zh-CN" altLang="en-US" sz="1200" dirty="0">
                <a:solidFill>
                  <a:srgbClr val="C99100"/>
                </a:solidFill>
                <a:latin typeface="var(--md-box-global-font-family-mono)"/>
              </a:rPr>
              <a:t>总采样数</a:t>
            </a:r>
            <a:endParaRPr lang="en-US" altLang="zh-CN" sz="1200" dirty="0">
              <a:solidFill>
                <a:srgbClr val="C99100"/>
              </a:solidFill>
              <a:latin typeface="var(--md-box-global-font-family-mono)"/>
            </a:endParaRPr>
          </a:p>
          <a:p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#</a:t>
            </a: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define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 ADC_TOTAL_SAMPLES (ADC_CHANNEL_NUM * ADC_SAMPLE_COUNT) //</a:t>
            </a:r>
            <a:r>
              <a:rPr lang="zh-CN" altLang="en-US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此处变成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1000</a:t>
            </a:r>
            <a:endParaRPr lang="zh-CN" altLang="en-US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Private defines */</a:t>
            </a:r>
          </a:p>
          <a:p>
            <a:pPr algn="l" latinLnBrk="0">
              <a:buNone/>
            </a:pPr>
            <a:endParaRPr lang="en-US" altLang="zh-CN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Prototypes */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//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计算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ADC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平均值（滤波）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void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adc_calculate_filtered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</a:t>
            </a: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float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*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filtered_data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);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Prototypes */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5B7E6E8-A2A8-5647-6C3A-17E29C0544C2}"/>
              </a:ext>
            </a:extLst>
          </p:cNvPr>
          <p:cNvSpPr txBox="1"/>
          <p:nvPr/>
        </p:nvSpPr>
        <p:spPr>
          <a:xfrm>
            <a:off x="117900" y="4554142"/>
            <a:ext cx="303058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en-US" altLang="zh-CN" sz="1100" b="0" i="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stdint.h</a:t>
            </a: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以使用标准整数类型。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ADC </a:t>
            </a: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相关宏：通道数量、单次滤波的采样次数、总采样数，用于配置采样和数据处理的参数。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声明滤波计算函数</a:t>
            </a:r>
            <a:r>
              <a:rPr lang="en-US" altLang="zh-CN" sz="1100" b="0" i="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adc_calculate_filtered</a:t>
            </a: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，用于后续实现 </a:t>
            </a:r>
            <a:r>
              <a:rPr lang="en-US" altLang="zh-CN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ADC </a:t>
            </a: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数据的滤波处理。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53A9435-3661-4744-5627-1182F6CD5AB9}"/>
              </a:ext>
            </a:extLst>
          </p:cNvPr>
          <p:cNvSpPr txBox="1"/>
          <p:nvPr/>
        </p:nvSpPr>
        <p:spPr>
          <a:xfrm>
            <a:off x="3411464" y="1008408"/>
            <a:ext cx="3581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None/>
              <a:defRPr b="1" i="0">
                <a:solidFill>
                  <a:srgbClr val="000000"/>
                </a:solidFill>
                <a:effectLst/>
                <a:latin typeface="Inter"/>
              </a:defRPr>
            </a:lvl1pPr>
          </a:lstStyle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 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</a:t>
            </a:r>
            <a:r>
              <a:rPr lang="en-US" altLang="zh-CN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中手动添加的代码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6401948-F6EA-4E98-6CD1-E37F2DC8A449}"/>
              </a:ext>
            </a:extLst>
          </p:cNvPr>
          <p:cNvSpPr txBox="1"/>
          <p:nvPr/>
        </p:nvSpPr>
        <p:spPr>
          <a:xfrm>
            <a:off x="3375482" y="1384506"/>
            <a:ext cx="33986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buNone/>
            </a:pP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（</a:t>
            </a:r>
            <a:r>
              <a:rPr lang="en-US" altLang="zh-CN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1</a:t>
            </a: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）全局变量定义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EAD9794-0D6E-7592-6884-A7D827676450}"/>
              </a:ext>
            </a:extLst>
          </p:cNvPr>
          <p:cNvSpPr txBox="1"/>
          <p:nvPr/>
        </p:nvSpPr>
        <p:spPr>
          <a:xfrm>
            <a:off x="3411464" y="1693755"/>
            <a:ext cx="3581518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0 */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uint16_t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adc_raw_data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[ADC_TOTAL_SAMPLES] = {0};    //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原始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ADC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采样值（单通道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×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采样次数）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float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adc_filtered_data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[ADC_CHANNEL_NUM] = {0.0f}; //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滤波后的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ADC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平均值（浮点型）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109518F-463D-24DB-5A06-3ECBAA10FC83}"/>
              </a:ext>
            </a:extLst>
          </p:cNvPr>
          <p:cNvSpPr txBox="1"/>
          <p:nvPr/>
        </p:nvSpPr>
        <p:spPr>
          <a:xfrm>
            <a:off x="3375482" y="2574349"/>
            <a:ext cx="41975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定义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adc_raw_data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数组，用于存储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Inter"/>
              </a:rPr>
              <a:t>DMA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传输的原始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Inter"/>
              </a:rPr>
              <a:t>ADC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采样值（大小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ADC_TOTAL_SAMPLES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决定）。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定义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adc_filtered_data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数组，用于存储滤波后的平均值（浮点型，提高精度）。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689207C-D94D-B4F5-8F0D-F4DFAEB5D6C1}"/>
              </a:ext>
            </a:extLst>
          </p:cNvPr>
          <p:cNvSpPr txBox="1"/>
          <p:nvPr/>
        </p:nvSpPr>
        <p:spPr>
          <a:xfrm>
            <a:off x="3197397" y="3314486"/>
            <a:ext cx="31547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（</a:t>
            </a:r>
            <a:r>
              <a:rPr lang="en-US" altLang="zh-CN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2</a:t>
            </a: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）滤波计算函数实现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9FF0131-24B5-53E0-475C-D731323E45BB}"/>
              </a:ext>
            </a:extLst>
          </p:cNvPr>
          <p:cNvSpPr txBox="1"/>
          <p:nvPr/>
        </p:nvSpPr>
        <p:spPr>
          <a:xfrm>
            <a:off x="3261699" y="3767138"/>
            <a:ext cx="4492944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adc_calculate_filtered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(float *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filtered_data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    uint32_t sum_ch8 = 0; // 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用于存放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ADC1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通道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8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的采样值之和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05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uint32_t sum_ch9 = 0; // 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用于存放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ADC1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通道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9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的采样值之和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05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uint32_t sum_ch0 = 0; // 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用于存放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ADC1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通道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9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的采样值之和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    for (int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 = 0;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 &lt; ADC_SAMPLE_COUNT;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        sum_ch8 +=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adc_raw_data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 * ADC_CHANNEL_NUM</a:t>
            </a:r>
            <a:endParaRPr lang="zh-CN" altLang="en-US" sz="105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05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sum_ch9 +=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adc_raw_data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 * ADC_CHANNEL_NUM + 1]; </a:t>
            </a:r>
            <a:endParaRPr lang="zh-CN" altLang="en-US" sz="105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05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sum_ch0 +=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adc_raw_data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 * ADC_CHANNEL_NUM + 2]; </a:t>
            </a:r>
            <a:endParaRPr lang="zh-CN" altLang="en-US" sz="105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05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    // </a:t>
            </a:r>
            <a:r>
              <a:rPr lang="zh-CN" altLang="en-US" sz="1050" b="0" dirty="0">
                <a:effectLst/>
                <a:latin typeface="Consolas" panose="020B0609020204030204" pitchFamily="49" charset="0"/>
              </a:rPr>
              <a:t>浮点除法，保留小数部分（核心优化点）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05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filtered_data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[0] = (float)sum_ch8 / ADC_SAMPLE_COUNT;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filtered_data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[1] = (float)sum_ch9 / ADC_SAMPLE_COUNT;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050" b="0" dirty="0" err="1">
                <a:effectLst/>
                <a:latin typeface="Consolas" panose="020B0609020204030204" pitchFamily="49" charset="0"/>
              </a:rPr>
              <a:t>filtered_data</a:t>
            </a:r>
            <a:r>
              <a:rPr lang="en-US" altLang="zh-CN" sz="1050" b="0" dirty="0">
                <a:effectLst/>
                <a:latin typeface="Consolas" panose="020B0609020204030204" pitchFamily="49" charset="0"/>
              </a:rPr>
              <a:t>[2] = (float)sum_ch0 / ADC_SAMPLE_COUNT;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50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EF1B6A4-21EF-B28C-75F2-6FAB75E2BA95}"/>
              </a:ext>
            </a:extLst>
          </p:cNvPr>
          <p:cNvSpPr txBox="1"/>
          <p:nvPr/>
        </p:nvSpPr>
        <p:spPr>
          <a:xfrm>
            <a:off x="8019243" y="1331557"/>
            <a:ext cx="4024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（</a:t>
            </a:r>
            <a:r>
              <a:rPr lang="en-US" altLang="zh-CN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3</a:t>
            </a: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）</a:t>
            </a:r>
            <a:r>
              <a:rPr lang="en-US" altLang="zh-CN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ADC </a:t>
            </a: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转换完成回调函数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412BFD1-7139-C177-3C39-A24F4F52EEA7}"/>
              </a:ext>
            </a:extLst>
          </p:cNvPr>
          <p:cNvSpPr txBox="1"/>
          <p:nvPr/>
        </p:nvSpPr>
        <p:spPr>
          <a:xfrm>
            <a:off x="7994468" y="1584518"/>
            <a:ext cx="4197532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1 */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/**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* @brief  ADC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转换完成回调函数（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DMA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传输完成后触发）</a:t>
            </a:r>
          </a:p>
          <a:p>
            <a:pPr algn="l" latinLnBrk="0">
              <a:buNone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*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@note  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执行滤波计算，更新滤波后的数据</a:t>
            </a:r>
          </a:p>
          <a:p>
            <a:pPr algn="l" latinLnBrk="0">
              <a:buNone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*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void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HAL_ADC_ConvCpltCallback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ADC_HandleTypeDef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*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hadc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)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{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</a:t>
            </a:r>
            <a:r>
              <a:rPr lang="en-US" altLang="zh-CN" sz="11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if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(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hadc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-&gt;Instance == ADC1)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{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   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adc_calculate_filtered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adc_filtered_data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); //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计算滤波值</a:t>
            </a:r>
          </a:p>
          <a:p>
            <a:pPr algn="l" latinLnBrk="0">
              <a:buNone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}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}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1 */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037A668-2DCC-B518-1785-03EE568E44C6}"/>
              </a:ext>
            </a:extLst>
          </p:cNvPr>
          <p:cNvSpPr txBox="1"/>
          <p:nvPr/>
        </p:nvSpPr>
        <p:spPr>
          <a:xfrm>
            <a:off x="7959633" y="4105133"/>
            <a:ext cx="40843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effectLst/>
                <a:latin typeface="Inter"/>
              </a:rPr>
              <a:t>重写 </a:t>
            </a:r>
            <a:r>
              <a:rPr lang="en-US" altLang="zh-CN" sz="1200" b="0" i="0" dirty="0">
                <a:effectLst/>
                <a:latin typeface="Inter"/>
              </a:rPr>
              <a:t>HAL </a:t>
            </a:r>
            <a:r>
              <a:rPr lang="zh-CN" altLang="en-US" sz="1200" b="0" i="0" dirty="0">
                <a:effectLst/>
                <a:latin typeface="Inter"/>
              </a:rPr>
              <a:t>库的 </a:t>
            </a:r>
            <a:r>
              <a:rPr lang="en-US" altLang="zh-CN" sz="1200" b="0" i="0" dirty="0">
                <a:effectLst/>
                <a:latin typeface="Inter"/>
              </a:rPr>
              <a:t>ADC </a:t>
            </a:r>
            <a:r>
              <a:rPr lang="zh-CN" altLang="en-US" sz="1200" b="0" i="0" dirty="0">
                <a:effectLst/>
                <a:latin typeface="Inter"/>
              </a:rPr>
              <a:t>转换完成回调函数，当 </a:t>
            </a:r>
            <a:r>
              <a:rPr lang="en-US" altLang="zh-CN" sz="1200" b="0" i="0" dirty="0">
                <a:effectLst/>
                <a:latin typeface="Inter"/>
              </a:rPr>
              <a:t>ADC1 </a:t>
            </a:r>
            <a:r>
              <a:rPr lang="zh-CN" altLang="en-US" sz="1200" b="0" i="0" dirty="0">
                <a:effectLst/>
                <a:latin typeface="Inter"/>
              </a:rPr>
              <a:t>的 </a:t>
            </a:r>
            <a:r>
              <a:rPr lang="en-US" altLang="zh-CN" sz="1200" b="0" i="0" dirty="0">
                <a:effectLst/>
                <a:latin typeface="Inter"/>
              </a:rPr>
              <a:t>DMA </a:t>
            </a:r>
            <a:r>
              <a:rPr lang="zh-CN" altLang="en-US" sz="1200" b="0" i="0" dirty="0">
                <a:effectLst/>
                <a:latin typeface="Inter"/>
              </a:rPr>
              <a:t>传输完成后自动触发。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effectLst/>
                <a:latin typeface="Inter"/>
              </a:rPr>
              <a:t>调用</a:t>
            </a:r>
            <a:r>
              <a:rPr lang="en-US" altLang="zh-CN" sz="1200" b="0" i="0" dirty="0" err="1">
                <a:effectLst/>
                <a:latin typeface="var(--md-box-global-font-family-mono)"/>
              </a:rPr>
              <a:t>adc_calculate_filtered</a:t>
            </a:r>
            <a:r>
              <a:rPr lang="zh-CN" altLang="en-US" sz="1200" b="0" i="0" dirty="0">
                <a:effectLst/>
                <a:latin typeface="Inter"/>
              </a:rPr>
              <a:t>函数，将最新的原始采样值转换为滤波后的平均值，更新</a:t>
            </a:r>
            <a:r>
              <a:rPr lang="en-US" altLang="zh-CN" sz="1200" b="0" i="0" dirty="0" err="1">
                <a:effectLst/>
                <a:latin typeface="var(--md-box-global-font-family-mono)"/>
              </a:rPr>
              <a:t>adc_filtered_data</a:t>
            </a:r>
            <a:r>
              <a:rPr lang="zh-CN" altLang="en-US" sz="1200" b="0" i="0" dirty="0">
                <a:effectLst/>
                <a:latin typeface="Inter"/>
              </a:rPr>
              <a:t>数组。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D3F1D809-7766-EF34-A65B-FF0784201E1E}"/>
              </a:ext>
            </a:extLst>
          </p:cNvPr>
          <p:cNvSpPr/>
          <p:nvPr/>
        </p:nvSpPr>
        <p:spPr>
          <a:xfrm>
            <a:off x="8429897" y="6096000"/>
            <a:ext cx="1942012" cy="3872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ADC</a:t>
            </a:r>
            <a:r>
              <a:rPr lang="zh-CN" altLang="en-US" dirty="0"/>
              <a:t>的模块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7E37652E-EDE4-C27E-623F-81C173E3403A}"/>
              </a:ext>
            </a:extLst>
          </p:cNvPr>
          <p:cNvSpPr/>
          <p:nvPr/>
        </p:nvSpPr>
        <p:spPr>
          <a:xfrm>
            <a:off x="7846416" y="5320432"/>
            <a:ext cx="1114698" cy="3872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电流</a:t>
            </a: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A001A3ED-FEF8-45FB-E54C-708267355E8C}"/>
              </a:ext>
            </a:extLst>
          </p:cNvPr>
          <p:cNvCxnSpPr>
            <a:cxnSpLocks/>
            <a:stCxn id="48" idx="2"/>
            <a:endCxn id="47" idx="0"/>
          </p:cNvCxnSpPr>
          <p:nvPr/>
        </p:nvCxnSpPr>
        <p:spPr>
          <a:xfrm>
            <a:off x="8403765" y="5707637"/>
            <a:ext cx="997138" cy="388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FA48BEE-87FD-4128-A747-6F61605E7400}"/>
              </a:ext>
            </a:extLst>
          </p:cNvPr>
          <p:cNvSpPr/>
          <p:nvPr/>
        </p:nvSpPr>
        <p:spPr>
          <a:xfrm>
            <a:off x="9331227" y="5320432"/>
            <a:ext cx="1114698" cy="3872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电压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999B5E5-0486-9818-65FC-5C572310818B}"/>
              </a:ext>
            </a:extLst>
          </p:cNvPr>
          <p:cNvCxnSpPr>
            <a:cxnSpLocks/>
            <a:stCxn id="4" idx="2"/>
            <a:endCxn id="47" idx="0"/>
          </p:cNvCxnSpPr>
          <p:nvPr/>
        </p:nvCxnSpPr>
        <p:spPr>
          <a:xfrm flipH="1">
            <a:off x="9400903" y="5707637"/>
            <a:ext cx="487673" cy="388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81540AD-D8B3-5784-B59E-9F7EFD0AE952}"/>
              </a:ext>
            </a:extLst>
          </p:cNvPr>
          <p:cNvSpPr/>
          <p:nvPr/>
        </p:nvSpPr>
        <p:spPr>
          <a:xfrm>
            <a:off x="10667994" y="5332840"/>
            <a:ext cx="1114698" cy="3872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温度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7E99206-ABC7-3EB7-9CCE-ADF4F4D1D32B}"/>
              </a:ext>
            </a:extLst>
          </p:cNvPr>
          <p:cNvCxnSpPr>
            <a:stCxn id="5" idx="2"/>
            <a:endCxn id="47" idx="0"/>
          </p:cNvCxnSpPr>
          <p:nvPr/>
        </p:nvCxnSpPr>
        <p:spPr>
          <a:xfrm flipH="1">
            <a:off x="9400903" y="5720045"/>
            <a:ext cx="1824440" cy="375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365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64521-82E5-BFBC-6FE6-DF85A4392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9DAAA-B748-FE18-D623-8B332364F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8. </a:t>
            </a:r>
            <a:r>
              <a:rPr lang="zh-CN" altLang="en-US" sz="2400" dirty="0"/>
              <a:t>实验步骤</a:t>
            </a:r>
            <a:r>
              <a:rPr lang="en-US" altLang="zh-CN" sz="2400" dirty="0"/>
              <a:t>3 – </a:t>
            </a:r>
            <a:r>
              <a:rPr lang="zh-CN" altLang="en-US" sz="2400" dirty="0"/>
              <a:t>手动添加代码</a:t>
            </a:r>
            <a:r>
              <a:rPr lang="en-US" altLang="zh-CN" sz="2400" dirty="0"/>
              <a:t>-BSP/</a:t>
            </a:r>
            <a:r>
              <a:rPr lang="en-US" altLang="zh-CN" sz="2400" dirty="0" err="1"/>
              <a:t>bsp_temper_sensor</a:t>
            </a:r>
            <a:r>
              <a:rPr lang="zh-CN" altLang="en-US" sz="2400" dirty="0"/>
              <a:t>模块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4E7E34-07D9-AA7E-5B55-E3F0D0A3D933}"/>
              </a:ext>
            </a:extLst>
          </p:cNvPr>
          <p:cNvSpPr txBox="1"/>
          <p:nvPr/>
        </p:nvSpPr>
        <p:spPr>
          <a:xfrm>
            <a:off x="600891" y="1054485"/>
            <a:ext cx="48259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核心功能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基于</a:t>
            </a:r>
            <a:r>
              <a:rPr lang="en-US" altLang="zh-CN" sz="1400" dirty="0"/>
              <a:t>ADC</a:t>
            </a:r>
            <a:r>
              <a:rPr lang="zh-CN" altLang="en-US" sz="1400" dirty="0"/>
              <a:t>采集实现</a:t>
            </a:r>
            <a:r>
              <a:rPr lang="zh-CN" altLang="en-US" sz="1400" b="1" dirty="0"/>
              <a:t>电机驱动板温度</a:t>
            </a:r>
            <a:r>
              <a:rPr lang="zh-CN" altLang="en-US" sz="1400" dirty="0"/>
              <a:t>检测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FFBEE4A-11D6-37EA-79DB-D68DAE007A55}"/>
              </a:ext>
            </a:extLst>
          </p:cNvPr>
          <p:cNvSpPr txBox="1"/>
          <p:nvPr/>
        </p:nvSpPr>
        <p:spPr>
          <a:xfrm>
            <a:off x="600891" y="1787837"/>
            <a:ext cx="4467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关键参数定义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930F580-6748-BE65-6DD1-A890AFA6BC46}"/>
              </a:ext>
            </a:extLst>
          </p:cNvPr>
          <p:cNvSpPr txBox="1"/>
          <p:nvPr/>
        </p:nvSpPr>
        <p:spPr>
          <a:xfrm>
            <a:off x="6574972" y="1241713"/>
            <a:ext cx="56170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Inter"/>
              </a:rPr>
              <a:t>主要函数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009B54-C2EC-65FC-74A3-ADFF98EEC8E2}"/>
              </a:ext>
            </a:extLst>
          </p:cNvPr>
          <p:cNvSpPr txBox="1"/>
          <p:nvPr/>
        </p:nvSpPr>
        <p:spPr>
          <a:xfrm>
            <a:off x="600892" y="4599585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1200"/>
              </a:spcAft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var(--ds-font-family-code)"/>
              </a:rPr>
              <a:t>主要接口：</a:t>
            </a:r>
            <a:endParaRPr lang="zh-CN" altLang="en-US" sz="14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F0920BB-59F3-1368-C373-5AFF454E3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00" y="4882466"/>
            <a:ext cx="5817400" cy="191893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D671729-AA74-1DC3-A91A-43264FC475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01" y="2050884"/>
            <a:ext cx="5817400" cy="263915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2760E4D-DF5D-241A-D6CA-8A7BB019E0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136" y="855537"/>
            <a:ext cx="2229394" cy="156744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5DF7F7E4-3940-F2B5-E5F2-66E85035E0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972" y="2406117"/>
            <a:ext cx="4947558" cy="441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154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55984-BD89-99E9-BD3E-2BDF09F2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B3B14-CAE2-DF05-5A8C-E61E79D3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9. </a:t>
            </a:r>
            <a:r>
              <a:rPr lang="zh-CN" altLang="en-US" sz="2400" dirty="0"/>
              <a:t>实验步骤</a:t>
            </a:r>
            <a:r>
              <a:rPr lang="en-US" altLang="zh-CN" sz="2400" dirty="0"/>
              <a:t>3 </a:t>
            </a:r>
            <a:r>
              <a:rPr lang="en-US" altLang="zh-CN" dirty="0"/>
              <a:t>– </a:t>
            </a:r>
            <a:r>
              <a:rPr lang="zh-CN" altLang="en-US" dirty="0"/>
              <a:t>手动添加代码</a:t>
            </a:r>
            <a:r>
              <a:rPr lang="en-US" altLang="zh-CN" dirty="0"/>
              <a:t>-</a:t>
            </a:r>
            <a:r>
              <a:rPr lang="en-US" altLang="zh-CN" sz="2400" dirty="0"/>
              <a:t> </a:t>
            </a:r>
            <a:r>
              <a:rPr lang="zh-CN" altLang="en-US" sz="2400" dirty="0"/>
              <a:t>更改</a:t>
            </a:r>
            <a:r>
              <a:rPr lang="en-US" altLang="zh-CN" sz="2400" dirty="0" err="1"/>
              <a:t>main.c</a:t>
            </a:r>
            <a:endParaRPr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680EF3-B330-27A2-A9AD-12441EDC2783}"/>
              </a:ext>
            </a:extLst>
          </p:cNvPr>
          <p:cNvSpPr txBox="1"/>
          <p:nvPr/>
        </p:nvSpPr>
        <p:spPr>
          <a:xfrm>
            <a:off x="505098" y="931310"/>
            <a:ext cx="2699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1.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头文件包含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27E2FE-2BE5-F43D-42BB-8C7088A5DA35}"/>
              </a:ext>
            </a:extLst>
          </p:cNvPr>
          <p:cNvSpPr txBox="1"/>
          <p:nvPr/>
        </p:nvSpPr>
        <p:spPr>
          <a:xfrm>
            <a:off x="505098" y="1257706"/>
            <a:ext cx="43891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Includes */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#</a:t>
            </a: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include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 "</a:t>
            </a:r>
            <a:r>
              <a:rPr lang="en-US" altLang="zh-CN" sz="1200" b="0" i="0" dirty="0" err="1">
                <a:solidFill>
                  <a:srgbClr val="C99100"/>
                </a:solidFill>
                <a:effectLst/>
                <a:latin typeface="var(--md-box-global-font-family-mono)"/>
              </a:rPr>
              <a:t>bsp_temper_sensor.h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"  // </a:t>
            </a:r>
            <a:r>
              <a:rPr lang="zh-CN" altLang="en-US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包含电流传感器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BSP</a:t>
            </a:r>
            <a:r>
              <a:rPr lang="zh-CN" altLang="en-US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层头文件</a:t>
            </a:r>
            <a:endParaRPr lang="zh-CN" altLang="en-US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Includes */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686CD1-02AF-A662-6AB9-2A568D0F76FF}"/>
              </a:ext>
            </a:extLst>
          </p:cNvPr>
          <p:cNvSpPr txBox="1"/>
          <p:nvPr/>
        </p:nvSpPr>
        <p:spPr>
          <a:xfrm>
            <a:off x="505098" y="2027089"/>
            <a:ext cx="4275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2.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全局变量定义（电流传感器校准相关）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D6D291-6004-83C2-CBBF-20EF97CEFB5E}"/>
              </a:ext>
            </a:extLst>
          </p:cNvPr>
          <p:cNvSpPr txBox="1"/>
          <p:nvPr/>
        </p:nvSpPr>
        <p:spPr>
          <a:xfrm>
            <a:off x="505098" y="2369335"/>
            <a:ext cx="52251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无</a:t>
            </a:r>
            <a:endParaRPr lang="en-US" altLang="zh-CN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90A88C-1EA3-076D-9A7D-E710CD8CD782}"/>
              </a:ext>
            </a:extLst>
          </p:cNvPr>
          <p:cNvSpPr txBox="1"/>
          <p:nvPr/>
        </p:nvSpPr>
        <p:spPr>
          <a:xfrm>
            <a:off x="505098" y="2730266"/>
            <a:ext cx="4275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3.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初始化代码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4B5FFA6-5CED-CFDC-9E09-839CBDA3132D}"/>
              </a:ext>
            </a:extLst>
          </p:cNvPr>
          <p:cNvSpPr txBox="1"/>
          <p:nvPr/>
        </p:nvSpPr>
        <p:spPr>
          <a:xfrm>
            <a:off x="505098" y="3099598"/>
            <a:ext cx="43891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2 */</a:t>
            </a:r>
          </a:p>
          <a:p>
            <a:pPr algn="l" latinLnBrk="0">
              <a:buNone/>
            </a:pP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BSP_CurrentSensor_Init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();  //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初始化电流传感器模块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2 */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3E58BB-BEEC-4523-CE3E-6AC23243A694}"/>
              </a:ext>
            </a:extLst>
          </p:cNvPr>
          <p:cNvSpPr txBox="1"/>
          <p:nvPr/>
        </p:nvSpPr>
        <p:spPr>
          <a:xfrm>
            <a:off x="505098" y="3815768"/>
            <a:ext cx="4275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4.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中断回调中的更新函数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1B83C3-36A4-EB2B-CFF7-7C2E35364B2F}"/>
              </a:ext>
            </a:extLst>
          </p:cNvPr>
          <p:cNvSpPr txBox="1"/>
          <p:nvPr/>
        </p:nvSpPr>
        <p:spPr>
          <a:xfrm>
            <a:off x="505098" y="4185100"/>
            <a:ext cx="420624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{</a:t>
            </a:r>
          </a:p>
          <a:p>
            <a:r>
              <a:rPr lang="en-US" altLang="zh-CN" sz="1200" dirty="0"/>
              <a:t>  if (</a:t>
            </a:r>
            <a:r>
              <a:rPr lang="en-US" altLang="zh-CN" sz="1200" dirty="0" err="1"/>
              <a:t>htim</a:t>
            </a:r>
            <a:r>
              <a:rPr lang="en-US" altLang="zh-CN" sz="1200" dirty="0"/>
              <a:t>-&gt;Instance == TIM3 || </a:t>
            </a:r>
            <a:r>
              <a:rPr lang="en-US" altLang="zh-CN" sz="1200" dirty="0" err="1"/>
              <a:t>htim</a:t>
            </a:r>
            <a:r>
              <a:rPr lang="en-US" altLang="zh-CN" sz="1200" dirty="0"/>
              <a:t>-&gt;Instance == TIM2)</a:t>
            </a:r>
          </a:p>
          <a:p>
            <a:r>
              <a:rPr lang="en-US" altLang="zh-CN" sz="1200" dirty="0"/>
              <a:t>  {</a:t>
            </a:r>
          </a:p>
          <a:p>
            <a:r>
              <a:rPr lang="en-US" altLang="zh-CN" sz="1200" dirty="0"/>
              <a:t>    </a:t>
            </a:r>
            <a:r>
              <a:rPr lang="en-US" altLang="zh-CN" sz="1200" dirty="0" err="1"/>
              <a:t>BSP_Encoder_HandleOverflow</a:t>
            </a:r>
            <a:r>
              <a:rPr lang="en-US" altLang="zh-CN" sz="1200" dirty="0"/>
              <a:t>(</a:t>
            </a:r>
            <a:r>
              <a:rPr lang="en-US" altLang="zh-CN" sz="1200" dirty="0" err="1"/>
              <a:t>htim</a:t>
            </a:r>
            <a:r>
              <a:rPr lang="en-US" altLang="zh-CN" sz="1200" dirty="0"/>
              <a:t>);</a:t>
            </a:r>
          </a:p>
          <a:p>
            <a:r>
              <a:rPr lang="en-US" altLang="zh-CN" sz="1200" dirty="0"/>
              <a:t>  }</a:t>
            </a:r>
          </a:p>
          <a:p>
            <a:r>
              <a:rPr lang="en-US" altLang="zh-CN" sz="1200" dirty="0"/>
              <a:t>  else if (</a:t>
            </a:r>
            <a:r>
              <a:rPr lang="en-US" altLang="zh-CN" sz="1200" dirty="0" err="1"/>
              <a:t>htim</a:t>
            </a:r>
            <a:r>
              <a:rPr lang="en-US" altLang="zh-CN" sz="1200" dirty="0"/>
              <a:t>-&gt;Instance == TIM6)</a:t>
            </a:r>
          </a:p>
          <a:p>
            <a:r>
              <a:rPr lang="en-US" altLang="zh-CN" sz="1200" dirty="0"/>
              <a:t>  {</a:t>
            </a:r>
          </a:p>
          <a:p>
            <a:r>
              <a:rPr lang="en-US" altLang="zh-CN" sz="1200" dirty="0"/>
              <a:t>    </a:t>
            </a:r>
            <a:r>
              <a:rPr lang="en-US" altLang="zh-CN" sz="1200" dirty="0" err="1"/>
              <a:t>BSP_Encoder_UpdateSpeed</a:t>
            </a:r>
            <a:r>
              <a:rPr lang="en-US" altLang="zh-CN" sz="1200" dirty="0"/>
              <a:t>();  // </a:t>
            </a:r>
            <a:r>
              <a:rPr lang="zh-CN" altLang="en-US" sz="1200" dirty="0"/>
              <a:t>更新转速计算</a:t>
            </a:r>
          </a:p>
          <a:p>
            <a:r>
              <a:rPr lang="zh-CN" altLang="en-US" sz="1200" dirty="0"/>
              <a:t>    </a:t>
            </a:r>
            <a:r>
              <a:rPr lang="en-US" altLang="zh-CN" sz="1200" dirty="0" err="1"/>
              <a:t>BSP_CurrentSensor_Update</a:t>
            </a:r>
            <a:r>
              <a:rPr lang="en-US" altLang="zh-CN" sz="1200" dirty="0"/>
              <a:t>(); // </a:t>
            </a:r>
            <a:r>
              <a:rPr lang="zh-CN" altLang="en-US" sz="1200" dirty="0"/>
              <a:t>更新电流检测结果</a:t>
            </a:r>
          </a:p>
          <a:p>
            <a:r>
              <a:rPr lang="zh-CN" altLang="en-US" sz="1200" dirty="0"/>
              <a:t>    </a:t>
            </a:r>
            <a:r>
              <a:rPr lang="en-US" altLang="zh-CN" sz="1200" dirty="0" err="1"/>
              <a:t>BSP_VoltageSensor_Update</a:t>
            </a:r>
            <a:r>
              <a:rPr lang="en-US" altLang="zh-CN" sz="1200" dirty="0"/>
              <a:t>(); // </a:t>
            </a:r>
            <a:r>
              <a:rPr lang="zh-CN" altLang="en-US" sz="1200" dirty="0"/>
              <a:t>更新电压检测结果</a:t>
            </a:r>
          </a:p>
          <a:p>
            <a:r>
              <a:rPr lang="zh-CN" altLang="en-US" sz="1200" dirty="0"/>
              <a:t>    </a:t>
            </a:r>
            <a:r>
              <a:rPr lang="en-US" altLang="zh-CN" sz="1200" dirty="0" err="1"/>
              <a:t>BSP_TemperSensor_Update</a:t>
            </a:r>
            <a:r>
              <a:rPr lang="en-US" altLang="zh-CN" sz="1200" dirty="0"/>
              <a:t>();  // </a:t>
            </a:r>
            <a:r>
              <a:rPr lang="zh-CN" altLang="en-US" sz="1200" dirty="0"/>
              <a:t>更新温度检测结果</a:t>
            </a:r>
          </a:p>
          <a:p>
            <a:r>
              <a:rPr lang="zh-CN" altLang="en-US" sz="1200" dirty="0"/>
              <a:t>  </a:t>
            </a:r>
            <a:r>
              <a:rPr lang="en-US" altLang="zh-CN" sz="1200" dirty="0"/>
              <a:t>}</a:t>
            </a:r>
          </a:p>
          <a:p>
            <a:r>
              <a:rPr lang="en-US" altLang="zh-CN" sz="1200" dirty="0"/>
              <a:t>}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755B5AA-3DE6-A45D-E226-DBA833C38CEB}"/>
              </a:ext>
            </a:extLst>
          </p:cNvPr>
          <p:cNvSpPr txBox="1"/>
          <p:nvPr/>
        </p:nvSpPr>
        <p:spPr>
          <a:xfrm>
            <a:off x="6749142" y="931310"/>
            <a:ext cx="5103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5.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主循环中显示测量结果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ECD2530-E541-109A-E6C6-33522B088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629" y="1328011"/>
            <a:ext cx="6963457" cy="242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720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9137C9-8B9A-179F-E3CE-0F7D10F71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 </a:t>
            </a:r>
            <a:r>
              <a:rPr lang="zh-CN" altLang="en-US" dirty="0"/>
              <a:t>实验步骤</a:t>
            </a:r>
            <a:r>
              <a:rPr lang="en-US" altLang="zh-CN" dirty="0"/>
              <a:t>4-</a:t>
            </a:r>
            <a:r>
              <a:rPr lang="zh-CN" altLang="en-US" dirty="0"/>
              <a:t>测试验证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D59FA1F-C9FF-7721-804B-1BDC888FE56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94" y="1035288"/>
            <a:ext cx="7654040" cy="5672412"/>
          </a:xfr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EE92FFF-D193-6133-1B3D-E4DF147F4CFD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920343" y="1716537"/>
            <a:ext cx="3779520" cy="145338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0BF2AF0-9C28-96C5-CD7A-228696841DE0}"/>
              </a:ext>
            </a:extLst>
          </p:cNvPr>
          <p:cNvSpPr txBox="1"/>
          <p:nvPr/>
        </p:nvSpPr>
        <p:spPr>
          <a:xfrm>
            <a:off x="8699863" y="1393371"/>
            <a:ext cx="316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热敏电阻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R60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所在位置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V1.0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版本的丝印是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R16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1B9828-079D-2119-952F-CA1BC391DA4A}"/>
              </a:ext>
            </a:extLst>
          </p:cNvPr>
          <p:cNvSpPr txBox="1"/>
          <p:nvPr/>
        </p:nvSpPr>
        <p:spPr>
          <a:xfrm>
            <a:off x="8699863" y="3041750"/>
            <a:ext cx="3074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可以在检测过程中，改变这个电阻周边的温度，观察实验现象</a:t>
            </a:r>
          </a:p>
        </p:txBody>
      </p:sp>
    </p:spTree>
    <p:extLst>
      <p:ext uri="{BB962C8B-B14F-4D97-AF65-F5344CB8AC3E}">
        <p14:creationId xmlns:p14="http://schemas.microsoft.com/office/powerpoint/2010/main" val="3671201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2025.12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6565</TotalTime>
  <Words>2157</Words>
  <Application>Microsoft Office PowerPoint</Application>
  <PresentationFormat>宽屏</PresentationFormat>
  <Paragraphs>280</Paragraphs>
  <Slides>15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Inter</vt:lpstr>
      <vt:lpstr>Source Han Sans</vt:lpstr>
      <vt:lpstr>Source Han Sans CN Regular</vt:lpstr>
      <vt:lpstr>var(--ds-font-family-code)</vt:lpstr>
      <vt:lpstr>var(--md-box-global-font-family-mono)</vt:lpstr>
      <vt:lpstr>等线</vt:lpstr>
      <vt:lpstr>宋体</vt:lpstr>
      <vt:lpstr>微软雅黑</vt:lpstr>
      <vt:lpstr>Arial</vt:lpstr>
      <vt:lpstr>Consolas</vt:lpstr>
      <vt:lpstr>Wingdings</vt:lpstr>
      <vt:lpstr>Office 主题​​</vt:lpstr>
      <vt:lpstr>PowerPoint 演示文稿</vt:lpstr>
      <vt:lpstr>内容目录</vt:lpstr>
      <vt:lpstr>1. 实验系统准备-硬件连接</vt:lpstr>
      <vt:lpstr>1. 实验系统准备-软件代码1</vt:lpstr>
      <vt:lpstr>1. 实验系统准备-软件代码2</vt:lpstr>
      <vt:lpstr>2.  实验步骤1——CubeMX配置</vt:lpstr>
      <vt:lpstr>3. CubeMX，ADC参数解释1</vt:lpstr>
      <vt:lpstr>4. CubeMX，ADC参数解释2</vt:lpstr>
      <vt:lpstr>5. CubeMX，ADC参数解释3</vt:lpstr>
      <vt:lpstr>6. 实验步骤2 – CubeMX生成的代码</vt:lpstr>
      <vt:lpstr>7. 实验步骤3 – 手动添加代码-ADC模块</vt:lpstr>
      <vt:lpstr>8. 实验步骤3 – 手动添加代码-BSP/bsp_temper_sensor模块</vt:lpstr>
      <vt:lpstr>9. 实验步骤3 – 手动添加代码- 更改main.c</vt:lpstr>
      <vt:lpstr>10 实验步骤4-测试验证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181</cp:revision>
  <dcterms:created xsi:type="dcterms:W3CDTF">2025-05-21T06:55:53Z</dcterms:created>
  <dcterms:modified xsi:type="dcterms:W3CDTF">2025-12-22T07:03:46Z</dcterms:modified>
</cp:coreProperties>
</file>