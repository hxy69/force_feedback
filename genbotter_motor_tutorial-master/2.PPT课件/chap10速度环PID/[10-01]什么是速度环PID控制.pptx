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803" r:id="rId2"/>
    <p:sldId id="805" r:id="rId3"/>
    <p:sldId id="289" r:id="rId4"/>
    <p:sldId id="804" r:id="rId5"/>
    <p:sldId id="806" r:id="rId6"/>
    <p:sldId id="807" r:id="rId7"/>
    <p:sldId id="808" r:id="rId8"/>
    <p:sldId id="809" r:id="rId9"/>
    <p:sldId id="810" r:id="rId10"/>
    <p:sldId id="811" r:id="rId11"/>
    <p:sldId id="812" r:id="rId12"/>
    <p:sldId id="286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C431"/>
    <a:srgbClr val="098F4A"/>
    <a:srgbClr val="FFFFFF"/>
    <a:srgbClr val="0193D8"/>
    <a:srgbClr val="F94502"/>
    <a:srgbClr val="0194D4"/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918" autoAdjust="0"/>
    <p:restoredTop sz="96238" autoAdjust="0"/>
  </p:normalViewPr>
  <p:slideViewPr>
    <p:cSldViewPr snapToGrid="0">
      <p:cViewPr varScale="1">
        <p:scale>
          <a:sx n="110" d="100"/>
          <a:sy n="110" d="100"/>
        </p:scale>
        <p:origin x="126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929EA7-F277-4ED8-BE76-A6CB805BFE4C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/>
      <dgm:spPr/>
      <dgm:t>
        <a:bodyPr/>
        <a:lstStyle/>
        <a:p>
          <a:endParaRPr lang="zh-CN" altLang="en-US"/>
        </a:p>
      </dgm:t>
    </dgm:pt>
    <dgm:pt modelId="{19DBAF83-2F5E-4160-8E2A-A1C7690EE070}">
      <dgm:prSet/>
      <dgm:spPr/>
      <dgm:t>
        <a:bodyPr/>
        <a:lstStyle/>
        <a:p>
          <a:r>
            <a:rPr lang="en-US" dirty="0"/>
            <a:t>10.1 </a:t>
          </a:r>
          <a:r>
            <a:rPr lang="zh-CN" dirty="0"/>
            <a:t>从数学公式到代码逻辑（离散化与架构设计）</a:t>
          </a:r>
        </a:p>
      </dgm:t>
    </dgm:pt>
    <dgm:pt modelId="{260A15A1-054B-4CBE-8DD8-B9F0F1C4CA22}" type="parTrans" cxnId="{E9F24F7C-E5E9-4536-981B-79DD0E97B996}">
      <dgm:prSet/>
      <dgm:spPr/>
      <dgm:t>
        <a:bodyPr/>
        <a:lstStyle/>
        <a:p>
          <a:endParaRPr lang="zh-CN" altLang="en-US"/>
        </a:p>
      </dgm:t>
    </dgm:pt>
    <dgm:pt modelId="{8AAD894A-B04A-4F21-988F-FA23B3B53B18}" type="sibTrans" cxnId="{E9F24F7C-E5E9-4536-981B-79DD0E97B996}">
      <dgm:prSet/>
      <dgm:spPr/>
      <dgm:t>
        <a:bodyPr/>
        <a:lstStyle/>
        <a:p>
          <a:endParaRPr lang="zh-CN" altLang="en-US"/>
        </a:p>
      </dgm:t>
    </dgm:pt>
    <dgm:pt modelId="{C38629EB-60AA-4F49-A538-5E45B8DF5F0C}">
      <dgm:prSet/>
      <dgm:spPr/>
      <dgm:t>
        <a:bodyPr/>
        <a:lstStyle/>
        <a:p>
          <a:r>
            <a:rPr lang="en-US"/>
            <a:t>10.2 </a:t>
          </a:r>
          <a:r>
            <a:rPr lang="zh-CN"/>
            <a:t>工程优化（一）</a:t>
          </a:r>
          <a:r>
            <a:rPr lang="en-US"/>
            <a:t>——</a:t>
          </a:r>
          <a:r>
            <a:rPr lang="zh-CN"/>
            <a:t>位置式与增量式的“职场分工”</a:t>
          </a:r>
        </a:p>
      </dgm:t>
    </dgm:pt>
    <dgm:pt modelId="{F0B64DE9-28F7-409E-A0C7-B6D62AD7002F}" type="parTrans" cxnId="{398612F1-15E8-4461-9561-C7BD89F1D176}">
      <dgm:prSet/>
      <dgm:spPr/>
      <dgm:t>
        <a:bodyPr/>
        <a:lstStyle/>
        <a:p>
          <a:endParaRPr lang="zh-CN" altLang="en-US"/>
        </a:p>
      </dgm:t>
    </dgm:pt>
    <dgm:pt modelId="{FF797173-4BA8-4D0A-B3CE-6EDAFCB4BA24}" type="sibTrans" cxnId="{398612F1-15E8-4461-9561-C7BD89F1D176}">
      <dgm:prSet/>
      <dgm:spPr/>
      <dgm:t>
        <a:bodyPr/>
        <a:lstStyle/>
        <a:p>
          <a:endParaRPr lang="zh-CN" altLang="en-US"/>
        </a:p>
      </dgm:t>
    </dgm:pt>
    <dgm:pt modelId="{539A9278-9194-46F7-B048-8F0C19DF1200}">
      <dgm:prSet/>
      <dgm:spPr/>
      <dgm:t>
        <a:bodyPr/>
        <a:lstStyle/>
        <a:p>
          <a:r>
            <a:rPr lang="en-US"/>
            <a:t>10.3 </a:t>
          </a:r>
          <a:r>
            <a:rPr lang="zh-CN"/>
            <a:t>工程优化（二）</a:t>
          </a:r>
          <a:r>
            <a:rPr lang="en-US"/>
            <a:t>——</a:t>
          </a:r>
          <a:r>
            <a:rPr lang="zh-CN"/>
            <a:t>量化误差与低通滤波（攻克低速抖动）</a:t>
          </a:r>
        </a:p>
      </dgm:t>
    </dgm:pt>
    <dgm:pt modelId="{79FD7C8E-B008-43C2-B54C-70A475723469}" type="parTrans" cxnId="{F365C177-CDEE-483D-A30A-E54109D855D1}">
      <dgm:prSet/>
      <dgm:spPr/>
      <dgm:t>
        <a:bodyPr/>
        <a:lstStyle/>
        <a:p>
          <a:endParaRPr lang="zh-CN" altLang="en-US"/>
        </a:p>
      </dgm:t>
    </dgm:pt>
    <dgm:pt modelId="{1A9377F4-C852-44A8-9908-8E650646EDEE}" type="sibTrans" cxnId="{F365C177-CDEE-483D-A30A-E54109D855D1}">
      <dgm:prSet/>
      <dgm:spPr/>
      <dgm:t>
        <a:bodyPr/>
        <a:lstStyle/>
        <a:p>
          <a:endParaRPr lang="zh-CN" altLang="en-US"/>
        </a:p>
      </dgm:t>
    </dgm:pt>
    <dgm:pt modelId="{97E55349-A28C-4D6C-AD82-AEADAE5FB434}">
      <dgm:prSet/>
      <dgm:spPr/>
      <dgm:t>
        <a:bodyPr/>
        <a:lstStyle/>
        <a:p>
          <a:r>
            <a:rPr lang="en-US"/>
            <a:t>10.4 </a:t>
          </a:r>
          <a:r>
            <a:rPr lang="zh-CN"/>
            <a:t>调试实战</a:t>
          </a:r>
          <a:r>
            <a:rPr lang="en-US"/>
            <a:t>——VOFA+ </a:t>
          </a:r>
          <a:r>
            <a:rPr lang="zh-CN"/>
            <a:t>波形分析法</a:t>
          </a:r>
        </a:p>
      </dgm:t>
    </dgm:pt>
    <dgm:pt modelId="{CB297E67-D86A-4AC3-8590-BD6997147F8B}" type="parTrans" cxnId="{02F89BE9-9FAF-4DB6-AE5A-8A43215B94E7}">
      <dgm:prSet/>
      <dgm:spPr/>
      <dgm:t>
        <a:bodyPr/>
        <a:lstStyle/>
        <a:p>
          <a:endParaRPr lang="zh-CN" altLang="en-US"/>
        </a:p>
      </dgm:t>
    </dgm:pt>
    <dgm:pt modelId="{F25BE0AB-CD5D-4355-9E02-EC5FA0F21FB5}" type="sibTrans" cxnId="{02F89BE9-9FAF-4DB6-AE5A-8A43215B94E7}">
      <dgm:prSet/>
      <dgm:spPr/>
      <dgm:t>
        <a:bodyPr/>
        <a:lstStyle/>
        <a:p>
          <a:endParaRPr lang="zh-CN" altLang="en-US"/>
        </a:p>
      </dgm:t>
    </dgm:pt>
    <dgm:pt modelId="{897044F4-B17E-47B9-B147-9A3F36C53DB0}">
      <dgm:prSet/>
      <dgm:spPr/>
      <dgm:t>
        <a:bodyPr/>
        <a:lstStyle/>
        <a:p>
          <a:r>
            <a:rPr lang="en-US"/>
            <a:t>10.5 </a:t>
          </a:r>
          <a:r>
            <a:rPr lang="zh-CN"/>
            <a:t>高级工程技巧</a:t>
          </a:r>
          <a:r>
            <a:rPr lang="en-US"/>
            <a:t>——</a:t>
          </a:r>
          <a:r>
            <a:rPr lang="zh-CN"/>
            <a:t>在线调参（不改代码）</a:t>
          </a:r>
        </a:p>
      </dgm:t>
    </dgm:pt>
    <dgm:pt modelId="{79C32C16-1D7B-49D6-89DE-BFAE2145F53C}" type="parTrans" cxnId="{28B711A0-0D45-4E48-A379-13C9A188A979}">
      <dgm:prSet/>
      <dgm:spPr/>
      <dgm:t>
        <a:bodyPr/>
        <a:lstStyle/>
        <a:p>
          <a:endParaRPr lang="zh-CN" altLang="en-US"/>
        </a:p>
      </dgm:t>
    </dgm:pt>
    <dgm:pt modelId="{61069F7C-5B39-42CD-AC84-C25B0FAE7903}" type="sibTrans" cxnId="{28B711A0-0D45-4E48-A379-13C9A188A979}">
      <dgm:prSet/>
      <dgm:spPr/>
      <dgm:t>
        <a:bodyPr/>
        <a:lstStyle/>
        <a:p>
          <a:endParaRPr lang="zh-CN" altLang="en-US"/>
        </a:p>
      </dgm:t>
    </dgm:pt>
    <dgm:pt modelId="{1B845EB9-4D5A-4FE8-8A2A-0ED17C5B4DA1}" type="pres">
      <dgm:prSet presAssocID="{C1929EA7-F277-4ED8-BE76-A6CB805BFE4C}" presName="linear" presStyleCnt="0">
        <dgm:presLayoutVars>
          <dgm:animLvl val="lvl"/>
          <dgm:resizeHandles val="exact"/>
        </dgm:presLayoutVars>
      </dgm:prSet>
      <dgm:spPr/>
    </dgm:pt>
    <dgm:pt modelId="{D9142BF9-49B2-49F6-88EB-6D0771178965}" type="pres">
      <dgm:prSet presAssocID="{19DBAF83-2F5E-4160-8E2A-A1C7690EE07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118F97F-9456-4C69-B97E-DFDD6F8E4D2A}" type="pres">
      <dgm:prSet presAssocID="{8AAD894A-B04A-4F21-988F-FA23B3B53B18}" presName="spacer" presStyleCnt="0"/>
      <dgm:spPr/>
    </dgm:pt>
    <dgm:pt modelId="{B3978833-DEE5-4191-A62C-DC0CC9FCE5D6}" type="pres">
      <dgm:prSet presAssocID="{C38629EB-60AA-4F49-A538-5E45B8DF5F0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45A8E36-0AB8-41CC-BA6A-9DA4D0D50B93}" type="pres">
      <dgm:prSet presAssocID="{FF797173-4BA8-4D0A-B3CE-6EDAFCB4BA24}" presName="spacer" presStyleCnt="0"/>
      <dgm:spPr/>
    </dgm:pt>
    <dgm:pt modelId="{9F989AEA-2653-4E4A-99AB-4F48683B3509}" type="pres">
      <dgm:prSet presAssocID="{539A9278-9194-46F7-B048-8F0C19DF120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CB1636D-9CFE-4515-BABF-7AEC0B2589D1}" type="pres">
      <dgm:prSet presAssocID="{1A9377F4-C852-44A8-9908-8E650646EDEE}" presName="spacer" presStyleCnt="0"/>
      <dgm:spPr/>
    </dgm:pt>
    <dgm:pt modelId="{63E915D4-B37F-4FAA-A05B-3C11CFA6307A}" type="pres">
      <dgm:prSet presAssocID="{97E55349-A28C-4D6C-AD82-AEADAE5FB43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1B6F4A6-A9FB-4168-BED9-A5B6E2C6C1B9}" type="pres">
      <dgm:prSet presAssocID="{F25BE0AB-CD5D-4355-9E02-EC5FA0F21FB5}" presName="spacer" presStyleCnt="0"/>
      <dgm:spPr/>
    </dgm:pt>
    <dgm:pt modelId="{668A1619-16F2-4F79-B8F6-29AAF32C40C3}" type="pres">
      <dgm:prSet presAssocID="{897044F4-B17E-47B9-B147-9A3F36C53DB0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0C9D1206-9792-47D8-B95D-ED639F875B60}" type="presOf" srcId="{97E55349-A28C-4D6C-AD82-AEADAE5FB434}" destId="{63E915D4-B37F-4FAA-A05B-3C11CFA6307A}" srcOrd="0" destOrd="0" presId="urn:microsoft.com/office/officeart/2005/8/layout/vList2"/>
    <dgm:cxn modelId="{E2E77D5C-2A9A-4331-9A93-2F137B9AEE65}" type="presOf" srcId="{539A9278-9194-46F7-B048-8F0C19DF1200}" destId="{9F989AEA-2653-4E4A-99AB-4F48683B3509}" srcOrd="0" destOrd="0" presId="urn:microsoft.com/office/officeart/2005/8/layout/vList2"/>
    <dgm:cxn modelId="{8FDA1C69-34A9-47EE-9670-76992C2468CD}" type="presOf" srcId="{19DBAF83-2F5E-4160-8E2A-A1C7690EE070}" destId="{D9142BF9-49B2-49F6-88EB-6D0771178965}" srcOrd="0" destOrd="0" presId="urn:microsoft.com/office/officeart/2005/8/layout/vList2"/>
    <dgm:cxn modelId="{2EFDE26C-B784-4147-A8E5-51BBDDD7B4B2}" type="presOf" srcId="{897044F4-B17E-47B9-B147-9A3F36C53DB0}" destId="{668A1619-16F2-4F79-B8F6-29AAF32C40C3}" srcOrd="0" destOrd="0" presId="urn:microsoft.com/office/officeart/2005/8/layout/vList2"/>
    <dgm:cxn modelId="{F365C177-CDEE-483D-A30A-E54109D855D1}" srcId="{C1929EA7-F277-4ED8-BE76-A6CB805BFE4C}" destId="{539A9278-9194-46F7-B048-8F0C19DF1200}" srcOrd="2" destOrd="0" parTransId="{79FD7C8E-B008-43C2-B54C-70A475723469}" sibTransId="{1A9377F4-C852-44A8-9908-8E650646EDEE}"/>
    <dgm:cxn modelId="{E9F24F7C-E5E9-4536-981B-79DD0E97B996}" srcId="{C1929EA7-F277-4ED8-BE76-A6CB805BFE4C}" destId="{19DBAF83-2F5E-4160-8E2A-A1C7690EE070}" srcOrd="0" destOrd="0" parTransId="{260A15A1-054B-4CBE-8DD8-B9F0F1C4CA22}" sibTransId="{8AAD894A-B04A-4F21-988F-FA23B3B53B18}"/>
    <dgm:cxn modelId="{28B711A0-0D45-4E48-A379-13C9A188A979}" srcId="{C1929EA7-F277-4ED8-BE76-A6CB805BFE4C}" destId="{897044F4-B17E-47B9-B147-9A3F36C53DB0}" srcOrd="4" destOrd="0" parTransId="{79C32C16-1D7B-49D6-89DE-BFAE2145F53C}" sibTransId="{61069F7C-5B39-42CD-AC84-C25B0FAE7903}"/>
    <dgm:cxn modelId="{E2612CAE-5438-449C-9066-4E3F05309C4E}" type="presOf" srcId="{C1929EA7-F277-4ED8-BE76-A6CB805BFE4C}" destId="{1B845EB9-4D5A-4FE8-8A2A-0ED17C5B4DA1}" srcOrd="0" destOrd="0" presId="urn:microsoft.com/office/officeart/2005/8/layout/vList2"/>
    <dgm:cxn modelId="{6CD8A9DC-6FE8-4874-A5E1-20BF1F9909EC}" type="presOf" srcId="{C38629EB-60AA-4F49-A538-5E45B8DF5F0C}" destId="{B3978833-DEE5-4191-A62C-DC0CC9FCE5D6}" srcOrd="0" destOrd="0" presId="urn:microsoft.com/office/officeart/2005/8/layout/vList2"/>
    <dgm:cxn modelId="{02F89BE9-9FAF-4DB6-AE5A-8A43215B94E7}" srcId="{C1929EA7-F277-4ED8-BE76-A6CB805BFE4C}" destId="{97E55349-A28C-4D6C-AD82-AEADAE5FB434}" srcOrd="3" destOrd="0" parTransId="{CB297E67-D86A-4AC3-8590-BD6997147F8B}" sibTransId="{F25BE0AB-CD5D-4355-9E02-EC5FA0F21FB5}"/>
    <dgm:cxn modelId="{398612F1-15E8-4461-9561-C7BD89F1D176}" srcId="{C1929EA7-F277-4ED8-BE76-A6CB805BFE4C}" destId="{C38629EB-60AA-4F49-A538-5E45B8DF5F0C}" srcOrd="1" destOrd="0" parTransId="{F0B64DE9-28F7-409E-A0C7-B6D62AD7002F}" sibTransId="{FF797173-4BA8-4D0A-B3CE-6EDAFCB4BA24}"/>
    <dgm:cxn modelId="{8153326B-02D5-43F4-84C0-B3FFF668A64C}" type="presParOf" srcId="{1B845EB9-4D5A-4FE8-8A2A-0ED17C5B4DA1}" destId="{D9142BF9-49B2-49F6-88EB-6D0771178965}" srcOrd="0" destOrd="0" presId="urn:microsoft.com/office/officeart/2005/8/layout/vList2"/>
    <dgm:cxn modelId="{A55EF03B-1EAB-47CE-83B3-634ADB067FC7}" type="presParOf" srcId="{1B845EB9-4D5A-4FE8-8A2A-0ED17C5B4DA1}" destId="{2118F97F-9456-4C69-B97E-DFDD6F8E4D2A}" srcOrd="1" destOrd="0" presId="urn:microsoft.com/office/officeart/2005/8/layout/vList2"/>
    <dgm:cxn modelId="{2B33742C-2D91-449D-BD79-0F1DB857B1CD}" type="presParOf" srcId="{1B845EB9-4D5A-4FE8-8A2A-0ED17C5B4DA1}" destId="{B3978833-DEE5-4191-A62C-DC0CC9FCE5D6}" srcOrd="2" destOrd="0" presId="urn:microsoft.com/office/officeart/2005/8/layout/vList2"/>
    <dgm:cxn modelId="{8D92A2B2-558B-4703-97FD-8605F40E9C5A}" type="presParOf" srcId="{1B845EB9-4D5A-4FE8-8A2A-0ED17C5B4DA1}" destId="{745A8E36-0AB8-41CC-BA6A-9DA4D0D50B93}" srcOrd="3" destOrd="0" presId="urn:microsoft.com/office/officeart/2005/8/layout/vList2"/>
    <dgm:cxn modelId="{63C899D1-62F9-42FC-972B-5EEC2555FDC3}" type="presParOf" srcId="{1B845EB9-4D5A-4FE8-8A2A-0ED17C5B4DA1}" destId="{9F989AEA-2653-4E4A-99AB-4F48683B3509}" srcOrd="4" destOrd="0" presId="urn:microsoft.com/office/officeart/2005/8/layout/vList2"/>
    <dgm:cxn modelId="{2497B284-E532-4131-AEBF-9241AF99F8B8}" type="presParOf" srcId="{1B845EB9-4D5A-4FE8-8A2A-0ED17C5B4DA1}" destId="{BCB1636D-9CFE-4515-BABF-7AEC0B2589D1}" srcOrd="5" destOrd="0" presId="urn:microsoft.com/office/officeart/2005/8/layout/vList2"/>
    <dgm:cxn modelId="{5876133F-C734-41CA-A396-00D667AA8212}" type="presParOf" srcId="{1B845EB9-4D5A-4FE8-8A2A-0ED17C5B4DA1}" destId="{63E915D4-B37F-4FAA-A05B-3C11CFA6307A}" srcOrd="6" destOrd="0" presId="urn:microsoft.com/office/officeart/2005/8/layout/vList2"/>
    <dgm:cxn modelId="{05A8CFB7-986A-4BBB-AF19-BDBE28999F10}" type="presParOf" srcId="{1B845EB9-4D5A-4FE8-8A2A-0ED17C5B4DA1}" destId="{51B6F4A6-A9FB-4168-BED9-A5B6E2C6C1B9}" srcOrd="7" destOrd="0" presId="urn:microsoft.com/office/officeart/2005/8/layout/vList2"/>
    <dgm:cxn modelId="{78CA0EB8-3F90-4FA8-8D55-079C1FD2AF87}" type="presParOf" srcId="{1B845EB9-4D5A-4FE8-8A2A-0ED17C5B4DA1}" destId="{668A1619-16F2-4F79-B8F6-29AAF32C40C3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0A94A45-2EBE-461D-8DD2-C7B6FA45716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39602752-43C0-4FAA-91B3-85C09FD97B2C}">
      <dgm:prSet/>
      <dgm:spPr/>
      <dgm:t>
        <a:bodyPr/>
        <a:lstStyle/>
        <a:p>
          <a:r>
            <a:rPr lang="zh-CN" b="1">
              <a:latin typeface="微软雅黑" panose="020B0503020204020204" pitchFamily="34" charset="-122"/>
              <a:ea typeface="微软雅黑" panose="020B0503020204020204" pitchFamily="34" charset="-122"/>
            </a:rPr>
            <a:t>跨越理论与实践的鸿沟</a:t>
          </a:r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EE89961-FA08-4963-9F39-3D32661E5244}" type="parTrans" cxnId="{BE241771-B2BB-4B9C-97F4-E3AE847DAE3E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414E33E-57FC-4CF4-8437-780BCBC3486C}" type="sibTrans" cxnId="{BE241771-B2BB-4B9C-97F4-E3AE847DAE3E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A8A189C-4CA9-4FED-B259-17AEB96ED95F}">
      <dgm:prSet/>
      <dgm:spPr/>
      <dgm:t>
        <a:bodyPr/>
        <a:lstStyle/>
        <a:p>
          <a:r>
            <a:rPr lang="zh-CN" b="1" dirty="0">
              <a:latin typeface="微软雅黑" panose="020B0503020204020204" pitchFamily="34" charset="-122"/>
              <a:ea typeface="微软雅黑" panose="020B0503020204020204" pitchFamily="34" charset="-122"/>
            </a:rPr>
            <a:t>掌握 </a:t>
          </a:r>
          <a:r>
            <a:rPr lang="en-US" b="1" dirty="0">
              <a:latin typeface="微软雅黑" panose="020B0503020204020204" pitchFamily="34" charset="-122"/>
              <a:ea typeface="微软雅黑" panose="020B0503020204020204" pitchFamily="34" charset="-122"/>
            </a:rPr>
            <a:t>PID </a:t>
          </a:r>
          <a:r>
            <a:rPr lang="zh-CN" b="1" dirty="0">
              <a:latin typeface="微软雅黑" panose="020B0503020204020204" pitchFamily="34" charset="-122"/>
              <a:ea typeface="微软雅黑" panose="020B0503020204020204" pitchFamily="34" charset="-122"/>
            </a:rPr>
            <a:t>算法的离散化表达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：理解连续数学公式如何转化为单片机周期执行的加减法。</a:t>
          </a:r>
        </a:p>
      </dgm:t>
    </dgm:pt>
    <dgm:pt modelId="{17360435-CDC5-4CF5-AD7E-E85E09A2EEE7}" type="parTrans" cxnId="{09B93758-CFC1-4DAC-99D2-35D473A6CA92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F56EAF1-BCC4-4726-A70D-17416F81BD57}" type="sibTrans" cxnId="{09B93758-CFC1-4DAC-99D2-35D473A6CA92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06308F6-7891-4F20-AFAD-FBA9D911C940}">
      <dgm:prSet/>
      <dgm:spPr/>
      <dgm:t>
        <a:bodyPr/>
        <a:lstStyle/>
        <a:p>
          <a:r>
            <a:rPr lang="zh-CN" b="1" dirty="0">
              <a:latin typeface="微软雅黑" panose="020B0503020204020204" pitchFamily="34" charset="-122"/>
              <a:ea typeface="微软雅黑" panose="020B0503020204020204" pitchFamily="34" charset="-122"/>
            </a:rPr>
            <a:t>理解控制系统的实时性（</a:t>
          </a:r>
          <a:r>
            <a:rPr lang="en-US" b="1" dirty="0">
              <a:latin typeface="微软雅黑" panose="020B0503020204020204" pitchFamily="34" charset="-122"/>
              <a:ea typeface="微软雅黑" panose="020B0503020204020204" pitchFamily="34" charset="-122"/>
            </a:rPr>
            <a:t>10ms</a:t>
          </a:r>
          <a:r>
            <a:rPr lang="zh-CN" b="1" dirty="0">
              <a:latin typeface="微软雅黑" panose="020B0503020204020204" pitchFamily="34" charset="-122"/>
              <a:ea typeface="微软雅黑" panose="020B0503020204020204" pitchFamily="34" charset="-122"/>
            </a:rPr>
            <a:t>）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：明确为什么“时间”是闭环控制中最重要的变量。</a:t>
          </a:r>
        </a:p>
      </dgm:t>
    </dgm:pt>
    <dgm:pt modelId="{9FD50F40-D8A6-4512-B605-A97EFEE5085D}" type="parTrans" cxnId="{D895A471-4EDF-40C8-B645-B88F2C8F2D84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30F93DD-A7F2-4362-B860-3702451F6B27}" type="sibTrans" cxnId="{D895A471-4EDF-40C8-B645-B88F2C8F2D84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66FBC4B-2C23-4229-AA19-F54720278F90}">
      <dgm:prSet/>
      <dgm:spPr/>
      <dgm:t>
        <a:bodyPr/>
        <a:lstStyle/>
        <a:p>
          <a:r>
            <a:rPr lang="zh-CN" b="1" dirty="0">
              <a:latin typeface="微软雅黑" panose="020B0503020204020204" pitchFamily="34" charset="-122"/>
              <a:ea typeface="微软雅黑" panose="020B0503020204020204" pitchFamily="34" charset="-122"/>
            </a:rPr>
            <a:t>建立模块化工程思维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：学会将 </a:t>
          </a:r>
          <a:r>
            <a:rPr 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PID 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算法逻辑与电机业务逻辑进行解耦设计（</a:t>
          </a:r>
          <a:r>
            <a:rPr 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PID 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控制器 </a:t>
          </a:r>
          <a:r>
            <a:rPr 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vs 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速度环任务）。</a:t>
          </a:r>
        </a:p>
      </dgm:t>
    </dgm:pt>
    <dgm:pt modelId="{E3A573B4-F7D4-42A6-B1FC-566FB87374FA}" type="parTrans" cxnId="{DA365D75-3315-4431-928B-BDF0DEBE00A4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164E55F-8F37-4A74-8A2F-0515D3D16720}" type="sibTrans" cxnId="{DA365D75-3315-4431-928B-BDF0DEBE00A4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0E2133A-25FC-4149-B56F-59F440F5D95C}">
      <dgm:prSet/>
      <dgm:spPr/>
      <dgm:t>
        <a:bodyPr/>
        <a:lstStyle/>
        <a:p>
          <a:r>
            <a:rPr lang="zh-CN" b="1" dirty="0">
              <a:latin typeface="微软雅黑" panose="020B0503020204020204" pitchFamily="34" charset="-122"/>
              <a:ea typeface="微软雅黑" panose="020B0503020204020204" pitchFamily="34" charset="-122"/>
            </a:rPr>
            <a:t>理清信号流向图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：能够闭眼画出从“脉冲信号”到“</a:t>
          </a:r>
          <a:r>
            <a:rPr 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PWM 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占空比”的数据转化全过程。</a:t>
          </a:r>
        </a:p>
      </dgm:t>
    </dgm:pt>
    <dgm:pt modelId="{ECBF53C5-9574-40FB-9812-4B99CEDE65E9}" type="parTrans" cxnId="{605CAEE2-2A38-49D7-AD94-D6B7AF1E94FE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91ADE35-BE28-4FD5-AFF2-E3CFE24767D8}" type="sibTrans" cxnId="{605CAEE2-2A38-49D7-AD94-D6B7AF1E94FE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49EB971-188E-4DD3-B568-0F3D2280B238}" type="pres">
      <dgm:prSet presAssocID="{A0A94A45-2EBE-461D-8DD2-C7B6FA457168}" presName="linear" presStyleCnt="0">
        <dgm:presLayoutVars>
          <dgm:dir/>
          <dgm:animLvl val="lvl"/>
          <dgm:resizeHandles val="exact"/>
        </dgm:presLayoutVars>
      </dgm:prSet>
      <dgm:spPr/>
    </dgm:pt>
    <dgm:pt modelId="{5C47D06C-06C8-4370-8196-D84A1C889645}" type="pres">
      <dgm:prSet presAssocID="{39602752-43C0-4FAA-91B3-85C09FD97B2C}" presName="parentLin" presStyleCnt="0"/>
      <dgm:spPr/>
    </dgm:pt>
    <dgm:pt modelId="{8EBADFCE-324B-4B8C-83B2-085E1908C673}" type="pres">
      <dgm:prSet presAssocID="{39602752-43C0-4FAA-91B3-85C09FD97B2C}" presName="parentLeftMargin" presStyleLbl="node1" presStyleIdx="0" presStyleCnt="1"/>
      <dgm:spPr/>
    </dgm:pt>
    <dgm:pt modelId="{11ED4AD7-923A-441E-AE0E-01DF8B55C147}" type="pres">
      <dgm:prSet presAssocID="{39602752-43C0-4FAA-91B3-85C09FD97B2C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FEAD5D64-0759-4D1D-8F2E-EDF3412FD69A}" type="pres">
      <dgm:prSet presAssocID="{39602752-43C0-4FAA-91B3-85C09FD97B2C}" presName="negativeSpace" presStyleCnt="0"/>
      <dgm:spPr/>
    </dgm:pt>
    <dgm:pt modelId="{BE7F2574-34B7-4316-AF8D-5587CA37BB79}" type="pres">
      <dgm:prSet presAssocID="{39602752-43C0-4FAA-91B3-85C09FD97B2C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42E49502-AF1B-4A64-87DD-112E2654D731}" type="presOf" srcId="{806308F6-7891-4F20-AFAD-FBA9D911C940}" destId="{BE7F2574-34B7-4316-AF8D-5587CA37BB79}" srcOrd="0" destOrd="1" presId="urn:microsoft.com/office/officeart/2005/8/layout/list1"/>
    <dgm:cxn modelId="{C8D4DA11-5D7B-4DCC-896F-E42296D021B9}" type="presOf" srcId="{39602752-43C0-4FAA-91B3-85C09FD97B2C}" destId="{8EBADFCE-324B-4B8C-83B2-085E1908C673}" srcOrd="0" destOrd="0" presId="urn:microsoft.com/office/officeart/2005/8/layout/list1"/>
    <dgm:cxn modelId="{F6FF761A-5CB2-4B1F-A653-E9376D34F185}" type="presOf" srcId="{39602752-43C0-4FAA-91B3-85C09FD97B2C}" destId="{11ED4AD7-923A-441E-AE0E-01DF8B55C147}" srcOrd="1" destOrd="0" presId="urn:microsoft.com/office/officeart/2005/8/layout/list1"/>
    <dgm:cxn modelId="{3433C333-AB38-4F1A-AB7B-6F9650CB07DF}" type="presOf" srcId="{0A8A189C-4CA9-4FED-B259-17AEB96ED95F}" destId="{BE7F2574-34B7-4316-AF8D-5587CA37BB79}" srcOrd="0" destOrd="0" presId="urn:microsoft.com/office/officeart/2005/8/layout/list1"/>
    <dgm:cxn modelId="{287E975D-1B15-4B39-AC27-E700E614C8F3}" type="presOf" srcId="{166FBC4B-2C23-4229-AA19-F54720278F90}" destId="{BE7F2574-34B7-4316-AF8D-5587CA37BB79}" srcOrd="0" destOrd="2" presId="urn:microsoft.com/office/officeart/2005/8/layout/list1"/>
    <dgm:cxn modelId="{BE241771-B2BB-4B9C-97F4-E3AE847DAE3E}" srcId="{A0A94A45-2EBE-461D-8DD2-C7B6FA457168}" destId="{39602752-43C0-4FAA-91B3-85C09FD97B2C}" srcOrd="0" destOrd="0" parTransId="{5EE89961-FA08-4963-9F39-3D32661E5244}" sibTransId="{5414E33E-57FC-4CF4-8437-780BCBC3486C}"/>
    <dgm:cxn modelId="{D895A471-4EDF-40C8-B645-B88F2C8F2D84}" srcId="{39602752-43C0-4FAA-91B3-85C09FD97B2C}" destId="{806308F6-7891-4F20-AFAD-FBA9D911C940}" srcOrd="1" destOrd="0" parTransId="{9FD50F40-D8A6-4512-B605-A97EFEE5085D}" sibTransId="{230F93DD-A7F2-4362-B860-3702451F6B27}"/>
    <dgm:cxn modelId="{DA365D75-3315-4431-928B-BDF0DEBE00A4}" srcId="{39602752-43C0-4FAA-91B3-85C09FD97B2C}" destId="{166FBC4B-2C23-4229-AA19-F54720278F90}" srcOrd="2" destOrd="0" parTransId="{E3A573B4-F7D4-42A6-B1FC-566FB87374FA}" sibTransId="{3164E55F-8F37-4A74-8A2F-0515D3D16720}"/>
    <dgm:cxn modelId="{09B93758-CFC1-4DAC-99D2-35D473A6CA92}" srcId="{39602752-43C0-4FAA-91B3-85C09FD97B2C}" destId="{0A8A189C-4CA9-4FED-B259-17AEB96ED95F}" srcOrd="0" destOrd="0" parTransId="{17360435-CDC5-4CF5-AD7E-E85E09A2EEE7}" sibTransId="{6F56EAF1-BCC4-4726-A70D-17416F81BD57}"/>
    <dgm:cxn modelId="{605CAEE2-2A38-49D7-AD94-D6B7AF1E94FE}" srcId="{39602752-43C0-4FAA-91B3-85C09FD97B2C}" destId="{90E2133A-25FC-4149-B56F-59F440F5D95C}" srcOrd="3" destOrd="0" parTransId="{ECBF53C5-9574-40FB-9812-4B99CEDE65E9}" sibTransId="{491ADE35-BE28-4FD5-AFF2-E3CFE24767D8}"/>
    <dgm:cxn modelId="{6E017FEF-F5DF-4D30-9865-2171ABE9572D}" type="presOf" srcId="{A0A94A45-2EBE-461D-8DD2-C7B6FA457168}" destId="{A49EB971-188E-4DD3-B568-0F3D2280B238}" srcOrd="0" destOrd="0" presId="urn:microsoft.com/office/officeart/2005/8/layout/list1"/>
    <dgm:cxn modelId="{684146FC-969E-4E2F-A7C2-41B29AA05296}" type="presOf" srcId="{90E2133A-25FC-4149-B56F-59F440F5D95C}" destId="{BE7F2574-34B7-4316-AF8D-5587CA37BB79}" srcOrd="0" destOrd="3" presId="urn:microsoft.com/office/officeart/2005/8/layout/list1"/>
    <dgm:cxn modelId="{0755B1DF-5ABA-441E-B8FC-A25A7C91E77A}" type="presParOf" srcId="{A49EB971-188E-4DD3-B568-0F3D2280B238}" destId="{5C47D06C-06C8-4370-8196-D84A1C889645}" srcOrd="0" destOrd="0" presId="urn:microsoft.com/office/officeart/2005/8/layout/list1"/>
    <dgm:cxn modelId="{722B5028-ED60-44F9-B951-F9CE8A4B86B3}" type="presParOf" srcId="{5C47D06C-06C8-4370-8196-D84A1C889645}" destId="{8EBADFCE-324B-4B8C-83B2-085E1908C673}" srcOrd="0" destOrd="0" presId="urn:microsoft.com/office/officeart/2005/8/layout/list1"/>
    <dgm:cxn modelId="{9AAC5596-F1DA-4155-896D-5DFC191CC408}" type="presParOf" srcId="{5C47D06C-06C8-4370-8196-D84A1C889645}" destId="{11ED4AD7-923A-441E-AE0E-01DF8B55C147}" srcOrd="1" destOrd="0" presId="urn:microsoft.com/office/officeart/2005/8/layout/list1"/>
    <dgm:cxn modelId="{54DFB230-BF37-40C5-8B64-1B1A9AF0F13A}" type="presParOf" srcId="{A49EB971-188E-4DD3-B568-0F3D2280B238}" destId="{FEAD5D64-0759-4D1D-8F2E-EDF3412FD69A}" srcOrd="1" destOrd="0" presId="urn:microsoft.com/office/officeart/2005/8/layout/list1"/>
    <dgm:cxn modelId="{C66EF041-BD00-43A5-BCC7-EF507412CF17}" type="presParOf" srcId="{A49EB971-188E-4DD3-B568-0F3D2280B238}" destId="{BE7F2574-34B7-4316-AF8D-5587CA37BB79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E80C8E4-F78E-4774-87B4-7FA4CFD4395E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zh-CN" altLang="en-US"/>
        </a:p>
      </dgm:t>
    </dgm:pt>
    <dgm:pt modelId="{266E4EC7-BD09-4D24-A3C3-FB22F0CE5B0B}">
      <dgm:prSet/>
      <dgm:spPr/>
      <dgm:t>
        <a:bodyPr/>
        <a:lstStyle/>
        <a:p>
          <a:r>
            <a:rPr lang="zh-CN" b="1"/>
            <a:t>实时性的定义：</a:t>
          </a:r>
          <a:endParaRPr lang="zh-CN"/>
        </a:p>
      </dgm:t>
    </dgm:pt>
    <dgm:pt modelId="{BE3568B7-1917-4E1A-9F7D-5CDF6F3C9BD0}" type="parTrans" cxnId="{D916674C-C781-47D0-88F4-1E84A430DBBE}">
      <dgm:prSet/>
      <dgm:spPr/>
      <dgm:t>
        <a:bodyPr/>
        <a:lstStyle/>
        <a:p>
          <a:endParaRPr lang="zh-CN" altLang="en-US"/>
        </a:p>
      </dgm:t>
    </dgm:pt>
    <dgm:pt modelId="{0CC8E405-4425-4464-91D8-B0CD5678C0CD}" type="sibTrans" cxnId="{D916674C-C781-47D0-88F4-1E84A430DBBE}">
      <dgm:prSet/>
      <dgm:spPr/>
      <dgm:t>
        <a:bodyPr/>
        <a:lstStyle/>
        <a:p>
          <a:endParaRPr lang="zh-CN" altLang="en-US"/>
        </a:p>
      </dgm:t>
    </dgm:pt>
    <dgm:pt modelId="{0A8916A2-F5FE-4E1A-9C00-668F185C73DA}">
      <dgm:prSet/>
      <dgm:spPr/>
      <dgm:t>
        <a:bodyPr/>
        <a:lstStyle/>
        <a:p>
          <a:r>
            <a:rPr lang="zh-CN" dirty="0"/>
            <a:t>闭环系统的有效性建立在“及时反馈”的基础上。如果周期太长（如 </a:t>
          </a:r>
          <a:r>
            <a:rPr lang="en-US" dirty="0"/>
            <a:t>1</a:t>
          </a:r>
          <a:r>
            <a:rPr lang="zh-CN" dirty="0"/>
            <a:t>秒），反馈就失去了意义，电机早已失控。</a:t>
          </a:r>
        </a:p>
      </dgm:t>
    </dgm:pt>
    <dgm:pt modelId="{EFB76A55-8616-4DB8-B6B3-5909244688F9}" type="parTrans" cxnId="{F3865358-FE98-4E57-821D-435694046698}">
      <dgm:prSet/>
      <dgm:spPr/>
      <dgm:t>
        <a:bodyPr/>
        <a:lstStyle/>
        <a:p>
          <a:endParaRPr lang="zh-CN" altLang="en-US"/>
        </a:p>
      </dgm:t>
    </dgm:pt>
    <dgm:pt modelId="{3AD2555D-CA27-4CC4-909C-2E1E12AFDCC4}" type="sibTrans" cxnId="{F3865358-FE98-4E57-821D-435694046698}">
      <dgm:prSet/>
      <dgm:spPr/>
      <dgm:t>
        <a:bodyPr/>
        <a:lstStyle/>
        <a:p>
          <a:endParaRPr lang="zh-CN" altLang="en-US"/>
        </a:p>
      </dgm:t>
    </dgm:pt>
    <dgm:pt modelId="{4868F288-C3DD-468E-A67F-13D955A7514F}">
      <dgm:prSet/>
      <dgm:spPr/>
      <dgm:t>
        <a:bodyPr/>
        <a:lstStyle/>
        <a:p>
          <a:r>
            <a:rPr lang="en-US" b="1"/>
            <a:t>TIM6 </a:t>
          </a:r>
          <a:r>
            <a:rPr lang="zh-CN" b="1"/>
            <a:t>定时器的角色：</a:t>
          </a:r>
          <a:endParaRPr lang="zh-CN"/>
        </a:p>
      </dgm:t>
    </dgm:pt>
    <dgm:pt modelId="{6C3EAFEE-1545-4D2A-B851-AEB071F19D7E}" type="parTrans" cxnId="{4D2BE476-CD91-4657-913F-31EB657DE646}">
      <dgm:prSet/>
      <dgm:spPr/>
      <dgm:t>
        <a:bodyPr/>
        <a:lstStyle/>
        <a:p>
          <a:endParaRPr lang="zh-CN" altLang="en-US"/>
        </a:p>
      </dgm:t>
    </dgm:pt>
    <dgm:pt modelId="{1AD42753-9DD2-44DD-9F44-319474F52E2F}" type="sibTrans" cxnId="{4D2BE476-CD91-4657-913F-31EB657DE646}">
      <dgm:prSet/>
      <dgm:spPr/>
      <dgm:t>
        <a:bodyPr/>
        <a:lstStyle/>
        <a:p>
          <a:endParaRPr lang="zh-CN" altLang="en-US"/>
        </a:p>
      </dgm:t>
    </dgm:pt>
    <dgm:pt modelId="{2A92C35B-8045-4F80-8C80-667068B0071B}">
      <dgm:prSet/>
      <dgm:spPr/>
      <dgm:t>
        <a:bodyPr/>
        <a:lstStyle/>
        <a:p>
          <a:r>
            <a:rPr lang="zh-CN" dirty="0"/>
            <a:t>我们配置 </a:t>
          </a:r>
          <a:r>
            <a:rPr lang="en-US" dirty="0"/>
            <a:t>TIM6 </a:t>
          </a:r>
          <a:r>
            <a:rPr lang="zh-CN" dirty="0"/>
            <a:t>产生 </a:t>
          </a:r>
          <a:r>
            <a:rPr lang="en-US" b="1" dirty="0"/>
            <a:t>10ms </a:t>
          </a:r>
          <a:r>
            <a:rPr lang="zh-CN" b="1" dirty="0"/>
            <a:t>中断</a:t>
          </a:r>
          <a:r>
            <a:rPr lang="zh-CN" dirty="0"/>
            <a:t>（</a:t>
          </a:r>
          <a:r>
            <a:rPr lang="en-US" dirty="0"/>
            <a:t>100Hz </a:t>
          </a:r>
          <a:r>
            <a:rPr lang="zh-CN" dirty="0"/>
            <a:t>采样率）。</a:t>
          </a:r>
        </a:p>
      </dgm:t>
    </dgm:pt>
    <dgm:pt modelId="{D56D03D0-2A68-4853-9875-DB07A67ADFA5}" type="parTrans" cxnId="{F3ADEA3F-9811-4A0E-993E-5B91868FFA2B}">
      <dgm:prSet/>
      <dgm:spPr/>
      <dgm:t>
        <a:bodyPr/>
        <a:lstStyle/>
        <a:p>
          <a:endParaRPr lang="zh-CN" altLang="en-US"/>
        </a:p>
      </dgm:t>
    </dgm:pt>
    <dgm:pt modelId="{E0D81E47-2B8B-4309-8330-2D04559B2D33}" type="sibTrans" cxnId="{F3ADEA3F-9811-4A0E-993E-5B91868FFA2B}">
      <dgm:prSet/>
      <dgm:spPr/>
      <dgm:t>
        <a:bodyPr/>
        <a:lstStyle/>
        <a:p>
          <a:endParaRPr lang="zh-CN" altLang="en-US"/>
        </a:p>
      </dgm:t>
    </dgm:pt>
    <dgm:pt modelId="{504D8D2C-F68D-4A54-BD0C-BAFF4DEB7B0D}">
      <dgm:prSet/>
      <dgm:spPr/>
      <dgm:t>
        <a:bodyPr/>
        <a:lstStyle/>
        <a:p>
          <a:r>
            <a:rPr lang="zh-CN" b="1" dirty="0"/>
            <a:t>心跳法则</a:t>
          </a:r>
          <a:r>
            <a:rPr lang="zh-CN" dirty="0"/>
            <a:t>：所有的反馈、计算、输出必须在中断里一次性完成，保证控制步调绝对一致。</a:t>
          </a:r>
        </a:p>
      </dgm:t>
    </dgm:pt>
    <dgm:pt modelId="{368779BF-FE4A-4876-A601-F44F18EC1FC7}" type="parTrans" cxnId="{846B2F81-470C-4EB9-AEA2-D5E693B9463A}">
      <dgm:prSet/>
      <dgm:spPr/>
      <dgm:t>
        <a:bodyPr/>
        <a:lstStyle/>
        <a:p>
          <a:endParaRPr lang="zh-CN" altLang="en-US"/>
        </a:p>
      </dgm:t>
    </dgm:pt>
    <dgm:pt modelId="{B16A6429-2525-4F09-B1E9-D20D76C4035A}" type="sibTrans" cxnId="{846B2F81-470C-4EB9-AEA2-D5E693B9463A}">
      <dgm:prSet/>
      <dgm:spPr/>
      <dgm:t>
        <a:bodyPr/>
        <a:lstStyle/>
        <a:p>
          <a:endParaRPr lang="zh-CN" altLang="en-US"/>
        </a:p>
      </dgm:t>
    </dgm:pt>
    <dgm:pt modelId="{DE8211C0-9C3E-4022-9733-BE496F37645D}" type="pres">
      <dgm:prSet presAssocID="{7E80C8E4-F78E-4774-87B4-7FA4CFD4395E}" presName="linear" presStyleCnt="0">
        <dgm:presLayoutVars>
          <dgm:dir/>
          <dgm:animLvl val="lvl"/>
          <dgm:resizeHandles val="exact"/>
        </dgm:presLayoutVars>
      </dgm:prSet>
      <dgm:spPr/>
    </dgm:pt>
    <dgm:pt modelId="{421646F2-8F2D-48D5-A0E0-9FAE562E7FF8}" type="pres">
      <dgm:prSet presAssocID="{266E4EC7-BD09-4D24-A3C3-FB22F0CE5B0B}" presName="parentLin" presStyleCnt="0"/>
      <dgm:spPr/>
    </dgm:pt>
    <dgm:pt modelId="{FBC0251A-6F5E-4108-9459-0C1BB20B8D5D}" type="pres">
      <dgm:prSet presAssocID="{266E4EC7-BD09-4D24-A3C3-FB22F0CE5B0B}" presName="parentLeftMargin" presStyleLbl="node1" presStyleIdx="0" presStyleCnt="2"/>
      <dgm:spPr/>
    </dgm:pt>
    <dgm:pt modelId="{0DCB1BBC-5148-4E15-81A3-AD675FADD582}" type="pres">
      <dgm:prSet presAssocID="{266E4EC7-BD09-4D24-A3C3-FB22F0CE5B0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88D177D-593C-4BAA-8EB6-6D8FE935826A}" type="pres">
      <dgm:prSet presAssocID="{266E4EC7-BD09-4D24-A3C3-FB22F0CE5B0B}" presName="negativeSpace" presStyleCnt="0"/>
      <dgm:spPr/>
    </dgm:pt>
    <dgm:pt modelId="{0AEEA49B-D6CC-42C5-8232-448A2A87E8F6}" type="pres">
      <dgm:prSet presAssocID="{266E4EC7-BD09-4D24-A3C3-FB22F0CE5B0B}" presName="childText" presStyleLbl="conFgAcc1" presStyleIdx="0" presStyleCnt="2">
        <dgm:presLayoutVars>
          <dgm:bulletEnabled val="1"/>
        </dgm:presLayoutVars>
      </dgm:prSet>
      <dgm:spPr/>
    </dgm:pt>
    <dgm:pt modelId="{9F19E12D-2EA4-4D11-BE01-13D317AE796B}" type="pres">
      <dgm:prSet presAssocID="{0CC8E405-4425-4464-91D8-B0CD5678C0CD}" presName="spaceBetweenRectangles" presStyleCnt="0"/>
      <dgm:spPr/>
    </dgm:pt>
    <dgm:pt modelId="{BC7A35A0-7817-4519-AB1C-B24B38B6DDA9}" type="pres">
      <dgm:prSet presAssocID="{4868F288-C3DD-468E-A67F-13D955A7514F}" presName="parentLin" presStyleCnt="0"/>
      <dgm:spPr/>
    </dgm:pt>
    <dgm:pt modelId="{16182549-EDEC-49ED-BCFD-F43911C7100C}" type="pres">
      <dgm:prSet presAssocID="{4868F288-C3DD-468E-A67F-13D955A7514F}" presName="parentLeftMargin" presStyleLbl="node1" presStyleIdx="0" presStyleCnt="2"/>
      <dgm:spPr/>
    </dgm:pt>
    <dgm:pt modelId="{CFDE63E5-B427-40AF-8CB7-DE851B895ABE}" type="pres">
      <dgm:prSet presAssocID="{4868F288-C3DD-468E-A67F-13D955A7514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27BA675-D742-4F50-AE7E-C7768CD3EDFA}" type="pres">
      <dgm:prSet presAssocID="{4868F288-C3DD-468E-A67F-13D955A7514F}" presName="negativeSpace" presStyleCnt="0"/>
      <dgm:spPr/>
    </dgm:pt>
    <dgm:pt modelId="{2E6D9027-6F2E-431B-93D3-00B746CB8E89}" type="pres">
      <dgm:prSet presAssocID="{4868F288-C3DD-468E-A67F-13D955A7514F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A6C04325-EDEA-47DB-9921-DFE6D778F1B1}" type="presOf" srcId="{4868F288-C3DD-468E-A67F-13D955A7514F}" destId="{CFDE63E5-B427-40AF-8CB7-DE851B895ABE}" srcOrd="1" destOrd="0" presId="urn:microsoft.com/office/officeart/2005/8/layout/list1"/>
    <dgm:cxn modelId="{7D4C073B-B375-40DA-8D0C-62136FA1F11B}" type="presOf" srcId="{2A92C35B-8045-4F80-8C80-667068B0071B}" destId="{2E6D9027-6F2E-431B-93D3-00B746CB8E89}" srcOrd="0" destOrd="0" presId="urn:microsoft.com/office/officeart/2005/8/layout/list1"/>
    <dgm:cxn modelId="{F3ADEA3F-9811-4A0E-993E-5B91868FFA2B}" srcId="{4868F288-C3DD-468E-A67F-13D955A7514F}" destId="{2A92C35B-8045-4F80-8C80-667068B0071B}" srcOrd="0" destOrd="0" parTransId="{D56D03D0-2A68-4853-9875-DB07A67ADFA5}" sibTransId="{E0D81E47-2B8B-4309-8330-2D04559B2D33}"/>
    <dgm:cxn modelId="{DE8D5044-0E78-40A9-AFBE-AC2BBBC0901C}" type="presOf" srcId="{266E4EC7-BD09-4D24-A3C3-FB22F0CE5B0B}" destId="{0DCB1BBC-5148-4E15-81A3-AD675FADD582}" srcOrd="1" destOrd="0" presId="urn:microsoft.com/office/officeart/2005/8/layout/list1"/>
    <dgm:cxn modelId="{D916674C-C781-47D0-88F4-1E84A430DBBE}" srcId="{7E80C8E4-F78E-4774-87B4-7FA4CFD4395E}" destId="{266E4EC7-BD09-4D24-A3C3-FB22F0CE5B0B}" srcOrd="0" destOrd="0" parTransId="{BE3568B7-1917-4E1A-9F7D-5CDF6F3C9BD0}" sibTransId="{0CC8E405-4425-4464-91D8-B0CD5678C0CD}"/>
    <dgm:cxn modelId="{07FC366F-8C8F-44CA-99DC-2CB59643619E}" type="presOf" srcId="{4868F288-C3DD-468E-A67F-13D955A7514F}" destId="{16182549-EDEC-49ED-BCFD-F43911C7100C}" srcOrd="0" destOrd="0" presId="urn:microsoft.com/office/officeart/2005/8/layout/list1"/>
    <dgm:cxn modelId="{4D2BE476-CD91-4657-913F-31EB657DE646}" srcId="{7E80C8E4-F78E-4774-87B4-7FA4CFD4395E}" destId="{4868F288-C3DD-468E-A67F-13D955A7514F}" srcOrd="1" destOrd="0" parTransId="{6C3EAFEE-1545-4D2A-B851-AEB071F19D7E}" sibTransId="{1AD42753-9DD2-44DD-9F44-319474F52E2F}"/>
    <dgm:cxn modelId="{F3865358-FE98-4E57-821D-435694046698}" srcId="{266E4EC7-BD09-4D24-A3C3-FB22F0CE5B0B}" destId="{0A8916A2-F5FE-4E1A-9C00-668F185C73DA}" srcOrd="0" destOrd="0" parTransId="{EFB76A55-8616-4DB8-B6B3-5909244688F9}" sibTransId="{3AD2555D-CA27-4CC4-909C-2E1E12AFDCC4}"/>
    <dgm:cxn modelId="{846B2F81-470C-4EB9-AEA2-D5E693B9463A}" srcId="{4868F288-C3DD-468E-A67F-13D955A7514F}" destId="{504D8D2C-F68D-4A54-BD0C-BAFF4DEB7B0D}" srcOrd="1" destOrd="0" parTransId="{368779BF-FE4A-4876-A601-F44F18EC1FC7}" sibTransId="{B16A6429-2525-4F09-B1E9-D20D76C4035A}"/>
    <dgm:cxn modelId="{3982B5C0-912F-40BF-8794-FB515AA7DF9F}" type="presOf" srcId="{504D8D2C-F68D-4A54-BD0C-BAFF4DEB7B0D}" destId="{2E6D9027-6F2E-431B-93D3-00B746CB8E89}" srcOrd="0" destOrd="1" presId="urn:microsoft.com/office/officeart/2005/8/layout/list1"/>
    <dgm:cxn modelId="{75DFC5DA-BF19-4612-9E7F-12DBE519381A}" type="presOf" srcId="{266E4EC7-BD09-4D24-A3C3-FB22F0CE5B0B}" destId="{FBC0251A-6F5E-4108-9459-0C1BB20B8D5D}" srcOrd="0" destOrd="0" presId="urn:microsoft.com/office/officeart/2005/8/layout/list1"/>
    <dgm:cxn modelId="{7FEF07F0-C0C3-47CD-A6C0-22F9393CE5C7}" type="presOf" srcId="{0A8916A2-F5FE-4E1A-9C00-668F185C73DA}" destId="{0AEEA49B-D6CC-42C5-8232-448A2A87E8F6}" srcOrd="0" destOrd="0" presId="urn:microsoft.com/office/officeart/2005/8/layout/list1"/>
    <dgm:cxn modelId="{A0EC2CF9-627B-4BA0-9C2D-09865EEEA66B}" type="presOf" srcId="{7E80C8E4-F78E-4774-87B4-7FA4CFD4395E}" destId="{DE8211C0-9C3E-4022-9733-BE496F37645D}" srcOrd="0" destOrd="0" presId="urn:microsoft.com/office/officeart/2005/8/layout/list1"/>
    <dgm:cxn modelId="{877C168B-92FE-4D42-8A82-98D7F079D250}" type="presParOf" srcId="{DE8211C0-9C3E-4022-9733-BE496F37645D}" destId="{421646F2-8F2D-48D5-A0E0-9FAE562E7FF8}" srcOrd="0" destOrd="0" presId="urn:microsoft.com/office/officeart/2005/8/layout/list1"/>
    <dgm:cxn modelId="{4480F119-97D4-4C9C-B51F-AFD20BDD2402}" type="presParOf" srcId="{421646F2-8F2D-48D5-A0E0-9FAE562E7FF8}" destId="{FBC0251A-6F5E-4108-9459-0C1BB20B8D5D}" srcOrd="0" destOrd="0" presId="urn:microsoft.com/office/officeart/2005/8/layout/list1"/>
    <dgm:cxn modelId="{3D5F34A5-0253-47A4-A8E3-918E3846C82B}" type="presParOf" srcId="{421646F2-8F2D-48D5-A0E0-9FAE562E7FF8}" destId="{0DCB1BBC-5148-4E15-81A3-AD675FADD582}" srcOrd="1" destOrd="0" presId="urn:microsoft.com/office/officeart/2005/8/layout/list1"/>
    <dgm:cxn modelId="{48826285-8263-45B7-88F8-FD47221803AB}" type="presParOf" srcId="{DE8211C0-9C3E-4022-9733-BE496F37645D}" destId="{888D177D-593C-4BAA-8EB6-6D8FE935826A}" srcOrd="1" destOrd="0" presId="urn:microsoft.com/office/officeart/2005/8/layout/list1"/>
    <dgm:cxn modelId="{86A2A1EE-8AA9-479B-AD81-DEF7EF36EBB8}" type="presParOf" srcId="{DE8211C0-9C3E-4022-9733-BE496F37645D}" destId="{0AEEA49B-D6CC-42C5-8232-448A2A87E8F6}" srcOrd="2" destOrd="0" presId="urn:microsoft.com/office/officeart/2005/8/layout/list1"/>
    <dgm:cxn modelId="{C3AAE82E-EE5C-4540-8AA1-EEBC9A56A398}" type="presParOf" srcId="{DE8211C0-9C3E-4022-9733-BE496F37645D}" destId="{9F19E12D-2EA4-4D11-BE01-13D317AE796B}" srcOrd="3" destOrd="0" presId="urn:microsoft.com/office/officeart/2005/8/layout/list1"/>
    <dgm:cxn modelId="{0C5FE683-7C4D-4FBC-9B92-2FDC03D8B95A}" type="presParOf" srcId="{DE8211C0-9C3E-4022-9733-BE496F37645D}" destId="{BC7A35A0-7817-4519-AB1C-B24B38B6DDA9}" srcOrd="4" destOrd="0" presId="urn:microsoft.com/office/officeart/2005/8/layout/list1"/>
    <dgm:cxn modelId="{CCEE8923-0775-4FC0-8409-D37AA91475C4}" type="presParOf" srcId="{BC7A35A0-7817-4519-AB1C-B24B38B6DDA9}" destId="{16182549-EDEC-49ED-BCFD-F43911C7100C}" srcOrd="0" destOrd="0" presId="urn:microsoft.com/office/officeart/2005/8/layout/list1"/>
    <dgm:cxn modelId="{6DE8D87A-D924-442E-B523-B85DE92E5444}" type="presParOf" srcId="{BC7A35A0-7817-4519-AB1C-B24B38B6DDA9}" destId="{CFDE63E5-B427-40AF-8CB7-DE851B895ABE}" srcOrd="1" destOrd="0" presId="urn:microsoft.com/office/officeart/2005/8/layout/list1"/>
    <dgm:cxn modelId="{3F6B5FB5-5CBC-44E2-A6E7-F1B9233A7F8C}" type="presParOf" srcId="{DE8211C0-9C3E-4022-9733-BE496F37645D}" destId="{827BA675-D742-4F50-AE7E-C7768CD3EDFA}" srcOrd="5" destOrd="0" presId="urn:microsoft.com/office/officeart/2005/8/layout/list1"/>
    <dgm:cxn modelId="{762C0197-A41E-4010-B509-89387DC6DA76}" type="presParOf" srcId="{DE8211C0-9C3E-4022-9733-BE496F37645D}" destId="{2E6D9027-6F2E-431B-93D3-00B746CB8E89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FE822E0-6475-4217-9836-078AEDEC8E2F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zh-CN" altLang="en-US"/>
        </a:p>
      </dgm:t>
    </dgm:pt>
    <dgm:pt modelId="{394CDEEF-B409-48E3-AE30-28BF6EA04033}">
      <dgm:prSet/>
      <dgm:spPr/>
      <dgm:t>
        <a:bodyPr/>
        <a:lstStyle/>
        <a:p>
          <a:r>
            <a:rPr lang="zh-CN" b="1" i="0" baseline="0">
              <a:latin typeface="微软雅黑" panose="020B0503020204020204" pitchFamily="34" charset="-122"/>
              <a:ea typeface="微软雅黑" panose="020B0503020204020204" pitchFamily="34" charset="-122"/>
            </a:rPr>
            <a:t>输出限幅 (Output Saturation)</a:t>
          </a:r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FE7E708-249C-4287-808D-763D2D49AB9C}" type="parTrans" cxnId="{EB6BDF9E-E9F1-47CD-B407-0BDF754B0A93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CADD679-79F2-46CA-962E-FFB5404B607B}" type="sibTrans" cxnId="{EB6BDF9E-E9F1-47CD-B407-0BDF754B0A93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8A7D8F8-A963-4100-8481-8223D22595AB}">
      <dgm:prSet/>
      <dgm:spPr/>
      <dgm:t>
        <a:bodyPr/>
        <a:lstStyle/>
        <a:p>
          <a:r>
            <a:rPr lang="zh-CN" b="0" i="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你的 PWM 最大只有 100%，PID 计算出 200% 是没意义的，必须强制截断。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84BC285-B638-4DB3-8DD2-56A9E7A28EC4}" type="parTrans" cxnId="{86CD51D1-3356-417B-A3EE-AA5570CDDE9F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F297162-9B84-4A5D-8D6A-E49CB0EE94FF}" type="sibTrans" cxnId="{86CD51D1-3356-417B-A3EE-AA5570CDDE9F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9CDEC9B-76D2-4D5C-A04E-EEABC7E8E375}">
      <dgm:prSet/>
      <dgm:spPr/>
      <dgm:t>
        <a:bodyPr/>
        <a:lstStyle/>
        <a:p>
          <a:r>
            <a:rPr lang="zh-CN" b="1" i="0" baseline="0">
              <a:latin typeface="微软雅黑" panose="020B0503020204020204" pitchFamily="34" charset="-122"/>
              <a:ea typeface="微软雅黑" panose="020B0503020204020204" pitchFamily="34" charset="-122"/>
            </a:rPr>
            <a:t>积分抗饱和 (Anti-Windup)</a:t>
          </a:r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F9CD6BF-34BA-4C2D-87D2-6A09AA4D44DB}" type="parTrans" cxnId="{62B8FCA6-DC22-4E87-B765-7C56AD27EB2A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9ACB930-5864-42FB-9EC5-7B97C0EFC7C4}" type="sibTrans" cxnId="{62B8FCA6-DC22-4E87-B765-7C56AD27EB2A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EE51965-48B0-49D1-9810-3AB2B674357C}">
      <dgm:prSet/>
      <dgm:spPr/>
      <dgm:t>
        <a:bodyPr/>
        <a:lstStyle/>
        <a:p>
          <a:r>
            <a:rPr lang="zh-CN" b="0" i="0" baseline="0">
              <a:latin typeface="微软雅黑" panose="020B0503020204020204" pitchFamily="34" charset="-122"/>
              <a:ea typeface="微软雅黑" panose="020B0503020204020204" pitchFamily="34" charset="-122"/>
            </a:rPr>
            <a:t>防止电机堵转时，积分项疯狂累加到天文数字，导致电机脱困后“飞车”。</a:t>
          </a:r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696DDBC-B5A5-412A-A006-0181D7948258}" type="parTrans" cxnId="{FE02A65B-FB24-4B05-AB26-F70AF1C1F88E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970B383-1D8D-4D86-B1E8-2628AA1FD737}" type="sibTrans" cxnId="{FE02A65B-FB24-4B05-AB26-F70AF1C1F88E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9B3742C-885D-4957-B23B-C8E2ABBD3670}">
      <dgm:prSet/>
      <dgm:spPr/>
      <dgm:t>
        <a:bodyPr/>
        <a:lstStyle/>
        <a:p>
          <a:r>
            <a:rPr lang="zh-CN" b="1" i="0" baseline="0">
              <a:latin typeface="微软雅黑" panose="020B0503020204020204" pitchFamily="34" charset="-122"/>
              <a:ea typeface="微软雅黑" panose="020B0503020204020204" pitchFamily="34" charset="-122"/>
            </a:rPr>
            <a:t>死区补偿 (Deadband)</a:t>
          </a:r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FD9F4B9-BB21-4000-A8C5-3F28E7EC09E6}" type="parTrans" cxnId="{0EF5315F-1865-4C3F-85D3-FF3E7550EB7A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06B3C36-F40A-47E9-B3E0-E8AE9E507589}" type="sibTrans" cxnId="{0EF5315F-1865-4C3F-85D3-FF3E7550EB7A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8F4A0B9-893A-48C9-B2BA-12A1472789F4}">
      <dgm:prSet/>
      <dgm:spPr/>
      <dgm:t>
        <a:bodyPr/>
        <a:lstStyle/>
        <a:p>
          <a:r>
            <a:rPr lang="zh-CN" b="0" i="0" baseline="0">
              <a:latin typeface="微软雅黑" panose="020B0503020204020204" pitchFamily="34" charset="-122"/>
              <a:ea typeface="微软雅黑" panose="020B0503020204020204" pitchFamily="34" charset="-122"/>
            </a:rPr>
            <a:t>克服机械摩擦力，给电机一个起步的“初始推力”。</a:t>
          </a:r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9EB450C-61D8-4C2C-9152-8EA426221A8D}" type="parTrans" cxnId="{E616A108-5D48-4015-90DF-D9C851024BAD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CA91953-48B6-4B69-9571-D737FFD2270E}" type="sibTrans" cxnId="{E616A108-5D48-4015-90DF-D9C851024BAD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3646077-605D-4A8F-BE09-CF6A892CF45F}" type="pres">
      <dgm:prSet presAssocID="{3FE822E0-6475-4217-9836-078AEDEC8E2F}" presName="linear" presStyleCnt="0">
        <dgm:presLayoutVars>
          <dgm:dir/>
          <dgm:animLvl val="lvl"/>
          <dgm:resizeHandles val="exact"/>
        </dgm:presLayoutVars>
      </dgm:prSet>
      <dgm:spPr/>
    </dgm:pt>
    <dgm:pt modelId="{4D7D6BBF-C3E8-4E54-B2DA-CD8F216092EB}" type="pres">
      <dgm:prSet presAssocID="{394CDEEF-B409-48E3-AE30-28BF6EA04033}" presName="parentLin" presStyleCnt="0"/>
      <dgm:spPr/>
    </dgm:pt>
    <dgm:pt modelId="{97D05B1F-68D7-4B87-99F2-5AA24F92A92B}" type="pres">
      <dgm:prSet presAssocID="{394CDEEF-B409-48E3-AE30-28BF6EA04033}" presName="parentLeftMargin" presStyleLbl="node1" presStyleIdx="0" presStyleCnt="3"/>
      <dgm:spPr/>
    </dgm:pt>
    <dgm:pt modelId="{36427FD6-B818-44C3-8458-5B78B2661C9C}" type="pres">
      <dgm:prSet presAssocID="{394CDEEF-B409-48E3-AE30-28BF6EA0403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42240CB-9AD1-42EA-BCE8-7A00DB4BFD0C}" type="pres">
      <dgm:prSet presAssocID="{394CDEEF-B409-48E3-AE30-28BF6EA04033}" presName="negativeSpace" presStyleCnt="0"/>
      <dgm:spPr/>
    </dgm:pt>
    <dgm:pt modelId="{F6B270AE-F677-48F3-8B68-4BD3783D108A}" type="pres">
      <dgm:prSet presAssocID="{394CDEEF-B409-48E3-AE30-28BF6EA04033}" presName="childText" presStyleLbl="conFgAcc1" presStyleIdx="0" presStyleCnt="3">
        <dgm:presLayoutVars>
          <dgm:bulletEnabled val="1"/>
        </dgm:presLayoutVars>
      </dgm:prSet>
      <dgm:spPr/>
    </dgm:pt>
    <dgm:pt modelId="{7E782171-1F8A-4C42-BEA2-3B677BF468E9}" type="pres">
      <dgm:prSet presAssocID="{FCADD679-79F2-46CA-962E-FFB5404B607B}" presName="spaceBetweenRectangles" presStyleCnt="0"/>
      <dgm:spPr/>
    </dgm:pt>
    <dgm:pt modelId="{F0AD1AFC-CC6F-438A-8131-913B3BBB186F}" type="pres">
      <dgm:prSet presAssocID="{D9CDEC9B-76D2-4D5C-A04E-EEABC7E8E375}" presName="parentLin" presStyleCnt="0"/>
      <dgm:spPr/>
    </dgm:pt>
    <dgm:pt modelId="{C622DF73-F3C4-4180-9DF1-9B0BCB55AB31}" type="pres">
      <dgm:prSet presAssocID="{D9CDEC9B-76D2-4D5C-A04E-EEABC7E8E375}" presName="parentLeftMargin" presStyleLbl="node1" presStyleIdx="0" presStyleCnt="3"/>
      <dgm:spPr/>
    </dgm:pt>
    <dgm:pt modelId="{A0EAC05F-B574-4A19-B214-F7E240334259}" type="pres">
      <dgm:prSet presAssocID="{D9CDEC9B-76D2-4D5C-A04E-EEABC7E8E37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24830AC-E436-47BC-B8F1-795AC87A69B4}" type="pres">
      <dgm:prSet presAssocID="{D9CDEC9B-76D2-4D5C-A04E-EEABC7E8E375}" presName="negativeSpace" presStyleCnt="0"/>
      <dgm:spPr/>
    </dgm:pt>
    <dgm:pt modelId="{7AB33209-9FE1-43DF-B1AC-0067FE735EC9}" type="pres">
      <dgm:prSet presAssocID="{D9CDEC9B-76D2-4D5C-A04E-EEABC7E8E375}" presName="childText" presStyleLbl="conFgAcc1" presStyleIdx="1" presStyleCnt="3">
        <dgm:presLayoutVars>
          <dgm:bulletEnabled val="1"/>
        </dgm:presLayoutVars>
      </dgm:prSet>
      <dgm:spPr/>
    </dgm:pt>
    <dgm:pt modelId="{26F268D1-A796-4E7D-8EB3-013720192A30}" type="pres">
      <dgm:prSet presAssocID="{49ACB930-5864-42FB-9EC5-7B97C0EFC7C4}" presName="spaceBetweenRectangles" presStyleCnt="0"/>
      <dgm:spPr/>
    </dgm:pt>
    <dgm:pt modelId="{45907E8B-85E7-4F36-97FC-EC7279E6858D}" type="pres">
      <dgm:prSet presAssocID="{19B3742C-885D-4957-B23B-C8E2ABBD3670}" presName="parentLin" presStyleCnt="0"/>
      <dgm:spPr/>
    </dgm:pt>
    <dgm:pt modelId="{BF2B545F-DB9C-42DD-9F72-9130F4C02FEF}" type="pres">
      <dgm:prSet presAssocID="{19B3742C-885D-4957-B23B-C8E2ABBD3670}" presName="parentLeftMargin" presStyleLbl="node1" presStyleIdx="1" presStyleCnt="3"/>
      <dgm:spPr/>
    </dgm:pt>
    <dgm:pt modelId="{4EB1823C-DE79-4294-B1B8-A14E4C50806B}" type="pres">
      <dgm:prSet presAssocID="{19B3742C-885D-4957-B23B-C8E2ABBD3670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766BAD3-096E-430D-BB0E-EF72DB15F440}" type="pres">
      <dgm:prSet presAssocID="{19B3742C-885D-4957-B23B-C8E2ABBD3670}" presName="negativeSpace" presStyleCnt="0"/>
      <dgm:spPr/>
    </dgm:pt>
    <dgm:pt modelId="{9E31F554-309B-460F-AA57-2E32C23A31A8}" type="pres">
      <dgm:prSet presAssocID="{19B3742C-885D-4957-B23B-C8E2ABBD3670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E616A108-5D48-4015-90DF-D9C851024BAD}" srcId="{19B3742C-885D-4957-B23B-C8E2ABBD3670}" destId="{F8F4A0B9-893A-48C9-B2BA-12A1472789F4}" srcOrd="0" destOrd="0" parTransId="{B9EB450C-61D8-4C2C-9152-8EA426221A8D}" sibTransId="{CCA91953-48B6-4B69-9571-D737FFD2270E}"/>
    <dgm:cxn modelId="{FE02A65B-FB24-4B05-AB26-F70AF1C1F88E}" srcId="{D9CDEC9B-76D2-4D5C-A04E-EEABC7E8E375}" destId="{6EE51965-48B0-49D1-9810-3AB2B674357C}" srcOrd="0" destOrd="0" parTransId="{A696DDBC-B5A5-412A-A006-0181D7948258}" sibTransId="{1970B383-1D8D-4D86-B1E8-2628AA1FD737}"/>
    <dgm:cxn modelId="{5F9A395E-AE24-40CD-B30F-2A7071124EE7}" type="presOf" srcId="{394CDEEF-B409-48E3-AE30-28BF6EA04033}" destId="{36427FD6-B818-44C3-8458-5B78B2661C9C}" srcOrd="1" destOrd="0" presId="urn:microsoft.com/office/officeart/2005/8/layout/list1"/>
    <dgm:cxn modelId="{0EF5315F-1865-4C3F-85D3-FF3E7550EB7A}" srcId="{3FE822E0-6475-4217-9836-078AEDEC8E2F}" destId="{19B3742C-885D-4957-B23B-C8E2ABBD3670}" srcOrd="2" destOrd="0" parTransId="{9FD9F4B9-BB21-4000-A8C5-3F28E7EC09E6}" sibTransId="{106B3C36-F40A-47E9-B3E0-E8AE9E507589}"/>
    <dgm:cxn modelId="{71337F6F-CD9F-46D2-BB36-D88824996881}" type="presOf" srcId="{D9CDEC9B-76D2-4D5C-A04E-EEABC7E8E375}" destId="{A0EAC05F-B574-4A19-B214-F7E240334259}" srcOrd="1" destOrd="0" presId="urn:microsoft.com/office/officeart/2005/8/layout/list1"/>
    <dgm:cxn modelId="{6B526754-AB24-4FB7-88CF-4F787A0E1E76}" type="presOf" srcId="{19B3742C-885D-4957-B23B-C8E2ABBD3670}" destId="{4EB1823C-DE79-4294-B1B8-A14E4C50806B}" srcOrd="1" destOrd="0" presId="urn:microsoft.com/office/officeart/2005/8/layout/list1"/>
    <dgm:cxn modelId="{B0834758-A556-4D11-8AA4-A3883729A8AB}" type="presOf" srcId="{D9CDEC9B-76D2-4D5C-A04E-EEABC7E8E375}" destId="{C622DF73-F3C4-4180-9DF1-9B0BCB55AB31}" srcOrd="0" destOrd="0" presId="urn:microsoft.com/office/officeart/2005/8/layout/list1"/>
    <dgm:cxn modelId="{00B9967D-EFFD-4FE9-A41E-75E29B1D141A}" type="presOf" srcId="{3FE822E0-6475-4217-9836-078AEDEC8E2F}" destId="{33646077-605D-4A8F-BE09-CF6A892CF45F}" srcOrd="0" destOrd="0" presId="urn:microsoft.com/office/officeart/2005/8/layout/list1"/>
    <dgm:cxn modelId="{A5F40A82-7DA1-40EC-89A7-152207BAB9CC}" type="presOf" srcId="{6EE51965-48B0-49D1-9810-3AB2B674357C}" destId="{7AB33209-9FE1-43DF-B1AC-0067FE735EC9}" srcOrd="0" destOrd="0" presId="urn:microsoft.com/office/officeart/2005/8/layout/list1"/>
    <dgm:cxn modelId="{6D5E4995-E622-47F0-9010-DA546ED23266}" type="presOf" srcId="{394CDEEF-B409-48E3-AE30-28BF6EA04033}" destId="{97D05B1F-68D7-4B87-99F2-5AA24F92A92B}" srcOrd="0" destOrd="0" presId="urn:microsoft.com/office/officeart/2005/8/layout/list1"/>
    <dgm:cxn modelId="{EB6BDF9E-E9F1-47CD-B407-0BDF754B0A93}" srcId="{3FE822E0-6475-4217-9836-078AEDEC8E2F}" destId="{394CDEEF-B409-48E3-AE30-28BF6EA04033}" srcOrd="0" destOrd="0" parTransId="{3FE7E708-249C-4287-808D-763D2D49AB9C}" sibTransId="{FCADD679-79F2-46CA-962E-FFB5404B607B}"/>
    <dgm:cxn modelId="{62B8FCA6-DC22-4E87-B765-7C56AD27EB2A}" srcId="{3FE822E0-6475-4217-9836-078AEDEC8E2F}" destId="{D9CDEC9B-76D2-4D5C-A04E-EEABC7E8E375}" srcOrd="1" destOrd="0" parTransId="{5F9CD6BF-34BA-4C2D-87D2-6A09AA4D44DB}" sibTransId="{49ACB930-5864-42FB-9EC5-7B97C0EFC7C4}"/>
    <dgm:cxn modelId="{F7CDA2B4-C247-4C13-BC5B-2CB25C8737A5}" type="presOf" srcId="{C8A7D8F8-A963-4100-8481-8223D22595AB}" destId="{F6B270AE-F677-48F3-8B68-4BD3783D108A}" srcOrd="0" destOrd="0" presId="urn:microsoft.com/office/officeart/2005/8/layout/list1"/>
    <dgm:cxn modelId="{04D96DC3-A848-4826-B682-0A24C537C499}" type="presOf" srcId="{F8F4A0B9-893A-48C9-B2BA-12A1472789F4}" destId="{9E31F554-309B-460F-AA57-2E32C23A31A8}" srcOrd="0" destOrd="0" presId="urn:microsoft.com/office/officeart/2005/8/layout/list1"/>
    <dgm:cxn modelId="{86CD51D1-3356-417B-A3EE-AA5570CDDE9F}" srcId="{394CDEEF-B409-48E3-AE30-28BF6EA04033}" destId="{C8A7D8F8-A963-4100-8481-8223D22595AB}" srcOrd="0" destOrd="0" parTransId="{784BC285-B638-4DB3-8DD2-56A9E7A28EC4}" sibTransId="{1F297162-9B84-4A5D-8D6A-E49CB0EE94FF}"/>
    <dgm:cxn modelId="{09879FFA-C04D-4EA8-9658-8914CB779E66}" type="presOf" srcId="{19B3742C-885D-4957-B23B-C8E2ABBD3670}" destId="{BF2B545F-DB9C-42DD-9F72-9130F4C02FEF}" srcOrd="0" destOrd="0" presId="urn:microsoft.com/office/officeart/2005/8/layout/list1"/>
    <dgm:cxn modelId="{A703B366-C58D-4B12-A7F9-24CFBD1426F5}" type="presParOf" srcId="{33646077-605D-4A8F-BE09-CF6A892CF45F}" destId="{4D7D6BBF-C3E8-4E54-B2DA-CD8F216092EB}" srcOrd="0" destOrd="0" presId="urn:microsoft.com/office/officeart/2005/8/layout/list1"/>
    <dgm:cxn modelId="{D6FD5B31-D38C-470B-B823-7EA7A239775A}" type="presParOf" srcId="{4D7D6BBF-C3E8-4E54-B2DA-CD8F216092EB}" destId="{97D05B1F-68D7-4B87-99F2-5AA24F92A92B}" srcOrd="0" destOrd="0" presId="urn:microsoft.com/office/officeart/2005/8/layout/list1"/>
    <dgm:cxn modelId="{2BB24F0C-D010-4216-B2EE-F6C91399E7D3}" type="presParOf" srcId="{4D7D6BBF-C3E8-4E54-B2DA-CD8F216092EB}" destId="{36427FD6-B818-44C3-8458-5B78B2661C9C}" srcOrd="1" destOrd="0" presId="urn:microsoft.com/office/officeart/2005/8/layout/list1"/>
    <dgm:cxn modelId="{F3DE5618-73D9-4B20-A5EE-2F7C78035DF1}" type="presParOf" srcId="{33646077-605D-4A8F-BE09-CF6A892CF45F}" destId="{142240CB-9AD1-42EA-BCE8-7A00DB4BFD0C}" srcOrd="1" destOrd="0" presId="urn:microsoft.com/office/officeart/2005/8/layout/list1"/>
    <dgm:cxn modelId="{4AEC75E8-0043-4017-8C45-7F12EE058BD8}" type="presParOf" srcId="{33646077-605D-4A8F-BE09-CF6A892CF45F}" destId="{F6B270AE-F677-48F3-8B68-4BD3783D108A}" srcOrd="2" destOrd="0" presId="urn:microsoft.com/office/officeart/2005/8/layout/list1"/>
    <dgm:cxn modelId="{386DB776-C6B7-4157-B782-636CD04556EE}" type="presParOf" srcId="{33646077-605D-4A8F-BE09-CF6A892CF45F}" destId="{7E782171-1F8A-4C42-BEA2-3B677BF468E9}" srcOrd="3" destOrd="0" presId="urn:microsoft.com/office/officeart/2005/8/layout/list1"/>
    <dgm:cxn modelId="{6D422CDE-563A-4616-8A55-44ECD224909A}" type="presParOf" srcId="{33646077-605D-4A8F-BE09-CF6A892CF45F}" destId="{F0AD1AFC-CC6F-438A-8131-913B3BBB186F}" srcOrd="4" destOrd="0" presId="urn:microsoft.com/office/officeart/2005/8/layout/list1"/>
    <dgm:cxn modelId="{07825ADC-5676-4147-8E94-EBF343360106}" type="presParOf" srcId="{F0AD1AFC-CC6F-438A-8131-913B3BBB186F}" destId="{C622DF73-F3C4-4180-9DF1-9B0BCB55AB31}" srcOrd="0" destOrd="0" presId="urn:microsoft.com/office/officeart/2005/8/layout/list1"/>
    <dgm:cxn modelId="{1D0C75D0-B18E-4722-852D-EB359E81BE09}" type="presParOf" srcId="{F0AD1AFC-CC6F-438A-8131-913B3BBB186F}" destId="{A0EAC05F-B574-4A19-B214-F7E240334259}" srcOrd="1" destOrd="0" presId="urn:microsoft.com/office/officeart/2005/8/layout/list1"/>
    <dgm:cxn modelId="{118E57B9-F984-4344-9F8F-1C7DF4138FE2}" type="presParOf" srcId="{33646077-605D-4A8F-BE09-CF6A892CF45F}" destId="{624830AC-E436-47BC-B8F1-795AC87A69B4}" srcOrd="5" destOrd="0" presId="urn:microsoft.com/office/officeart/2005/8/layout/list1"/>
    <dgm:cxn modelId="{8183B676-B320-4FE2-90EE-CB8C2D6C2CD0}" type="presParOf" srcId="{33646077-605D-4A8F-BE09-CF6A892CF45F}" destId="{7AB33209-9FE1-43DF-B1AC-0067FE735EC9}" srcOrd="6" destOrd="0" presId="urn:microsoft.com/office/officeart/2005/8/layout/list1"/>
    <dgm:cxn modelId="{D99226A7-F5C1-4C10-BABE-1912F9D0A10A}" type="presParOf" srcId="{33646077-605D-4A8F-BE09-CF6A892CF45F}" destId="{26F268D1-A796-4E7D-8EB3-013720192A30}" srcOrd="7" destOrd="0" presId="urn:microsoft.com/office/officeart/2005/8/layout/list1"/>
    <dgm:cxn modelId="{A258F87F-D5F0-4180-9904-1423A056235E}" type="presParOf" srcId="{33646077-605D-4A8F-BE09-CF6A892CF45F}" destId="{45907E8B-85E7-4F36-97FC-EC7279E6858D}" srcOrd="8" destOrd="0" presId="urn:microsoft.com/office/officeart/2005/8/layout/list1"/>
    <dgm:cxn modelId="{C9A06F18-469E-4A20-83F1-102894DEE56B}" type="presParOf" srcId="{45907E8B-85E7-4F36-97FC-EC7279E6858D}" destId="{BF2B545F-DB9C-42DD-9F72-9130F4C02FEF}" srcOrd="0" destOrd="0" presId="urn:microsoft.com/office/officeart/2005/8/layout/list1"/>
    <dgm:cxn modelId="{7F3775CE-4533-47DD-A952-E6A2BF38DDD0}" type="presParOf" srcId="{45907E8B-85E7-4F36-97FC-EC7279E6858D}" destId="{4EB1823C-DE79-4294-B1B8-A14E4C50806B}" srcOrd="1" destOrd="0" presId="urn:microsoft.com/office/officeart/2005/8/layout/list1"/>
    <dgm:cxn modelId="{A509EB1A-406F-4025-BA5E-3AD08E36103B}" type="presParOf" srcId="{33646077-605D-4A8F-BE09-CF6A892CF45F}" destId="{A766BAD3-096E-430D-BB0E-EF72DB15F440}" srcOrd="9" destOrd="0" presId="urn:microsoft.com/office/officeart/2005/8/layout/list1"/>
    <dgm:cxn modelId="{97E6652E-D3C4-4071-B307-D9A829FE6CD0}" type="presParOf" srcId="{33646077-605D-4A8F-BE09-CF6A892CF45F}" destId="{9E31F554-309B-460F-AA57-2E32C23A31A8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142BF9-49B2-49F6-88EB-6D0771178965}">
      <dsp:nvSpPr>
        <dsp:cNvPr id="0" name=""/>
        <dsp:cNvSpPr/>
      </dsp:nvSpPr>
      <dsp:spPr>
        <a:xfrm>
          <a:off x="0" y="525452"/>
          <a:ext cx="10688441" cy="7897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10.1 </a:t>
          </a:r>
          <a:r>
            <a:rPr lang="zh-CN" sz="3000" kern="1200" dirty="0"/>
            <a:t>从数学公式到代码逻辑（离散化与架构设计）</a:t>
          </a:r>
        </a:p>
      </dsp:txBody>
      <dsp:txXfrm>
        <a:off x="38552" y="564004"/>
        <a:ext cx="10611337" cy="712646"/>
      </dsp:txXfrm>
    </dsp:sp>
    <dsp:sp modelId="{B3978833-DEE5-4191-A62C-DC0CC9FCE5D6}">
      <dsp:nvSpPr>
        <dsp:cNvPr id="0" name=""/>
        <dsp:cNvSpPr/>
      </dsp:nvSpPr>
      <dsp:spPr>
        <a:xfrm>
          <a:off x="0" y="1401602"/>
          <a:ext cx="10688441" cy="7897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10.2 </a:t>
          </a:r>
          <a:r>
            <a:rPr lang="zh-CN" sz="3000" kern="1200"/>
            <a:t>工程优化（一）</a:t>
          </a:r>
          <a:r>
            <a:rPr lang="en-US" sz="3000" kern="1200"/>
            <a:t>——</a:t>
          </a:r>
          <a:r>
            <a:rPr lang="zh-CN" sz="3000" kern="1200"/>
            <a:t>位置式与增量式的“职场分工”</a:t>
          </a:r>
        </a:p>
      </dsp:txBody>
      <dsp:txXfrm>
        <a:off x="38552" y="1440154"/>
        <a:ext cx="10611337" cy="712646"/>
      </dsp:txXfrm>
    </dsp:sp>
    <dsp:sp modelId="{9F989AEA-2653-4E4A-99AB-4F48683B3509}">
      <dsp:nvSpPr>
        <dsp:cNvPr id="0" name=""/>
        <dsp:cNvSpPr/>
      </dsp:nvSpPr>
      <dsp:spPr>
        <a:xfrm>
          <a:off x="0" y="2277752"/>
          <a:ext cx="10688441" cy="7897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10.3 </a:t>
          </a:r>
          <a:r>
            <a:rPr lang="zh-CN" sz="3000" kern="1200"/>
            <a:t>工程优化（二）</a:t>
          </a:r>
          <a:r>
            <a:rPr lang="en-US" sz="3000" kern="1200"/>
            <a:t>——</a:t>
          </a:r>
          <a:r>
            <a:rPr lang="zh-CN" sz="3000" kern="1200"/>
            <a:t>量化误差与低通滤波（攻克低速抖动）</a:t>
          </a:r>
        </a:p>
      </dsp:txBody>
      <dsp:txXfrm>
        <a:off x="38552" y="2316304"/>
        <a:ext cx="10611337" cy="712646"/>
      </dsp:txXfrm>
    </dsp:sp>
    <dsp:sp modelId="{63E915D4-B37F-4FAA-A05B-3C11CFA6307A}">
      <dsp:nvSpPr>
        <dsp:cNvPr id="0" name=""/>
        <dsp:cNvSpPr/>
      </dsp:nvSpPr>
      <dsp:spPr>
        <a:xfrm>
          <a:off x="0" y="3153902"/>
          <a:ext cx="10688441" cy="7897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10.4 </a:t>
          </a:r>
          <a:r>
            <a:rPr lang="zh-CN" sz="3000" kern="1200"/>
            <a:t>调试实战</a:t>
          </a:r>
          <a:r>
            <a:rPr lang="en-US" sz="3000" kern="1200"/>
            <a:t>——VOFA+ </a:t>
          </a:r>
          <a:r>
            <a:rPr lang="zh-CN" sz="3000" kern="1200"/>
            <a:t>波形分析法</a:t>
          </a:r>
        </a:p>
      </dsp:txBody>
      <dsp:txXfrm>
        <a:off x="38552" y="3192454"/>
        <a:ext cx="10611337" cy="712646"/>
      </dsp:txXfrm>
    </dsp:sp>
    <dsp:sp modelId="{668A1619-16F2-4F79-B8F6-29AAF32C40C3}">
      <dsp:nvSpPr>
        <dsp:cNvPr id="0" name=""/>
        <dsp:cNvSpPr/>
      </dsp:nvSpPr>
      <dsp:spPr>
        <a:xfrm>
          <a:off x="0" y="4030052"/>
          <a:ext cx="10688441" cy="7897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10.5 </a:t>
          </a:r>
          <a:r>
            <a:rPr lang="zh-CN" sz="3000" kern="1200"/>
            <a:t>高级工程技巧</a:t>
          </a:r>
          <a:r>
            <a:rPr lang="en-US" sz="3000" kern="1200"/>
            <a:t>——</a:t>
          </a:r>
          <a:r>
            <a:rPr lang="zh-CN" sz="3000" kern="1200"/>
            <a:t>在线调参（不改代码）</a:t>
          </a:r>
        </a:p>
      </dsp:txBody>
      <dsp:txXfrm>
        <a:off x="38552" y="4068604"/>
        <a:ext cx="10611337" cy="7126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7F2574-34B7-4316-AF8D-5587CA37BB79}">
      <dsp:nvSpPr>
        <dsp:cNvPr id="0" name=""/>
        <dsp:cNvSpPr/>
      </dsp:nvSpPr>
      <dsp:spPr>
        <a:xfrm>
          <a:off x="0" y="415877"/>
          <a:ext cx="10688441" cy="4882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542" tIns="520700" rIns="829542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5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掌握 </a:t>
          </a:r>
          <a:r>
            <a:rPr lang="en-US" sz="25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PID </a:t>
          </a:r>
          <a:r>
            <a:rPr lang="zh-CN" sz="25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算法的离散化表达</a:t>
          </a:r>
          <a:r>
            <a:rPr lang="zh-CN" sz="25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：理解连续数学公式如何转化为单片机周期执行的加减法。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5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理解控制系统的实时性（</a:t>
          </a:r>
          <a:r>
            <a:rPr lang="en-US" sz="25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10ms</a:t>
          </a:r>
          <a:r>
            <a:rPr lang="zh-CN" sz="25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）</a:t>
          </a:r>
          <a:r>
            <a:rPr lang="zh-CN" sz="25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：明确为什么“时间”是闭环控制中最重要的变量。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5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建立模块化工程思维</a:t>
          </a:r>
          <a:r>
            <a:rPr lang="zh-CN" sz="25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：学会将 </a:t>
          </a:r>
          <a:r>
            <a:rPr lang="en-US" sz="25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PID </a:t>
          </a:r>
          <a:r>
            <a:rPr lang="zh-CN" sz="25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算法逻辑与电机业务逻辑进行解耦设计（</a:t>
          </a:r>
          <a:r>
            <a:rPr lang="en-US" sz="25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PID </a:t>
          </a:r>
          <a:r>
            <a:rPr lang="zh-CN" sz="25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控制器 </a:t>
          </a:r>
          <a:r>
            <a:rPr lang="en-US" sz="25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vs </a:t>
          </a:r>
          <a:r>
            <a:rPr lang="zh-CN" sz="25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速度环任务）。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5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理清信号流向图</a:t>
          </a:r>
          <a:r>
            <a:rPr lang="zh-CN" sz="25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：能够闭眼画出从“脉冲信号”到“</a:t>
          </a:r>
          <a:r>
            <a:rPr lang="en-US" sz="25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PWM </a:t>
          </a:r>
          <a:r>
            <a:rPr lang="zh-CN" sz="25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占空比”的数据转化全过程。</a:t>
          </a:r>
        </a:p>
      </dsp:txBody>
      <dsp:txXfrm>
        <a:off x="0" y="415877"/>
        <a:ext cx="10688441" cy="4882500"/>
      </dsp:txXfrm>
    </dsp:sp>
    <dsp:sp modelId="{11ED4AD7-923A-441E-AE0E-01DF8B55C147}">
      <dsp:nvSpPr>
        <dsp:cNvPr id="0" name=""/>
        <dsp:cNvSpPr/>
      </dsp:nvSpPr>
      <dsp:spPr>
        <a:xfrm>
          <a:off x="534422" y="46877"/>
          <a:ext cx="7481908" cy="73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798" tIns="0" rIns="282798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500" b="1" kern="1200">
              <a:latin typeface="微软雅黑" panose="020B0503020204020204" pitchFamily="34" charset="-122"/>
              <a:ea typeface="微软雅黑" panose="020B0503020204020204" pitchFamily="34" charset="-122"/>
            </a:rPr>
            <a:t>跨越理论与实践的鸿沟</a:t>
          </a:r>
          <a:endParaRPr lang="zh-CN" sz="25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570448" y="82903"/>
        <a:ext cx="7409856" cy="6659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EEA49B-D6CC-42C5-8232-448A2A87E8F6}">
      <dsp:nvSpPr>
        <dsp:cNvPr id="0" name=""/>
        <dsp:cNvSpPr/>
      </dsp:nvSpPr>
      <dsp:spPr>
        <a:xfrm>
          <a:off x="0" y="360885"/>
          <a:ext cx="6007820" cy="173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6274" tIns="479044" rIns="466274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300" kern="1200" dirty="0"/>
            <a:t>闭环系统的有效性建立在“及时反馈”的基础上。如果周期太长（如 </a:t>
          </a:r>
          <a:r>
            <a:rPr lang="en-US" sz="2300" kern="1200" dirty="0"/>
            <a:t>1</a:t>
          </a:r>
          <a:r>
            <a:rPr lang="zh-CN" sz="2300" kern="1200" dirty="0"/>
            <a:t>秒），反馈就失去了意义，电机早已失控。</a:t>
          </a:r>
        </a:p>
      </dsp:txBody>
      <dsp:txXfrm>
        <a:off x="0" y="360885"/>
        <a:ext cx="6007820" cy="1738800"/>
      </dsp:txXfrm>
    </dsp:sp>
    <dsp:sp modelId="{0DCB1BBC-5148-4E15-81A3-AD675FADD582}">
      <dsp:nvSpPr>
        <dsp:cNvPr id="0" name=""/>
        <dsp:cNvSpPr/>
      </dsp:nvSpPr>
      <dsp:spPr>
        <a:xfrm>
          <a:off x="300391" y="21404"/>
          <a:ext cx="4205474" cy="678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957" tIns="0" rIns="158957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300" b="1" kern="1200"/>
            <a:t>实时性的定义：</a:t>
          </a:r>
          <a:endParaRPr lang="zh-CN" sz="2300" kern="1200"/>
        </a:p>
      </dsp:txBody>
      <dsp:txXfrm>
        <a:off x="333535" y="54548"/>
        <a:ext cx="4139186" cy="612672"/>
      </dsp:txXfrm>
    </dsp:sp>
    <dsp:sp modelId="{2E6D9027-6F2E-431B-93D3-00B746CB8E89}">
      <dsp:nvSpPr>
        <dsp:cNvPr id="0" name=""/>
        <dsp:cNvSpPr/>
      </dsp:nvSpPr>
      <dsp:spPr>
        <a:xfrm>
          <a:off x="0" y="2563365"/>
          <a:ext cx="6007820" cy="2535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6274" tIns="479044" rIns="466274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300" kern="1200" dirty="0"/>
            <a:t>我们配置 </a:t>
          </a:r>
          <a:r>
            <a:rPr lang="en-US" sz="2300" kern="1200" dirty="0"/>
            <a:t>TIM6 </a:t>
          </a:r>
          <a:r>
            <a:rPr lang="zh-CN" sz="2300" kern="1200" dirty="0"/>
            <a:t>产生 </a:t>
          </a:r>
          <a:r>
            <a:rPr lang="en-US" sz="2300" b="1" kern="1200" dirty="0"/>
            <a:t>10ms </a:t>
          </a:r>
          <a:r>
            <a:rPr lang="zh-CN" sz="2300" b="1" kern="1200" dirty="0"/>
            <a:t>中断</a:t>
          </a:r>
          <a:r>
            <a:rPr lang="zh-CN" sz="2300" kern="1200" dirty="0"/>
            <a:t>（</a:t>
          </a:r>
          <a:r>
            <a:rPr lang="en-US" sz="2300" kern="1200" dirty="0"/>
            <a:t>100Hz </a:t>
          </a:r>
          <a:r>
            <a:rPr lang="zh-CN" sz="2300" kern="1200" dirty="0"/>
            <a:t>采样率）。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300" b="1" kern="1200" dirty="0"/>
            <a:t>心跳法则</a:t>
          </a:r>
          <a:r>
            <a:rPr lang="zh-CN" sz="2300" kern="1200" dirty="0"/>
            <a:t>：所有的反馈、计算、输出必须在中断里一次性完成，保证控制步调绝对一致。</a:t>
          </a:r>
        </a:p>
      </dsp:txBody>
      <dsp:txXfrm>
        <a:off x="0" y="2563365"/>
        <a:ext cx="6007820" cy="2535750"/>
      </dsp:txXfrm>
    </dsp:sp>
    <dsp:sp modelId="{CFDE63E5-B427-40AF-8CB7-DE851B895ABE}">
      <dsp:nvSpPr>
        <dsp:cNvPr id="0" name=""/>
        <dsp:cNvSpPr/>
      </dsp:nvSpPr>
      <dsp:spPr>
        <a:xfrm>
          <a:off x="300391" y="2223885"/>
          <a:ext cx="4205474" cy="678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957" tIns="0" rIns="158957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TIM6 </a:t>
          </a:r>
          <a:r>
            <a:rPr lang="zh-CN" sz="2300" b="1" kern="1200"/>
            <a:t>定时器的角色：</a:t>
          </a:r>
          <a:endParaRPr lang="zh-CN" sz="2300" kern="1200"/>
        </a:p>
      </dsp:txBody>
      <dsp:txXfrm>
        <a:off x="333535" y="2257029"/>
        <a:ext cx="4139186" cy="61267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B270AE-F677-48F3-8B68-4BD3783D108A}">
      <dsp:nvSpPr>
        <dsp:cNvPr id="0" name=""/>
        <dsp:cNvSpPr/>
      </dsp:nvSpPr>
      <dsp:spPr>
        <a:xfrm>
          <a:off x="0" y="355701"/>
          <a:ext cx="6214530" cy="1354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317" tIns="416560" rIns="482317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000" b="0" i="0" kern="120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你的 PWM 最大只有 100%，PID 计算出 200% 是没意义的，必须强制截断。</a:t>
          </a:r>
          <a:endParaRPr lang="zh-CN" sz="2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355701"/>
        <a:ext cx="6214530" cy="1354500"/>
      </dsp:txXfrm>
    </dsp:sp>
    <dsp:sp modelId="{36427FD6-B818-44C3-8458-5B78B2661C9C}">
      <dsp:nvSpPr>
        <dsp:cNvPr id="0" name=""/>
        <dsp:cNvSpPr/>
      </dsp:nvSpPr>
      <dsp:spPr>
        <a:xfrm>
          <a:off x="310726" y="60501"/>
          <a:ext cx="4350171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4426" tIns="0" rIns="16442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000" b="1" i="0" kern="1200" baseline="0">
              <a:latin typeface="微软雅黑" panose="020B0503020204020204" pitchFamily="34" charset="-122"/>
              <a:ea typeface="微软雅黑" panose="020B0503020204020204" pitchFamily="34" charset="-122"/>
            </a:rPr>
            <a:t>输出限幅 (Output Saturation)</a:t>
          </a:r>
          <a:endParaRPr lang="zh-CN" sz="20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39547" y="89322"/>
        <a:ext cx="4292529" cy="532758"/>
      </dsp:txXfrm>
    </dsp:sp>
    <dsp:sp modelId="{7AB33209-9FE1-43DF-B1AC-0067FE735EC9}">
      <dsp:nvSpPr>
        <dsp:cNvPr id="0" name=""/>
        <dsp:cNvSpPr/>
      </dsp:nvSpPr>
      <dsp:spPr>
        <a:xfrm>
          <a:off x="0" y="2113401"/>
          <a:ext cx="6214530" cy="1354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317" tIns="416560" rIns="482317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000" b="0" i="0" kern="1200" baseline="0">
              <a:latin typeface="微软雅黑" panose="020B0503020204020204" pitchFamily="34" charset="-122"/>
              <a:ea typeface="微软雅黑" panose="020B0503020204020204" pitchFamily="34" charset="-122"/>
            </a:rPr>
            <a:t>防止电机堵转时，积分项疯狂累加到天文数字，导致电机脱困后“飞车”。</a:t>
          </a:r>
          <a:endParaRPr lang="zh-CN" sz="20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2113401"/>
        <a:ext cx="6214530" cy="1354500"/>
      </dsp:txXfrm>
    </dsp:sp>
    <dsp:sp modelId="{A0EAC05F-B574-4A19-B214-F7E240334259}">
      <dsp:nvSpPr>
        <dsp:cNvPr id="0" name=""/>
        <dsp:cNvSpPr/>
      </dsp:nvSpPr>
      <dsp:spPr>
        <a:xfrm>
          <a:off x="310726" y="1818201"/>
          <a:ext cx="4350171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4426" tIns="0" rIns="16442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000" b="1" i="0" kern="1200" baseline="0">
              <a:latin typeface="微软雅黑" panose="020B0503020204020204" pitchFamily="34" charset="-122"/>
              <a:ea typeface="微软雅黑" panose="020B0503020204020204" pitchFamily="34" charset="-122"/>
            </a:rPr>
            <a:t>积分抗饱和 (Anti-Windup)</a:t>
          </a:r>
          <a:endParaRPr lang="zh-CN" sz="20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39547" y="1847022"/>
        <a:ext cx="4292529" cy="532758"/>
      </dsp:txXfrm>
    </dsp:sp>
    <dsp:sp modelId="{9E31F554-309B-460F-AA57-2E32C23A31A8}">
      <dsp:nvSpPr>
        <dsp:cNvPr id="0" name=""/>
        <dsp:cNvSpPr/>
      </dsp:nvSpPr>
      <dsp:spPr>
        <a:xfrm>
          <a:off x="0" y="3871101"/>
          <a:ext cx="6214530" cy="1354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317" tIns="416560" rIns="482317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000" b="0" i="0" kern="1200" baseline="0">
              <a:latin typeface="微软雅黑" panose="020B0503020204020204" pitchFamily="34" charset="-122"/>
              <a:ea typeface="微软雅黑" panose="020B0503020204020204" pitchFamily="34" charset="-122"/>
            </a:rPr>
            <a:t>克服机械摩擦力，给电机一个起步的“初始推力”。</a:t>
          </a:r>
          <a:endParaRPr lang="zh-CN" sz="20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3871101"/>
        <a:ext cx="6214530" cy="1354500"/>
      </dsp:txXfrm>
    </dsp:sp>
    <dsp:sp modelId="{4EB1823C-DE79-4294-B1B8-A14E4C50806B}">
      <dsp:nvSpPr>
        <dsp:cNvPr id="0" name=""/>
        <dsp:cNvSpPr/>
      </dsp:nvSpPr>
      <dsp:spPr>
        <a:xfrm>
          <a:off x="310726" y="3575901"/>
          <a:ext cx="4350171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4426" tIns="0" rIns="16442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000" b="1" i="0" kern="1200" baseline="0">
              <a:latin typeface="微软雅黑" panose="020B0503020204020204" pitchFamily="34" charset="-122"/>
              <a:ea typeface="微软雅黑" panose="020B0503020204020204" pitchFamily="34" charset="-122"/>
            </a:rPr>
            <a:t>死区补偿 (Deadband)</a:t>
          </a:r>
          <a:endParaRPr lang="zh-CN" sz="20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39547" y="3604722"/>
        <a:ext cx="4292529" cy="5327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E33EE-9CF4-FA5B-3761-EB11C13A2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BB56B4-F573-F2EE-3841-51335B855A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C493529-937D-7BC8-4C0F-5CE0CB07AE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从这一讲开始，我们正式进入</a:t>
            </a:r>
            <a:r>
              <a:rPr lang="zh-CN" altLang="en-US" b="1" dirty="0"/>
              <a:t>控制器设计</a:t>
            </a:r>
            <a:r>
              <a:rPr lang="zh-CN" altLang="en-US" dirty="0"/>
              <a:t>。前面第 </a:t>
            </a:r>
            <a:r>
              <a:rPr lang="en-US" altLang="zh-CN" dirty="0"/>
              <a:t>7 </a:t>
            </a:r>
            <a:r>
              <a:rPr lang="zh-CN" altLang="en-US" dirty="0"/>
              <a:t>章我们已经知道什么是闭环控制，那今天要解决的问题是：</a:t>
            </a:r>
            <a:br>
              <a:rPr lang="zh-CN" altLang="en-US" dirty="0"/>
            </a:br>
            <a:r>
              <a:rPr lang="zh-CN" altLang="en-US" b="1" dirty="0"/>
              <a:t>闭环里，谁在做决定？它是怎么想的？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7DD01A-7410-E5EE-E706-6C1CCB95F2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8816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3" y="374795"/>
            <a:ext cx="10586281" cy="390527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82118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29F282-F80C-154F-7C72-A3C8DDAD0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标题 1">
            <a:extLst>
              <a:ext uri="{FF2B5EF4-FFF2-40B4-BE49-F238E27FC236}">
                <a16:creationId xmlns:a16="http://schemas.microsoft.com/office/drawing/2014/main" id="{435EA853-567B-EB8E-4E36-3177EB2EED9B}"/>
              </a:ext>
            </a:extLst>
          </p:cNvPr>
          <p:cNvSpPr txBox="1"/>
          <p:nvPr/>
        </p:nvSpPr>
        <p:spPr>
          <a:xfrm>
            <a:off x="1948809" y="2071216"/>
            <a:ext cx="9453791" cy="2715568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kumimoji="1" lang="zh-CN" altLang="en-US" sz="138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速度环控制</a:t>
            </a:r>
            <a:endParaRPr kumimoji="1" lang="en-US" altLang="zh-CN" sz="138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1684E16-F27B-56A8-C87F-2FB48002DB0B}"/>
              </a:ext>
            </a:extLst>
          </p:cNvPr>
          <p:cNvSpPr txBox="1"/>
          <p:nvPr/>
        </p:nvSpPr>
        <p:spPr>
          <a:xfrm>
            <a:off x="1948809" y="812539"/>
            <a:ext cx="2605774" cy="190832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8800" b="1" dirty="0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PID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B6875911-F965-10C4-6C61-43E1809AFDD4}"/>
              </a:ext>
            </a:extLst>
          </p:cNvPr>
          <p:cNvSpPr txBox="1"/>
          <p:nvPr/>
        </p:nvSpPr>
        <p:spPr>
          <a:xfrm>
            <a:off x="7041425" y="612411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1234AD20-F16C-E09C-1B59-69564EF7D687}"/>
              </a:ext>
            </a:extLst>
          </p:cNvPr>
          <p:cNvGrpSpPr/>
          <p:nvPr/>
        </p:nvGrpSpPr>
        <p:grpSpPr>
          <a:xfrm>
            <a:off x="7150385" y="700253"/>
            <a:ext cx="191046" cy="123736"/>
            <a:chOff x="9405360" y="560916"/>
            <a:chExt cx="191046" cy="123736"/>
          </a:xfrm>
        </p:grpSpPr>
        <p:sp>
          <p:nvSpPr>
            <p:cNvPr id="8" name="标题 1">
              <a:extLst>
                <a:ext uri="{FF2B5EF4-FFF2-40B4-BE49-F238E27FC236}">
                  <a16:creationId xmlns:a16="http://schemas.microsoft.com/office/drawing/2014/main" id="{81E79F3F-9D93-686E-CED2-0E5C7A5793DE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083406F0-0614-FC90-8B33-533D5926C97E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0" name="标题 1">
              <a:extLst>
                <a:ext uri="{FF2B5EF4-FFF2-40B4-BE49-F238E27FC236}">
                  <a16:creationId xmlns:a16="http://schemas.microsoft.com/office/drawing/2014/main" id="{A354598E-D320-6B30-23AF-C3B065AC84A4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11" name="标题 1">
            <a:extLst>
              <a:ext uri="{FF2B5EF4-FFF2-40B4-BE49-F238E27FC236}">
                <a16:creationId xmlns:a16="http://schemas.microsoft.com/office/drawing/2014/main" id="{AD76799B-ECD6-FBA7-7470-5E20D1E69960}"/>
              </a:ext>
            </a:extLst>
          </p:cNvPr>
          <p:cNvSpPr txBox="1"/>
          <p:nvPr/>
        </p:nvSpPr>
        <p:spPr>
          <a:xfrm>
            <a:off x="10161162" y="681392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A32FD97C-7D8C-66EC-BBAE-781D7B900250}"/>
              </a:ext>
            </a:extLst>
          </p:cNvPr>
          <p:cNvSpPr txBox="1"/>
          <p:nvPr/>
        </p:nvSpPr>
        <p:spPr>
          <a:xfrm>
            <a:off x="7341452" y="643291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zh-CN" altLang="en-US" sz="1600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淘宝店铺：</a:t>
            </a:r>
            <a:r>
              <a:rPr kumimoji="1" lang="en-US" altLang="zh-CN" sz="1600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endParaRPr kumimoji="1" lang="zh-CN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0496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2A8C39E-239F-BE68-370D-7D9C6C460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本章目录</a:t>
            </a:r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14522CA5-EE48-A3D6-C6B1-F86460F3C676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318670176"/>
              </p:ext>
            </p:extLst>
          </p:nvPr>
        </p:nvGraphicFramePr>
        <p:xfrm>
          <a:off x="952624" y="1053857"/>
          <a:ext cx="10688441" cy="53452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3544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标题 1"/>
          <p:cNvSpPr txBox="1"/>
          <p:nvPr/>
        </p:nvSpPr>
        <p:spPr>
          <a:xfrm>
            <a:off x="443436" y="50357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61" y="249848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2055953" y="2818708"/>
            <a:ext cx="7951268" cy="89333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kumimoji="1" lang="zh-CN" altLang="en-US" sz="32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从数学公式到代码逻辑（离散化与架构设计）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zh-CN" altLang="en-US" sz="1600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r>
              <a:rPr kumimoji="1" lang="en-US" altLang="zh-CN" sz="1600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_</a:t>
            </a:r>
            <a:r>
              <a:rPr kumimoji="1" lang="zh-CN" altLang="en-US" sz="1600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嵌入式 电机开发教程</a:t>
            </a:r>
            <a:endParaRPr kumimoji="1"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9598" y="2271335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【10-01】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2026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E33E338-E8AF-591D-25DD-39918C8EE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目标</a:t>
            </a:r>
          </a:p>
        </p:txBody>
      </p:sp>
      <p:graphicFrame>
        <p:nvGraphicFramePr>
          <p:cNvPr id="2" name="内容占位符 1">
            <a:extLst>
              <a:ext uri="{FF2B5EF4-FFF2-40B4-BE49-F238E27FC236}">
                <a16:creationId xmlns:a16="http://schemas.microsoft.com/office/drawing/2014/main" id="{D3C73BA1-5F0A-B6AA-1F68-CED95CA5D60F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452360006"/>
              </p:ext>
            </p:extLst>
          </p:nvPr>
        </p:nvGraphicFramePr>
        <p:xfrm>
          <a:off x="952624" y="1053857"/>
          <a:ext cx="10688441" cy="53452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6303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FCDC0F-86B4-F9F6-91E1-1119B938C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10.1.1 PID</a:t>
            </a:r>
            <a:r>
              <a:rPr lang="zh-CN" altLang="en-US" dirty="0"/>
              <a:t>的离散化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CE27A9-8D65-48EF-DA60-932D866B4CB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618189"/>
          </a:xfrm>
        </p:spPr>
        <p:txBody>
          <a:bodyPr/>
          <a:lstStyle/>
          <a:p>
            <a:r>
              <a:rPr lang="zh-CN" altLang="en-US" dirty="0"/>
              <a:t>理论公式：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622449E-69B5-0F12-1C23-2862DCE4AB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6783" y="1291045"/>
            <a:ext cx="6040210" cy="125185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4A7E78A-2D18-872D-483E-F25464B43638}"/>
              </a:ext>
            </a:extLst>
          </p:cNvPr>
          <p:cNvSpPr txBox="1"/>
          <p:nvPr/>
        </p:nvSpPr>
        <p:spPr>
          <a:xfrm>
            <a:off x="548639" y="3216703"/>
            <a:ext cx="11373395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单片机实现（离散域）：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在单片机里，我们无法求积分和微分，只能通过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累加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差分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来近似。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P (Proportional)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：直接相乘 →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Kp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* error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I (Integral)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         误差累加 →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Integral += error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（注意：积分受采样周期 </a:t>
            </a: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影响，通常合并入 </a:t>
            </a: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Ki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​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D (Derivative)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    前后误差之差 →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Kd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* (error -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prev_error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91832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6D2B6-2256-C441-043D-4B8B87AE6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10.1.2 </a:t>
            </a:r>
            <a:r>
              <a:rPr lang="zh-CN" altLang="en-US" dirty="0"/>
              <a:t>核心架构</a:t>
            </a:r>
            <a:r>
              <a:rPr lang="en-US" altLang="zh-CN" dirty="0"/>
              <a:t>——</a:t>
            </a:r>
            <a:r>
              <a:rPr lang="zh-CN" altLang="en-US" dirty="0"/>
              <a:t>速度环软件工程架构设计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786EBE-BC3C-DDA4-58D8-6B3868F2D22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621280" y="1554305"/>
            <a:ext cx="7959633" cy="661732"/>
          </a:xfrm>
        </p:spPr>
        <p:txBody>
          <a:bodyPr/>
          <a:lstStyle/>
          <a:p>
            <a:r>
              <a:rPr lang="zh-CN" altLang="en-US" dirty="0"/>
              <a:t>把工程任务分成两个层面，易于维护：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2A7B385-E301-F656-AA8F-FFC0845F7B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691069"/>
              </p:ext>
            </p:extLst>
          </p:nvPr>
        </p:nvGraphicFramePr>
        <p:xfrm>
          <a:off x="3143794" y="2503420"/>
          <a:ext cx="7959633" cy="149352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389403">
                  <a:extLst>
                    <a:ext uri="{9D8B030D-6E8A-4147-A177-3AD203B41FA5}">
                      <a16:colId xmlns:a16="http://schemas.microsoft.com/office/drawing/2014/main" val="472916261"/>
                    </a:ext>
                  </a:extLst>
                </a:gridCol>
                <a:gridCol w="1381553">
                  <a:extLst>
                    <a:ext uri="{9D8B030D-6E8A-4147-A177-3AD203B41FA5}">
                      <a16:colId xmlns:a16="http://schemas.microsoft.com/office/drawing/2014/main" val="301989998"/>
                    </a:ext>
                  </a:extLst>
                </a:gridCol>
                <a:gridCol w="5188677">
                  <a:extLst>
                    <a:ext uri="{9D8B030D-6E8A-4147-A177-3AD203B41FA5}">
                      <a16:colId xmlns:a16="http://schemas.microsoft.com/office/drawing/2014/main" val="39069942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层面</a:t>
                      </a:r>
                      <a:endParaRPr lang="zh-CN" altLang="en-US" sz="1600" dirty="0">
                        <a:effectLst/>
                        <a:latin typeface="Google Sans Text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对应文件</a:t>
                      </a:r>
                      <a:endParaRPr lang="zh-CN" altLang="en-US" sz="1600" dirty="0">
                        <a:effectLst/>
                        <a:latin typeface="Google Sans Text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职责</a:t>
                      </a:r>
                      <a:endParaRPr lang="zh-CN" altLang="en-US" sz="1600" dirty="0">
                        <a:effectLst/>
                        <a:latin typeface="Google Sans Text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726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>
                          <a:effectLst/>
                        </a:rPr>
                        <a:t>工具层 </a:t>
                      </a:r>
                      <a:r>
                        <a:rPr lang="en-US" altLang="zh-CN" sz="1600" b="1">
                          <a:effectLst/>
                        </a:rPr>
                        <a:t>(</a:t>
                      </a:r>
                      <a:r>
                        <a:rPr lang="en-US" sz="1600" b="1">
                          <a:effectLst/>
                        </a:rPr>
                        <a:t>Algorithm)</a:t>
                      </a:r>
                      <a:endParaRPr lang="en-US" sz="16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effectLst/>
                        </a:rPr>
                        <a:t>pid_controller</a:t>
                      </a:r>
                      <a:endParaRPr lang="en-US" sz="16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纯数学运算</a:t>
                      </a:r>
                      <a:r>
                        <a:rPr lang="zh-CN" altLang="en-US" sz="1600" dirty="0">
                          <a:effectLst/>
                        </a:rPr>
                        <a:t>。不关心你是控电机还是控温度。只负责：输入误差，输出计算结果。</a:t>
                      </a:r>
                      <a:endParaRPr lang="zh-CN" altLang="en-US" sz="16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4377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>
                          <a:effectLst/>
                        </a:rPr>
                        <a:t>业务层 </a:t>
                      </a:r>
                      <a:r>
                        <a:rPr lang="en-US" altLang="zh-CN" sz="1600" b="1">
                          <a:effectLst/>
                        </a:rPr>
                        <a:t>(</a:t>
                      </a:r>
                      <a:r>
                        <a:rPr lang="en-US" sz="1600" b="1">
                          <a:effectLst/>
                        </a:rPr>
                        <a:t>App/Task)</a:t>
                      </a:r>
                      <a:endParaRPr lang="en-US" sz="16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effectLst/>
                        </a:rPr>
                        <a:t>speed_loop</a:t>
                      </a:r>
                      <a:endParaRPr lang="en-US" sz="16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物理世界对接</a:t>
                      </a:r>
                      <a:r>
                        <a:rPr lang="zh-CN" altLang="en-US" sz="1600" dirty="0">
                          <a:effectLst/>
                        </a:rPr>
                        <a:t>。负责：读取编码器、换算 </a:t>
                      </a:r>
                      <a:r>
                        <a:rPr lang="en-US" altLang="zh-CN" sz="1600" dirty="0">
                          <a:effectLst/>
                        </a:rPr>
                        <a:t>RPM</a:t>
                      </a:r>
                      <a:r>
                        <a:rPr lang="zh-CN" altLang="en-US" sz="1600" dirty="0">
                          <a:effectLst/>
                        </a:rPr>
                        <a:t>、调用 </a:t>
                      </a:r>
                      <a:r>
                        <a:rPr lang="en-US" altLang="zh-CN" sz="1600" dirty="0">
                          <a:effectLst/>
                        </a:rPr>
                        <a:t>PID </a:t>
                      </a:r>
                      <a:r>
                        <a:rPr lang="zh-CN" altLang="en-US" sz="1600" dirty="0">
                          <a:effectLst/>
                        </a:rPr>
                        <a:t>工具、输出 </a:t>
                      </a:r>
                      <a:r>
                        <a:rPr lang="en-US" altLang="zh-CN" sz="1600" dirty="0">
                          <a:effectLst/>
                        </a:rPr>
                        <a:t>PWM </a:t>
                      </a:r>
                      <a:r>
                        <a:rPr lang="zh-CN" altLang="en-US" sz="1600" dirty="0">
                          <a:effectLst/>
                        </a:rPr>
                        <a:t>给电机。</a:t>
                      </a:r>
                      <a:endParaRPr lang="zh-CN" altLang="en-US" sz="16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7881202"/>
                  </a:ext>
                </a:extLst>
              </a:tr>
            </a:tbl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94CDD81D-EDA0-25A3-DE9A-E465685B5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5322"/>
            <a:ext cx="2464526" cy="609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279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0EE840-7845-B410-A076-B8CDDC445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10.1.3 </a:t>
            </a:r>
            <a:r>
              <a:rPr lang="zh-CN" altLang="en-US" dirty="0"/>
              <a:t>怎么设置离散</a:t>
            </a:r>
            <a:r>
              <a:rPr lang="en-US" altLang="zh-CN" dirty="0"/>
              <a:t>PID</a:t>
            </a:r>
            <a:r>
              <a:rPr lang="zh-CN" altLang="en-US" dirty="0"/>
              <a:t>的控制周期</a:t>
            </a:r>
          </a:p>
        </p:txBody>
      </p:sp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11ECCB7C-BB56-28D7-2C5F-B13AE84D850A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142788731"/>
              </p:ext>
            </p:extLst>
          </p:nvPr>
        </p:nvGraphicFramePr>
        <p:xfrm>
          <a:off x="166558" y="1027731"/>
          <a:ext cx="6007820" cy="5120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FCBE7BB2-E2AC-CC75-EB5C-392DEE530796}"/>
              </a:ext>
            </a:extLst>
          </p:cNvPr>
          <p:cNvSpPr txBox="1"/>
          <p:nvPr/>
        </p:nvSpPr>
        <p:spPr>
          <a:xfrm>
            <a:off x="6966855" y="1482601"/>
            <a:ext cx="49964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思考题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：如果把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10ms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改成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1ms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，对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负载和控制精度有什么影响？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C41F534-11ED-3563-A570-4ED9D7EACFE7}"/>
              </a:ext>
            </a:extLst>
          </p:cNvPr>
          <p:cNvSpPr txBox="1"/>
          <p:nvPr/>
        </p:nvSpPr>
        <p:spPr>
          <a:xfrm>
            <a:off x="6966857" y="2486463"/>
            <a:ext cx="49964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负载将线性增加约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倍，而控制精度将因采样分辨率提高和响应时延降低而显著增强，使控制过程更接近连续系统的理想状态。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6B7B3F0-D344-7DA9-8197-5A8CF1536BDA}"/>
              </a:ext>
            </a:extLst>
          </p:cNvPr>
          <p:cNvSpPr txBox="1"/>
          <p:nvPr/>
        </p:nvSpPr>
        <p:spPr>
          <a:xfrm>
            <a:off x="6966856" y="3582658"/>
            <a:ext cx="49964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但必须重新调整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pid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控制代码和参数：</a:t>
            </a:r>
          </a:p>
          <a:p>
            <a:pPr>
              <a:buFont typeface="+mj-lt"/>
              <a:buAutoNum type="arabicPeriod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参数失效：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你的 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Ki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​ 和 </a:t>
            </a:r>
            <a:r>
              <a:rPr lang="en-US" altLang="zh-CN" sz="14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Kd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​ 是基于时间的。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1ms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下，积分项累加速度变快了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倍，系统会剧烈超调甚至震荡。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微分项由于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dt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变小，对噪声的敏感度会飙升。</a:t>
            </a:r>
          </a:p>
          <a:p>
            <a:pPr>
              <a:buFont typeface="+mj-lt"/>
              <a:buAutoNum type="arabicPeriod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速度计算精度：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如果你使用的是编码器脉冲计数，在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1ms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这么短的时间内可能只能数到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1~2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个脉冲，导致计算出的“速度”跳变非常厉害（全是阶梯状噪声）。</a:t>
            </a:r>
          </a:p>
        </p:txBody>
      </p:sp>
    </p:spTree>
    <p:extLst>
      <p:ext uri="{BB962C8B-B14F-4D97-AF65-F5344CB8AC3E}">
        <p14:creationId xmlns:p14="http://schemas.microsoft.com/office/powerpoint/2010/main" val="3518573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541738-AF46-BAB0-C4AC-7BFBE625C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10.1.4 </a:t>
            </a:r>
            <a:r>
              <a:rPr lang="zh-CN" altLang="en-US" dirty="0"/>
              <a:t>速度环</a:t>
            </a:r>
            <a:r>
              <a:rPr lang="en-US" altLang="zh-CN" dirty="0"/>
              <a:t>PID</a:t>
            </a:r>
            <a:r>
              <a:rPr lang="zh-CN" altLang="en-US" dirty="0"/>
              <a:t>控制数据流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94807C5-2269-F6B6-5C8E-DF5A33E5C098}"/>
              </a:ext>
            </a:extLst>
          </p:cNvPr>
          <p:cNvSpPr/>
          <p:nvPr/>
        </p:nvSpPr>
        <p:spPr>
          <a:xfrm>
            <a:off x="8489458" y="1972376"/>
            <a:ext cx="1267582" cy="82035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PWM</a:t>
            </a:r>
          </a:p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占空比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198E630-6D53-8510-428F-508EC3C427B5}"/>
              </a:ext>
            </a:extLst>
          </p:cNvPr>
          <p:cNvSpPr/>
          <p:nvPr/>
        </p:nvSpPr>
        <p:spPr>
          <a:xfrm>
            <a:off x="5048999" y="2122956"/>
            <a:ext cx="1752958" cy="51919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积分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FFAF8E78-D23A-123F-0299-2C3811920D51}"/>
              </a:ext>
            </a:extLst>
          </p:cNvPr>
          <p:cNvGrpSpPr/>
          <p:nvPr/>
        </p:nvGrpSpPr>
        <p:grpSpPr>
          <a:xfrm>
            <a:off x="2411772" y="2272669"/>
            <a:ext cx="217714" cy="219767"/>
            <a:chOff x="7741427" y="2187886"/>
            <a:chExt cx="217714" cy="219767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7E373A59-616B-5E2C-E99A-73C2EE57DFFA}"/>
                </a:ext>
              </a:extLst>
            </p:cNvPr>
            <p:cNvSpPr/>
            <p:nvPr/>
          </p:nvSpPr>
          <p:spPr>
            <a:xfrm>
              <a:off x="7741427" y="2187886"/>
              <a:ext cx="217714" cy="219767"/>
            </a:xfrm>
            <a:prstGeom prst="ellipse">
              <a:avLst/>
            </a:prstGeom>
            <a:solidFill>
              <a:srgbClr val="FFFF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30191605-360F-C874-441E-4D00E257FF32}"/>
                </a:ext>
              </a:extLst>
            </p:cNvPr>
            <p:cNvCxnSpPr>
              <a:stCxn id="6" idx="1"/>
              <a:endCxn id="6" idx="5"/>
            </p:cNvCxnSpPr>
            <p:nvPr/>
          </p:nvCxnSpPr>
          <p:spPr>
            <a:xfrm>
              <a:off x="7773310" y="2220070"/>
              <a:ext cx="153948" cy="155399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066678E8-34EF-7A66-D951-ADE45D7DB8BF}"/>
                </a:ext>
              </a:extLst>
            </p:cNvPr>
            <p:cNvCxnSpPr>
              <a:cxnSpLocks/>
              <a:stCxn id="6" idx="3"/>
              <a:endCxn id="6" idx="7"/>
            </p:cNvCxnSpPr>
            <p:nvPr/>
          </p:nvCxnSpPr>
          <p:spPr>
            <a:xfrm flipV="1">
              <a:off x="7773310" y="2220070"/>
              <a:ext cx="153948" cy="155399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F83E5ACC-4FEC-2019-F67F-4EB211AC049E}"/>
              </a:ext>
            </a:extLst>
          </p:cNvPr>
          <p:cNvCxnSpPr>
            <a:cxnSpLocks/>
            <a:stCxn id="18" idx="3"/>
            <a:endCxn id="6" idx="2"/>
          </p:cNvCxnSpPr>
          <p:nvPr/>
        </p:nvCxnSpPr>
        <p:spPr>
          <a:xfrm flipV="1">
            <a:off x="1685934" y="2382553"/>
            <a:ext cx="725838" cy="32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483C2326-5619-9197-AA3B-D5D040DF2BAA}"/>
              </a:ext>
            </a:extLst>
          </p:cNvPr>
          <p:cNvSpPr/>
          <p:nvPr/>
        </p:nvSpPr>
        <p:spPr>
          <a:xfrm>
            <a:off x="5146766" y="4326991"/>
            <a:ext cx="2720108" cy="51130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编码器测速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A6D640C7-9BAD-568F-9AAC-7DE19509DD56}"/>
              </a:ext>
            </a:extLst>
          </p:cNvPr>
          <p:cNvCxnSpPr>
            <a:cxnSpLocks/>
            <a:stCxn id="4" idx="3"/>
            <a:endCxn id="22" idx="1"/>
          </p:cNvCxnSpPr>
          <p:nvPr/>
        </p:nvCxnSpPr>
        <p:spPr>
          <a:xfrm>
            <a:off x="9757040" y="2382552"/>
            <a:ext cx="1862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7986455E-D316-7B46-C28C-F9AE2CD55B43}"/>
              </a:ext>
            </a:extLst>
          </p:cNvPr>
          <p:cNvCxnSpPr>
            <a:cxnSpLocks/>
            <a:stCxn id="10" idx="1"/>
            <a:endCxn id="6" idx="4"/>
          </p:cNvCxnSpPr>
          <p:nvPr/>
        </p:nvCxnSpPr>
        <p:spPr>
          <a:xfrm rot="10800000">
            <a:off x="2520630" y="2492437"/>
            <a:ext cx="2626137" cy="209020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CCD352AB-4ABC-6ADD-04E4-C1184E1B71FB}"/>
              </a:ext>
            </a:extLst>
          </p:cNvPr>
          <p:cNvCxnSpPr>
            <a:cxnSpLocks/>
            <a:stCxn id="6" idx="6"/>
            <a:endCxn id="5" idx="1"/>
          </p:cNvCxnSpPr>
          <p:nvPr/>
        </p:nvCxnSpPr>
        <p:spPr>
          <a:xfrm flipV="1">
            <a:off x="2629486" y="2382552"/>
            <a:ext cx="241951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19FCFD94-81B1-E462-E457-E51467BB2169}"/>
              </a:ext>
            </a:extLst>
          </p:cNvPr>
          <p:cNvCxnSpPr>
            <a:cxnSpLocks/>
            <a:stCxn id="5" idx="3"/>
            <a:endCxn id="92" idx="2"/>
          </p:cNvCxnSpPr>
          <p:nvPr/>
        </p:nvCxnSpPr>
        <p:spPr>
          <a:xfrm>
            <a:off x="6801957" y="2382552"/>
            <a:ext cx="418917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85C68CA2-2D6C-32C4-24CB-C6BB3E4E97CB}"/>
              </a:ext>
            </a:extLst>
          </p:cNvPr>
          <p:cNvCxnSpPr>
            <a:cxnSpLocks/>
            <a:stCxn id="21" idx="4"/>
            <a:endCxn id="10" idx="3"/>
          </p:cNvCxnSpPr>
          <p:nvPr/>
        </p:nvCxnSpPr>
        <p:spPr>
          <a:xfrm rot="5400000">
            <a:off x="8895495" y="1754812"/>
            <a:ext cx="1799210" cy="385645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DC67324D-ED88-5EC1-41A6-6FB01142A747}"/>
              </a:ext>
            </a:extLst>
          </p:cNvPr>
          <p:cNvSpPr txBox="1"/>
          <p:nvPr/>
        </p:nvSpPr>
        <p:spPr>
          <a:xfrm>
            <a:off x="1953900" y="1998587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+</a:t>
            </a:r>
            <a:endParaRPr lang="zh-CN" altLang="en-US" sz="24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BAA6483-5CB7-0C48-DB4E-C610BC1A28DB}"/>
              </a:ext>
            </a:extLst>
          </p:cNvPr>
          <p:cNvSpPr txBox="1"/>
          <p:nvPr/>
        </p:nvSpPr>
        <p:spPr>
          <a:xfrm>
            <a:off x="2171506" y="2498775"/>
            <a:ext cx="343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-</a:t>
            </a:r>
            <a:endParaRPr lang="zh-CN" altLang="en-US" sz="2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356CB8C-7991-83A6-AD73-27307A2952EB}"/>
              </a:ext>
            </a:extLst>
          </p:cNvPr>
          <p:cNvSpPr txBox="1"/>
          <p:nvPr/>
        </p:nvSpPr>
        <p:spPr>
          <a:xfrm>
            <a:off x="103018" y="2154965"/>
            <a:ext cx="1582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目标速度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A99C3C7-D24E-C71D-C22C-30F373EFEF1B}"/>
              </a:ext>
            </a:extLst>
          </p:cNvPr>
          <p:cNvSpPr/>
          <p:nvPr/>
        </p:nvSpPr>
        <p:spPr>
          <a:xfrm>
            <a:off x="5048999" y="1175498"/>
            <a:ext cx="1752958" cy="51919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比例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9010E46-5FBD-BF36-EA47-33533ECF1949}"/>
              </a:ext>
            </a:extLst>
          </p:cNvPr>
          <p:cNvSpPr/>
          <p:nvPr/>
        </p:nvSpPr>
        <p:spPr>
          <a:xfrm>
            <a:off x="5048999" y="3163846"/>
            <a:ext cx="1752958" cy="51919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微分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50320316-BDD1-6221-FDBC-40A8A0C6D6A3}"/>
              </a:ext>
            </a:extLst>
          </p:cNvPr>
          <p:cNvSpPr/>
          <p:nvPr/>
        </p:nvSpPr>
        <p:spPr>
          <a:xfrm>
            <a:off x="11317599" y="1981671"/>
            <a:ext cx="811454" cy="80176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电机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C3C7683-DA06-C2C2-3ECB-ACF90C51429F}"/>
              </a:ext>
            </a:extLst>
          </p:cNvPr>
          <p:cNvSpPr/>
          <p:nvPr/>
        </p:nvSpPr>
        <p:spPr>
          <a:xfrm>
            <a:off x="9943298" y="2157183"/>
            <a:ext cx="1173521" cy="45073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驱动板</a:t>
            </a: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F4CEC988-EB71-B1D3-0D52-E5A4162AC54B}"/>
              </a:ext>
            </a:extLst>
          </p:cNvPr>
          <p:cNvCxnSpPr>
            <a:cxnSpLocks/>
            <a:stCxn id="22" idx="3"/>
            <a:endCxn id="21" idx="2"/>
          </p:cNvCxnSpPr>
          <p:nvPr/>
        </p:nvCxnSpPr>
        <p:spPr>
          <a:xfrm>
            <a:off x="11116819" y="2382552"/>
            <a:ext cx="2007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E1BB5810-0FCE-F2B5-2C2B-BC53F67A1498}"/>
              </a:ext>
            </a:extLst>
          </p:cNvPr>
          <p:cNvCxnSpPr>
            <a:cxnSpLocks/>
            <a:stCxn id="6" idx="6"/>
            <a:endCxn id="19" idx="1"/>
          </p:cNvCxnSpPr>
          <p:nvPr/>
        </p:nvCxnSpPr>
        <p:spPr>
          <a:xfrm flipV="1">
            <a:off x="2629486" y="1435094"/>
            <a:ext cx="2419513" cy="94745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31D18E28-71E4-3E01-627F-51DBF8FAE751}"/>
              </a:ext>
            </a:extLst>
          </p:cNvPr>
          <p:cNvCxnSpPr>
            <a:cxnSpLocks/>
            <a:stCxn id="6" idx="6"/>
            <a:endCxn id="20" idx="1"/>
          </p:cNvCxnSpPr>
          <p:nvPr/>
        </p:nvCxnSpPr>
        <p:spPr>
          <a:xfrm>
            <a:off x="2629486" y="2382553"/>
            <a:ext cx="2419513" cy="104088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连接符: 肘形 25">
            <a:extLst>
              <a:ext uri="{FF2B5EF4-FFF2-40B4-BE49-F238E27FC236}">
                <a16:creationId xmlns:a16="http://schemas.microsoft.com/office/drawing/2014/main" id="{B4E43476-B8B3-300D-EE71-7F2CD7061BDF}"/>
              </a:ext>
            </a:extLst>
          </p:cNvPr>
          <p:cNvCxnSpPr>
            <a:cxnSpLocks/>
            <a:stCxn id="19" idx="3"/>
            <a:endCxn id="92" idx="0"/>
          </p:cNvCxnSpPr>
          <p:nvPr/>
        </p:nvCxnSpPr>
        <p:spPr>
          <a:xfrm>
            <a:off x="6801957" y="1435094"/>
            <a:ext cx="647482" cy="71338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连接符: 肘形 26">
            <a:extLst>
              <a:ext uri="{FF2B5EF4-FFF2-40B4-BE49-F238E27FC236}">
                <a16:creationId xmlns:a16="http://schemas.microsoft.com/office/drawing/2014/main" id="{C9695E9E-BD08-2A9E-C8B1-0DF856E4FA6D}"/>
              </a:ext>
            </a:extLst>
          </p:cNvPr>
          <p:cNvCxnSpPr>
            <a:cxnSpLocks/>
            <a:stCxn id="20" idx="3"/>
            <a:endCxn id="92" idx="4"/>
          </p:cNvCxnSpPr>
          <p:nvPr/>
        </p:nvCxnSpPr>
        <p:spPr>
          <a:xfrm flipV="1">
            <a:off x="6801957" y="2616628"/>
            <a:ext cx="647482" cy="80681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2E0441D2-4DEF-A45A-7F2C-7C08E9CB8BFB}"/>
              </a:ext>
            </a:extLst>
          </p:cNvPr>
          <p:cNvSpPr txBox="1"/>
          <p:nvPr/>
        </p:nvSpPr>
        <p:spPr>
          <a:xfrm>
            <a:off x="5146766" y="4919676"/>
            <a:ext cx="27201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Actual_RPM</a:t>
            </a:r>
            <a:endParaRPr lang="zh-CN" altLang="en-US" dirty="0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8F028009-EACD-DAF7-295D-EC449AEDCFCA}"/>
              </a:ext>
            </a:extLst>
          </p:cNvPr>
          <p:cNvSpPr txBox="1"/>
          <p:nvPr/>
        </p:nvSpPr>
        <p:spPr>
          <a:xfrm>
            <a:off x="103018" y="2629631"/>
            <a:ext cx="14346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Target_RPM</a:t>
            </a:r>
            <a:endParaRPr lang="zh-CN" altLang="en-US" dirty="0"/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E50ED166-8962-77AC-061E-CC1A43CD092D}"/>
              </a:ext>
            </a:extLst>
          </p:cNvPr>
          <p:cNvSpPr txBox="1"/>
          <p:nvPr/>
        </p:nvSpPr>
        <p:spPr>
          <a:xfrm>
            <a:off x="2722626" y="2444965"/>
            <a:ext cx="7750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Error</a:t>
            </a:r>
            <a:endParaRPr lang="zh-CN" altLang="en-US" dirty="0"/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627868B5-0574-DF80-6757-F15B81235DE8}"/>
              </a:ext>
            </a:extLst>
          </p:cNvPr>
          <p:cNvSpPr/>
          <p:nvPr/>
        </p:nvSpPr>
        <p:spPr>
          <a:xfrm>
            <a:off x="7220874" y="2148480"/>
            <a:ext cx="457130" cy="468148"/>
          </a:xfrm>
          <a:prstGeom prst="ellipse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Σ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3589515C-0282-E7A0-ACF0-9FCA21EEFF5E}"/>
              </a:ext>
            </a:extLst>
          </p:cNvPr>
          <p:cNvCxnSpPr>
            <a:cxnSpLocks/>
            <a:stCxn id="92" idx="6"/>
            <a:endCxn id="4" idx="1"/>
          </p:cNvCxnSpPr>
          <p:nvPr/>
        </p:nvCxnSpPr>
        <p:spPr>
          <a:xfrm flipV="1">
            <a:off x="7678004" y="2382552"/>
            <a:ext cx="811454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文本框 101">
            <a:extLst>
              <a:ext uri="{FF2B5EF4-FFF2-40B4-BE49-F238E27FC236}">
                <a16:creationId xmlns:a16="http://schemas.microsoft.com/office/drawing/2014/main" id="{2232CF82-17EA-11B3-1E52-31AF18339CC4}"/>
              </a:ext>
            </a:extLst>
          </p:cNvPr>
          <p:cNvSpPr txBox="1"/>
          <p:nvPr/>
        </p:nvSpPr>
        <p:spPr>
          <a:xfrm>
            <a:off x="7500461" y="2533665"/>
            <a:ext cx="9130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Output</a:t>
            </a:r>
            <a:endParaRPr lang="zh-CN" altLang="en-US" dirty="0"/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C61ED79F-CF40-3FA7-D10E-734C13E43620}"/>
              </a:ext>
            </a:extLst>
          </p:cNvPr>
          <p:cNvSpPr txBox="1"/>
          <p:nvPr/>
        </p:nvSpPr>
        <p:spPr>
          <a:xfrm>
            <a:off x="185948" y="1687465"/>
            <a:ext cx="1120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输入端</a:t>
            </a:r>
            <a:endParaRPr lang="zh-CN" altLang="en-US" dirty="0"/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DA5CB9C8-094E-7908-5139-4EEB2D8FADB4}"/>
              </a:ext>
            </a:extLst>
          </p:cNvPr>
          <p:cNvSpPr txBox="1"/>
          <p:nvPr/>
        </p:nvSpPr>
        <p:spPr>
          <a:xfrm>
            <a:off x="2249968" y="1931309"/>
            <a:ext cx="1120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比较端</a:t>
            </a:r>
            <a:endParaRPr lang="zh-CN" altLang="en-US" dirty="0"/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01985768-B7DB-7D4A-FEBB-71E12649EE7B}"/>
              </a:ext>
            </a:extLst>
          </p:cNvPr>
          <p:cNvSpPr txBox="1"/>
          <p:nvPr/>
        </p:nvSpPr>
        <p:spPr>
          <a:xfrm>
            <a:off x="6836529" y="814851"/>
            <a:ext cx="1120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运算端</a:t>
            </a:r>
            <a:endParaRPr lang="zh-CN" altLang="en-US" dirty="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75A6DCB5-DFD5-020E-FE15-9D6942A092ED}"/>
              </a:ext>
            </a:extLst>
          </p:cNvPr>
          <p:cNvSpPr txBox="1"/>
          <p:nvPr/>
        </p:nvSpPr>
        <p:spPr>
          <a:xfrm>
            <a:off x="8496382" y="1532059"/>
            <a:ext cx="1120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执行端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1393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1EDE8A-DB7F-19CE-38A3-702CD35C0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10.1.5 </a:t>
            </a:r>
            <a:r>
              <a:rPr lang="zh-CN" altLang="en-US" dirty="0"/>
              <a:t>工程约束</a:t>
            </a:r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33650DCC-48EE-E819-5AC0-A474BFE10292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4167438343"/>
              </p:ext>
            </p:extLst>
          </p:nvPr>
        </p:nvGraphicFramePr>
        <p:xfrm>
          <a:off x="891665" y="1062446"/>
          <a:ext cx="6214530" cy="52861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65C54176-060B-C3FC-66F0-C71A07275842}"/>
              </a:ext>
            </a:extLst>
          </p:cNvPr>
          <p:cNvSpPr txBox="1"/>
          <p:nvPr/>
        </p:nvSpPr>
        <p:spPr>
          <a:xfrm>
            <a:off x="7106195" y="4964557"/>
            <a:ext cx="508580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在机械系统中，由于摩擦、齿轮间隙等原因，当控制信号很小（比如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PWM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占空比很低）时，电机可能根本不转。这个“不响应的信号区间”就叫做死区。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如果没有死区补偿，即使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PID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控制器输出一个很小的控制量（理论上足以让电机微动），电机也可能因为摩擦力而不动，导致系统响应滞后、控制精度下降。</a:t>
            </a:r>
          </a:p>
        </p:txBody>
      </p:sp>
    </p:spTree>
    <p:extLst>
      <p:ext uri="{BB962C8B-B14F-4D97-AF65-F5344CB8AC3E}">
        <p14:creationId xmlns:p14="http://schemas.microsoft.com/office/powerpoint/2010/main" val="3902454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F2F1B3-75B2-55BB-8349-8852DF6AA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10.1.6 </a:t>
            </a:r>
            <a:r>
              <a:rPr lang="zh-CN" altLang="en-US" dirty="0"/>
              <a:t>伪代码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08D7D69-26DC-77FE-5BCA-418BAFBC532A}"/>
              </a:ext>
            </a:extLst>
          </p:cNvPr>
          <p:cNvSpPr txBox="1"/>
          <p:nvPr/>
        </p:nvSpPr>
        <p:spPr>
          <a:xfrm>
            <a:off x="5930537" y="1483216"/>
            <a:ext cx="61656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算法实现：“转速误差→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PWM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输出”的精准映射；</a:t>
            </a:r>
          </a:p>
        </p:txBody>
      </p:sp>
      <p:pic>
        <p:nvPicPr>
          <p:cNvPr id="12" name="内容占位符 11">
            <a:extLst>
              <a:ext uri="{FF2B5EF4-FFF2-40B4-BE49-F238E27FC236}">
                <a16:creationId xmlns:a16="http://schemas.microsoft.com/office/drawing/2014/main" id="{A158125C-A856-F837-3601-B8894173BB89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8861"/>
            <a:ext cx="6000206" cy="4779344"/>
          </a:xfr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15AB1BCB-4B60-985C-DC0A-FEA2D20ECB34}"/>
              </a:ext>
            </a:extLst>
          </p:cNvPr>
          <p:cNvSpPr txBox="1"/>
          <p:nvPr/>
        </p:nvSpPr>
        <p:spPr>
          <a:xfrm>
            <a:off x="5930537" y="1006471"/>
            <a:ext cx="34398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“用反馈修正误差”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67C02A9-4CFD-1A98-6A0C-20099BDC8312}"/>
              </a:ext>
            </a:extLst>
          </p:cNvPr>
          <p:cNvSpPr txBox="1"/>
          <p:nvPr/>
        </p:nvSpPr>
        <p:spPr>
          <a:xfrm>
            <a:off x="6000206" y="3620458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对目标值（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Target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）做滤波：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让电机速度变换不那么突兀。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可以想象成：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用户想把目标转速从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，但实际上不能实现瞬间跳变，控制算法让目标速度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逐步过渡到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40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40355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09AA5E-F052-3994-C906-E9D946F0C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67CF89B7-9D4C-8437-F576-AB8CB4C723E9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0706" y="-52234"/>
            <a:ext cx="2034434" cy="6962467"/>
          </a:xfrm>
        </p:spPr>
      </p:pic>
    </p:spTree>
    <p:extLst>
      <p:ext uri="{BB962C8B-B14F-4D97-AF65-F5344CB8AC3E}">
        <p14:creationId xmlns:p14="http://schemas.microsoft.com/office/powerpoint/2010/main" val="761168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2026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zh-CN" altLang="en-US" sz="1200" dirty="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r>
              <a:rPr kumimoji="1" lang="en-US" altLang="zh-CN" sz="1200" dirty="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_</a:t>
            </a:r>
            <a:r>
              <a:rPr kumimoji="1" lang="zh-CN" altLang="en-US" sz="1200" dirty="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嵌入式</a:t>
            </a:r>
            <a:endParaRPr kumimoji="1" lang="zh-CN" altLang="en-US" dirty="0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2026.01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8067</TotalTime>
  <Words>938</Words>
  <Application>Microsoft Office PowerPoint</Application>
  <PresentationFormat>宽屏</PresentationFormat>
  <Paragraphs>98</Paragraphs>
  <Slides>12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Google Sans Text</vt:lpstr>
      <vt:lpstr>Source Han Sans</vt:lpstr>
      <vt:lpstr>Source Han Sans CN Regular</vt:lpstr>
      <vt:lpstr>等线</vt:lpstr>
      <vt:lpstr>微软雅黑</vt:lpstr>
      <vt:lpstr>Arial</vt:lpstr>
      <vt:lpstr>Office 主题​​</vt:lpstr>
      <vt:lpstr>PowerPoint 演示文稿</vt:lpstr>
      <vt:lpstr>本章目录</vt:lpstr>
      <vt:lpstr>PowerPoint 演示文稿</vt:lpstr>
      <vt:lpstr>目标</vt:lpstr>
      <vt:lpstr>10.1.1 PID的离散化</vt:lpstr>
      <vt:lpstr>10.1.2 核心架构——速度环软件工程架构设计</vt:lpstr>
      <vt:lpstr>10.1.3 怎么设置离散PID的控制周期</vt:lpstr>
      <vt:lpstr>10.1.4 速度环PID控制数据流</vt:lpstr>
      <vt:lpstr>10.1.5 工程约束</vt:lpstr>
      <vt:lpstr>10.1.6 伪代码</vt:lpstr>
      <vt:lpstr>总结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199</cp:revision>
  <dcterms:created xsi:type="dcterms:W3CDTF">2025-05-21T06:55:53Z</dcterms:created>
  <dcterms:modified xsi:type="dcterms:W3CDTF">2026-01-29T07:04:31Z</dcterms:modified>
</cp:coreProperties>
</file>