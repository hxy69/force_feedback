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9" r:id="rId2"/>
    <p:sldId id="804" r:id="rId3"/>
    <p:sldId id="813" r:id="rId4"/>
    <p:sldId id="806" r:id="rId5"/>
    <p:sldId id="807" r:id="rId6"/>
    <p:sldId id="808" r:id="rId7"/>
    <p:sldId id="814" r:id="rId8"/>
    <p:sldId id="809" r:id="rId9"/>
    <p:sldId id="810" r:id="rId10"/>
    <p:sldId id="815" r:id="rId11"/>
    <p:sldId id="816" r:id="rId12"/>
    <p:sldId id="817" r:id="rId13"/>
    <p:sldId id="818" r:id="rId14"/>
    <p:sldId id="819" r:id="rId15"/>
    <p:sldId id="820" r:id="rId16"/>
    <p:sldId id="821" r:id="rId17"/>
    <p:sldId id="822" r:id="rId18"/>
    <p:sldId id="825" r:id="rId19"/>
    <p:sldId id="826" r:id="rId20"/>
    <p:sldId id="827" r:id="rId21"/>
    <p:sldId id="823" r:id="rId22"/>
    <p:sldId id="824" r:id="rId23"/>
    <p:sldId id="828" r:id="rId24"/>
    <p:sldId id="28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C431"/>
    <a:srgbClr val="098F4A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A94A45-2EBE-461D-8DD2-C7B6FA45716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9602752-43C0-4FAA-91B3-85C09FD97B2C}">
      <dgm:prSet/>
      <dgm:spPr/>
      <dgm:t>
        <a:bodyPr/>
        <a:lstStyle/>
        <a:p>
          <a:r>
            <a:rPr lang="zh-CN" b="1">
              <a:latin typeface="微软雅黑" panose="020B0503020204020204" pitchFamily="34" charset="-122"/>
              <a:ea typeface="微软雅黑" panose="020B0503020204020204" pitchFamily="34" charset="-122"/>
            </a:rPr>
            <a:t>跨越理论与实践的鸿沟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EE89961-FA08-4963-9F39-3D32661E5244}" type="parTrans" cxnId="{BE241771-B2BB-4B9C-97F4-E3AE847DAE3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414E33E-57FC-4CF4-8437-780BCBC3486C}" type="sibTrans" cxnId="{BE241771-B2BB-4B9C-97F4-E3AE847DAE3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A8A189C-4CA9-4FED-B259-17AEB96ED95F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掌握</a:t>
          </a:r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速度环控制工程实现方法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使用</a:t>
          </a:r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STM32CubeMX + VS Code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创建速度环控制工程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17360435-CDC5-4CF5-AD7E-E85E09A2EEE7}" type="parTrans" cxnId="{09B93758-CFC1-4DAC-99D2-35D473A6CA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56EAF1-BCC4-4726-A70D-17416F81BD57}" type="sibTrans" cxnId="{09B93758-CFC1-4DAC-99D2-35D473A6CA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06308F6-7891-4F20-AFAD-FBA9D911C940}">
      <dgm:prSet/>
      <dgm:spPr/>
      <dgm:t>
        <a:bodyPr/>
        <a:lstStyle/>
        <a:p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理解位置式速度环</a:t>
          </a:r>
          <a:r>
            <a: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控制代码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能够独立撰写位置式</a:t>
          </a:r>
          <a:r>
            <a:rPr lang="en-US" altLang="zh-CN" dirty="0" err="1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控制算法的代码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9FD50F40-D8A6-4512-B605-A97EFEE5085D}" type="parTrans" cxnId="{D895A471-4EDF-40C8-B645-B88F2C8F2D8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30F93DD-A7F2-4362-B860-3702451F6B27}" type="sibTrans" cxnId="{D895A471-4EDF-40C8-B645-B88F2C8F2D8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66FBC4B-2C23-4229-AA19-F54720278F90}">
      <dgm:prSet/>
      <dgm:spPr/>
      <dgm:t>
        <a:bodyPr/>
        <a:lstStyle/>
        <a:p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理解增量式速度环</a:t>
          </a:r>
          <a:r>
            <a: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控制代码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能够独立撰写增量式</a:t>
          </a:r>
          <a:r>
            <a:rPr lang="en-US" altLang="zh-CN" dirty="0" err="1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控制算法的代码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E3A573B4-F7D4-42A6-B1FC-566FB87374FA}" type="parTrans" cxnId="{DA365D75-3315-4431-928B-BDF0DEBE00A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164E55F-8F37-4A74-8A2F-0515D3D16720}" type="sibTrans" cxnId="{DA365D75-3315-4431-928B-BDF0DEBE00A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E2133A-25FC-4149-B56F-59F440F5D95C}">
      <dgm:prSet/>
      <dgm:spPr/>
      <dgm:t>
        <a:bodyPr/>
        <a:lstStyle/>
        <a:p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BF53C5-9574-40FB-9812-4B99CEDE65E9}" type="parTrans" cxnId="{605CAEE2-2A38-49D7-AD94-D6B7AF1E94F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1ADE35-BE28-4FD5-AFF2-E3CFE24767D8}" type="sibTrans" cxnId="{605CAEE2-2A38-49D7-AD94-D6B7AF1E94F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49EB971-188E-4DD3-B568-0F3D2280B238}" type="pres">
      <dgm:prSet presAssocID="{A0A94A45-2EBE-461D-8DD2-C7B6FA457168}" presName="linear" presStyleCnt="0">
        <dgm:presLayoutVars>
          <dgm:dir/>
          <dgm:animLvl val="lvl"/>
          <dgm:resizeHandles val="exact"/>
        </dgm:presLayoutVars>
      </dgm:prSet>
      <dgm:spPr/>
    </dgm:pt>
    <dgm:pt modelId="{5C47D06C-06C8-4370-8196-D84A1C889645}" type="pres">
      <dgm:prSet presAssocID="{39602752-43C0-4FAA-91B3-85C09FD97B2C}" presName="parentLin" presStyleCnt="0"/>
      <dgm:spPr/>
    </dgm:pt>
    <dgm:pt modelId="{8EBADFCE-324B-4B8C-83B2-085E1908C673}" type="pres">
      <dgm:prSet presAssocID="{39602752-43C0-4FAA-91B3-85C09FD97B2C}" presName="parentLeftMargin" presStyleLbl="node1" presStyleIdx="0" presStyleCnt="1"/>
      <dgm:spPr/>
    </dgm:pt>
    <dgm:pt modelId="{11ED4AD7-923A-441E-AE0E-01DF8B55C147}" type="pres">
      <dgm:prSet presAssocID="{39602752-43C0-4FAA-91B3-85C09FD97B2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AD5D64-0759-4D1D-8F2E-EDF3412FD69A}" type="pres">
      <dgm:prSet presAssocID="{39602752-43C0-4FAA-91B3-85C09FD97B2C}" presName="negativeSpace" presStyleCnt="0"/>
      <dgm:spPr/>
    </dgm:pt>
    <dgm:pt modelId="{BE7F2574-34B7-4316-AF8D-5587CA37BB79}" type="pres">
      <dgm:prSet presAssocID="{39602752-43C0-4FAA-91B3-85C09FD97B2C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2E49502-AF1B-4A64-87DD-112E2654D731}" type="presOf" srcId="{806308F6-7891-4F20-AFAD-FBA9D911C940}" destId="{BE7F2574-34B7-4316-AF8D-5587CA37BB79}" srcOrd="0" destOrd="1" presId="urn:microsoft.com/office/officeart/2005/8/layout/list1"/>
    <dgm:cxn modelId="{C8D4DA11-5D7B-4DCC-896F-E42296D021B9}" type="presOf" srcId="{39602752-43C0-4FAA-91B3-85C09FD97B2C}" destId="{8EBADFCE-324B-4B8C-83B2-085E1908C673}" srcOrd="0" destOrd="0" presId="urn:microsoft.com/office/officeart/2005/8/layout/list1"/>
    <dgm:cxn modelId="{F6FF761A-5CB2-4B1F-A653-E9376D34F185}" type="presOf" srcId="{39602752-43C0-4FAA-91B3-85C09FD97B2C}" destId="{11ED4AD7-923A-441E-AE0E-01DF8B55C147}" srcOrd="1" destOrd="0" presId="urn:microsoft.com/office/officeart/2005/8/layout/list1"/>
    <dgm:cxn modelId="{3433C333-AB38-4F1A-AB7B-6F9650CB07DF}" type="presOf" srcId="{0A8A189C-4CA9-4FED-B259-17AEB96ED95F}" destId="{BE7F2574-34B7-4316-AF8D-5587CA37BB79}" srcOrd="0" destOrd="0" presId="urn:microsoft.com/office/officeart/2005/8/layout/list1"/>
    <dgm:cxn modelId="{287E975D-1B15-4B39-AC27-E700E614C8F3}" type="presOf" srcId="{166FBC4B-2C23-4229-AA19-F54720278F90}" destId="{BE7F2574-34B7-4316-AF8D-5587CA37BB79}" srcOrd="0" destOrd="2" presId="urn:microsoft.com/office/officeart/2005/8/layout/list1"/>
    <dgm:cxn modelId="{BE241771-B2BB-4B9C-97F4-E3AE847DAE3E}" srcId="{A0A94A45-2EBE-461D-8DD2-C7B6FA457168}" destId="{39602752-43C0-4FAA-91B3-85C09FD97B2C}" srcOrd="0" destOrd="0" parTransId="{5EE89961-FA08-4963-9F39-3D32661E5244}" sibTransId="{5414E33E-57FC-4CF4-8437-780BCBC3486C}"/>
    <dgm:cxn modelId="{D895A471-4EDF-40C8-B645-B88F2C8F2D84}" srcId="{39602752-43C0-4FAA-91B3-85C09FD97B2C}" destId="{806308F6-7891-4F20-AFAD-FBA9D911C940}" srcOrd="1" destOrd="0" parTransId="{9FD50F40-D8A6-4512-B605-A97EFEE5085D}" sibTransId="{230F93DD-A7F2-4362-B860-3702451F6B27}"/>
    <dgm:cxn modelId="{DA365D75-3315-4431-928B-BDF0DEBE00A4}" srcId="{39602752-43C0-4FAA-91B3-85C09FD97B2C}" destId="{166FBC4B-2C23-4229-AA19-F54720278F90}" srcOrd="2" destOrd="0" parTransId="{E3A573B4-F7D4-42A6-B1FC-566FB87374FA}" sibTransId="{3164E55F-8F37-4A74-8A2F-0515D3D16720}"/>
    <dgm:cxn modelId="{09B93758-CFC1-4DAC-99D2-35D473A6CA92}" srcId="{39602752-43C0-4FAA-91B3-85C09FD97B2C}" destId="{0A8A189C-4CA9-4FED-B259-17AEB96ED95F}" srcOrd="0" destOrd="0" parTransId="{17360435-CDC5-4CF5-AD7E-E85E09A2EEE7}" sibTransId="{6F56EAF1-BCC4-4726-A70D-17416F81BD57}"/>
    <dgm:cxn modelId="{605CAEE2-2A38-49D7-AD94-D6B7AF1E94FE}" srcId="{39602752-43C0-4FAA-91B3-85C09FD97B2C}" destId="{90E2133A-25FC-4149-B56F-59F440F5D95C}" srcOrd="3" destOrd="0" parTransId="{ECBF53C5-9574-40FB-9812-4B99CEDE65E9}" sibTransId="{491ADE35-BE28-4FD5-AFF2-E3CFE24767D8}"/>
    <dgm:cxn modelId="{6E017FEF-F5DF-4D30-9865-2171ABE9572D}" type="presOf" srcId="{A0A94A45-2EBE-461D-8DD2-C7B6FA457168}" destId="{A49EB971-188E-4DD3-B568-0F3D2280B238}" srcOrd="0" destOrd="0" presId="urn:microsoft.com/office/officeart/2005/8/layout/list1"/>
    <dgm:cxn modelId="{684146FC-969E-4E2F-A7C2-41B29AA05296}" type="presOf" srcId="{90E2133A-25FC-4149-B56F-59F440F5D95C}" destId="{BE7F2574-34B7-4316-AF8D-5587CA37BB79}" srcOrd="0" destOrd="3" presId="urn:microsoft.com/office/officeart/2005/8/layout/list1"/>
    <dgm:cxn modelId="{0755B1DF-5ABA-441E-B8FC-A25A7C91E77A}" type="presParOf" srcId="{A49EB971-188E-4DD3-B568-0F3D2280B238}" destId="{5C47D06C-06C8-4370-8196-D84A1C889645}" srcOrd="0" destOrd="0" presId="urn:microsoft.com/office/officeart/2005/8/layout/list1"/>
    <dgm:cxn modelId="{722B5028-ED60-44F9-B951-F9CE8A4B86B3}" type="presParOf" srcId="{5C47D06C-06C8-4370-8196-D84A1C889645}" destId="{8EBADFCE-324B-4B8C-83B2-085E1908C673}" srcOrd="0" destOrd="0" presId="urn:microsoft.com/office/officeart/2005/8/layout/list1"/>
    <dgm:cxn modelId="{9AAC5596-F1DA-4155-896D-5DFC191CC408}" type="presParOf" srcId="{5C47D06C-06C8-4370-8196-D84A1C889645}" destId="{11ED4AD7-923A-441E-AE0E-01DF8B55C147}" srcOrd="1" destOrd="0" presId="urn:microsoft.com/office/officeart/2005/8/layout/list1"/>
    <dgm:cxn modelId="{54DFB230-BF37-40C5-8B64-1B1A9AF0F13A}" type="presParOf" srcId="{A49EB971-188E-4DD3-B568-0F3D2280B238}" destId="{FEAD5D64-0759-4D1D-8F2E-EDF3412FD69A}" srcOrd="1" destOrd="0" presId="urn:microsoft.com/office/officeart/2005/8/layout/list1"/>
    <dgm:cxn modelId="{C66EF041-BD00-43A5-BCC7-EF507412CF17}" type="presParOf" srcId="{A49EB971-188E-4DD3-B568-0F3D2280B238}" destId="{BE7F2574-34B7-4316-AF8D-5587CA37BB7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F2574-34B7-4316-AF8D-5587CA37BB79}">
      <dsp:nvSpPr>
        <dsp:cNvPr id="0" name=""/>
        <dsp:cNvSpPr/>
      </dsp:nvSpPr>
      <dsp:spPr>
        <a:xfrm>
          <a:off x="0" y="490487"/>
          <a:ext cx="10688441" cy="476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62356" rIns="829542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掌握</a:t>
          </a:r>
          <a:r>
            <a:rPr lang="zh-CN" altLang="en-US" sz="2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速度环控制工程实现方法</a:t>
          </a:r>
          <a:r>
            <a:rPr lang="zh-CN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使用</a:t>
          </a:r>
          <a:r>
            <a:rPr lang="en-US" altLang="zh-CN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STM32CubeMX + VS Code</a:t>
          </a: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创建速度环控制工程</a:t>
          </a:r>
          <a:r>
            <a:rPr lang="zh-CN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理解位置式速度环</a:t>
          </a:r>
          <a:r>
            <a:rPr lang="en-US" altLang="zh-CN" sz="2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altLang="en-US" sz="2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控制代码</a:t>
          </a:r>
          <a:r>
            <a:rPr lang="zh-CN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能够独立撰写位置式</a:t>
          </a:r>
          <a:r>
            <a:rPr lang="en-US" altLang="zh-CN" sz="27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控制算法的代码</a:t>
          </a:r>
          <a:r>
            <a:rPr lang="zh-CN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理解增量式速度环</a:t>
          </a:r>
          <a:r>
            <a:rPr lang="en-US" altLang="zh-CN" sz="2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altLang="en-US" sz="2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控制代码</a:t>
          </a:r>
          <a:r>
            <a:rPr lang="zh-CN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能够独立撰写增量式</a:t>
          </a:r>
          <a:r>
            <a:rPr lang="en-US" altLang="zh-CN" sz="27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控制算法的代码</a:t>
          </a:r>
          <a:r>
            <a:rPr lang="zh-CN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sz="2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90487"/>
        <a:ext cx="10688441" cy="4762800"/>
      </dsp:txXfrm>
    </dsp:sp>
    <dsp:sp modelId="{11ED4AD7-923A-441E-AE0E-01DF8B55C147}">
      <dsp:nvSpPr>
        <dsp:cNvPr id="0" name=""/>
        <dsp:cNvSpPr/>
      </dsp:nvSpPr>
      <dsp:spPr>
        <a:xfrm>
          <a:off x="534422" y="91967"/>
          <a:ext cx="7481908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跨越理论与实践的鸿沟</a:t>
          </a:r>
          <a:endParaRPr lang="zh-CN" sz="27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73330" y="130875"/>
        <a:ext cx="7404092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3" y="374795"/>
            <a:ext cx="10586281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ee.com/gaoyanzeng/genbotter_motor_tutorial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3" y="2818708"/>
            <a:ext cx="7951268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4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速度环</a:t>
            </a:r>
            <a:r>
              <a:rPr kumimoji="1" lang="en-US" altLang="zh-CN" sz="44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kumimoji="1" lang="zh-CN" altLang="en-US" sz="44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控制代码讲解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嵌入式 电机开发教程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【10-02】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E33E338-E8AF-591D-25DD-39918C8EE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D3C73BA1-5F0A-B6AA-1F68-CED95CA5D60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117029345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30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56A83C7-3A6B-43E9-E974-19A6B9B4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10.2.1 </a:t>
            </a:r>
            <a:r>
              <a:rPr lang="en-US" altLang="zh-CN" dirty="0" err="1"/>
              <a:t>CubeMX</a:t>
            </a:r>
            <a:r>
              <a:rPr lang="zh-CN" altLang="en-US" dirty="0"/>
              <a:t>工程准备</a:t>
            </a:r>
          </a:p>
        </p:txBody>
      </p:sp>
    </p:spTree>
    <p:extLst>
      <p:ext uri="{BB962C8B-B14F-4D97-AF65-F5344CB8AC3E}">
        <p14:creationId xmlns:p14="http://schemas.microsoft.com/office/powerpoint/2010/main" val="2697588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CDC0F-86B4-F9F6-91E1-1119B938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代码下载，</a:t>
            </a:r>
            <a:r>
              <a:rPr lang="en-US" altLang="zh-CN" dirty="0" err="1"/>
              <a:t>Gitee</a:t>
            </a:r>
            <a:r>
              <a:rPr lang="zh-CN" altLang="en-US" dirty="0"/>
              <a:t>共享链接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DAFADC8-0741-70B4-F916-3B1A9FF4CF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1071034"/>
          </a:xfrm>
        </p:spPr>
        <p:txBody>
          <a:bodyPr>
            <a:normAutofit/>
          </a:bodyPr>
          <a:lstStyle/>
          <a:p>
            <a:r>
              <a:rPr lang="en-US" altLang="zh-CN" sz="2400" dirty="0" err="1"/>
              <a:t>Gitee</a:t>
            </a:r>
            <a:r>
              <a:rPr lang="zh-CN" altLang="en-US" sz="2400" dirty="0"/>
              <a:t>上下载第</a:t>
            </a:r>
            <a:r>
              <a:rPr lang="en-US" altLang="zh-CN" sz="2400" dirty="0"/>
              <a:t>8</a:t>
            </a:r>
            <a:r>
              <a:rPr lang="zh-CN" altLang="en-US" sz="2400" dirty="0"/>
              <a:t>章的案例，在第</a:t>
            </a:r>
            <a:r>
              <a:rPr lang="en-US" altLang="zh-CN" sz="2400" dirty="0"/>
              <a:t>8</a:t>
            </a:r>
            <a:r>
              <a:rPr lang="zh-CN" altLang="en-US" sz="2400" dirty="0"/>
              <a:t>章案例基础上创建本章的案例</a:t>
            </a:r>
            <a:endParaRPr lang="en-US" altLang="zh-CN" sz="2400" dirty="0"/>
          </a:p>
          <a:p>
            <a:r>
              <a:rPr lang="zh-CN" altLang="en-US" sz="2400" dirty="0"/>
              <a:t>网址：</a:t>
            </a:r>
            <a:r>
              <a:rPr lang="en-US" altLang="zh-CN" sz="2400" dirty="0">
                <a:hlinkClick r:id="rId2"/>
              </a:rPr>
              <a:t>https://gitee.com/gaoyanzeng/genbotter_motor_tutorial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8" name="图片 7" descr="图形用户界面, 文本, 应用程序, 电子邮件, 网站&#10;&#10;AI 生成的内容可能不正确。">
            <a:extLst>
              <a:ext uri="{FF2B5EF4-FFF2-40B4-BE49-F238E27FC236}">
                <a16:creationId xmlns:a16="http://schemas.microsoft.com/office/drawing/2014/main" id="{8F1E4EFA-C22A-204F-8DF1-523453AA8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185" y="2507539"/>
            <a:ext cx="5059938" cy="39756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8C5B2AA-7306-11AE-4DAC-E2A0EE1B4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13" y="2507539"/>
            <a:ext cx="3273069" cy="39756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箭头: 右 11">
            <a:extLst>
              <a:ext uri="{FF2B5EF4-FFF2-40B4-BE49-F238E27FC236}">
                <a16:creationId xmlns:a16="http://schemas.microsoft.com/office/drawing/2014/main" id="{AB68DFC4-A68F-B274-F01A-F4C0CFB8DC36}"/>
              </a:ext>
            </a:extLst>
          </p:cNvPr>
          <p:cNvSpPr/>
          <p:nvPr/>
        </p:nvSpPr>
        <p:spPr>
          <a:xfrm>
            <a:off x="6723017" y="4254138"/>
            <a:ext cx="1036320" cy="478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832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6D2B6-2256-C441-043D-4B8B87AE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更改</a:t>
            </a:r>
            <a:r>
              <a:rPr lang="en-US" altLang="zh-CN" dirty="0" err="1"/>
              <a:t>CubeMX</a:t>
            </a:r>
            <a:r>
              <a:rPr lang="zh-CN" altLang="en-US" dirty="0"/>
              <a:t>的工程名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786EBE-BC3C-DDA4-58D8-6B3868F2D22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1520" y="972639"/>
            <a:ext cx="10519954" cy="123063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复制“</a:t>
            </a:r>
            <a:r>
              <a:rPr lang="en-US" altLang="zh-CN" dirty="0"/>
              <a:t>chap08_brush_motor_5</a:t>
            </a:r>
            <a:r>
              <a:rPr lang="zh-CN" altLang="en-US" dirty="0"/>
              <a:t>”，重命名为</a:t>
            </a:r>
            <a:r>
              <a:rPr lang="en-US" altLang="zh-CN" dirty="0"/>
              <a:t>”chap10_brush_motor_6</a:t>
            </a:r>
            <a:r>
              <a:rPr lang="zh-CN" altLang="en-US" dirty="0"/>
              <a:t>“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将其中的“</a:t>
            </a:r>
            <a:r>
              <a:rPr lang="en-US" altLang="zh-CN" dirty="0"/>
              <a:t>brush_motor_5.ioc</a:t>
            </a:r>
            <a:r>
              <a:rPr lang="zh-CN" altLang="en-US" dirty="0"/>
              <a:t>”重命名为</a:t>
            </a:r>
            <a:r>
              <a:rPr lang="en-US" altLang="zh-CN" dirty="0"/>
              <a:t>”brush_motor_6.ioc</a:t>
            </a:r>
            <a:r>
              <a:rPr lang="zh-CN" altLang="en-US" dirty="0"/>
              <a:t>“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CubeMX</a:t>
            </a:r>
            <a:r>
              <a:rPr lang="zh-CN" altLang="en-US" dirty="0"/>
              <a:t>打开工程，工程名自动变为“</a:t>
            </a:r>
            <a:r>
              <a:rPr lang="en-US" altLang="zh-CN" dirty="0"/>
              <a:t>brush_motor_6</a:t>
            </a:r>
            <a:r>
              <a:rPr lang="zh-CN" altLang="en-US" dirty="0"/>
              <a:t>”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CE630A-E35F-AD4B-A003-7B327C3B1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37" y="2947851"/>
            <a:ext cx="3988526" cy="19800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2E71D7A-1F73-E3A7-8671-1081A6F32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526" y="2947851"/>
            <a:ext cx="8185173" cy="391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7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EE840-7845-B410-A076-B8CDDC44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生成</a:t>
            </a:r>
            <a:r>
              <a:rPr lang="en-US" altLang="zh-CN" dirty="0" err="1"/>
              <a:t>keil</a:t>
            </a:r>
            <a:r>
              <a:rPr lang="en-US" altLang="zh-CN" dirty="0"/>
              <a:t> </a:t>
            </a:r>
            <a:r>
              <a:rPr lang="en-US" altLang="zh-CN" dirty="0" err="1"/>
              <a:t>mdk</a:t>
            </a:r>
            <a:r>
              <a:rPr lang="zh-CN" altLang="en-US" dirty="0"/>
              <a:t>工程代码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2B89550-90F5-C95A-2D96-0441A1F977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1027492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外设的配置和第</a:t>
            </a:r>
            <a:r>
              <a:rPr lang="en-US" altLang="zh-CN" dirty="0"/>
              <a:t>8</a:t>
            </a:r>
            <a:r>
              <a:rPr lang="zh-CN" altLang="en-US" dirty="0"/>
              <a:t>章案例的配置一样，不需要改变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直接单击“</a:t>
            </a:r>
            <a:r>
              <a:rPr lang="en-US" altLang="zh-CN" dirty="0"/>
              <a:t>GENERATE CODE</a:t>
            </a:r>
            <a:r>
              <a:rPr lang="zh-CN" altLang="en-US" dirty="0"/>
              <a:t>”按钮，生成工程代码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完成</a:t>
            </a:r>
            <a:r>
              <a:rPr lang="en-US" altLang="zh-CN" dirty="0"/>
              <a:t>Keil MDK</a:t>
            </a:r>
            <a:r>
              <a:rPr lang="zh-CN" altLang="en-US" dirty="0"/>
              <a:t>工程代码自动创建后，手动添加</a:t>
            </a:r>
            <a:r>
              <a:rPr lang="en-US" altLang="zh-CN" dirty="0"/>
              <a:t>PID</a:t>
            </a:r>
            <a:r>
              <a:rPr lang="zh-CN" altLang="en-US" dirty="0"/>
              <a:t>控制相关的代码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23E78C1-EB29-AE80-CD6B-96869B72C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170" y="3114947"/>
            <a:ext cx="6919641" cy="24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73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AE74-405A-09CD-7AB2-949560BB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82311A2-176D-ABC8-CE39-93DF345B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10.2.2 </a:t>
            </a:r>
            <a:r>
              <a:rPr lang="zh-CN" altLang="en-US" dirty="0"/>
              <a:t>添加速度环的控制代码</a:t>
            </a:r>
          </a:p>
        </p:txBody>
      </p:sp>
    </p:spTree>
    <p:extLst>
      <p:ext uri="{BB962C8B-B14F-4D97-AF65-F5344CB8AC3E}">
        <p14:creationId xmlns:p14="http://schemas.microsoft.com/office/powerpoint/2010/main" val="189243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41738-AF46-BAB0-C4AC-7BFBE625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PID</a:t>
            </a:r>
            <a:r>
              <a:rPr lang="zh-CN" altLang="en-US" dirty="0"/>
              <a:t>控制部分的代码框架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13B28F4-9784-2712-B9FC-2EAAEC078030}"/>
              </a:ext>
            </a:extLst>
          </p:cNvPr>
          <p:cNvGrpSpPr/>
          <p:nvPr/>
        </p:nvGrpSpPr>
        <p:grpSpPr>
          <a:xfrm>
            <a:off x="0" y="2992412"/>
            <a:ext cx="3531675" cy="3714206"/>
            <a:chOff x="0" y="2022794"/>
            <a:chExt cx="4054189" cy="4835206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34D1EF27-3800-C3A0-0773-24F4F5C83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022794"/>
              <a:ext cx="4054189" cy="483520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D362E15-D575-5C11-13AF-710AABB8FCEB}"/>
                </a:ext>
              </a:extLst>
            </p:cNvPr>
            <p:cNvSpPr/>
            <p:nvPr/>
          </p:nvSpPr>
          <p:spPr>
            <a:xfrm>
              <a:off x="609601" y="5111937"/>
              <a:ext cx="1541417" cy="174171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2EAD7913-4619-74E6-4592-2E9BC7A445E1}"/>
              </a:ext>
            </a:extLst>
          </p:cNvPr>
          <p:cNvSpPr txBox="1"/>
          <p:nvPr/>
        </p:nvSpPr>
        <p:spPr>
          <a:xfrm>
            <a:off x="609601" y="954687"/>
            <a:ext cx="10920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使用</a:t>
            </a:r>
            <a:r>
              <a:rPr lang="en-US" altLang="zh-CN" dirty="0" err="1"/>
              <a:t>VSCode</a:t>
            </a:r>
            <a:r>
              <a:rPr lang="zh-CN" altLang="en-US" dirty="0"/>
              <a:t>打开工程目录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Drivers</a:t>
            </a:r>
            <a:r>
              <a:rPr lang="zh-CN" altLang="en-US" dirty="0"/>
              <a:t>目录中创建</a:t>
            </a:r>
            <a:r>
              <a:rPr lang="en-US" altLang="zh-CN" dirty="0"/>
              <a:t>Control</a:t>
            </a:r>
            <a:r>
              <a:rPr lang="zh-CN" altLang="en-US" dirty="0"/>
              <a:t>子目录，并在其中创建</a:t>
            </a:r>
            <a:r>
              <a:rPr lang="en-US" altLang="zh-CN" dirty="0"/>
              <a:t>Inc</a:t>
            </a:r>
            <a:r>
              <a:rPr lang="zh-CN" altLang="en-US" dirty="0"/>
              <a:t>、</a:t>
            </a:r>
            <a:r>
              <a:rPr lang="en-US" altLang="zh-CN" dirty="0" err="1"/>
              <a:t>Src</a:t>
            </a:r>
            <a:r>
              <a:rPr lang="zh-CN" altLang="en-US" dirty="0"/>
              <a:t>子目录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Control/Inc</a:t>
            </a:r>
            <a:r>
              <a:rPr lang="zh-CN" altLang="en-US" dirty="0"/>
              <a:t>目录中创建</a:t>
            </a:r>
            <a:r>
              <a:rPr lang="en-US" altLang="zh-CN" dirty="0" err="1"/>
              <a:t>control_config.h</a:t>
            </a:r>
            <a:r>
              <a:rPr lang="en-US" altLang="zh-CN" dirty="0"/>
              <a:t>\</a:t>
            </a:r>
            <a:r>
              <a:rPr lang="en-US" altLang="zh-CN" dirty="0" err="1"/>
              <a:t>pid_controller.h</a:t>
            </a:r>
            <a:r>
              <a:rPr lang="en-US" altLang="zh-CN" dirty="0"/>
              <a:t>\</a:t>
            </a:r>
            <a:r>
              <a:rPr lang="en-US" altLang="zh-CN" dirty="0" err="1"/>
              <a:t>speed_loop.h</a:t>
            </a:r>
            <a:r>
              <a:rPr lang="zh-CN" altLang="en-US" dirty="0"/>
              <a:t>三个</a:t>
            </a:r>
            <a:r>
              <a:rPr lang="en-US" altLang="zh-CN" dirty="0"/>
              <a:t>.h</a:t>
            </a:r>
            <a:r>
              <a:rPr lang="zh-CN" altLang="en-US" dirty="0"/>
              <a:t>头文件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Control/</a:t>
            </a:r>
            <a:r>
              <a:rPr lang="en-US" altLang="zh-CN" dirty="0" err="1"/>
              <a:t>Src</a:t>
            </a:r>
            <a:r>
              <a:rPr lang="zh-CN" altLang="en-US" dirty="0"/>
              <a:t>目录中创建</a:t>
            </a:r>
            <a:r>
              <a:rPr lang="en-US" altLang="zh-CN" dirty="0" err="1"/>
              <a:t>pid_controller.c</a:t>
            </a:r>
            <a:r>
              <a:rPr lang="en-US" altLang="zh-CN" dirty="0"/>
              <a:t>\</a:t>
            </a:r>
            <a:r>
              <a:rPr lang="en-US" altLang="zh-CN" dirty="0" err="1"/>
              <a:t>speed_loop.c</a:t>
            </a:r>
            <a:r>
              <a:rPr lang="zh-CN" altLang="en-US" dirty="0"/>
              <a:t>两个</a:t>
            </a:r>
            <a:r>
              <a:rPr lang="en-US" altLang="zh-CN" dirty="0"/>
              <a:t>.c</a:t>
            </a:r>
            <a:r>
              <a:rPr lang="zh-CN" altLang="en-US" dirty="0"/>
              <a:t>源文件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BEFFD58B-479C-BA1B-1706-AA7EB9478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675" y="2727834"/>
            <a:ext cx="2312533" cy="4130166"/>
          </a:xfrm>
          <a:prstGeom prst="rect">
            <a:avLst/>
          </a:prstGeom>
        </p:spPr>
      </p:pic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351BD14C-4B56-83B4-1700-C9A032968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283902"/>
              </p:ext>
            </p:extLst>
          </p:nvPr>
        </p:nvGraphicFramePr>
        <p:xfrm>
          <a:off x="5844208" y="2432015"/>
          <a:ext cx="6251998" cy="4311401"/>
        </p:xfrm>
        <a:graphic>
          <a:graphicData uri="http://schemas.openxmlformats.org/drawingml/2006/table">
            <a:tbl>
              <a:tblPr/>
              <a:tblGrid>
                <a:gridCol w="2516021">
                  <a:extLst>
                    <a:ext uri="{9D8B030D-6E8A-4147-A177-3AD203B41FA5}">
                      <a16:colId xmlns:a16="http://schemas.microsoft.com/office/drawing/2014/main" val="422300605"/>
                    </a:ext>
                  </a:extLst>
                </a:gridCol>
                <a:gridCol w="653142">
                  <a:extLst>
                    <a:ext uri="{9D8B030D-6E8A-4147-A177-3AD203B41FA5}">
                      <a16:colId xmlns:a16="http://schemas.microsoft.com/office/drawing/2014/main" val="1414217324"/>
                    </a:ext>
                  </a:extLst>
                </a:gridCol>
                <a:gridCol w="3082835">
                  <a:extLst>
                    <a:ext uri="{9D8B030D-6E8A-4147-A177-3AD203B41FA5}">
                      <a16:colId xmlns:a16="http://schemas.microsoft.com/office/drawing/2014/main" val="692448632"/>
                    </a:ext>
                  </a:extLst>
                </a:gridCol>
              </a:tblGrid>
              <a:tr h="383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文件路径与名称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核心作用概略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95864"/>
                  </a:ext>
                </a:extLst>
              </a:tr>
              <a:tr h="74217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Control/Inc/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control_config.h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头文件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统一定义速度环控制全局配置（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PID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参数、限幅值、控制周期）及功能宏（如闭环启用开关）等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454577"/>
                  </a:ext>
                </a:extLst>
              </a:tr>
              <a:tr h="8119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Control/Inc/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pid_controller.h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头文件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声明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PID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控制器数据结构（系数、误差值等）和核心接口（初始化、计算、重置），只负责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PID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467420"/>
                  </a:ext>
                </a:extLst>
              </a:tr>
              <a:tr h="759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Control/Inc/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speed_loop.h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头文件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声明速度环业务接口（初始化、速度环计算），定义速度环专属数据结构，对接上层与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PID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347008"/>
                  </a:ext>
                </a:extLst>
              </a:tr>
              <a:tr h="680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Control/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Src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pid_controller.c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源文件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实现通用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PID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算法逻辑（误差计算、积分限幅、微分滤波等），落地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PID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核心功能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945332"/>
                  </a:ext>
                </a:extLst>
              </a:tr>
              <a:tr h="9340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Control/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Src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speed_loop.c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源文件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实现速度环控制逻辑，实例化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PID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并调用其接口，输出控制指令（如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PWM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），含速度环专属业务处理（故障保护等）</a:t>
                      </a:r>
                    </a:p>
                  </a:txBody>
                  <a:tcPr marL="5202" marR="5202" marT="5202" marB="520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059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393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EDE8A-DB7F-19CE-38A3-702CD35C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配置</a:t>
            </a:r>
            <a:r>
              <a:rPr lang="en-US" altLang="zh-CN" dirty="0" err="1"/>
              <a:t>control_config.h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EDFAAF-4790-F0D6-4E5F-ED250E5EC5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0570" y="1053858"/>
            <a:ext cx="6409509" cy="5329525"/>
          </a:xfrm>
        </p:spPr>
        <p:txBody>
          <a:bodyPr>
            <a:normAutofit fontScale="40000" lnSpcReduction="20000"/>
          </a:bodyPr>
          <a:lstStyle/>
          <a:p>
            <a:r>
              <a:rPr lang="en-US" altLang="zh-CN" dirty="0"/>
              <a:t>/* ================= </a:t>
            </a:r>
            <a:r>
              <a:rPr lang="zh-CN" altLang="en-US" dirty="0"/>
              <a:t>硬件物理参数 </a:t>
            </a:r>
            <a:r>
              <a:rPr lang="en-US" altLang="zh-CN" dirty="0"/>
              <a:t>================= */</a:t>
            </a:r>
            <a:endParaRPr lang="zh-CN" altLang="en-US" dirty="0"/>
          </a:p>
          <a:p>
            <a:r>
              <a:rPr lang="en-US" altLang="zh-CN" dirty="0"/>
              <a:t>// </a:t>
            </a:r>
            <a:r>
              <a:rPr lang="zh-CN" altLang="en-US" dirty="0"/>
              <a:t>控制周期：</a:t>
            </a:r>
            <a:r>
              <a:rPr lang="en-US" altLang="zh-CN" dirty="0"/>
              <a:t>10ms (</a:t>
            </a:r>
            <a:r>
              <a:rPr lang="zh-CN" altLang="en-US" dirty="0"/>
              <a:t>必须与 </a:t>
            </a:r>
            <a:r>
              <a:rPr lang="en-US" altLang="zh-CN" dirty="0" err="1"/>
              <a:t>main.c</a:t>
            </a:r>
            <a:r>
              <a:rPr lang="en-US" altLang="zh-CN" dirty="0"/>
              <a:t> </a:t>
            </a:r>
            <a:r>
              <a:rPr lang="zh-CN" altLang="en-US" dirty="0"/>
              <a:t>中 </a:t>
            </a:r>
            <a:r>
              <a:rPr lang="en-US" altLang="zh-CN" dirty="0"/>
              <a:t>TIM6 </a:t>
            </a:r>
            <a:r>
              <a:rPr lang="zh-CN" altLang="en-US" dirty="0"/>
              <a:t>的判断逻辑一致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#define CTRL_PERIOD_MS       10.0f </a:t>
            </a:r>
          </a:p>
          <a:p>
            <a:r>
              <a:rPr lang="en-US" altLang="zh-CN" dirty="0"/>
              <a:t>#define CTRL_PERIOD_S           0.01f  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// </a:t>
            </a:r>
            <a:r>
              <a:rPr lang="zh-CN" altLang="en-US" dirty="0"/>
              <a:t>电机死区补偿 </a:t>
            </a:r>
            <a:r>
              <a:rPr lang="en-US" altLang="zh-CN" dirty="0"/>
              <a:t>(0-100)</a:t>
            </a:r>
            <a:endParaRPr lang="zh-CN" altLang="en-US" dirty="0"/>
          </a:p>
          <a:p>
            <a:r>
              <a:rPr lang="en-US" altLang="zh-CN" dirty="0"/>
              <a:t>// </a:t>
            </a:r>
            <a:r>
              <a:rPr lang="zh-CN" altLang="en-US" dirty="0"/>
              <a:t>解释：</a:t>
            </a:r>
            <a:r>
              <a:rPr lang="en-US" altLang="zh-CN" dirty="0"/>
              <a:t>PWM &lt; 5% </a:t>
            </a:r>
            <a:r>
              <a:rPr lang="zh-CN" altLang="en-US" dirty="0"/>
              <a:t>时电机可能只有电流不转，需要切断防止发热</a:t>
            </a:r>
          </a:p>
          <a:p>
            <a:r>
              <a:rPr lang="en-US" altLang="zh-CN" dirty="0"/>
              <a:t>#define MOTOR_DEAD_ZONE         5.0f  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/* ================= PID </a:t>
            </a:r>
            <a:r>
              <a:rPr lang="zh-CN" altLang="en-US" dirty="0"/>
              <a:t>核心参数 </a:t>
            </a:r>
            <a:r>
              <a:rPr lang="en-US" altLang="zh-CN" dirty="0"/>
              <a:t>================= */</a:t>
            </a:r>
            <a:endParaRPr lang="zh-CN" altLang="en-US" dirty="0"/>
          </a:p>
          <a:p>
            <a:r>
              <a:rPr lang="en-US" altLang="zh-CN" dirty="0"/>
              <a:t>// </a:t>
            </a:r>
            <a:r>
              <a:rPr lang="zh-CN" altLang="en-US" dirty="0"/>
              <a:t>更改参数带来明显的控制表现差异</a:t>
            </a:r>
          </a:p>
          <a:p>
            <a:r>
              <a:rPr lang="en-US" altLang="zh-CN" dirty="0"/>
              <a:t>#define SPEED_PID_KP            0.5f  </a:t>
            </a:r>
          </a:p>
          <a:p>
            <a:r>
              <a:rPr lang="en-US" altLang="zh-CN" dirty="0"/>
              <a:t>#define SPEED_PID_KI            0.18f </a:t>
            </a:r>
          </a:p>
          <a:p>
            <a:r>
              <a:rPr lang="en-US" altLang="zh-CN" dirty="0"/>
              <a:t>#define SPEED_PID_KD            0.01f</a:t>
            </a:r>
            <a:br>
              <a:rPr lang="zh-CN" altLang="en-US" dirty="0"/>
            </a:br>
            <a:endParaRPr lang="zh-CN" altLang="en-US" dirty="0"/>
          </a:p>
          <a:p>
            <a:r>
              <a:rPr lang="en-US" altLang="zh-CN" dirty="0"/>
              <a:t>/* ================= </a:t>
            </a:r>
            <a:r>
              <a:rPr lang="zh-CN" altLang="en-US" dirty="0"/>
              <a:t>输出限制 </a:t>
            </a:r>
            <a:r>
              <a:rPr lang="en-US" altLang="zh-CN" dirty="0"/>
              <a:t>================= */</a:t>
            </a:r>
            <a:endParaRPr lang="zh-CN" altLang="en-US" dirty="0"/>
          </a:p>
          <a:p>
            <a:r>
              <a:rPr lang="en-US" altLang="zh-CN" dirty="0"/>
              <a:t>// </a:t>
            </a:r>
            <a:r>
              <a:rPr lang="zh-CN" altLang="en-US" dirty="0"/>
              <a:t>你的 </a:t>
            </a:r>
            <a:r>
              <a:rPr lang="en-US" altLang="zh-CN" dirty="0" err="1"/>
              <a:t>bsp_brush_motor.c</a:t>
            </a:r>
            <a:r>
              <a:rPr lang="en-US" altLang="zh-CN" dirty="0"/>
              <a:t> </a:t>
            </a:r>
            <a:r>
              <a:rPr lang="zh-CN" altLang="en-US" dirty="0"/>
              <a:t>里 </a:t>
            </a:r>
            <a:r>
              <a:rPr lang="en-US" altLang="zh-CN" dirty="0" err="1"/>
              <a:t>SetSpeed</a:t>
            </a:r>
            <a:r>
              <a:rPr lang="en-US" altLang="zh-CN" dirty="0"/>
              <a:t> </a:t>
            </a:r>
            <a:r>
              <a:rPr lang="zh-CN" altLang="en-US" dirty="0"/>
              <a:t>接收 </a:t>
            </a:r>
            <a:r>
              <a:rPr lang="en-US" altLang="zh-CN" dirty="0"/>
              <a:t>0-100</a:t>
            </a:r>
            <a:endParaRPr lang="zh-CN" altLang="en-US" dirty="0"/>
          </a:p>
          <a:p>
            <a:r>
              <a:rPr lang="en-US" altLang="zh-CN" dirty="0"/>
              <a:t>#define PID_OUTPUT_MAX          100.0f</a:t>
            </a:r>
          </a:p>
          <a:p>
            <a:r>
              <a:rPr lang="en-US" altLang="zh-CN" dirty="0"/>
              <a:t>#define PID_OUTPUT_MIN          -100.0f</a:t>
            </a:r>
          </a:p>
          <a:p>
            <a:endParaRPr lang="en-US" altLang="zh-CN" dirty="0"/>
          </a:p>
          <a:p>
            <a:r>
              <a:rPr lang="en-US" altLang="zh-CN" dirty="0"/>
              <a:t>// </a:t>
            </a:r>
            <a:r>
              <a:rPr lang="zh-CN" altLang="en-US" dirty="0"/>
              <a:t>积分限幅 </a:t>
            </a:r>
            <a:r>
              <a:rPr lang="en-US" altLang="zh-CN" dirty="0"/>
              <a:t>(Anti-Windup)</a:t>
            </a:r>
          </a:p>
          <a:p>
            <a:r>
              <a:rPr lang="en-US" altLang="zh-CN" dirty="0"/>
              <a:t>// </a:t>
            </a:r>
            <a:r>
              <a:rPr lang="zh-CN" altLang="en-US" dirty="0"/>
              <a:t>说明：此处是「积分项输出上限」（</a:t>
            </a:r>
            <a:r>
              <a:rPr lang="en-US" altLang="zh-CN" dirty="0"/>
              <a:t>Ki*∑e(n)</a:t>
            </a:r>
            <a:r>
              <a:rPr lang="zh-CN" altLang="en-US" dirty="0"/>
              <a:t>），而非积分累加值∑</a:t>
            </a:r>
            <a:r>
              <a:rPr lang="en-US" altLang="zh-CN" dirty="0"/>
              <a:t>e(n)</a:t>
            </a:r>
            <a:r>
              <a:rPr lang="zh-CN" altLang="en-US" dirty="0"/>
              <a:t>的上限</a:t>
            </a:r>
          </a:p>
          <a:p>
            <a:r>
              <a:rPr lang="en-US" altLang="zh-CN" dirty="0"/>
              <a:t>// </a:t>
            </a:r>
            <a:r>
              <a:rPr lang="zh-CN" altLang="en-US" dirty="0"/>
              <a:t>作用：防止堵转时</a:t>
            </a:r>
            <a:r>
              <a:rPr lang="en-US" altLang="zh-CN" dirty="0"/>
              <a:t>I</a:t>
            </a:r>
            <a:r>
              <a:rPr lang="zh-CN" altLang="en-US" dirty="0"/>
              <a:t>项无限累加，导致电机恢复后“飞车”</a:t>
            </a:r>
          </a:p>
          <a:p>
            <a:r>
              <a:rPr lang="en-US" altLang="zh-CN" dirty="0"/>
              <a:t>#define PID_INTEGRAL_MAX        90.0f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76194AB-77EE-60F9-DBCD-637E8285D4C9}"/>
              </a:ext>
            </a:extLst>
          </p:cNvPr>
          <p:cNvSpPr txBox="1"/>
          <p:nvPr/>
        </p:nvSpPr>
        <p:spPr>
          <a:xfrm>
            <a:off x="670559" y="1165222"/>
            <a:ext cx="4284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用于存放控制器参数的头文件</a:t>
            </a:r>
            <a:endParaRPr lang="en-US" altLang="zh-CN" dirty="0"/>
          </a:p>
          <a:p>
            <a:r>
              <a:rPr lang="zh-CN" altLang="en-US" dirty="0"/>
              <a:t>此案例中使用的是</a:t>
            </a:r>
            <a:r>
              <a:rPr lang="en-US" altLang="zh-CN" dirty="0" err="1"/>
              <a:t>pid</a:t>
            </a:r>
            <a:r>
              <a:rPr lang="zh-CN" altLang="en-US" dirty="0"/>
              <a:t>控制器</a:t>
            </a:r>
          </a:p>
        </p:txBody>
      </p:sp>
    </p:spTree>
    <p:extLst>
      <p:ext uri="{BB962C8B-B14F-4D97-AF65-F5344CB8AC3E}">
        <p14:creationId xmlns:p14="http://schemas.microsoft.com/office/powerpoint/2010/main" val="390245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F9AB-4ED2-6FFD-68B7-A31E7FBC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6AAF1-FB64-4C4A-FD6F-5C3A4697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en-US" altLang="zh-CN" dirty="0" err="1"/>
              <a:t>pid_controller.h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787ECD-CEDE-7D09-1240-5CE3E92B4D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74674" y="1053858"/>
            <a:ext cx="5695405" cy="5329525"/>
          </a:xfrm>
        </p:spPr>
        <p:txBody>
          <a:bodyPr>
            <a:normAutofit fontScale="32500" lnSpcReduction="20000"/>
          </a:bodyPr>
          <a:lstStyle/>
          <a:p>
            <a:endParaRPr lang="en-US" altLang="zh-CN" dirty="0"/>
          </a:p>
          <a:p>
            <a:r>
              <a:rPr lang="en-US" altLang="zh-CN" dirty="0"/>
              <a:t>// </a:t>
            </a:r>
            <a:r>
              <a:rPr lang="zh-CN" altLang="en-US" dirty="0"/>
              <a:t>函数声明</a:t>
            </a:r>
          </a:p>
          <a:p>
            <a:r>
              <a:rPr lang="en-US" altLang="zh-CN" dirty="0"/>
              <a:t>/**</a:t>
            </a:r>
            <a:endParaRPr lang="zh-CN" altLang="en-US" dirty="0"/>
          </a:p>
          <a:p>
            <a:r>
              <a:rPr lang="zh-CN" altLang="en-US" dirty="0"/>
              <a:t> * </a:t>
            </a:r>
            <a:r>
              <a:rPr lang="en-US" altLang="zh-CN" dirty="0"/>
              <a:t>@brief </a:t>
            </a:r>
            <a:r>
              <a:rPr lang="zh-CN" altLang="en-US" dirty="0"/>
              <a:t>初始化</a:t>
            </a:r>
            <a:r>
              <a:rPr lang="en-US" altLang="zh-CN" dirty="0"/>
              <a:t>PID</a:t>
            </a:r>
            <a:r>
              <a:rPr lang="zh-CN" altLang="en-US" dirty="0"/>
              <a:t>控制器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</a:t>
            </a:r>
            <a:r>
              <a:rPr lang="en-US" altLang="zh-CN" dirty="0" err="1"/>
              <a:t>pid</a:t>
            </a:r>
            <a:r>
              <a:rPr lang="en-US" altLang="zh-CN" dirty="0"/>
              <a:t>      PID</a:t>
            </a:r>
            <a:r>
              <a:rPr lang="zh-CN" altLang="en-US" dirty="0"/>
              <a:t>控制器句柄指针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</a:t>
            </a:r>
            <a:r>
              <a:rPr lang="en-US" altLang="zh-CN" dirty="0" err="1"/>
              <a:t>kp</a:t>
            </a:r>
            <a:r>
              <a:rPr lang="en-US" altLang="zh-CN" dirty="0"/>
              <a:t>       </a:t>
            </a:r>
            <a:r>
              <a:rPr lang="zh-CN" altLang="en-US" dirty="0"/>
              <a:t>比例系数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ki       </a:t>
            </a:r>
            <a:r>
              <a:rPr lang="zh-CN" altLang="en-US" dirty="0"/>
              <a:t>积分系数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</a:t>
            </a:r>
            <a:r>
              <a:rPr lang="en-US" altLang="zh-CN" dirty="0" err="1"/>
              <a:t>kd</a:t>
            </a:r>
            <a:r>
              <a:rPr lang="en-US" altLang="zh-CN" dirty="0"/>
              <a:t>       </a:t>
            </a:r>
            <a:r>
              <a:rPr lang="zh-CN" altLang="en-US" dirty="0"/>
              <a:t>微分系数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</a:t>
            </a:r>
            <a:r>
              <a:rPr lang="en-US" altLang="zh-CN" dirty="0" err="1"/>
              <a:t>max_out</a:t>
            </a:r>
            <a:r>
              <a:rPr lang="en-US" altLang="zh-CN" dirty="0"/>
              <a:t>  </a:t>
            </a:r>
            <a:r>
              <a:rPr lang="zh-CN" altLang="en-US" dirty="0"/>
              <a:t>输出限幅最大值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</a:t>
            </a:r>
            <a:r>
              <a:rPr lang="en-US" altLang="zh-CN" dirty="0" err="1"/>
              <a:t>max_int</a:t>
            </a:r>
            <a:r>
              <a:rPr lang="en-US" altLang="zh-CN" dirty="0"/>
              <a:t>  </a:t>
            </a:r>
            <a:r>
              <a:rPr lang="zh-CN" altLang="en-US" dirty="0"/>
              <a:t>积分限幅最大值</a:t>
            </a:r>
          </a:p>
          <a:p>
            <a:r>
              <a:rPr lang="zh-CN" altLang="en-US" dirty="0"/>
              <a:t> *</a:t>
            </a:r>
            <a:r>
              <a:rPr lang="en-US" altLang="zh-CN" dirty="0"/>
              <a:t>/</a:t>
            </a:r>
            <a:endParaRPr lang="zh-CN" altLang="en-US" dirty="0"/>
          </a:p>
          <a:p>
            <a:r>
              <a:rPr lang="en-US" altLang="zh-CN" dirty="0"/>
              <a:t>void </a:t>
            </a:r>
            <a:r>
              <a:rPr lang="en-US" altLang="zh-CN" dirty="0" err="1"/>
              <a:t>PID_Init</a:t>
            </a:r>
            <a:r>
              <a:rPr lang="en-US" altLang="zh-CN" dirty="0"/>
              <a:t>(</a:t>
            </a:r>
            <a:r>
              <a:rPr lang="en-US" altLang="zh-CN" dirty="0" err="1"/>
              <a:t>PID_Handle_t</a:t>
            </a:r>
            <a:r>
              <a:rPr lang="en-US" altLang="zh-CN" dirty="0"/>
              <a:t> *</a:t>
            </a:r>
            <a:r>
              <a:rPr lang="en-US" altLang="zh-CN" dirty="0" err="1"/>
              <a:t>pid</a:t>
            </a:r>
            <a:r>
              <a:rPr lang="en-US" altLang="zh-CN" dirty="0"/>
              <a:t>, float </a:t>
            </a:r>
            <a:r>
              <a:rPr lang="en-US" altLang="zh-CN" dirty="0" err="1"/>
              <a:t>kp</a:t>
            </a:r>
            <a:r>
              <a:rPr lang="en-US" altLang="zh-CN" dirty="0"/>
              <a:t>, float ki, float </a:t>
            </a:r>
            <a:r>
              <a:rPr lang="en-US" altLang="zh-CN" dirty="0" err="1"/>
              <a:t>kd</a:t>
            </a:r>
            <a:r>
              <a:rPr lang="en-US" altLang="zh-CN" dirty="0"/>
              <a:t>, float </a:t>
            </a:r>
            <a:r>
              <a:rPr lang="en-US" altLang="zh-CN" dirty="0" err="1"/>
              <a:t>max_out</a:t>
            </a:r>
            <a:r>
              <a:rPr lang="en-US" altLang="zh-CN" dirty="0"/>
              <a:t>, float </a:t>
            </a:r>
            <a:r>
              <a:rPr lang="en-US" altLang="zh-CN" dirty="0" err="1"/>
              <a:t>max_int</a:t>
            </a:r>
            <a:r>
              <a:rPr lang="en-US" altLang="zh-CN" dirty="0"/>
              <a:t>);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/**</a:t>
            </a:r>
          </a:p>
          <a:p>
            <a:r>
              <a:rPr lang="en-US" altLang="zh-CN" dirty="0"/>
              <a:t> * @brief </a:t>
            </a:r>
            <a:r>
              <a:rPr lang="zh-CN" altLang="en-US" dirty="0"/>
              <a:t>重置</a:t>
            </a:r>
            <a:r>
              <a:rPr lang="en-US" altLang="zh-CN" dirty="0"/>
              <a:t>PID</a:t>
            </a:r>
            <a:r>
              <a:rPr lang="zh-CN" altLang="en-US" dirty="0"/>
              <a:t>控制器状态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</a:t>
            </a:r>
            <a:r>
              <a:rPr lang="en-US" altLang="zh-CN" dirty="0" err="1"/>
              <a:t>pid</a:t>
            </a:r>
            <a:r>
              <a:rPr lang="en-US" altLang="zh-CN" dirty="0"/>
              <a:t>      PID</a:t>
            </a:r>
            <a:r>
              <a:rPr lang="zh-CN" altLang="en-US" dirty="0"/>
              <a:t>控制器句柄指针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@note </a:t>
            </a:r>
            <a:r>
              <a:rPr lang="zh-CN" altLang="en-US" dirty="0"/>
              <a:t>清空误差、积分、输出等状态变量，恢复初始值</a:t>
            </a:r>
          </a:p>
          <a:p>
            <a:r>
              <a:rPr lang="zh-CN" altLang="en-US" dirty="0"/>
              <a:t> *</a:t>
            </a:r>
            <a:r>
              <a:rPr lang="en-US" altLang="zh-CN" dirty="0"/>
              <a:t>/</a:t>
            </a:r>
            <a:endParaRPr lang="zh-CN" altLang="en-US" dirty="0"/>
          </a:p>
          <a:p>
            <a:r>
              <a:rPr lang="en-US" altLang="zh-CN" dirty="0"/>
              <a:t>void </a:t>
            </a:r>
            <a:r>
              <a:rPr lang="en-US" altLang="zh-CN" dirty="0" err="1"/>
              <a:t>PID_Reset</a:t>
            </a:r>
            <a:r>
              <a:rPr lang="en-US" altLang="zh-CN" dirty="0"/>
              <a:t>(</a:t>
            </a:r>
            <a:r>
              <a:rPr lang="en-US" altLang="zh-CN" dirty="0" err="1"/>
              <a:t>PID_Handle_t</a:t>
            </a:r>
            <a:r>
              <a:rPr lang="en-US" altLang="zh-CN" dirty="0"/>
              <a:t> *</a:t>
            </a:r>
            <a:r>
              <a:rPr lang="en-US" altLang="zh-CN" dirty="0" err="1"/>
              <a:t>pid</a:t>
            </a:r>
            <a:r>
              <a:rPr lang="en-US" altLang="zh-CN" dirty="0"/>
              <a:t>); // </a:t>
            </a:r>
            <a:r>
              <a:rPr lang="zh-CN" altLang="en-US" dirty="0"/>
              <a:t>重置 </a:t>
            </a:r>
            <a:r>
              <a:rPr lang="en-US" altLang="zh-CN" dirty="0"/>
              <a:t>PID </a:t>
            </a:r>
            <a:r>
              <a:rPr lang="zh-CN" altLang="en-US" dirty="0"/>
              <a:t>状态（误差、积分等）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en-US" altLang="zh-CN" dirty="0"/>
              <a:t>/**</a:t>
            </a:r>
            <a:endParaRPr lang="zh-CN" altLang="en-US" dirty="0"/>
          </a:p>
          <a:p>
            <a:r>
              <a:rPr lang="zh-CN" altLang="en-US" dirty="0"/>
              <a:t> * </a:t>
            </a:r>
            <a:r>
              <a:rPr lang="en-US" altLang="zh-CN" dirty="0"/>
              <a:t>@brief </a:t>
            </a:r>
            <a:r>
              <a:rPr lang="zh-CN" altLang="en-US" dirty="0"/>
              <a:t>执行</a:t>
            </a:r>
            <a:r>
              <a:rPr lang="en-US" altLang="zh-CN" dirty="0"/>
              <a:t>PID</a:t>
            </a:r>
            <a:r>
              <a:rPr lang="zh-CN" altLang="en-US" dirty="0"/>
              <a:t>核心计算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</a:t>
            </a:r>
            <a:r>
              <a:rPr lang="en-US" altLang="zh-CN" dirty="0" err="1"/>
              <a:t>pid</a:t>
            </a:r>
            <a:r>
              <a:rPr lang="en-US" altLang="zh-CN" dirty="0"/>
              <a:t>      PID</a:t>
            </a:r>
            <a:r>
              <a:rPr lang="zh-CN" altLang="en-US" dirty="0"/>
              <a:t>控制器句柄指针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target   </a:t>
            </a:r>
            <a:r>
              <a:rPr lang="zh-CN" altLang="en-US" dirty="0"/>
              <a:t>控制目标值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actual   </a:t>
            </a:r>
            <a:r>
              <a:rPr lang="zh-CN" altLang="en-US" dirty="0"/>
              <a:t>实际反馈值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@param mode     PID</a:t>
            </a:r>
            <a:r>
              <a:rPr lang="zh-CN" altLang="en-US" dirty="0"/>
              <a:t>计算模式（位置式</a:t>
            </a:r>
            <a:r>
              <a:rPr lang="en-US" altLang="zh-CN" dirty="0"/>
              <a:t>/</a:t>
            </a:r>
            <a:r>
              <a:rPr lang="zh-CN" altLang="en-US" dirty="0"/>
              <a:t>增量式）</a:t>
            </a:r>
          </a:p>
          <a:p>
            <a:r>
              <a:rPr lang="zh-CN" altLang="en-US" dirty="0"/>
              <a:t> * </a:t>
            </a:r>
            <a:r>
              <a:rPr lang="en-US" altLang="zh-CN" dirty="0"/>
              <a:t>@return         PID</a:t>
            </a:r>
            <a:r>
              <a:rPr lang="zh-CN" altLang="en-US" dirty="0"/>
              <a:t>最终输出值</a:t>
            </a:r>
          </a:p>
          <a:p>
            <a:r>
              <a:rPr lang="zh-CN" altLang="en-US" dirty="0"/>
              <a:t> *</a:t>
            </a:r>
            <a:r>
              <a:rPr lang="en-US" altLang="zh-CN" dirty="0"/>
              <a:t>/</a:t>
            </a:r>
            <a:endParaRPr lang="zh-CN" altLang="en-US" dirty="0"/>
          </a:p>
          <a:p>
            <a:r>
              <a:rPr lang="en-US" altLang="zh-CN" dirty="0"/>
              <a:t>float </a:t>
            </a:r>
            <a:r>
              <a:rPr lang="en-US" altLang="zh-CN" dirty="0" err="1"/>
              <a:t>PID_Compute</a:t>
            </a:r>
            <a:r>
              <a:rPr lang="en-US" altLang="zh-CN" dirty="0"/>
              <a:t>(</a:t>
            </a:r>
            <a:r>
              <a:rPr lang="en-US" altLang="zh-CN" dirty="0" err="1"/>
              <a:t>PID_Handle_t</a:t>
            </a:r>
            <a:r>
              <a:rPr lang="en-US" altLang="zh-CN" dirty="0"/>
              <a:t> *</a:t>
            </a:r>
            <a:r>
              <a:rPr lang="en-US" altLang="zh-CN" dirty="0" err="1"/>
              <a:t>pid</a:t>
            </a:r>
            <a:r>
              <a:rPr lang="en-US" altLang="zh-CN" dirty="0"/>
              <a:t>, float target, float actual, </a:t>
            </a:r>
            <a:r>
              <a:rPr lang="en-US" altLang="zh-CN" dirty="0" err="1"/>
              <a:t>PID_Mode_t</a:t>
            </a:r>
            <a:r>
              <a:rPr lang="en-US" altLang="zh-CN" dirty="0"/>
              <a:t> mode); </a:t>
            </a:r>
            <a:br>
              <a:rPr lang="zh-CN" altLang="en-US" dirty="0"/>
            </a:br>
            <a:endParaRPr lang="zh-CN" altLang="en-US" dirty="0"/>
          </a:p>
          <a:p>
            <a:r>
              <a:rPr lang="en-US" altLang="zh-CN" dirty="0"/>
              <a:t>#endif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2DC5DE-598B-DBBF-0D3B-64290851AC1A}"/>
              </a:ext>
            </a:extLst>
          </p:cNvPr>
          <p:cNvSpPr txBox="1"/>
          <p:nvPr/>
        </p:nvSpPr>
        <p:spPr>
          <a:xfrm>
            <a:off x="409304" y="1193195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/>
              <a:t>#include &lt;</a:t>
            </a:r>
            <a:r>
              <a:rPr lang="en-US" altLang="zh-CN" sz="900" dirty="0" err="1"/>
              <a:t>stdint.h</a:t>
            </a:r>
            <a:r>
              <a:rPr lang="en-US" altLang="zh-CN" sz="900" dirty="0"/>
              <a:t>&gt;</a:t>
            </a:r>
          </a:p>
          <a:p>
            <a:br>
              <a:rPr lang="en-US" altLang="zh-CN" sz="900" dirty="0"/>
            </a:br>
            <a:endParaRPr lang="en-US" altLang="zh-CN" sz="900" dirty="0"/>
          </a:p>
          <a:p>
            <a:r>
              <a:rPr lang="en-US" altLang="zh-CN" sz="900" dirty="0"/>
              <a:t>/**</a:t>
            </a:r>
          </a:p>
          <a:p>
            <a:r>
              <a:rPr lang="en-US" altLang="zh-CN" sz="900" dirty="0"/>
              <a:t> * @brief PID </a:t>
            </a:r>
            <a:r>
              <a:rPr lang="zh-CN" altLang="en-US" sz="900" dirty="0"/>
              <a:t>计算模式选择</a:t>
            </a:r>
          </a:p>
          <a:p>
            <a:r>
              <a:rPr lang="zh-CN" altLang="en-US" sz="900" dirty="0"/>
              <a:t> *</a:t>
            </a:r>
            <a:r>
              <a:rPr lang="en-US" altLang="zh-CN" sz="900" dirty="0"/>
              <a:t>/</a:t>
            </a:r>
            <a:endParaRPr lang="zh-CN" altLang="en-US" sz="900" dirty="0"/>
          </a:p>
          <a:p>
            <a:r>
              <a:rPr lang="en-US" altLang="zh-CN" sz="900" dirty="0"/>
              <a:t>typedef </a:t>
            </a:r>
            <a:r>
              <a:rPr lang="en-US" altLang="zh-CN" sz="900" dirty="0" err="1"/>
              <a:t>enum</a:t>
            </a:r>
            <a:r>
              <a:rPr lang="en-US" altLang="zh-CN" sz="900" dirty="0"/>
              <a:t> {</a:t>
            </a:r>
          </a:p>
          <a:p>
            <a:r>
              <a:rPr lang="en-US" altLang="zh-CN" sz="900" dirty="0"/>
              <a:t>    PID_MODE_POSITIONAL = 0, // </a:t>
            </a:r>
            <a:r>
              <a:rPr lang="zh-CN" altLang="en-US" sz="900" dirty="0"/>
              <a:t>位置式 </a:t>
            </a:r>
            <a:r>
              <a:rPr lang="en-US" altLang="zh-CN" sz="900" dirty="0"/>
              <a:t>PID</a:t>
            </a:r>
            <a:r>
              <a:rPr lang="zh-CN" altLang="en-US" sz="900" dirty="0"/>
              <a:t>：输出 </a:t>
            </a:r>
            <a:r>
              <a:rPr lang="en-US" altLang="zh-CN" sz="900" dirty="0"/>
              <a:t>= P + I + D</a:t>
            </a:r>
          </a:p>
          <a:p>
            <a:r>
              <a:rPr lang="en-US" altLang="zh-CN" sz="900" dirty="0"/>
              <a:t>    PID_MODE_INCREMENTAL     // </a:t>
            </a:r>
            <a:r>
              <a:rPr lang="zh-CN" altLang="en-US" sz="900" dirty="0"/>
              <a:t>增量式 </a:t>
            </a:r>
            <a:r>
              <a:rPr lang="en-US" altLang="zh-CN" sz="900" dirty="0"/>
              <a:t>PID</a:t>
            </a:r>
            <a:r>
              <a:rPr lang="zh-CN" altLang="en-US" sz="900" dirty="0"/>
              <a:t>：输出 </a:t>
            </a:r>
            <a:r>
              <a:rPr lang="en-US" altLang="zh-CN" sz="900" dirty="0"/>
              <a:t>= </a:t>
            </a:r>
            <a:r>
              <a:rPr lang="zh-CN" altLang="en-US" sz="900" dirty="0"/>
              <a:t>上次输出 </a:t>
            </a:r>
            <a:r>
              <a:rPr lang="en-US" altLang="zh-CN" sz="900" dirty="0"/>
              <a:t>+ </a:t>
            </a:r>
            <a:r>
              <a:rPr lang="el-GR" altLang="zh-CN" sz="900" dirty="0"/>
              <a:t>Δ</a:t>
            </a:r>
            <a:r>
              <a:rPr lang="en-US" altLang="zh-CN" sz="900" dirty="0"/>
              <a:t>P + </a:t>
            </a:r>
            <a:r>
              <a:rPr lang="el-GR" altLang="zh-CN" sz="900" dirty="0"/>
              <a:t>Δ</a:t>
            </a:r>
            <a:r>
              <a:rPr lang="en-US" altLang="zh-CN" sz="900" dirty="0"/>
              <a:t>I + </a:t>
            </a:r>
            <a:r>
              <a:rPr lang="el-GR" altLang="zh-CN" sz="900" dirty="0"/>
              <a:t>Δ</a:t>
            </a:r>
            <a:r>
              <a:rPr lang="en-US" altLang="zh-CN" sz="900" dirty="0"/>
              <a:t>D</a:t>
            </a:r>
          </a:p>
          <a:p>
            <a:r>
              <a:rPr lang="en-US" altLang="zh-CN" sz="900" dirty="0"/>
              <a:t>} </a:t>
            </a:r>
            <a:r>
              <a:rPr lang="en-US" altLang="zh-CN" sz="900" dirty="0" err="1"/>
              <a:t>PID_Mode_t</a:t>
            </a:r>
            <a:r>
              <a:rPr lang="en-US" altLang="zh-CN" sz="900" dirty="0"/>
              <a:t>;</a:t>
            </a:r>
          </a:p>
          <a:p>
            <a:br>
              <a:rPr lang="en-US" altLang="zh-CN" sz="900" dirty="0"/>
            </a:br>
            <a:endParaRPr lang="en-US" altLang="zh-CN" sz="900" dirty="0"/>
          </a:p>
          <a:p>
            <a:r>
              <a:rPr lang="en-US" altLang="zh-CN" sz="900" dirty="0"/>
              <a:t>/**</a:t>
            </a:r>
          </a:p>
          <a:p>
            <a:r>
              <a:rPr lang="en-US" altLang="zh-CN" sz="900" dirty="0"/>
              <a:t> * @brief PID </a:t>
            </a:r>
            <a:r>
              <a:rPr lang="zh-CN" altLang="en-US" sz="900" dirty="0"/>
              <a:t>控制句柄结构体</a:t>
            </a:r>
          </a:p>
          <a:p>
            <a:r>
              <a:rPr lang="zh-CN" altLang="en-US" sz="900" dirty="0"/>
              <a:t> *</a:t>
            </a:r>
            <a:r>
              <a:rPr lang="en-US" altLang="zh-CN" sz="900" dirty="0"/>
              <a:t>/</a:t>
            </a:r>
            <a:endParaRPr lang="zh-CN" altLang="en-US" sz="900" dirty="0"/>
          </a:p>
          <a:p>
            <a:r>
              <a:rPr lang="en-US" altLang="zh-CN" sz="900" dirty="0"/>
              <a:t>typedef struct {</a:t>
            </a:r>
          </a:p>
          <a:p>
            <a:r>
              <a:rPr lang="en-US" altLang="zh-CN" sz="900" dirty="0"/>
              <a:t>    // --- </a:t>
            </a:r>
            <a:r>
              <a:rPr lang="zh-CN" altLang="en-US" sz="900" dirty="0"/>
              <a:t>参数区 </a:t>
            </a:r>
            <a:r>
              <a:rPr lang="en-US" altLang="zh-CN" sz="900" dirty="0"/>
              <a:t>(</a:t>
            </a:r>
            <a:r>
              <a:rPr lang="zh-CN" altLang="en-US" sz="900" dirty="0"/>
              <a:t>根据控制对象手动调节</a:t>
            </a:r>
            <a:r>
              <a:rPr lang="en-US" altLang="zh-CN" sz="900" dirty="0"/>
              <a:t>) ---</a:t>
            </a:r>
            <a:endParaRPr lang="zh-CN" altLang="en-US" sz="900" dirty="0"/>
          </a:p>
          <a:p>
            <a:r>
              <a:rPr lang="zh-CN" altLang="en-US" sz="900" dirty="0"/>
              <a:t>    </a:t>
            </a:r>
            <a:r>
              <a:rPr lang="en-US" altLang="zh-CN" sz="900" dirty="0"/>
              <a:t>float </a:t>
            </a:r>
            <a:r>
              <a:rPr lang="en-US" altLang="zh-CN" sz="900" dirty="0" err="1"/>
              <a:t>Kp</a:t>
            </a:r>
            <a:r>
              <a:rPr lang="en-US" altLang="zh-CN" sz="900" dirty="0"/>
              <a:t>;               // </a:t>
            </a:r>
            <a:r>
              <a:rPr lang="zh-CN" altLang="en-US" sz="900" dirty="0"/>
              <a:t>比例系数 </a:t>
            </a:r>
            <a:r>
              <a:rPr lang="en-US" altLang="zh-CN" sz="900" dirty="0"/>
              <a:t>(Proportional)</a:t>
            </a:r>
          </a:p>
          <a:p>
            <a:r>
              <a:rPr lang="en-US" altLang="zh-CN" sz="900" dirty="0"/>
              <a:t>    float Ki;               // </a:t>
            </a:r>
            <a:r>
              <a:rPr lang="zh-CN" altLang="en-US" sz="900" dirty="0"/>
              <a:t>积分系数 </a:t>
            </a:r>
            <a:r>
              <a:rPr lang="en-US" altLang="zh-CN" sz="900" dirty="0"/>
              <a:t>(Integral)</a:t>
            </a:r>
          </a:p>
          <a:p>
            <a:r>
              <a:rPr lang="en-US" altLang="zh-CN" sz="900" dirty="0"/>
              <a:t>    float </a:t>
            </a:r>
            <a:r>
              <a:rPr lang="en-US" altLang="zh-CN" sz="900" dirty="0" err="1"/>
              <a:t>Kd</a:t>
            </a:r>
            <a:r>
              <a:rPr lang="en-US" altLang="zh-CN" sz="900" dirty="0"/>
              <a:t>;               // </a:t>
            </a:r>
            <a:r>
              <a:rPr lang="zh-CN" altLang="en-US" sz="900" dirty="0"/>
              <a:t>微分系数 </a:t>
            </a:r>
            <a:r>
              <a:rPr lang="en-US" altLang="zh-CN" sz="900" dirty="0"/>
              <a:t>(Derivative)</a:t>
            </a:r>
          </a:p>
          <a:p>
            <a:r>
              <a:rPr lang="en-US" altLang="zh-CN" sz="900" dirty="0"/>
              <a:t>    </a:t>
            </a:r>
          </a:p>
          <a:p>
            <a:r>
              <a:rPr lang="en-US" altLang="zh-CN" sz="900" dirty="0"/>
              <a:t>    // --- </a:t>
            </a:r>
            <a:r>
              <a:rPr lang="zh-CN" altLang="en-US" sz="900" dirty="0"/>
              <a:t>限制区 </a:t>
            </a:r>
            <a:r>
              <a:rPr lang="en-US" altLang="zh-CN" sz="900" dirty="0"/>
              <a:t>(</a:t>
            </a:r>
            <a:r>
              <a:rPr lang="zh-CN" altLang="en-US" sz="900" dirty="0"/>
              <a:t>系统保护</a:t>
            </a:r>
            <a:r>
              <a:rPr lang="en-US" altLang="zh-CN" sz="900" dirty="0"/>
              <a:t>) ---</a:t>
            </a:r>
            <a:endParaRPr lang="zh-CN" altLang="en-US" sz="900" dirty="0"/>
          </a:p>
          <a:p>
            <a:r>
              <a:rPr lang="zh-CN" altLang="en-US" sz="900" dirty="0"/>
              <a:t>    </a:t>
            </a:r>
            <a:r>
              <a:rPr lang="en-US" altLang="zh-CN" sz="900" dirty="0"/>
              <a:t>float </a:t>
            </a:r>
            <a:r>
              <a:rPr lang="en-US" altLang="zh-CN" sz="900" dirty="0" err="1"/>
              <a:t>Output_Max</a:t>
            </a:r>
            <a:r>
              <a:rPr lang="en-US" altLang="zh-CN" sz="900" dirty="0"/>
              <a:t>;       // </a:t>
            </a:r>
            <a:r>
              <a:rPr lang="zh-CN" altLang="en-US" sz="900" dirty="0"/>
              <a:t>输出限幅：防止 </a:t>
            </a:r>
            <a:r>
              <a:rPr lang="en-US" altLang="zh-CN" sz="900" dirty="0"/>
              <a:t>PWM </a:t>
            </a:r>
            <a:r>
              <a:rPr lang="zh-CN" altLang="en-US" sz="900" dirty="0"/>
              <a:t>超过设定上限 </a:t>
            </a:r>
            <a:r>
              <a:rPr lang="en-US" altLang="zh-CN" sz="900" dirty="0"/>
              <a:t>(</a:t>
            </a:r>
            <a:r>
              <a:rPr lang="zh-CN" altLang="en-US" sz="900" dirty="0"/>
              <a:t>如 </a:t>
            </a:r>
            <a:r>
              <a:rPr lang="en-US" altLang="zh-CN" sz="900" dirty="0"/>
              <a:t>100)</a:t>
            </a:r>
            <a:endParaRPr lang="zh-CN" altLang="en-US" sz="900" dirty="0"/>
          </a:p>
          <a:p>
            <a:r>
              <a:rPr lang="zh-CN" altLang="en-US" sz="900" dirty="0"/>
              <a:t>    </a:t>
            </a:r>
            <a:r>
              <a:rPr lang="en-US" altLang="zh-CN" sz="900" dirty="0"/>
              <a:t>float </a:t>
            </a:r>
            <a:r>
              <a:rPr lang="en-US" altLang="zh-CN" sz="900" dirty="0" err="1"/>
              <a:t>Integral_Max</a:t>
            </a:r>
            <a:r>
              <a:rPr lang="en-US" altLang="zh-CN" sz="900" dirty="0"/>
              <a:t>;     // </a:t>
            </a:r>
            <a:r>
              <a:rPr lang="zh-CN" altLang="en-US" sz="900" dirty="0"/>
              <a:t>积分限幅：位置式特有，防止积分饱和 </a:t>
            </a:r>
            <a:r>
              <a:rPr lang="en-US" altLang="zh-CN" sz="900" dirty="0"/>
              <a:t>(Windup)</a:t>
            </a:r>
          </a:p>
          <a:p>
            <a:r>
              <a:rPr lang="en-US" altLang="zh-CN" sz="900" dirty="0"/>
              <a:t>    </a:t>
            </a:r>
          </a:p>
          <a:p>
            <a:r>
              <a:rPr lang="en-US" altLang="zh-CN" sz="900" dirty="0"/>
              <a:t>    // --- </a:t>
            </a:r>
            <a:r>
              <a:rPr lang="zh-CN" altLang="en-US" sz="900" dirty="0"/>
              <a:t>状态区 </a:t>
            </a:r>
            <a:r>
              <a:rPr lang="en-US" altLang="zh-CN" sz="900" dirty="0"/>
              <a:t>(</a:t>
            </a:r>
            <a:r>
              <a:rPr lang="zh-CN" altLang="en-US" sz="900" dirty="0"/>
              <a:t>运行时自动更新</a:t>
            </a:r>
            <a:r>
              <a:rPr lang="en-US" altLang="zh-CN" sz="900" dirty="0"/>
              <a:t>) ---</a:t>
            </a:r>
            <a:endParaRPr lang="zh-CN" altLang="en-US" sz="900" dirty="0"/>
          </a:p>
          <a:p>
            <a:r>
              <a:rPr lang="zh-CN" altLang="en-US" sz="900" dirty="0"/>
              <a:t>    </a:t>
            </a:r>
            <a:r>
              <a:rPr lang="en-US" altLang="zh-CN" sz="900" dirty="0"/>
              <a:t>float Target;           // </a:t>
            </a:r>
            <a:r>
              <a:rPr lang="zh-CN" altLang="en-US" sz="900" dirty="0"/>
              <a:t>控制目标值 </a:t>
            </a:r>
            <a:r>
              <a:rPr lang="en-US" altLang="zh-CN" sz="900" dirty="0"/>
              <a:t>(</a:t>
            </a:r>
            <a:r>
              <a:rPr lang="zh-CN" altLang="en-US" sz="900" dirty="0"/>
              <a:t>例如：设定转速 </a:t>
            </a:r>
            <a:r>
              <a:rPr lang="en-US" altLang="zh-CN" sz="900" dirty="0"/>
              <a:t>10 RPM)</a:t>
            </a:r>
          </a:p>
          <a:p>
            <a:r>
              <a:rPr lang="en-US" altLang="zh-CN" sz="900" dirty="0"/>
              <a:t>    float Actual;           // </a:t>
            </a:r>
            <a:r>
              <a:rPr lang="zh-CN" altLang="en-US" sz="900" dirty="0"/>
              <a:t>传感器反馈值 </a:t>
            </a:r>
            <a:r>
              <a:rPr lang="en-US" altLang="zh-CN" sz="900" dirty="0"/>
              <a:t>(</a:t>
            </a:r>
            <a:r>
              <a:rPr lang="zh-CN" altLang="en-US" sz="900" dirty="0"/>
              <a:t>例如：当前实际转速</a:t>
            </a:r>
            <a:r>
              <a:rPr lang="en-US" altLang="zh-CN" sz="900" dirty="0"/>
              <a:t>)</a:t>
            </a:r>
            <a:endParaRPr lang="zh-CN" altLang="en-US" sz="900" dirty="0"/>
          </a:p>
          <a:p>
            <a:r>
              <a:rPr lang="zh-CN" altLang="en-US" sz="900" dirty="0"/>
              <a:t>    </a:t>
            </a:r>
            <a:r>
              <a:rPr lang="en-US" altLang="zh-CN" sz="900" dirty="0"/>
              <a:t>float Error;            // </a:t>
            </a:r>
            <a:r>
              <a:rPr lang="zh-CN" altLang="en-US" sz="900" dirty="0"/>
              <a:t>当前误差 </a:t>
            </a:r>
            <a:r>
              <a:rPr lang="en-US" altLang="zh-CN" sz="900" dirty="0"/>
              <a:t>e(n) = Target - Actual</a:t>
            </a:r>
          </a:p>
          <a:p>
            <a:r>
              <a:rPr lang="en-US" altLang="zh-CN" sz="900" dirty="0"/>
              <a:t>    float </a:t>
            </a:r>
            <a:r>
              <a:rPr lang="en-US" altLang="zh-CN" sz="900" dirty="0" err="1"/>
              <a:t>Prev_Error</a:t>
            </a:r>
            <a:r>
              <a:rPr lang="en-US" altLang="zh-CN" sz="900" dirty="0"/>
              <a:t>;       // </a:t>
            </a:r>
            <a:r>
              <a:rPr lang="zh-CN" altLang="en-US" sz="900" dirty="0"/>
              <a:t>上一次误差 </a:t>
            </a:r>
            <a:r>
              <a:rPr lang="en-US" altLang="zh-CN" sz="900" dirty="0"/>
              <a:t>e(n-1)</a:t>
            </a:r>
          </a:p>
          <a:p>
            <a:r>
              <a:rPr lang="en-US" altLang="zh-CN" sz="900" dirty="0"/>
              <a:t>    float </a:t>
            </a:r>
            <a:r>
              <a:rPr lang="en-US" altLang="zh-CN" sz="900" dirty="0" err="1"/>
              <a:t>Prev_Prev_Error</a:t>
            </a:r>
            <a:r>
              <a:rPr lang="en-US" altLang="zh-CN" sz="900" dirty="0"/>
              <a:t>;  // </a:t>
            </a:r>
            <a:r>
              <a:rPr lang="zh-CN" altLang="en-US" sz="900" dirty="0"/>
              <a:t>上上一次误差 </a:t>
            </a:r>
            <a:r>
              <a:rPr lang="en-US" altLang="zh-CN" sz="900" dirty="0"/>
              <a:t>e(n-2)</a:t>
            </a:r>
            <a:r>
              <a:rPr lang="zh-CN" altLang="en-US" sz="900" dirty="0"/>
              <a:t>，仅增量式计算需要</a:t>
            </a:r>
          </a:p>
          <a:p>
            <a:r>
              <a:rPr lang="zh-CN" altLang="en-US" sz="900" dirty="0"/>
              <a:t>    </a:t>
            </a:r>
            <a:r>
              <a:rPr lang="en-US" altLang="zh-CN" sz="900" dirty="0"/>
              <a:t>float Integral;         // </a:t>
            </a:r>
            <a:r>
              <a:rPr lang="zh-CN" altLang="en-US" sz="900" dirty="0"/>
              <a:t>积分累加值，仅位置式使用</a:t>
            </a:r>
          </a:p>
          <a:p>
            <a:r>
              <a:rPr lang="zh-CN" altLang="en-US" sz="900" dirty="0"/>
              <a:t>    </a:t>
            </a:r>
            <a:r>
              <a:rPr lang="en-US" altLang="zh-CN" sz="900" dirty="0"/>
              <a:t>float Output;           // </a:t>
            </a:r>
            <a:r>
              <a:rPr lang="zh-CN" altLang="en-US" sz="900" dirty="0"/>
              <a:t>控制器最终输出值 </a:t>
            </a:r>
            <a:r>
              <a:rPr lang="en-US" altLang="zh-CN" sz="900" dirty="0"/>
              <a:t>(</a:t>
            </a:r>
            <a:r>
              <a:rPr lang="zh-CN" altLang="en-US" sz="900" dirty="0"/>
              <a:t>占空比</a:t>
            </a:r>
            <a:r>
              <a:rPr lang="en-US" altLang="zh-CN" sz="900" dirty="0"/>
              <a:t>)</a:t>
            </a:r>
            <a:endParaRPr lang="zh-CN" altLang="en-US" sz="900" dirty="0"/>
          </a:p>
          <a:p>
            <a:r>
              <a:rPr lang="en-US" altLang="zh-CN" sz="900" dirty="0"/>
              <a:t>} </a:t>
            </a:r>
            <a:r>
              <a:rPr lang="en-US" altLang="zh-CN" sz="900" dirty="0" err="1"/>
              <a:t>PID_Handle_t</a:t>
            </a:r>
            <a:r>
              <a:rPr lang="en-US" altLang="zh-CN" sz="9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4266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48969-D7E6-1BB3-D510-5572749E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B757E-1E76-CC29-C346-B5BC0B08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en-US" altLang="zh-CN" dirty="0" err="1"/>
              <a:t>pid_controller.c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5EF6A7-3DBF-88BC-34E1-DF7B3A0DD0A5}"/>
              </a:ext>
            </a:extLst>
          </p:cNvPr>
          <p:cNvSpPr txBox="1"/>
          <p:nvPr/>
        </p:nvSpPr>
        <p:spPr>
          <a:xfrm>
            <a:off x="5390604" y="374795"/>
            <a:ext cx="557118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关键的函数是：</a:t>
            </a:r>
            <a:endParaRPr lang="en-US" altLang="zh-CN" sz="1100" dirty="0"/>
          </a:p>
          <a:p>
            <a:r>
              <a:rPr lang="en-US" altLang="zh-CN" sz="1100" dirty="0"/>
              <a:t>float </a:t>
            </a:r>
            <a:r>
              <a:rPr lang="en-US" altLang="zh-CN" sz="1100" dirty="0" err="1"/>
              <a:t>PID_Compute</a:t>
            </a:r>
            <a:r>
              <a:rPr lang="en-US" altLang="zh-CN" sz="1100" dirty="0"/>
              <a:t>(</a:t>
            </a:r>
            <a:r>
              <a:rPr lang="en-US" altLang="zh-CN" sz="1100" dirty="0" err="1"/>
              <a:t>PID_Handle_t</a:t>
            </a:r>
            <a:r>
              <a:rPr lang="en-US" altLang="zh-CN" sz="1100" dirty="0"/>
              <a:t> *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, float target, float actual, </a:t>
            </a:r>
            <a:r>
              <a:rPr lang="en-US" altLang="zh-CN" sz="1100" dirty="0" err="1"/>
              <a:t>PID_Mode_t</a:t>
            </a:r>
            <a:r>
              <a:rPr lang="en-US" altLang="zh-CN" sz="1100" dirty="0"/>
              <a:t> mode)</a:t>
            </a:r>
          </a:p>
          <a:p>
            <a:endParaRPr lang="en-US" altLang="zh-CN" sz="110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05E4FD6F-242B-B562-55D5-2D91FF576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3680"/>
            <a:ext cx="6078739" cy="236112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F066A7-4365-8AFB-D121-4FBF79CD7999}"/>
              </a:ext>
            </a:extLst>
          </p:cNvPr>
          <p:cNvSpPr txBox="1"/>
          <p:nvPr/>
        </p:nvSpPr>
        <p:spPr>
          <a:xfrm>
            <a:off x="5817326" y="974959"/>
            <a:ext cx="6244045" cy="5828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if (mode == PID_MODE_POSITIONAL)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/*********************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位置式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PID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（全量输出） *********************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/</a:t>
            </a:r>
            <a:endParaRPr lang="zh-CN" altLang="en-US" sz="1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核心公式：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Output =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Kp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*e(n) + Ki*∑e(n) +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Kd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*[e(n)-e(n-1)]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// 1.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积分项计算：累加误差，消除静态误差（无误差时积分不再变化）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-&gt;Integral +=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-&gt;Error;  //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积分累加 ∑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e(n) =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历史积分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+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当前误差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// 【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教学重点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】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积分的作用：哪怕误差很小，累加后也能推动输出，消除静态误差</a:t>
            </a:r>
          </a:p>
          <a:p>
            <a:pPr>
              <a:lnSpc>
                <a:spcPts val="1425"/>
              </a:lnSpc>
              <a:buNone/>
            </a:pPr>
            <a:br>
              <a:rPr lang="zh-CN" altLang="en-US" sz="1000" b="0" dirty="0">
                <a:effectLst/>
                <a:latin typeface="Consolas" panose="020B0609020204030204" pitchFamily="49" charset="0"/>
              </a:rPr>
            </a:br>
            <a:endParaRPr lang="zh-CN" altLang="en-US" sz="1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// 2.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积分抗饱和（教学重点：防止积分“溢出”导致输出失控）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原理：限制积分项的最终输出不超过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Integral_Max</a:t>
            </a:r>
            <a:endParaRPr lang="en-US" altLang="zh-CN" sz="1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if (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-&gt;Integral *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-&gt;Ki &gt;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Integral_Max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-&gt;Integral =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Integral_Max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 /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-&gt;Ki;  //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积分上限限制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else if (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-&gt;Integral *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-&gt;Ki &lt; -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Integral_Max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-&gt;Integral = -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Integral_Max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 /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-&gt;Ki; //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积分下限限制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altLang="zh-CN" sz="1000" b="0" dirty="0">
                <a:effectLst/>
                <a:latin typeface="Consolas" panose="020B0609020204030204" pitchFamily="49" charset="0"/>
              </a:rPr>
            </a:br>
            <a:endParaRPr lang="en-US" altLang="zh-CN" sz="1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00" b="0" dirty="0">
                <a:effectLst/>
                <a:latin typeface="Consolas" panose="020B0609020204030204" pitchFamily="49" charset="0"/>
              </a:rPr>
              <a:t>        // 3.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微分项计算：反映误差变化趋势，抑制超调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公式：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Kd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*[e(n) - e(n-1)] →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误差变化越快，微分输出越大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float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diff_out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Kd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 * (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-&gt;Error -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Prev_Error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// 4.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位置式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PID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全量输出（分步计算，直观看到各部分贡献）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float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p_out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Kp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-&gt;Error;    //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比例项：快速响应当前误差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float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i_out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-&gt;Ki *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-&gt;Integral; //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积分项：消除静态误差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pid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-&gt;Output =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p_out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 +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i_out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 - 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diff_out</a:t>
            </a:r>
            <a:r>
              <a:rPr lang="en-US" altLang="zh-CN" sz="1000" b="0" dirty="0">
                <a:effectLst/>
                <a:latin typeface="Consolas" panose="020B0609020204030204" pitchFamily="49" charset="0"/>
              </a:rPr>
              <a:t>; // 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总输出（减微分是因为</a:t>
            </a:r>
            <a:r>
              <a:rPr lang="en-US" altLang="zh-CN" sz="1000" b="0" dirty="0" err="1">
                <a:effectLst/>
                <a:latin typeface="Consolas" panose="020B0609020204030204" pitchFamily="49" charset="0"/>
              </a:rPr>
              <a:t>diff_out</a:t>
            </a:r>
            <a:r>
              <a:rPr lang="zh-CN" altLang="en-US" sz="1000" b="0" dirty="0">
                <a:effectLst/>
                <a:latin typeface="Consolas" panose="020B0609020204030204" pitchFamily="49" charset="0"/>
              </a:rPr>
              <a:t>的符号特性）</a:t>
            </a:r>
            <a:endParaRPr lang="en-US" altLang="zh-CN" sz="1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latin typeface="Consolas" panose="020B0609020204030204" pitchFamily="49" charset="0"/>
              </a:rPr>
              <a:t>}</a:t>
            </a:r>
            <a:endParaRPr lang="zh-CN" altLang="en-US" sz="10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E8E92B-7525-4605-34D5-FAFBFD979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3541427"/>
            <a:ext cx="51149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58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CF324-B66A-D695-D5D2-21F229F0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D2F83-44B0-D891-90B6-F7877BEC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en-US" altLang="zh-CN" dirty="0" err="1"/>
              <a:t>pid_controller.c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4A5D28-9682-B540-32D9-6C773D3B9394}"/>
              </a:ext>
            </a:extLst>
          </p:cNvPr>
          <p:cNvSpPr txBox="1"/>
          <p:nvPr/>
        </p:nvSpPr>
        <p:spPr>
          <a:xfrm>
            <a:off x="5390604" y="374795"/>
            <a:ext cx="557118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关键的函数是：</a:t>
            </a:r>
            <a:endParaRPr lang="en-US" altLang="zh-CN" sz="1100" dirty="0"/>
          </a:p>
          <a:p>
            <a:r>
              <a:rPr lang="en-US" altLang="zh-CN" sz="1100" dirty="0"/>
              <a:t>float </a:t>
            </a:r>
            <a:r>
              <a:rPr lang="en-US" altLang="zh-CN" sz="1100" dirty="0" err="1"/>
              <a:t>PID_Compute</a:t>
            </a:r>
            <a:r>
              <a:rPr lang="en-US" altLang="zh-CN" sz="1100" dirty="0"/>
              <a:t>(</a:t>
            </a:r>
            <a:r>
              <a:rPr lang="en-US" altLang="zh-CN" sz="1100" dirty="0" err="1"/>
              <a:t>PID_Handle_t</a:t>
            </a:r>
            <a:r>
              <a:rPr lang="en-US" altLang="zh-CN" sz="1100" dirty="0"/>
              <a:t> *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, float target, float actual, </a:t>
            </a:r>
            <a:r>
              <a:rPr lang="en-US" altLang="zh-CN" sz="1100" dirty="0" err="1"/>
              <a:t>PID_Mode_t</a:t>
            </a:r>
            <a:r>
              <a:rPr lang="en-US" altLang="zh-CN" sz="1100" dirty="0"/>
              <a:t> mode)</a:t>
            </a:r>
          </a:p>
          <a:p>
            <a:endParaRPr lang="en-US" altLang="zh-CN" sz="110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E482E2D0-8C65-502A-4036-70E5FF3D9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3680"/>
            <a:ext cx="6078739" cy="236112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76EAA5F-AE61-7357-7E0A-2AF22DC2D208}"/>
              </a:ext>
            </a:extLst>
          </p:cNvPr>
          <p:cNvSpPr txBox="1"/>
          <p:nvPr/>
        </p:nvSpPr>
        <p:spPr>
          <a:xfrm>
            <a:off x="5860869" y="1155535"/>
            <a:ext cx="6453051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    else if (mode == PID_MODE_INCREMENTAL)</a:t>
            </a:r>
          </a:p>
          <a:p>
            <a:r>
              <a:rPr lang="en-US" altLang="zh-CN" sz="1100" dirty="0"/>
              <a:t>    {</a:t>
            </a:r>
          </a:p>
          <a:p>
            <a:r>
              <a:rPr lang="en-US" altLang="zh-CN" sz="1100" dirty="0"/>
              <a:t>        /********************* </a:t>
            </a:r>
            <a:r>
              <a:rPr lang="zh-CN" altLang="en-US" sz="1100" dirty="0"/>
              <a:t>增量式</a:t>
            </a:r>
            <a:r>
              <a:rPr lang="en-US" altLang="zh-CN" sz="1100" dirty="0"/>
              <a:t>PID</a:t>
            </a:r>
            <a:r>
              <a:rPr lang="zh-CN" altLang="en-US" sz="1100" dirty="0"/>
              <a:t>（增量输出） *********************</a:t>
            </a:r>
            <a:r>
              <a:rPr lang="en-US" altLang="zh-CN" sz="1100" dirty="0"/>
              <a:t>/</a:t>
            </a:r>
            <a:endParaRPr lang="zh-CN" altLang="en-US" sz="1100" dirty="0"/>
          </a:p>
          <a:p>
            <a:r>
              <a:rPr lang="zh-CN" altLang="en-US" sz="1100" dirty="0"/>
              <a:t>        </a:t>
            </a:r>
            <a:r>
              <a:rPr lang="en-US" altLang="zh-CN" sz="1100" dirty="0"/>
              <a:t>// </a:t>
            </a:r>
            <a:r>
              <a:rPr lang="zh-CN" altLang="en-US" sz="1100" dirty="0"/>
              <a:t>核心公式：</a:t>
            </a:r>
            <a:r>
              <a:rPr lang="el-GR" altLang="zh-CN" sz="1100" dirty="0"/>
              <a:t>Δ</a:t>
            </a:r>
            <a:r>
              <a:rPr lang="en-US" altLang="zh-CN" sz="1100" dirty="0"/>
              <a:t>Output = </a:t>
            </a:r>
            <a:r>
              <a:rPr lang="en-US" altLang="zh-CN" sz="1100" dirty="0" err="1"/>
              <a:t>Kp</a:t>
            </a:r>
            <a:r>
              <a:rPr lang="en-US" altLang="zh-CN" sz="1100" dirty="0"/>
              <a:t>*[e(n)-e(n-1)] + Ki*e(n) + </a:t>
            </a:r>
            <a:r>
              <a:rPr lang="en-US" altLang="zh-CN" sz="1100" dirty="0" err="1"/>
              <a:t>Kd</a:t>
            </a:r>
            <a:r>
              <a:rPr lang="en-US" altLang="zh-CN" sz="1100" dirty="0"/>
              <a:t>*[e(n)-2e(n-1)+e(n-2)]</a:t>
            </a:r>
          </a:p>
          <a:p>
            <a:r>
              <a:rPr lang="en-US" altLang="zh-CN" sz="1100" dirty="0"/>
              <a:t>        // </a:t>
            </a:r>
            <a:r>
              <a:rPr lang="zh-CN" altLang="en-US" sz="1100" dirty="0"/>
              <a:t>最终输出：</a:t>
            </a:r>
            <a:r>
              <a:rPr lang="en-US" altLang="zh-CN" sz="1100" dirty="0"/>
              <a:t>Output = </a:t>
            </a:r>
            <a:r>
              <a:rPr lang="zh-CN" altLang="en-US" sz="1100" dirty="0"/>
              <a:t>上次输出 </a:t>
            </a:r>
            <a:r>
              <a:rPr lang="en-US" altLang="zh-CN" sz="1100" dirty="0"/>
              <a:t>+ </a:t>
            </a:r>
            <a:r>
              <a:rPr lang="zh-CN" altLang="en-US" sz="1100" dirty="0"/>
              <a:t>增量</a:t>
            </a:r>
            <a:r>
              <a:rPr lang="el-GR" altLang="zh-CN" sz="1100" dirty="0"/>
              <a:t>Δ</a:t>
            </a:r>
            <a:r>
              <a:rPr lang="en-US" altLang="zh-CN" sz="1100" dirty="0"/>
              <a:t>Output</a:t>
            </a:r>
          </a:p>
          <a:p>
            <a:r>
              <a:rPr lang="en-US" altLang="zh-CN" sz="1100" dirty="0"/>
              <a:t>        // 【</a:t>
            </a:r>
            <a:r>
              <a:rPr lang="zh-CN" altLang="en-US" sz="1100" dirty="0"/>
              <a:t>教学重点</a:t>
            </a:r>
            <a:r>
              <a:rPr lang="en-US" altLang="zh-CN" sz="1100" dirty="0"/>
              <a:t>】</a:t>
            </a:r>
            <a:r>
              <a:rPr lang="zh-CN" altLang="en-US" sz="1100" dirty="0"/>
              <a:t>增量式输出是“变化量”，适合步进电机等需要增量控制的场景</a:t>
            </a:r>
          </a:p>
          <a:p>
            <a:r>
              <a:rPr lang="zh-CN" altLang="en-US" sz="1100" dirty="0"/>
              <a:t>        </a:t>
            </a:r>
          </a:p>
          <a:p>
            <a:r>
              <a:rPr lang="zh-CN" altLang="en-US" sz="1100" dirty="0"/>
              <a:t>        </a:t>
            </a:r>
            <a:r>
              <a:rPr lang="en-US" altLang="zh-CN" sz="1100" dirty="0"/>
              <a:t>// 1. </a:t>
            </a:r>
            <a:r>
              <a:rPr lang="zh-CN" altLang="en-US" sz="1100" dirty="0"/>
              <a:t>分步计算增量（拆解公式）</a:t>
            </a:r>
          </a:p>
          <a:p>
            <a:r>
              <a:rPr lang="zh-CN" altLang="en-US" sz="1100" dirty="0"/>
              <a:t>        </a:t>
            </a:r>
            <a:r>
              <a:rPr lang="en-US" altLang="zh-CN" sz="1100" dirty="0"/>
              <a:t>float </a:t>
            </a:r>
            <a:r>
              <a:rPr lang="en-US" altLang="zh-CN" sz="1100" dirty="0" err="1"/>
              <a:t>p_delta</a:t>
            </a:r>
            <a:r>
              <a:rPr lang="en-US" altLang="zh-CN" sz="1100" dirty="0"/>
              <a:t> = 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</a:t>
            </a:r>
            <a:r>
              <a:rPr lang="en-US" altLang="zh-CN" sz="1100" dirty="0" err="1"/>
              <a:t>Kp</a:t>
            </a:r>
            <a:r>
              <a:rPr lang="en-US" altLang="zh-CN" sz="1100" dirty="0"/>
              <a:t> * (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-&gt;Error - 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</a:t>
            </a:r>
            <a:r>
              <a:rPr lang="en-US" altLang="zh-CN" sz="1100" dirty="0" err="1"/>
              <a:t>Prev_Error</a:t>
            </a:r>
            <a:r>
              <a:rPr lang="en-US" altLang="zh-CN" sz="1100" dirty="0"/>
              <a:t>);</a:t>
            </a:r>
          </a:p>
          <a:p>
            <a:r>
              <a:rPr lang="zh-CN" altLang="en-US" sz="1100" dirty="0"/>
              <a:t>        </a:t>
            </a:r>
            <a:r>
              <a:rPr lang="en-US" altLang="zh-CN" sz="1100" dirty="0"/>
              <a:t>float </a:t>
            </a:r>
            <a:r>
              <a:rPr lang="en-US" altLang="zh-CN" sz="1100" dirty="0" err="1"/>
              <a:t>i_delta</a:t>
            </a:r>
            <a:r>
              <a:rPr lang="en-US" altLang="zh-CN" sz="1100" dirty="0"/>
              <a:t> = 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-&gt;Ki * 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-&gt;Error;</a:t>
            </a:r>
            <a:endParaRPr lang="zh-CN" altLang="en-US" sz="1100" dirty="0"/>
          </a:p>
          <a:p>
            <a:r>
              <a:rPr lang="zh-CN" altLang="en-US" sz="1100" dirty="0"/>
              <a:t>        </a:t>
            </a:r>
            <a:r>
              <a:rPr lang="en-US" altLang="zh-CN" sz="1100" dirty="0"/>
              <a:t>float </a:t>
            </a:r>
            <a:r>
              <a:rPr lang="en-US" altLang="zh-CN" sz="1100" dirty="0" err="1"/>
              <a:t>d_delta</a:t>
            </a:r>
            <a:r>
              <a:rPr lang="en-US" altLang="zh-CN" sz="1100" dirty="0"/>
              <a:t> = 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</a:t>
            </a:r>
            <a:r>
              <a:rPr lang="en-US" altLang="zh-CN" sz="1100" dirty="0" err="1"/>
              <a:t>Kd</a:t>
            </a:r>
            <a:r>
              <a:rPr lang="en-US" altLang="zh-CN" sz="1100" dirty="0"/>
              <a:t> * (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-&gt;Error - 2.0f * 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</a:t>
            </a:r>
            <a:r>
              <a:rPr lang="en-US" altLang="zh-CN" sz="1100" dirty="0" err="1"/>
              <a:t>Prev_Error</a:t>
            </a:r>
            <a:r>
              <a:rPr lang="en-US" altLang="zh-CN" sz="1100" dirty="0"/>
              <a:t> + 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</a:t>
            </a:r>
            <a:r>
              <a:rPr lang="en-US" altLang="zh-CN" sz="1100" dirty="0" err="1"/>
              <a:t>Prev_Prev_Error</a:t>
            </a:r>
            <a:r>
              <a:rPr lang="en-US" altLang="zh-CN" sz="1100" dirty="0"/>
              <a:t>);</a:t>
            </a:r>
            <a:endParaRPr lang="zh-CN" altLang="en-US" sz="1100" dirty="0"/>
          </a:p>
          <a:p>
            <a:r>
              <a:rPr lang="zh-CN" altLang="en-US" sz="1100" dirty="0"/>
              <a:t>        </a:t>
            </a:r>
          </a:p>
          <a:p>
            <a:r>
              <a:rPr lang="zh-CN" altLang="en-US" sz="1100" dirty="0"/>
              <a:t>        </a:t>
            </a:r>
            <a:r>
              <a:rPr lang="en-US" altLang="zh-CN" sz="1100" dirty="0"/>
              <a:t>// 2. </a:t>
            </a:r>
            <a:r>
              <a:rPr lang="zh-CN" altLang="en-US" sz="1100" dirty="0"/>
              <a:t>计算总增量</a:t>
            </a:r>
          </a:p>
          <a:p>
            <a:r>
              <a:rPr lang="zh-CN" altLang="en-US" sz="1100" dirty="0"/>
              <a:t>        </a:t>
            </a:r>
            <a:r>
              <a:rPr lang="en-US" altLang="zh-CN" sz="1100" dirty="0"/>
              <a:t>float </a:t>
            </a:r>
            <a:r>
              <a:rPr lang="en-US" altLang="zh-CN" sz="1100" dirty="0" err="1"/>
              <a:t>delta_out</a:t>
            </a:r>
            <a:r>
              <a:rPr lang="en-US" altLang="zh-CN" sz="1100" dirty="0"/>
              <a:t> = </a:t>
            </a:r>
            <a:r>
              <a:rPr lang="en-US" altLang="zh-CN" sz="1100" dirty="0" err="1"/>
              <a:t>p_delta</a:t>
            </a:r>
            <a:r>
              <a:rPr lang="en-US" altLang="zh-CN" sz="1100" dirty="0"/>
              <a:t> + </a:t>
            </a:r>
            <a:r>
              <a:rPr lang="en-US" altLang="zh-CN" sz="1100" dirty="0" err="1"/>
              <a:t>i_delta</a:t>
            </a:r>
            <a:r>
              <a:rPr lang="en-US" altLang="zh-CN" sz="1100" dirty="0"/>
              <a:t> + </a:t>
            </a:r>
            <a:r>
              <a:rPr lang="en-US" altLang="zh-CN" sz="1100" dirty="0" err="1"/>
              <a:t>d_delta</a:t>
            </a:r>
            <a:r>
              <a:rPr lang="en-US" altLang="zh-CN" sz="1100" dirty="0"/>
              <a:t>;</a:t>
            </a:r>
          </a:p>
          <a:p>
            <a:r>
              <a:rPr lang="en-US" altLang="zh-CN" sz="1100" dirty="0"/>
              <a:t>        </a:t>
            </a:r>
          </a:p>
          <a:p>
            <a:r>
              <a:rPr lang="en-US" altLang="zh-CN" sz="1100" dirty="0"/>
              <a:t>        // 3. </a:t>
            </a:r>
            <a:r>
              <a:rPr lang="zh-CN" altLang="en-US" sz="1100" dirty="0"/>
              <a:t>增量式输出：在上一次输出基础上加增量</a:t>
            </a:r>
          </a:p>
          <a:p>
            <a:r>
              <a:rPr lang="zh-CN" altLang="en-US" sz="1100" dirty="0"/>
              <a:t>        </a:t>
            </a:r>
            <a:r>
              <a:rPr lang="en-US" altLang="zh-CN" sz="1100" dirty="0" err="1"/>
              <a:t>pid</a:t>
            </a:r>
            <a:r>
              <a:rPr lang="en-US" altLang="zh-CN" sz="1100" dirty="0"/>
              <a:t>-&gt;Output += </a:t>
            </a:r>
            <a:r>
              <a:rPr lang="en-US" altLang="zh-CN" sz="1100" dirty="0" err="1"/>
              <a:t>delta_out</a:t>
            </a:r>
            <a:r>
              <a:rPr lang="en-US" altLang="zh-CN" sz="1100" dirty="0"/>
              <a:t>;</a:t>
            </a:r>
          </a:p>
          <a:p>
            <a:r>
              <a:rPr lang="en-US" altLang="zh-CN" sz="1100" dirty="0"/>
              <a:t>        // 【</a:t>
            </a:r>
            <a:r>
              <a:rPr lang="zh-CN" altLang="en-US" sz="1100" dirty="0"/>
              <a:t>教学重点</a:t>
            </a:r>
            <a:r>
              <a:rPr lang="en-US" altLang="zh-CN" sz="1100" dirty="0"/>
              <a:t>】</a:t>
            </a:r>
            <a:r>
              <a:rPr lang="zh-CN" altLang="en-US" sz="1100" dirty="0"/>
              <a:t>增量式无需积分限幅（天然抗饱和），因为输出只和误差变化有关</a:t>
            </a:r>
          </a:p>
          <a:p>
            <a:r>
              <a:rPr lang="zh-CN" altLang="en-US" sz="1100" dirty="0"/>
              <a:t>    </a:t>
            </a:r>
            <a:r>
              <a:rPr lang="en-US" altLang="zh-CN" sz="1100" dirty="0"/>
              <a:t>}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D2CDE6-BB8D-5461-15C5-80D04859F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4133"/>
            <a:ext cx="6762750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29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85F4-3A3B-105C-349A-0504CC59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28AA5-7DF1-E9A6-0496-846460DA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en-US" altLang="zh-CN" dirty="0" err="1"/>
              <a:t>speed_loop.h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D74AAF-9479-3D52-1D7C-952DC1DD3D6F}"/>
              </a:ext>
            </a:extLst>
          </p:cNvPr>
          <p:cNvSpPr txBox="1"/>
          <p:nvPr/>
        </p:nvSpPr>
        <p:spPr>
          <a:xfrm>
            <a:off x="5390604" y="374795"/>
            <a:ext cx="5571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速度环控制头文件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E94C92-8341-053F-2C86-F375692C38DB}"/>
              </a:ext>
            </a:extLst>
          </p:cNvPr>
          <p:cNvSpPr txBox="1"/>
          <p:nvPr/>
        </p:nvSpPr>
        <p:spPr>
          <a:xfrm>
            <a:off x="6365966" y="1155376"/>
            <a:ext cx="582603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200" dirty="0"/>
          </a:p>
          <a:p>
            <a:r>
              <a:rPr lang="en-US" altLang="zh-CN" sz="1200" dirty="0"/>
              <a:t>/**</a:t>
            </a:r>
            <a:endParaRPr lang="zh-CN" altLang="en-US" sz="1200" dirty="0"/>
          </a:p>
          <a:p>
            <a:r>
              <a:rPr lang="zh-CN" altLang="en-US" sz="1200" dirty="0"/>
              <a:t> * </a:t>
            </a:r>
            <a:r>
              <a:rPr lang="en-US" altLang="zh-CN" sz="1200" dirty="0"/>
              <a:t>@brief </a:t>
            </a:r>
            <a:r>
              <a:rPr lang="zh-CN" altLang="en-US" sz="1200" dirty="0"/>
              <a:t>获取电机实际转速</a:t>
            </a:r>
          </a:p>
          <a:p>
            <a:r>
              <a:rPr lang="zh-CN" altLang="en-US" sz="1200" dirty="0"/>
              <a:t> * </a:t>
            </a:r>
            <a:r>
              <a:rPr lang="en-US" altLang="zh-CN" sz="1200" dirty="0"/>
              <a:t>@return </a:t>
            </a:r>
            <a:r>
              <a:rPr lang="zh-CN" altLang="en-US" sz="1200" dirty="0"/>
              <a:t>传感器实测转速（单位：</a:t>
            </a:r>
            <a:r>
              <a:rPr lang="en-US" altLang="zh-CN" sz="1200" dirty="0"/>
              <a:t>RPM</a:t>
            </a:r>
            <a:r>
              <a:rPr lang="zh-CN" altLang="en-US" sz="1200" dirty="0"/>
              <a:t>），为滤波后的值（若有滤波）</a:t>
            </a:r>
          </a:p>
          <a:p>
            <a:r>
              <a:rPr lang="zh-CN" altLang="en-US" sz="1200" dirty="0"/>
              <a:t> *</a:t>
            </a:r>
            <a:r>
              <a:rPr lang="en-US" altLang="zh-CN" sz="1200" dirty="0"/>
              <a:t>/</a:t>
            </a:r>
            <a:endParaRPr lang="zh-CN" altLang="en-US" sz="1200" dirty="0"/>
          </a:p>
          <a:p>
            <a:r>
              <a:rPr lang="en-US" altLang="zh-CN" sz="1200" dirty="0"/>
              <a:t>float </a:t>
            </a:r>
            <a:r>
              <a:rPr lang="en-US" altLang="zh-CN" sz="1200" dirty="0" err="1"/>
              <a:t>SpeedLoop_GetActualRPM</a:t>
            </a:r>
            <a:r>
              <a:rPr lang="en-US" altLang="zh-CN" sz="1200" dirty="0"/>
              <a:t>(void); </a:t>
            </a:r>
            <a:br>
              <a:rPr lang="zh-CN" altLang="en-US" sz="1200" dirty="0"/>
            </a:br>
            <a:endParaRPr lang="zh-CN" altLang="en-US" sz="1200" dirty="0"/>
          </a:p>
          <a:p>
            <a:r>
              <a:rPr lang="en-US" altLang="zh-CN" sz="1200" dirty="0"/>
              <a:t>/**</a:t>
            </a:r>
            <a:endParaRPr lang="zh-CN" altLang="en-US" sz="1200" dirty="0"/>
          </a:p>
          <a:p>
            <a:r>
              <a:rPr lang="zh-CN" altLang="en-US" sz="1200" dirty="0"/>
              <a:t> * </a:t>
            </a:r>
            <a:r>
              <a:rPr lang="en-US" altLang="zh-CN" sz="1200" dirty="0"/>
              <a:t>@brief </a:t>
            </a:r>
            <a:r>
              <a:rPr lang="zh-CN" altLang="en-US" sz="1200" dirty="0"/>
              <a:t>速度环控制任务（核心）</a:t>
            </a:r>
          </a:p>
          <a:p>
            <a:r>
              <a:rPr lang="zh-CN" altLang="en-US" sz="1200" dirty="0"/>
              <a:t> * </a:t>
            </a:r>
            <a:r>
              <a:rPr lang="en-US" altLang="zh-CN" sz="1200" dirty="0"/>
              <a:t>@note </a:t>
            </a:r>
            <a:r>
              <a:rPr lang="zh-CN" altLang="en-US" sz="1200" dirty="0"/>
              <a:t>需在定时器中断或主循环中定期调用，调用周期建议</a:t>
            </a:r>
            <a:r>
              <a:rPr lang="en-US" altLang="zh-CN" sz="1200" dirty="0"/>
              <a:t>10ms</a:t>
            </a:r>
            <a:r>
              <a:rPr lang="zh-CN" altLang="en-US" sz="1200" dirty="0"/>
              <a:t>（</a:t>
            </a:r>
            <a:r>
              <a:rPr lang="en-US" altLang="zh-CN" sz="1200" dirty="0"/>
              <a:t>100Hz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r>
              <a:rPr lang="en-US" altLang="zh-CN" sz="1200" dirty="0"/>
              <a:t> *       </a:t>
            </a:r>
            <a:r>
              <a:rPr lang="zh-CN" altLang="en-US" sz="1200" dirty="0"/>
              <a:t>内部流程：读取实际转速→执行</a:t>
            </a:r>
            <a:r>
              <a:rPr lang="en-US" altLang="zh-CN" sz="1200" dirty="0"/>
              <a:t>PID</a:t>
            </a:r>
            <a:r>
              <a:rPr lang="zh-CN" altLang="en-US" sz="1200" dirty="0"/>
              <a:t>计算→输出控制信号（如</a:t>
            </a:r>
            <a:r>
              <a:rPr lang="en-US" altLang="zh-CN" sz="1200" dirty="0"/>
              <a:t>PWM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r>
              <a:rPr lang="en-US" altLang="zh-CN" sz="1200" dirty="0"/>
              <a:t> */</a:t>
            </a:r>
          </a:p>
          <a:p>
            <a:r>
              <a:rPr lang="en-US" altLang="zh-CN" sz="1200" dirty="0"/>
              <a:t>void </a:t>
            </a:r>
            <a:r>
              <a:rPr lang="en-US" altLang="zh-CN" sz="1200" dirty="0" err="1"/>
              <a:t>SpeedLoop_Task</a:t>
            </a:r>
            <a:r>
              <a:rPr lang="en-US" altLang="zh-CN" sz="1200" dirty="0"/>
              <a:t>(void); </a:t>
            </a:r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1C6070-F5F6-E8ED-668B-3DB5EE2A1965}"/>
              </a:ext>
            </a:extLst>
          </p:cNvPr>
          <p:cNvSpPr txBox="1"/>
          <p:nvPr/>
        </p:nvSpPr>
        <p:spPr>
          <a:xfrm>
            <a:off x="0" y="1155376"/>
            <a:ext cx="53906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/**</a:t>
            </a:r>
          </a:p>
          <a:p>
            <a:r>
              <a:rPr lang="en-US" altLang="zh-CN" sz="1200" dirty="0"/>
              <a:t> * @brief </a:t>
            </a:r>
            <a:r>
              <a:rPr lang="zh-CN" altLang="en-US" sz="1200" dirty="0"/>
              <a:t>初始化速度环控制器</a:t>
            </a:r>
          </a:p>
          <a:p>
            <a:r>
              <a:rPr lang="zh-CN" altLang="en-US" sz="1200" dirty="0"/>
              <a:t> * </a:t>
            </a:r>
            <a:r>
              <a:rPr lang="en-US" altLang="zh-CN" sz="1200" dirty="0"/>
              <a:t>@note </a:t>
            </a:r>
            <a:r>
              <a:rPr lang="zh-CN" altLang="en-US" sz="1200" dirty="0"/>
              <a:t>内部会初始化</a:t>
            </a:r>
            <a:r>
              <a:rPr lang="en-US" altLang="zh-CN" sz="1200" dirty="0"/>
              <a:t>PID</a:t>
            </a:r>
            <a:r>
              <a:rPr lang="zh-CN" altLang="en-US" sz="1200" dirty="0"/>
              <a:t>控制器、转速传感器等，需在系统启动时调用一次</a:t>
            </a:r>
          </a:p>
          <a:p>
            <a:r>
              <a:rPr lang="zh-CN" altLang="en-US" sz="1200" dirty="0"/>
              <a:t> *</a:t>
            </a:r>
            <a:r>
              <a:rPr lang="en-US" altLang="zh-CN" sz="1200" dirty="0"/>
              <a:t>/</a:t>
            </a:r>
            <a:endParaRPr lang="zh-CN" altLang="en-US" sz="1200" dirty="0"/>
          </a:p>
          <a:p>
            <a:r>
              <a:rPr lang="en-US" altLang="zh-CN" sz="1200" dirty="0"/>
              <a:t>void </a:t>
            </a:r>
            <a:r>
              <a:rPr lang="en-US" altLang="zh-CN" sz="1200" dirty="0" err="1"/>
              <a:t>SpeedLoop_Init</a:t>
            </a:r>
            <a:r>
              <a:rPr lang="en-US" altLang="zh-CN" sz="1200" dirty="0"/>
              <a:t>(void);</a:t>
            </a:r>
          </a:p>
          <a:p>
            <a:br>
              <a:rPr lang="en-US" altLang="zh-CN" sz="1200" dirty="0"/>
            </a:br>
            <a:endParaRPr lang="en-US" altLang="zh-CN" sz="1200" dirty="0"/>
          </a:p>
          <a:p>
            <a:r>
              <a:rPr lang="en-US" altLang="zh-CN" sz="1200" dirty="0"/>
              <a:t>/**</a:t>
            </a:r>
          </a:p>
          <a:p>
            <a:r>
              <a:rPr lang="en-US" altLang="zh-CN" sz="1200" dirty="0"/>
              <a:t> * @brief </a:t>
            </a:r>
            <a:r>
              <a:rPr lang="zh-CN" altLang="en-US" sz="1200" dirty="0"/>
              <a:t>设置速度环目标转速</a:t>
            </a:r>
          </a:p>
          <a:p>
            <a:r>
              <a:rPr lang="zh-CN" altLang="en-US" sz="1200" dirty="0"/>
              <a:t> * </a:t>
            </a:r>
            <a:r>
              <a:rPr lang="en-US" altLang="zh-CN" sz="1200" dirty="0"/>
              <a:t>@param </a:t>
            </a:r>
            <a:r>
              <a:rPr lang="en-US" altLang="zh-CN" sz="1200" dirty="0" err="1"/>
              <a:t>target_rpm</a:t>
            </a:r>
            <a:r>
              <a:rPr lang="en-US" altLang="zh-CN" sz="1200" dirty="0"/>
              <a:t> </a:t>
            </a:r>
            <a:r>
              <a:rPr lang="zh-CN" altLang="en-US" sz="1200" dirty="0"/>
              <a:t>目标转速（单位：</a:t>
            </a:r>
            <a:r>
              <a:rPr lang="en-US" altLang="zh-CN" sz="1200" dirty="0"/>
              <a:t>RPM</a:t>
            </a:r>
            <a:r>
              <a:rPr lang="zh-CN" altLang="en-US" sz="1200" dirty="0"/>
              <a:t>），需在合理范围（</a:t>
            </a:r>
            <a:r>
              <a:rPr lang="en-US" altLang="zh-CN" sz="1200" dirty="0"/>
              <a:t>0~200</a:t>
            </a:r>
            <a:r>
              <a:rPr lang="zh-CN" altLang="en-US" sz="1200" dirty="0"/>
              <a:t>）</a:t>
            </a:r>
          </a:p>
          <a:p>
            <a:r>
              <a:rPr lang="zh-CN" altLang="en-US" sz="1200" dirty="0"/>
              <a:t> *</a:t>
            </a:r>
            <a:r>
              <a:rPr lang="en-US" altLang="zh-CN" sz="1200" dirty="0"/>
              <a:t>/</a:t>
            </a:r>
            <a:endParaRPr lang="zh-CN" altLang="en-US" sz="1200" dirty="0"/>
          </a:p>
          <a:p>
            <a:r>
              <a:rPr lang="en-US" altLang="zh-CN" sz="1200" dirty="0"/>
              <a:t>void </a:t>
            </a:r>
            <a:r>
              <a:rPr lang="en-US" altLang="zh-CN" sz="1200" dirty="0" err="1"/>
              <a:t>SpeedLoop_SetTargetRPM</a:t>
            </a:r>
            <a:r>
              <a:rPr lang="en-US" altLang="zh-CN" sz="1200" dirty="0"/>
              <a:t>(float </a:t>
            </a:r>
            <a:r>
              <a:rPr lang="en-US" altLang="zh-CN" sz="1200" dirty="0" err="1"/>
              <a:t>target_rpm</a:t>
            </a:r>
            <a:r>
              <a:rPr lang="en-US" altLang="zh-CN" sz="1200" dirty="0"/>
              <a:t>); </a:t>
            </a:r>
            <a:br>
              <a:rPr lang="zh-CN" altLang="en-US" sz="1200" dirty="0"/>
            </a:br>
            <a:endParaRPr lang="zh-CN" altLang="en-US" sz="1200" dirty="0"/>
          </a:p>
          <a:p>
            <a:r>
              <a:rPr lang="en-US" altLang="zh-CN" sz="1200" dirty="0"/>
              <a:t>/**</a:t>
            </a:r>
            <a:endParaRPr lang="zh-CN" altLang="en-US" sz="1200" dirty="0"/>
          </a:p>
          <a:p>
            <a:r>
              <a:rPr lang="zh-CN" altLang="en-US" sz="1200" dirty="0"/>
              <a:t> * </a:t>
            </a:r>
            <a:r>
              <a:rPr lang="en-US" altLang="zh-CN" sz="1200" dirty="0"/>
              <a:t>@brief </a:t>
            </a:r>
            <a:r>
              <a:rPr lang="zh-CN" altLang="en-US" sz="1200" dirty="0"/>
              <a:t>获取当前设置的目标转速</a:t>
            </a:r>
          </a:p>
          <a:p>
            <a:r>
              <a:rPr lang="zh-CN" altLang="en-US" sz="1200" dirty="0"/>
              <a:t> * </a:t>
            </a:r>
            <a:r>
              <a:rPr lang="en-US" altLang="zh-CN" sz="1200" dirty="0"/>
              <a:t>@return </a:t>
            </a:r>
            <a:r>
              <a:rPr lang="zh-CN" altLang="en-US" sz="1200" dirty="0"/>
              <a:t>当前目标转速（单位：</a:t>
            </a:r>
            <a:r>
              <a:rPr lang="en-US" altLang="zh-CN" sz="1200" dirty="0"/>
              <a:t>RPM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r>
              <a:rPr lang="en-US" altLang="zh-CN" sz="1200" dirty="0"/>
              <a:t> */</a:t>
            </a:r>
          </a:p>
          <a:p>
            <a:r>
              <a:rPr lang="en-US" altLang="zh-CN" sz="1200" dirty="0"/>
              <a:t>float </a:t>
            </a:r>
            <a:r>
              <a:rPr lang="en-US" altLang="zh-CN" sz="1200" dirty="0" err="1"/>
              <a:t>SpeedLoop_GetTargetRPM</a:t>
            </a:r>
            <a:r>
              <a:rPr lang="en-US" altLang="zh-CN" sz="1200" dirty="0"/>
              <a:t>(void);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84184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ADC9-63E5-EDF8-FFB9-28C6010EA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DF784-6233-5D39-F5A3-152AB3A7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en-US" altLang="zh-CN" dirty="0" err="1"/>
              <a:t>speed_loop.c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F68A18-95B6-CCC9-CE73-5F18F01CDC3A}"/>
              </a:ext>
            </a:extLst>
          </p:cNvPr>
          <p:cNvSpPr txBox="1"/>
          <p:nvPr/>
        </p:nvSpPr>
        <p:spPr>
          <a:xfrm>
            <a:off x="5390604" y="118991"/>
            <a:ext cx="5571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速度环控制源文件，关键函数</a:t>
            </a:r>
            <a:endParaRPr lang="en-US" altLang="zh-CN" dirty="0"/>
          </a:p>
          <a:p>
            <a:r>
              <a:rPr lang="en-US" altLang="zh-CN" dirty="0" err="1"/>
              <a:t>SpeedLoop_Task</a:t>
            </a:r>
            <a:r>
              <a:rPr lang="zh-CN" altLang="en-US" dirty="0"/>
              <a:t>（</a:t>
            </a:r>
            <a:r>
              <a:rPr lang="en-US" altLang="zh-CN" dirty="0"/>
              <a:t>void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A699E9-8F1B-88F3-4870-BF518B5FB9D1}"/>
              </a:ext>
            </a:extLst>
          </p:cNvPr>
          <p:cNvSpPr txBox="1"/>
          <p:nvPr/>
        </p:nvSpPr>
        <p:spPr>
          <a:xfrm>
            <a:off x="696685" y="960166"/>
            <a:ext cx="8264434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/**</a:t>
            </a:r>
          </a:p>
          <a:p>
            <a:r>
              <a:rPr lang="en-US" altLang="zh-CN" sz="1000" dirty="0"/>
              <a:t> * @brief  </a:t>
            </a:r>
            <a:r>
              <a:rPr lang="zh-CN" altLang="en-US" sz="1000" dirty="0"/>
              <a:t>核心闭环任务 </a:t>
            </a:r>
            <a:r>
              <a:rPr lang="en-US" altLang="zh-CN" sz="1000" dirty="0"/>
              <a:t>(</a:t>
            </a:r>
            <a:r>
              <a:rPr lang="zh-CN" altLang="en-US" sz="1000" dirty="0"/>
              <a:t>需放入 </a:t>
            </a:r>
            <a:r>
              <a:rPr lang="en-US" altLang="zh-CN" sz="1000" dirty="0"/>
              <a:t>TIM6 </a:t>
            </a:r>
            <a:r>
              <a:rPr lang="zh-CN" altLang="en-US" sz="1000" dirty="0"/>
              <a:t>等 </a:t>
            </a:r>
            <a:r>
              <a:rPr lang="en-US" altLang="zh-CN" sz="1000" dirty="0"/>
              <a:t>10ms </a:t>
            </a:r>
            <a:r>
              <a:rPr lang="zh-CN" altLang="en-US" sz="1000" dirty="0"/>
              <a:t>定时器中断调用</a:t>
            </a:r>
            <a:r>
              <a:rPr lang="en-US" altLang="zh-CN" sz="1000" dirty="0"/>
              <a:t>)</a:t>
            </a:r>
            <a:endParaRPr lang="zh-CN" altLang="en-US" sz="1000" dirty="0"/>
          </a:p>
          <a:p>
            <a:r>
              <a:rPr lang="zh-CN" altLang="en-US" sz="1000" dirty="0"/>
              <a:t> *</a:t>
            </a:r>
            <a:r>
              <a:rPr lang="en-US" altLang="zh-CN" sz="1000" dirty="0"/>
              <a:t>/</a:t>
            </a:r>
            <a:endParaRPr lang="zh-CN" altLang="en-US" sz="1000" dirty="0"/>
          </a:p>
          <a:p>
            <a:r>
              <a:rPr lang="en-US" altLang="zh-CN" sz="1000" dirty="0"/>
              <a:t>void </a:t>
            </a:r>
            <a:r>
              <a:rPr lang="en-US" altLang="zh-CN" sz="1000" dirty="0" err="1"/>
              <a:t>SpeedLoop_Task</a:t>
            </a:r>
            <a:r>
              <a:rPr lang="en-US" altLang="zh-CN" sz="1000" dirty="0"/>
              <a:t>(void)</a:t>
            </a:r>
          </a:p>
          <a:p>
            <a:r>
              <a:rPr lang="en-US" altLang="zh-CN" sz="1000" dirty="0"/>
              <a:t>{</a:t>
            </a:r>
          </a:p>
          <a:p>
            <a:r>
              <a:rPr lang="en-US" altLang="zh-CN" sz="1000" dirty="0"/>
              <a:t>    // 1. </a:t>
            </a:r>
            <a:r>
              <a:rPr lang="zh-CN" altLang="en-US" sz="1000" dirty="0"/>
              <a:t>获取反馈并纠正方向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// </a:t>
            </a:r>
            <a:r>
              <a:rPr lang="zh-CN" altLang="en-US" sz="1000" dirty="0"/>
              <a:t>注意：发现原来</a:t>
            </a:r>
            <a:r>
              <a:rPr lang="en-US" altLang="zh-CN" sz="1000" dirty="0" err="1"/>
              <a:t>BSP_Encoder_GetSpeedRPM</a:t>
            </a:r>
            <a:r>
              <a:rPr lang="zh-CN" altLang="en-US" sz="1000" dirty="0"/>
              <a:t>的返回值与实际旋转方向相反，所以改变原来的函数乘以</a:t>
            </a:r>
            <a:r>
              <a:rPr lang="en-US" altLang="zh-CN" sz="1000" dirty="0"/>
              <a:t>-1</a:t>
            </a:r>
            <a:endParaRPr lang="zh-CN" altLang="en-US" sz="1000" dirty="0"/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float </a:t>
            </a:r>
            <a:r>
              <a:rPr lang="en-US" altLang="zh-CN" sz="1000" dirty="0" err="1"/>
              <a:t>raw_rpm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BSP_Encoder_GetSpeedRPM</a:t>
            </a:r>
            <a:r>
              <a:rPr lang="en-US" altLang="zh-CN" sz="1000" dirty="0"/>
              <a:t>(ENCODER_PM1); </a:t>
            </a:r>
          </a:p>
          <a:p>
            <a:endParaRPr lang="en-US" altLang="zh-CN" sz="1000" dirty="0"/>
          </a:p>
          <a:p>
            <a:r>
              <a:rPr lang="en-US" altLang="zh-CN" sz="1000" dirty="0"/>
              <a:t>    // 2. </a:t>
            </a:r>
            <a:r>
              <a:rPr lang="zh-CN" altLang="en-US" sz="1000" dirty="0"/>
              <a:t>计算 </a:t>
            </a:r>
            <a:r>
              <a:rPr lang="en-US" altLang="zh-CN" sz="1000" dirty="0"/>
              <a:t>PID </a:t>
            </a:r>
            <a:r>
              <a:rPr lang="zh-CN" altLang="en-US" sz="1000" dirty="0"/>
              <a:t>输出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// PID_MODE_INCREMENTAL: </a:t>
            </a:r>
            <a:r>
              <a:rPr lang="zh-CN" altLang="en-US" sz="1000" dirty="0"/>
              <a:t>增量式 </a:t>
            </a:r>
            <a:r>
              <a:rPr lang="en-US" altLang="zh-CN" sz="1000" dirty="0"/>
              <a:t>(</a:t>
            </a:r>
            <a:r>
              <a:rPr lang="zh-CN" altLang="en-US" sz="1000" dirty="0"/>
              <a:t>推荐用于速度控制</a:t>
            </a:r>
            <a:r>
              <a:rPr lang="en-US" altLang="zh-CN" sz="1000" dirty="0"/>
              <a:t>)</a:t>
            </a:r>
            <a:endParaRPr lang="zh-CN" altLang="en-US" sz="1000" dirty="0"/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// PID_MODE_POSITIONAL: </a:t>
            </a:r>
            <a:r>
              <a:rPr lang="zh-CN" altLang="en-US" sz="1000" dirty="0"/>
              <a:t>位置式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// float </a:t>
            </a:r>
            <a:r>
              <a:rPr lang="en-US" altLang="zh-CN" sz="1000" dirty="0" err="1"/>
              <a:t>pid_output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PID_Compute</a:t>
            </a:r>
            <a:r>
              <a:rPr lang="en-US" altLang="zh-CN" sz="1000" dirty="0"/>
              <a:t>(&amp;</a:t>
            </a:r>
            <a:r>
              <a:rPr lang="en-US" altLang="zh-CN" sz="1000" dirty="0" err="1"/>
              <a:t>hspeed_pid</a:t>
            </a:r>
            <a:r>
              <a:rPr lang="en-US" altLang="zh-CN" sz="1000" dirty="0"/>
              <a:t>, </a:t>
            </a:r>
            <a:r>
              <a:rPr lang="en-US" altLang="zh-CN" sz="1000" dirty="0" err="1"/>
              <a:t>hspeed_pid.Target</a:t>
            </a:r>
            <a:r>
              <a:rPr lang="en-US" altLang="zh-CN" sz="1000" dirty="0"/>
              <a:t>, </a:t>
            </a:r>
            <a:r>
              <a:rPr lang="en-US" altLang="zh-CN" sz="1000" dirty="0" err="1"/>
              <a:t>raw_rpm</a:t>
            </a:r>
            <a:r>
              <a:rPr lang="en-US" altLang="zh-CN" sz="1000" dirty="0"/>
              <a:t>, PID_MODE_INCREMENTAL);//</a:t>
            </a:r>
            <a:r>
              <a:rPr lang="zh-CN" altLang="en-US" sz="1000" dirty="0"/>
              <a:t>增量式使用本行代码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// </a:t>
            </a:r>
            <a:r>
              <a:rPr lang="zh-CN" altLang="en-US" sz="1000" dirty="0"/>
              <a:t>位置式使用下面的代码：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float </a:t>
            </a:r>
            <a:r>
              <a:rPr lang="en-US" altLang="zh-CN" sz="1000" dirty="0" err="1"/>
              <a:t>pid_output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PID_Compute</a:t>
            </a:r>
            <a:r>
              <a:rPr lang="en-US" altLang="zh-CN" sz="1000" dirty="0"/>
              <a:t>(&amp;</a:t>
            </a:r>
            <a:r>
              <a:rPr lang="en-US" altLang="zh-CN" sz="1000" dirty="0" err="1"/>
              <a:t>hspeed_pid</a:t>
            </a:r>
            <a:r>
              <a:rPr lang="en-US" altLang="zh-CN" sz="1000" dirty="0"/>
              <a:t>, </a:t>
            </a:r>
            <a:r>
              <a:rPr lang="en-US" altLang="zh-CN" sz="1000" dirty="0" err="1"/>
              <a:t>hspeed_pid.Target</a:t>
            </a:r>
            <a:r>
              <a:rPr lang="en-US" altLang="zh-CN" sz="1000" dirty="0"/>
              <a:t>, </a:t>
            </a:r>
            <a:r>
              <a:rPr lang="en-US" altLang="zh-CN" sz="1000"/>
              <a:t>raw_rpm, </a:t>
            </a:r>
            <a:r>
              <a:rPr lang="en-US" altLang="zh-CN" sz="1000" dirty="0"/>
              <a:t>PID_MODE_POSITIONAL);</a:t>
            </a:r>
          </a:p>
          <a:p>
            <a:br>
              <a:rPr lang="en-US" altLang="zh-CN" sz="1000" dirty="0"/>
            </a:br>
            <a:endParaRPr lang="en-US" altLang="zh-CN" sz="1000" dirty="0"/>
          </a:p>
          <a:p>
            <a:r>
              <a:rPr lang="en-US" altLang="zh-CN" sz="1000" dirty="0"/>
              <a:t>    // 3. </a:t>
            </a:r>
            <a:r>
              <a:rPr lang="zh-CN" altLang="en-US" sz="1000" dirty="0"/>
              <a:t>执行电机驱动 </a:t>
            </a:r>
            <a:r>
              <a:rPr lang="en-US" altLang="zh-CN" sz="1000" dirty="0"/>
              <a:t>(</a:t>
            </a:r>
            <a:r>
              <a:rPr lang="zh-CN" altLang="en-US" sz="1000" dirty="0"/>
              <a:t>将 </a:t>
            </a:r>
            <a:r>
              <a:rPr lang="en-US" altLang="zh-CN" sz="1000" dirty="0"/>
              <a:t>PID </a:t>
            </a:r>
            <a:r>
              <a:rPr lang="zh-CN" altLang="en-US" sz="1000" dirty="0"/>
              <a:t>计算的 </a:t>
            </a:r>
            <a:r>
              <a:rPr lang="en-US" altLang="zh-CN" sz="1000" dirty="0"/>
              <a:t>float </a:t>
            </a:r>
            <a:r>
              <a:rPr lang="zh-CN" altLang="en-US" sz="1000" dirty="0"/>
              <a:t>结果转为 </a:t>
            </a:r>
            <a:r>
              <a:rPr lang="en-US" altLang="zh-CN" sz="1000" dirty="0"/>
              <a:t>PWM </a:t>
            </a:r>
            <a:r>
              <a:rPr lang="zh-CN" altLang="en-US" sz="1000" dirty="0"/>
              <a:t>和 方向</a:t>
            </a:r>
            <a:r>
              <a:rPr lang="en-US" altLang="zh-CN" sz="1000" dirty="0"/>
              <a:t>)</a:t>
            </a:r>
            <a:endParaRPr lang="zh-CN" altLang="en-US" sz="1000" dirty="0"/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uint32_t </a:t>
            </a:r>
            <a:r>
              <a:rPr lang="en-US" altLang="zh-CN" sz="1000" dirty="0" err="1"/>
              <a:t>duty_cycle</a:t>
            </a:r>
            <a:r>
              <a:rPr lang="en-US" altLang="zh-CN" sz="1000" dirty="0"/>
              <a:t> = 0;</a:t>
            </a:r>
          </a:p>
          <a:p>
            <a:r>
              <a:rPr lang="en-US" altLang="zh-CN" sz="1000" dirty="0"/>
              <a:t>    </a:t>
            </a:r>
          </a:p>
          <a:p>
            <a:r>
              <a:rPr lang="en-US" altLang="zh-CN" sz="1000" dirty="0"/>
              <a:t>    if (</a:t>
            </a:r>
            <a:r>
              <a:rPr lang="en-US" altLang="zh-CN" sz="1000" dirty="0" err="1"/>
              <a:t>pid_output</a:t>
            </a:r>
            <a:r>
              <a:rPr lang="en-US" altLang="zh-CN" sz="1000" dirty="0"/>
              <a:t> &gt;= 0)</a:t>
            </a:r>
          </a:p>
          <a:p>
            <a:r>
              <a:rPr lang="en-US" altLang="zh-CN" sz="1000" dirty="0"/>
              <a:t>    {</a:t>
            </a:r>
          </a:p>
          <a:p>
            <a:r>
              <a:rPr lang="en-US" altLang="zh-CN" sz="1000" dirty="0"/>
              <a:t>        </a:t>
            </a:r>
            <a:r>
              <a:rPr lang="en-US" altLang="zh-CN" sz="1000" dirty="0" err="1"/>
              <a:t>BrushMotor_SetDirection</a:t>
            </a:r>
            <a:r>
              <a:rPr lang="en-US" altLang="zh-CN" sz="1000" dirty="0"/>
              <a:t>(MOTOR_FORWARD); // </a:t>
            </a:r>
            <a:r>
              <a:rPr lang="zh-CN" altLang="en-US" sz="1000" dirty="0"/>
              <a:t>设定为正向</a:t>
            </a:r>
          </a:p>
          <a:p>
            <a:r>
              <a:rPr lang="zh-CN" altLang="en-US" sz="1000" dirty="0"/>
              <a:t>        </a:t>
            </a:r>
            <a:r>
              <a:rPr lang="en-US" altLang="zh-CN" sz="1000" dirty="0" err="1"/>
              <a:t>duty_cycle</a:t>
            </a:r>
            <a:r>
              <a:rPr lang="en-US" altLang="zh-CN" sz="1000" dirty="0"/>
              <a:t> = (uint32_t)</a:t>
            </a:r>
            <a:r>
              <a:rPr lang="en-US" altLang="zh-CN" sz="1000" dirty="0" err="1"/>
              <a:t>pid_output</a:t>
            </a:r>
            <a:r>
              <a:rPr lang="en-US" altLang="zh-CN" sz="1000" dirty="0"/>
              <a:t>;      // </a:t>
            </a:r>
            <a:r>
              <a:rPr lang="zh-CN" altLang="en-US" sz="1000" dirty="0"/>
              <a:t>转换为占空比数值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}</a:t>
            </a:r>
          </a:p>
          <a:p>
            <a:r>
              <a:rPr lang="en-US" altLang="zh-CN" sz="1000" dirty="0"/>
              <a:t>    else</a:t>
            </a:r>
          </a:p>
          <a:p>
            <a:r>
              <a:rPr lang="en-US" altLang="zh-CN" sz="1000" dirty="0"/>
              <a:t>    {</a:t>
            </a:r>
          </a:p>
          <a:p>
            <a:r>
              <a:rPr lang="en-US" altLang="zh-CN" sz="1000" dirty="0"/>
              <a:t>        </a:t>
            </a:r>
            <a:r>
              <a:rPr lang="en-US" altLang="zh-CN" sz="1000" dirty="0" err="1"/>
              <a:t>BrushMotor_SetDirection</a:t>
            </a:r>
            <a:r>
              <a:rPr lang="en-US" altLang="zh-CN" sz="1000" dirty="0"/>
              <a:t>(MOTOR_REVERSE); // </a:t>
            </a:r>
            <a:r>
              <a:rPr lang="zh-CN" altLang="en-US" sz="1000" dirty="0"/>
              <a:t>设定为反向</a:t>
            </a:r>
          </a:p>
          <a:p>
            <a:r>
              <a:rPr lang="zh-CN" altLang="en-US" sz="1000" dirty="0"/>
              <a:t>        </a:t>
            </a:r>
            <a:r>
              <a:rPr lang="en-US" altLang="zh-CN" sz="1000" dirty="0" err="1"/>
              <a:t>duty_cycle</a:t>
            </a:r>
            <a:r>
              <a:rPr lang="en-US" altLang="zh-CN" sz="1000" dirty="0"/>
              <a:t> = (uint32_t)(-</a:t>
            </a:r>
            <a:r>
              <a:rPr lang="en-US" altLang="zh-CN" sz="1000" dirty="0" err="1"/>
              <a:t>pid_output</a:t>
            </a:r>
            <a:r>
              <a:rPr lang="en-US" altLang="zh-CN" sz="1000" dirty="0"/>
              <a:t>);   // </a:t>
            </a:r>
            <a:r>
              <a:rPr lang="zh-CN" altLang="en-US" sz="1000" dirty="0"/>
              <a:t>取绝对值作为占空比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}</a:t>
            </a:r>
          </a:p>
          <a:p>
            <a:r>
              <a:rPr lang="en-US" altLang="zh-CN" sz="1000" dirty="0"/>
              <a:t>    </a:t>
            </a:r>
          </a:p>
          <a:p>
            <a:r>
              <a:rPr lang="en-US" altLang="zh-CN" sz="1000" dirty="0"/>
              <a:t>    // </a:t>
            </a:r>
            <a:r>
              <a:rPr lang="zh-CN" altLang="en-US" sz="1000" dirty="0"/>
              <a:t>设置 </a:t>
            </a:r>
            <a:r>
              <a:rPr lang="en-US" altLang="zh-CN" sz="1000" dirty="0"/>
              <a:t>PWM (</a:t>
            </a:r>
            <a:r>
              <a:rPr lang="zh-CN" altLang="en-US" sz="1000" dirty="0"/>
              <a:t>调用 </a:t>
            </a:r>
            <a:r>
              <a:rPr lang="en-US" altLang="zh-CN" sz="1000" dirty="0" err="1"/>
              <a:t>bsp_brush_motor.c</a:t>
            </a:r>
            <a:r>
              <a:rPr lang="en-US" altLang="zh-CN" sz="1000" dirty="0"/>
              <a:t> </a:t>
            </a:r>
            <a:r>
              <a:rPr lang="zh-CN" altLang="en-US" sz="1000" dirty="0"/>
              <a:t>接口</a:t>
            </a:r>
            <a:r>
              <a:rPr lang="en-US" altLang="zh-CN" sz="1000" dirty="0"/>
              <a:t>)</a:t>
            </a:r>
            <a:endParaRPr lang="zh-CN" altLang="en-US" sz="1000" dirty="0"/>
          </a:p>
          <a:p>
            <a:r>
              <a:rPr lang="zh-CN" altLang="en-US" sz="1000" dirty="0"/>
              <a:t>    </a:t>
            </a:r>
            <a:r>
              <a:rPr lang="en-US" altLang="zh-CN" sz="1000" dirty="0" err="1"/>
              <a:t>BrushMotor_SetSpeed</a:t>
            </a:r>
            <a:r>
              <a:rPr lang="en-US" altLang="zh-CN" sz="1000" dirty="0"/>
              <a:t>(</a:t>
            </a:r>
            <a:r>
              <a:rPr lang="en-US" altLang="zh-CN" sz="1000" dirty="0" err="1"/>
              <a:t>duty_cycle</a:t>
            </a:r>
            <a:r>
              <a:rPr lang="en-US" altLang="zh-CN" sz="1000" dirty="0"/>
              <a:t>);</a:t>
            </a:r>
          </a:p>
          <a:p>
            <a:r>
              <a:rPr lang="en-US" altLang="zh-CN" sz="1000" dirty="0"/>
              <a:t>}</a:t>
            </a:r>
          </a:p>
          <a:p>
            <a:br>
              <a:rPr lang="en-US" altLang="zh-CN" sz="1000" dirty="0"/>
            </a:br>
            <a:endParaRPr lang="en-US" altLang="zh-CN" sz="1000" dirty="0"/>
          </a:p>
        </p:txBody>
      </p:sp>
    </p:spTree>
    <p:extLst>
      <p:ext uri="{BB962C8B-B14F-4D97-AF65-F5344CB8AC3E}">
        <p14:creationId xmlns:p14="http://schemas.microsoft.com/office/powerpoint/2010/main" val="2850874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F65D-34AF-2BB2-771F-4C7CC295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3CC9D41-E772-52E1-9D08-507A3CC6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514" y="2886529"/>
            <a:ext cx="8273143" cy="1302294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添加速度环的应用层代码（</a:t>
            </a:r>
            <a:r>
              <a:rPr lang="en-US" altLang="zh-CN" sz="4000" dirty="0" err="1"/>
              <a:t>main.c</a:t>
            </a:r>
            <a:r>
              <a:rPr lang="zh-CN" altLang="en-US" sz="4000" dirty="0"/>
              <a:t>中添加的代码</a:t>
            </a:r>
            <a:r>
              <a:rPr lang="en-US" altLang="zh-CN" sz="4000" dirty="0"/>
              <a:t>)</a:t>
            </a:r>
            <a:endParaRPr lang="zh-CN" altLang="en-US" sz="4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BA16CF-CFBE-E63B-5812-F09DCB99871C}"/>
              </a:ext>
            </a:extLst>
          </p:cNvPr>
          <p:cNvSpPr txBox="1"/>
          <p:nvPr/>
        </p:nvSpPr>
        <p:spPr>
          <a:xfrm>
            <a:off x="1889760" y="2829790"/>
            <a:ext cx="16807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/>
              <a:t>10.2.3 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140964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2515-8C22-B188-DAEE-5658DF43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25CCD-4F30-ECE3-985D-C8CAC5B3C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en-US" altLang="zh-CN" dirty="0" err="1"/>
              <a:t>main.c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4C5AA9-43B4-C001-2510-11E412AE0592}"/>
              </a:ext>
            </a:extLst>
          </p:cNvPr>
          <p:cNvSpPr txBox="1"/>
          <p:nvPr/>
        </p:nvSpPr>
        <p:spPr>
          <a:xfrm>
            <a:off x="3796935" y="395990"/>
            <a:ext cx="5571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添加头文件、控制模式枚举等本案例相关的一些变量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169980-7EF8-5120-60CB-016239FC9A81}"/>
              </a:ext>
            </a:extLst>
          </p:cNvPr>
          <p:cNvSpPr txBox="1"/>
          <p:nvPr/>
        </p:nvSpPr>
        <p:spPr>
          <a:xfrm>
            <a:off x="696685" y="960166"/>
            <a:ext cx="5286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#include "</a:t>
            </a:r>
            <a:r>
              <a:rPr lang="en-US" altLang="zh-CN" sz="1000" dirty="0" err="1"/>
              <a:t>speed_loop.h</a:t>
            </a:r>
            <a:r>
              <a:rPr lang="en-US" altLang="zh-CN" sz="1000" dirty="0"/>
              <a:t>"</a:t>
            </a:r>
          </a:p>
          <a:p>
            <a:r>
              <a:rPr lang="en-US" altLang="zh-CN" sz="1000" dirty="0"/>
              <a:t>#include "</a:t>
            </a:r>
            <a:r>
              <a:rPr lang="en-US" altLang="zh-CN" sz="1000" dirty="0" err="1"/>
              <a:t>pid_controller.h</a:t>
            </a:r>
            <a:r>
              <a:rPr lang="en-US" altLang="zh-CN" sz="1000" dirty="0"/>
              <a:t>"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FF414B-44F5-0D9F-0555-DF5D453F1871}"/>
              </a:ext>
            </a:extLst>
          </p:cNvPr>
          <p:cNvSpPr txBox="1"/>
          <p:nvPr/>
        </p:nvSpPr>
        <p:spPr>
          <a:xfrm>
            <a:off x="696685" y="1555120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/** 本例程新增的代码 **/</a:t>
            </a:r>
          </a:p>
          <a:p>
            <a:r>
              <a:rPr lang="zh-CN" altLang="en-US" sz="1000" dirty="0"/>
              <a:t>typedef enum</a:t>
            </a:r>
          </a:p>
          <a:p>
            <a:r>
              <a:rPr lang="zh-CN" altLang="en-US" sz="1000" dirty="0"/>
              <a:t>{</a:t>
            </a:r>
          </a:p>
          <a:p>
            <a:r>
              <a:rPr lang="zh-CN" altLang="en-US" sz="1000" dirty="0"/>
              <a:t>  MODE_OPEN_LOOP = 0,        // 开环模式，直接设置PWM占空比</a:t>
            </a:r>
          </a:p>
          <a:p>
            <a:r>
              <a:rPr lang="zh-CN" altLang="en-US" sz="1000" dirty="0"/>
              <a:t>  MODE_SPEED_CLOSED_LOOP = 1 // 闭环模式，设置目标RPM</a:t>
            </a:r>
          </a:p>
          <a:p>
            <a:r>
              <a:rPr lang="zh-CN" altLang="en-US" sz="1000" dirty="0"/>
              <a:t>} RunMode_t;</a:t>
            </a:r>
          </a:p>
          <a:p>
            <a:endParaRPr lang="zh-CN" altLang="en-US" sz="1000" dirty="0"/>
          </a:p>
          <a:p>
            <a:r>
              <a:rPr lang="zh-CN" altLang="en-US" sz="1000" dirty="0"/>
              <a:t>RunMode_t current_mode = MODE_SPEED_CLOSED_LOOP; // 默认当前模式为开环模式</a:t>
            </a:r>
          </a:p>
          <a:p>
            <a:r>
              <a:rPr lang="zh-CN" altLang="en-US" sz="1000" dirty="0"/>
              <a:t>float target_val = 0.0f;                         // 默认目标值为0(可能是Duty或RPM)</a:t>
            </a:r>
          </a:p>
          <a:p>
            <a:r>
              <a:rPr lang="zh-CN" altLang="en-US" sz="1000" dirty="0"/>
              <a:t>extern PID_Handle_t hspeed_pid; // 这样你才能在 main 里的 LCD 显示函数读取 pid 数据</a:t>
            </a:r>
          </a:p>
          <a:p>
            <a:endParaRPr lang="zh-CN" altLang="en-US" sz="1000" dirty="0"/>
          </a:p>
          <a:p>
            <a:r>
              <a:rPr lang="zh-CN" altLang="en-US" sz="1000" dirty="0"/>
              <a:t>uint8_t lcd_buf[50];                             // LCD显示缓冲区</a:t>
            </a:r>
          </a:p>
          <a:p>
            <a:r>
              <a:rPr lang="zh-CN" altLang="en-US" sz="1000" dirty="0"/>
              <a:t>/** 本例程新增的代码 **/</a:t>
            </a:r>
          </a:p>
        </p:txBody>
      </p:sp>
    </p:spTree>
    <p:extLst>
      <p:ext uri="{BB962C8B-B14F-4D97-AF65-F5344CB8AC3E}">
        <p14:creationId xmlns:p14="http://schemas.microsoft.com/office/powerpoint/2010/main" val="2395675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90DE6-402B-663D-2DE6-01440407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更新初始化的代码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AFD765-B8F7-A330-8955-A23989499E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dirty="0"/>
              <a:t> /* USER CODE BEGIN 2 */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DWT_Init</a:t>
            </a:r>
            <a:r>
              <a:rPr lang="en-US" altLang="zh-CN" dirty="0"/>
              <a:t>(); // </a:t>
            </a:r>
            <a:r>
              <a:rPr lang="zh-CN" altLang="en-US" dirty="0"/>
              <a:t>初始化</a:t>
            </a:r>
            <a:r>
              <a:rPr lang="en-US" altLang="zh-CN" dirty="0"/>
              <a:t>DWT</a:t>
            </a:r>
            <a:r>
              <a:rPr lang="zh-CN" altLang="en-US" dirty="0"/>
              <a:t>，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Key_Init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Led_Init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lcd_init</a:t>
            </a:r>
            <a:r>
              <a:rPr lang="en-US" altLang="zh-CN" dirty="0"/>
              <a:t>();</a:t>
            </a:r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lcd_show_string</a:t>
            </a:r>
            <a:r>
              <a:rPr lang="en-US" altLang="zh-CN" dirty="0"/>
              <a:t>(100, 10, 300, 32, 32, "Dr.GAO-Motor-1", RED);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lcd_show_string</a:t>
            </a:r>
            <a:r>
              <a:rPr lang="en-US" altLang="zh-CN" dirty="0"/>
              <a:t>(10, 60, 450, 24, 24, "Chap10: Speed Loop PID", BLUE);</a:t>
            </a:r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BSP_Encoder_Init</a:t>
            </a:r>
            <a:r>
              <a:rPr lang="en-US" altLang="zh-CN" dirty="0"/>
              <a:t>(); // </a:t>
            </a:r>
            <a:r>
              <a:rPr lang="zh-CN" altLang="en-US" dirty="0"/>
              <a:t>初始化编码器模块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// </a:t>
            </a:r>
            <a:r>
              <a:rPr lang="zh-CN" altLang="en-US" dirty="0"/>
              <a:t>根据实际使用的编码器进行启动</a:t>
            </a:r>
          </a:p>
          <a:p>
            <a:r>
              <a:rPr lang="zh-CN" altLang="en-US" dirty="0"/>
              <a:t>  </a:t>
            </a:r>
            <a:r>
              <a:rPr lang="en-US" altLang="zh-CN" dirty="0" err="1"/>
              <a:t>BSP_Encoder_Start</a:t>
            </a:r>
            <a:r>
              <a:rPr lang="en-US" altLang="zh-CN" dirty="0"/>
              <a:t>(ENCODER_PM1); // </a:t>
            </a:r>
            <a:r>
              <a:rPr lang="zh-CN" altLang="en-US" dirty="0"/>
              <a:t>启动</a:t>
            </a:r>
            <a:r>
              <a:rPr lang="en-US" altLang="zh-CN" dirty="0"/>
              <a:t>PM1</a:t>
            </a:r>
            <a:r>
              <a:rPr lang="zh-CN" altLang="en-US" dirty="0"/>
              <a:t>编码器</a:t>
            </a:r>
          </a:p>
          <a:p>
            <a:r>
              <a:rPr lang="zh-CN" altLang="en-US" dirty="0"/>
              <a:t>  </a:t>
            </a:r>
            <a:r>
              <a:rPr lang="en-US" altLang="zh-CN" dirty="0" err="1"/>
              <a:t>BrushMotor_Init</a:t>
            </a:r>
            <a:r>
              <a:rPr lang="en-US" altLang="zh-CN" dirty="0"/>
              <a:t>(&amp;pm1_motor);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BSP_Encoder_Start</a:t>
            </a:r>
            <a:r>
              <a:rPr lang="en-US" altLang="zh-CN" dirty="0"/>
              <a:t>(ENCODER_PM1); // </a:t>
            </a:r>
            <a:r>
              <a:rPr lang="zh-CN" altLang="en-US" dirty="0"/>
              <a:t>若编码器计数停止，启动编码器</a:t>
            </a:r>
          </a:p>
          <a:p>
            <a:r>
              <a:rPr lang="zh-CN" altLang="en-US" dirty="0"/>
              <a:t>  </a:t>
            </a:r>
            <a:r>
              <a:rPr lang="en-US" altLang="zh-CN" dirty="0" err="1"/>
              <a:t>HAL_ADC_Start_DMA</a:t>
            </a:r>
            <a:r>
              <a:rPr lang="en-US" altLang="zh-CN" dirty="0"/>
              <a:t>(&amp;hadc1, (uint32_t*)</a:t>
            </a:r>
            <a:r>
              <a:rPr lang="en-US" altLang="zh-CN" dirty="0" err="1"/>
              <a:t>adc_raw_data</a:t>
            </a:r>
            <a:r>
              <a:rPr lang="en-US" altLang="zh-CN" dirty="0"/>
              <a:t>, ADC_TOTAL_SAMPLES); // </a:t>
            </a:r>
            <a:r>
              <a:rPr lang="zh-CN" altLang="en-US" dirty="0"/>
              <a:t>启动</a:t>
            </a:r>
            <a:r>
              <a:rPr lang="en-US" altLang="zh-CN" dirty="0"/>
              <a:t>ADC1</a:t>
            </a:r>
            <a:r>
              <a:rPr lang="zh-CN" altLang="en-US" dirty="0"/>
              <a:t>的</a:t>
            </a:r>
            <a:r>
              <a:rPr lang="en-US" altLang="zh-CN" dirty="0"/>
              <a:t>DMA</a:t>
            </a:r>
            <a:r>
              <a:rPr lang="zh-CN" altLang="en-US" dirty="0"/>
              <a:t>采集</a:t>
            </a:r>
          </a:p>
          <a:p>
            <a:r>
              <a:rPr lang="zh-CN" altLang="en-US" dirty="0"/>
              <a:t>  </a:t>
            </a:r>
            <a:r>
              <a:rPr lang="en-US" altLang="zh-CN" dirty="0" err="1"/>
              <a:t>BSP_CurrentSensor_Init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BSP_VoltageSensor_Init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BSP_TemperSensor_Init</a:t>
            </a:r>
            <a:r>
              <a:rPr lang="en-US" altLang="zh-CN" dirty="0"/>
              <a:t>();</a:t>
            </a:r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SpeedLoop_Init</a:t>
            </a:r>
            <a:r>
              <a:rPr lang="en-US" altLang="zh-CN" dirty="0"/>
              <a:t>(); // </a:t>
            </a:r>
            <a:r>
              <a:rPr lang="zh-CN" altLang="en-US" dirty="0"/>
              <a:t>初始化速度闭环控制模块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HAL_TIM_Base_Start_IT(&amp;htim6); // </a:t>
            </a:r>
            <a:r>
              <a:rPr lang="zh-CN" altLang="en-US" dirty="0"/>
              <a:t>启动定时器</a:t>
            </a:r>
            <a:r>
              <a:rPr lang="en-US" altLang="zh-CN" dirty="0"/>
              <a:t>6</a:t>
            </a:r>
            <a:r>
              <a:rPr lang="zh-CN" altLang="en-US" dirty="0"/>
              <a:t>中断，用于更新</a:t>
            </a:r>
            <a:r>
              <a:rPr lang="en-US" altLang="zh-CN" dirty="0" err="1"/>
              <a:t>EnCoder</a:t>
            </a:r>
            <a:r>
              <a:rPr lang="zh-CN" altLang="en-US" dirty="0"/>
              <a:t>、电流采样等信息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/* USER CODE END 2 */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7586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5CD5-E883-E3E1-B488-364323CF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E3960-ECCA-1AD4-FEEA-DD0EA5BC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按键处理的代码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2C7BED-CCB5-E501-43A6-17EEB51407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4648" y="836023"/>
            <a:ext cx="5831352" cy="6021977"/>
          </a:xfrm>
        </p:spPr>
        <p:txBody>
          <a:bodyPr>
            <a:normAutofit/>
          </a:bodyPr>
          <a:lstStyle/>
          <a:p>
            <a:r>
              <a:rPr lang="en-US" altLang="zh-CN" sz="1000" dirty="0"/>
              <a:t> </a:t>
            </a:r>
            <a:r>
              <a:rPr lang="en-US" altLang="zh-CN" sz="1000" dirty="0" err="1"/>
              <a:t>KeyPressedID</a:t>
            </a:r>
            <a:r>
              <a:rPr lang="en-US" altLang="zh-CN" sz="1000" dirty="0"/>
              <a:t> </a:t>
            </a:r>
            <a:r>
              <a:rPr lang="en-US" altLang="zh-CN" sz="1000" dirty="0" err="1"/>
              <a:t>key_id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KEY_None</a:t>
            </a:r>
            <a:r>
              <a:rPr lang="en-US" altLang="zh-CN" sz="1000" dirty="0"/>
              <a:t>;</a:t>
            </a:r>
          </a:p>
          <a:p>
            <a:r>
              <a:rPr lang="en-US" altLang="zh-CN" sz="1000" dirty="0"/>
              <a:t>  int duty = 0;</a:t>
            </a:r>
          </a:p>
          <a:p>
            <a:r>
              <a:rPr lang="en-US" altLang="zh-CN" sz="1000" dirty="0"/>
              <a:t>  uint16_t </a:t>
            </a:r>
            <a:r>
              <a:rPr lang="en-US" altLang="zh-CN" sz="1000" dirty="0" err="1"/>
              <a:t>send_cnt</a:t>
            </a:r>
            <a:r>
              <a:rPr lang="en-US" altLang="zh-CN" sz="1000" dirty="0"/>
              <a:t> = 0; // </a:t>
            </a:r>
            <a:r>
              <a:rPr lang="zh-CN" altLang="en-US" sz="1000" dirty="0"/>
              <a:t>用于控制串口发送频率的计数器</a:t>
            </a:r>
          </a:p>
          <a:p>
            <a:endParaRPr lang="zh-CN" altLang="en-US" sz="1000" dirty="0"/>
          </a:p>
          <a:p>
            <a:r>
              <a:rPr lang="zh-CN" altLang="en-US" sz="1000" dirty="0"/>
              <a:t>  </a:t>
            </a:r>
            <a:r>
              <a:rPr lang="en-US" altLang="zh-CN" sz="1000" dirty="0"/>
              <a:t>while (1)</a:t>
            </a:r>
          </a:p>
          <a:p>
            <a:r>
              <a:rPr lang="en-US" altLang="zh-CN" sz="1000" dirty="0"/>
              <a:t>  {</a:t>
            </a:r>
          </a:p>
          <a:p>
            <a:r>
              <a:rPr lang="en-US" altLang="zh-CN" sz="1000" dirty="0"/>
              <a:t>    /* --- 1. </a:t>
            </a:r>
            <a:r>
              <a:rPr lang="zh-CN" altLang="en-US" sz="1000" dirty="0"/>
              <a:t>按键处理 </a:t>
            </a:r>
            <a:r>
              <a:rPr lang="en-US" altLang="zh-CN" sz="1000" dirty="0"/>
              <a:t>--- */</a:t>
            </a:r>
          </a:p>
          <a:p>
            <a:r>
              <a:rPr lang="en-US" altLang="zh-CN" sz="1000" dirty="0"/>
              <a:t>    </a:t>
            </a:r>
            <a:r>
              <a:rPr lang="en-US" altLang="zh-CN" sz="1000" dirty="0" err="1"/>
              <a:t>key_id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Key_Scan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    if (</a:t>
            </a:r>
            <a:r>
              <a:rPr lang="en-US" altLang="zh-CN" sz="1000" dirty="0" err="1"/>
              <a:t>key_id</a:t>
            </a:r>
            <a:r>
              <a:rPr lang="en-US" altLang="zh-CN" sz="1000" dirty="0"/>
              <a:t> == KEY0_Pressed) //k0,</a:t>
            </a:r>
            <a:r>
              <a:rPr lang="zh-CN" altLang="en-US" sz="1000" dirty="0"/>
              <a:t>用于切换模式（开环控制 </a:t>
            </a:r>
            <a:r>
              <a:rPr lang="en-US" altLang="zh-CN" sz="1000" dirty="0"/>
              <a:t>or </a:t>
            </a:r>
            <a:r>
              <a:rPr lang="zh-CN" altLang="en-US" sz="1000" dirty="0"/>
              <a:t>闭环控制）</a:t>
            </a:r>
          </a:p>
          <a:p>
            <a:r>
              <a:rPr lang="zh-CN" altLang="en-US" sz="1000" dirty="0"/>
              <a:t>    </a:t>
            </a:r>
            <a:r>
              <a:rPr lang="en-US" altLang="zh-CN" sz="1000" dirty="0"/>
              <a:t>{</a:t>
            </a:r>
          </a:p>
          <a:p>
            <a:r>
              <a:rPr lang="en-US" altLang="zh-CN" sz="1000" dirty="0"/>
              <a:t>      // </a:t>
            </a:r>
            <a:r>
              <a:rPr lang="zh-CN" altLang="en-US" sz="1000" dirty="0"/>
              <a:t>切换模式前，先停车；</a:t>
            </a:r>
          </a:p>
          <a:p>
            <a:r>
              <a:rPr lang="zh-CN" altLang="en-US" sz="1000" dirty="0"/>
              <a:t>     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= 0.0f;</a:t>
            </a:r>
          </a:p>
          <a:p>
            <a:r>
              <a:rPr lang="en-US" altLang="zh-CN" sz="1000" dirty="0"/>
              <a:t>      </a:t>
            </a:r>
            <a:r>
              <a:rPr lang="en-US" altLang="zh-CN" sz="1000" dirty="0" err="1"/>
              <a:t>BrushMotor_Stop</a:t>
            </a:r>
            <a:r>
              <a:rPr lang="en-US" altLang="zh-CN" sz="1000" dirty="0"/>
              <a:t>();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   if (</a:t>
            </a:r>
            <a:r>
              <a:rPr lang="en-US" altLang="zh-CN" sz="1000" dirty="0" err="1"/>
              <a:t>current_mode</a:t>
            </a:r>
            <a:r>
              <a:rPr lang="en-US" altLang="zh-CN" sz="1000" dirty="0"/>
              <a:t> == MODE_OPEN_LOOP)</a:t>
            </a:r>
          </a:p>
          <a:p>
            <a:r>
              <a:rPr lang="en-US" altLang="zh-CN" sz="1000" dirty="0"/>
              <a:t>      {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current_mode</a:t>
            </a:r>
            <a:r>
              <a:rPr lang="en-US" altLang="zh-CN" sz="1000" dirty="0"/>
              <a:t> = MODE_SPEED_CLOSED_LOOP;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lcd_show_string</a:t>
            </a:r>
            <a:r>
              <a:rPr lang="en-US" altLang="zh-CN" sz="1000" dirty="0"/>
              <a:t>(10, 60, 270, 24, 24, "Mode: Speed Closed Loop", GREEN);</a:t>
            </a:r>
          </a:p>
          <a:p>
            <a:r>
              <a:rPr lang="en-US" altLang="zh-CN" sz="1000" dirty="0"/>
              <a:t>      }</a:t>
            </a:r>
          </a:p>
          <a:p>
            <a:r>
              <a:rPr lang="en-US" altLang="zh-CN" sz="1000" dirty="0"/>
              <a:t>      else</a:t>
            </a:r>
          </a:p>
          <a:p>
            <a:r>
              <a:rPr lang="en-US" altLang="zh-CN" sz="1000" dirty="0"/>
              <a:t>      {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current_mode</a:t>
            </a:r>
            <a:r>
              <a:rPr lang="en-US" altLang="zh-CN" sz="1000" dirty="0"/>
              <a:t> = MODE_OPEN_LOOP;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lcd_show_string</a:t>
            </a:r>
            <a:r>
              <a:rPr lang="en-US" altLang="zh-CN" sz="1000" dirty="0"/>
              <a:t>(10, 60, 270, 24, 24, "Mode: Open Loop         ", GREEN);</a:t>
            </a:r>
          </a:p>
          <a:p>
            <a:r>
              <a:rPr lang="en-US" altLang="zh-CN" sz="1000" dirty="0"/>
              <a:t>      }</a:t>
            </a:r>
          </a:p>
          <a:p>
            <a:r>
              <a:rPr lang="en-US" altLang="zh-CN" sz="1000" dirty="0"/>
              <a:t>    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E9EC13-89B3-DCFB-A6D1-C251543992CE}"/>
              </a:ext>
            </a:extLst>
          </p:cNvPr>
          <p:cNvSpPr txBox="1"/>
          <p:nvPr/>
        </p:nvSpPr>
        <p:spPr>
          <a:xfrm>
            <a:off x="6261463" y="977431"/>
            <a:ext cx="509451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  else if (</a:t>
            </a:r>
            <a:r>
              <a:rPr lang="en-US" altLang="zh-CN" sz="1000" dirty="0" err="1"/>
              <a:t>key_id</a:t>
            </a:r>
            <a:r>
              <a:rPr lang="en-US" altLang="zh-CN" sz="1000" dirty="0"/>
              <a:t> == KEY1_Pressed) // k1</a:t>
            </a:r>
            <a:r>
              <a:rPr lang="zh-CN" altLang="en-US" sz="1000" dirty="0"/>
              <a:t>，加速 </a:t>
            </a:r>
            <a:r>
              <a:rPr lang="en-US" altLang="zh-CN" sz="1000" dirty="0"/>
              <a:t>/ </a:t>
            </a:r>
            <a:r>
              <a:rPr lang="zh-CN" altLang="en-US" sz="1000" dirty="0"/>
              <a:t>反转减速</a:t>
            </a:r>
          </a:p>
          <a:p>
            <a:r>
              <a:rPr lang="zh-CN" altLang="en-US" sz="1000" dirty="0"/>
              <a:t>    </a:t>
            </a:r>
            <a:r>
              <a:rPr lang="en-US" altLang="zh-CN" sz="1000" dirty="0"/>
              <a:t>{</a:t>
            </a:r>
          </a:p>
          <a:p>
            <a:r>
              <a:rPr lang="en-US" altLang="zh-CN" sz="1000" dirty="0"/>
              <a:t>      if (</a:t>
            </a:r>
            <a:r>
              <a:rPr lang="en-US" altLang="zh-CN" sz="1000" dirty="0" err="1"/>
              <a:t>current_mode</a:t>
            </a:r>
            <a:r>
              <a:rPr lang="en-US" altLang="zh-CN" sz="1000" dirty="0"/>
              <a:t> == MODE_OPEN_LOOP)</a:t>
            </a:r>
          </a:p>
          <a:p>
            <a:r>
              <a:rPr lang="en-US" altLang="zh-CN" sz="1000" dirty="0"/>
              <a:t>      {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+= 10.0f; // </a:t>
            </a:r>
            <a:r>
              <a:rPr lang="zh-CN" altLang="en-US" sz="1000" dirty="0"/>
              <a:t>开环模式下，增加</a:t>
            </a:r>
            <a:r>
              <a:rPr lang="en-US" altLang="zh-CN" sz="1000" dirty="0"/>
              <a:t>PWM</a:t>
            </a:r>
            <a:r>
              <a:rPr lang="zh-CN" altLang="en-US" sz="1000" dirty="0"/>
              <a:t>占空比</a:t>
            </a:r>
          </a:p>
          <a:p>
            <a:r>
              <a:rPr lang="zh-CN" altLang="en-US" sz="1000" dirty="0"/>
              <a:t>        </a:t>
            </a:r>
            <a:r>
              <a:rPr lang="en-US" altLang="zh-CN" sz="1000" dirty="0"/>
              <a:t>if (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&gt; 100.0f)</a:t>
            </a:r>
          </a:p>
          <a:p>
            <a:r>
              <a:rPr lang="en-US" altLang="zh-CN" sz="1000" dirty="0"/>
              <a:t>         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= 100.0f; // </a:t>
            </a:r>
            <a:r>
              <a:rPr lang="zh-CN" altLang="en-US" sz="1000" dirty="0"/>
              <a:t>限幅</a:t>
            </a:r>
          </a:p>
          <a:p>
            <a:r>
              <a:rPr lang="zh-CN" altLang="en-US" sz="1000" dirty="0"/>
              <a:t>      </a:t>
            </a:r>
            <a:r>
              <a:rPr lang="en-US" altLang="zh-CN" sz="1000" dirty="0"/>
              <a:t>}</a:t>
            </a:r>
          </a:p>
          <a:p>
            <a:r>
              <a:rPr lang="en-US" altLang="zh-CN" sz="1000" dirty="0"/>
              <a:t>      else // </a:t>
            </a:r>
            <a:r>
              <a:rPr lang="zh-CN" altLang="en-US" sz="1000" dirty="0"/>
              <a:t>闭环模式下，增加目标</a:t>
            </a:r>
            <a:r>
              <a:rPr lang="en-US" altLang="zh-CN" sz="1000" dirty="0"/>
              <a:t>RPM</a:t>
            </a:r>
          </a:p>
          <a:p>
            <a:r>
              <a:rPr lang="en-US" altLang="zh-CN" sz="1000" dirty="0"/>
              <a:t>      {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+= 20.0f; // </a:t>
            </a:r>
            <a:r>
              <a:rPr lang="zh-CN" altLang="en-US" sz="1000" dirty="0"/>
              <a:t>增加</a:t>
            </a:r>
            <a:r>
              <a:rPr lang="en-US" altLang="zh-CN" sz="1000" dirty="0"/>
              <a:t>50 RPM</a:t>
            </a:r>
          </a:p>
          <a:p>
            <a:r>
              <a:rPr lang="en-US" altLang="zh-CN" sz="1000" dirty="0"/>
              <a:t>        if (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&gt; 200.0f)</a:t>
            </a:r>
          </a:p>
          <a:p>
            <a:r>
              <a:rPr lang="en-US" altLang="zh-CN" sz="1000" dirty="0"/>
              <a:t>         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= 200.0f; // </a:t>
            </a:r>
            <a:r>
              <a:rPr lang="zh-CN" altLang="en-US" sz="1000" dirty="0"/>
              <a:t>限制最高目标转速</a:t>
            </a:r>
          </a:p>
          <a:p>
            <a:r>
              <a:rPr lang="zh-CN" altLang="en-US" sz="1000" dirty="0"/>
              <a:t>      </a:t>
            </a:r>
            <a:r>
              <a:rPr lang="en-US" altLang="zh-CN" sz="1000" dirty="0"/>
              <a:t>}</a:t>
            </a:r>
          </a:p>
          <a:p>
            <a:r>
              <a:rPr lang="en-US" altLang="zh-CN" sz="1000" dirty="0"/>
              <a:t>      </a:t>
            </a:r>
            <a:r>
              <a:rPr lang="en-US" altLang="zh-CN" sz="1000" dirty="0" err="1"/>
              <a:t>BrushMotor_Enable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    }</a:t>
            </a:r>
          </a:p>
          <a:p>
            <a:r>
              <a:rPr lang="en-US" altLang="zh-CN" sz="1000" dirty="0"/>
              <a:t> </a:t>
            </a:r>
          </a:p>
          <a:p>
            <a:r>
              <a:rPr lang="en-US" altLang="zh-CN" sz="1000" dirty="0"/>
              <a:t>else if (</a:t>
            </a:r>
            <a:r>
              <a:rPr lang="en-US" altLang="zh-CN" sz="1000" dirty="0" err="1"/>
              <a:t>key_id</a:t>
            </a:r>
            <a:r>
              <a:rPr lang="en-US" altLang="zh-CN" sz="1000" dirty="0"/>
              <a:t> == KEY2_Pressed)  // k2</a:t>
            </a:r>
            <a:r>
              <a:rPr lang="zh-CN" altLang="en-US" sz="1000" dirty="0"/>
              <a:t>，减速 </a:t>
            </a:r>
            <a:r>
              <a:rPr lang="en-US" altLang="zh-CN" sz="1000" dirty="0"/>
              <a:t>/ </a:t>
            </a:r>
            <a:r>
              <a:rPr lang="zh-CN" altLang="en-US" sz="1000" dirty="0"/>
              <a:t>反转加速</a:t>
            </a:r>
          </a:p>
          <a:p>
            <a:r>
              <a:rPr lang="zh-CN" altLang="en-US" sz="1000" dirty="0"/>
              <a:t>    </a:t>
            </a:r>
            <a:r>
              <a:rPr lang="en-US" altLang="zh-CN" sz="1000" dirty="0"/>
              <a:t>{</a:t>
            </a:r>
          </a:p>
          <a:p>
            <a:r>
              <a:rPr lang="en-US" altLang="zh-CN" sz="1000" dirty="0"/>
              <a:t>      if (</a:t>
            </a:r>
            <a:r>
              <a:rPr lang="en-US" altLang="zh-CN" sz="1000" dirty="0" err="1"/>
              <a:t>current_mode</a:t>
            </a:r>
            <a:r>
              <a:rPr lang="en-US" altLang="zh-CN" sz="1000" dirty="0"/>
              <a:t> == MODE_OPEN_LOOP)</a:t>
            </a:r>
          </a:p>
          <a:p>
            <a:r>
              <a:rPr lang="en-US" altLang="zh-CN" sz="1000" dirty="0"/>
              <a:t>      {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-= 10.0f; // </a:t>
            </a:r>
            <a:r>
              <a:rPr lang="zh-CN" altLang="en-US" sz="1000" dirty="0"/>
              <a:t>开环模式下，减少</a:t>
            </a:r>
            <a:r>
              <a:rPr lang="en-US" altLang="zh-CN" sz="1000" dirty="0"/>
              <a:t>PWM</a:t>
            </a:r>
            <a:r>
              <a:rPr lang="zh-CN" altLang="en-US" sz="1000" dirty="0"/>
              <a:t>占空比</a:t>
            </a:r>
          </a:p>
          <a:p>
            <a:r>
              <a:rPr lang="zh-CN" altLang="en-US" sz="1000" dirty="0"/>
              <a:t>        </a:t>
            </a:r>
            <a:r>
              <a:rPr lang="en-US" altLang="zh-CN" sz="1000" dirty="0"/>
              <a:t>if (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&lt; -100.0f)</a:t>
            </a:r>
          </a:p>
          <a:p>
            <a:r>
              <a:rPr lang="en-US" altLang="zh-CN" sz="1000" dirty="0"/>
              <a:t>         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= -100.0f; // </a:t>
            </a:r>
            <a:r>
              <a:rPr lang="zh-CN" altLang="en-US" sz="1000" dirty="0"/>
              <a:t>限幅</a:t>
            </a:r>
          </a:p>
          <a:p>
            <a:r>
              <a:rPr lang="zh-CN" altLang="en-US" sz="1000" dirty="0"/>
              <a:t>      </a:t>
            </a:r>
            <a:r>
              <a:rPr lang="en-US" altLang="zh-CN" sz="1000" dirty="0"/>
              <a:t>}</a:t>
            </a:r>
          </a:p>
          <a:p>
            <a:r>
              <a:rPr lang="en-US" altLang="zh-CN" sz="1000" dirty="0"/>
              <a:t>      else // </a:t>
            </a:r>
            <a:r>
              <a:rPr lang="zh-CN" altLang="en-US" sz="1000" dirty="0"/>
              <a:t>闭环模式下，减少目标</a:t>
            </a:r>
            <a:r>
              <a:rPr lang="en-US" altLang="zh-CN" sz="1000" dirty="0"/>
              <a:t>RPM</a:t>
            </a:r>
          </a:p>
          <a:p>
            <a:r>
              <a:rPr lang="en-US" altLang="zh-CN" sz="1000" dirty="0"/>
              <a:t>      {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-= 20.0f; // </a:t>
            </a:r>
            <a:r>
              <a:rPr lang="zh-CN" altLang="en-US" sz="1000" dirty="0"/>
              <a:t>减少</a:t>
            </a:r>
            <a:r>
              <a:rPr lang="en-US" altLang="zh-CN" sz="1000" dirty="0"/>
              <a:t>50 RPM</a:t>
            </a:r>
          </a:p>
          <a:p>
            <a:r>
              <a:rPr lang="en-US" altLang="zh-CN" sz="1000" dirty="0"/>
              <a:t>        if (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&lt; -200.0f)</a:t>
            </a:r>
          </a:p>
          <a:p>
            <a:r>
              <a:rPr lang="en-US" altLang="zh-CN" sz="1000" dirty="0"/>
              <a:t>         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 = -200.0f; // </a:t>
            </a:r>
            <a:r>
              <a:rPr lang="zh-CN" altLang="en-US" sz="1000" dirty="0"/>
              <a:t>限幅</a:t>
            </a:r>
          </a:p>
          <a:p>
            <a:r>
              <a:rPr lang="zh-CN" altLang="en-US" sz="1000" dirty="0"/>
              <a:t>      </a:t>
            </a:r>
            <a:r>
              <a:rPr lang="en-US" altLang="zh-CN" sz="1000" dirty="0"/>
              <a:t>}</a:t>
            </a:r>
          </a:p>
          <a:p>
            <a:r>
              <a:rPr lang="en-US" altLang="zh-CN" sz="1000" dirty="0"/>
              <a:t>      </a:t>
            </a:r>
            <a:r>
              <a:rPr lang="en-US" altLang="zh-CN" sz="1000" dirty="0" err="1"/>
              <a:t>BrushMotor_Enable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    }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86852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E2F4C-ADD8-3001-D114-4AF89E3C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D28B3-B886-7874-D371-3E5B062D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电机控制逻辑执行代码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F63C19-07D9-E52F-EF1C-1AB92E7AD2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14728" y="896983"/>
            <a:ext cx="5831352" cy="6021977"/>
          </a:xfrm>
        </p:spPr>
        <p:txBody>
          <a:bodyPr>
            <a:normAutofit/>
          </a:bodyPr>
          <a:lstStyle/>
          <a:p>
            <a:r>
              <a:rPr lang="zh-CN" altLang="en-US" sz="1050" dirty="0"/>
              <a:t> </a:t>
            </a:r>
            <a:r>
              <a:rPr lang="en-US" altLang="zh-CN" sz="1050" dirty="0"/>
              <a:t>/* --- 2. </a:t>
            </a:r>
            <a:r>
              <a:rPr lang="zh-CN" altLang="en-US" sz="1050" dirty="0"/>
              <a:t>执行电机控制逻辑 </a:t>
            </a:r>
            <a:r>
              <a:rPr lang="en-US" altLang="zh-CN" sz="1050" dirty="0"/>
              <a:t>--- */</a:t>
            </a:r>
          </a:p>
          <a:p>
            <a:r>
              <a:rPr lang="en-US" altLang="zh-CN" sz="1050" dirty="0"/>
              <a:t>    if (</a:t>
            </a:r>
            <a:r>
              <a:rPr lang="en-US" altLang="zh-CN" sz="1050" dirty="0" err="1"/>
              <a:t>current_mode</a:t>
            </a:r>
            <a:r>
              <a:rPr lang="en-US" altLang="zh-CN" sz="1050" dirty="0"/>
              <a:t> == MODE_OPEN_LOOP)</a:t>
            </a:r>
          </a:p>
          <a:p>
            <a:r>
              <a:rPr lang="en-US" altLang="zh-CN" sz="1050" dirty="0"/>
              <a:t>    {</a:t>
            </a:r>
          </a:p>
          <a:p>
            <a:r>
              <a:rPr lang="en-US" altLang="zh-CN" sz="1050" dirty="0"/>
              <a:t>      // </a:t>
            </a:r>
            <a:r>
              <a:rPr lang="zh-CN" altLang="en-US" sz="1050" dirty="0"/>
              <a:t>开环模式，直接设置</a:t>
            </a:r>
            <a:r>
              <a:rPr lang="en-US" altLang="zh-CN" sz="1050" dirty="0"/>
              <a:t>PWM</a:t>
            </a:r>
            <a:r>
              <a:rPr lang="zh-CN" altLang="en-US" sz="1050" dirty="0"/>
              <a:t>占空比</a:t>
            </a:r>
          </a:p>
          <a:p>
            <a:r>
              <a:rPr lang="zh-CN" altLang="en-US" sz="1050" dirty="0"/>
              <a:t>      </a:t>
            </a:r>
            <a:r>
              <a:rPr lang="en-US" altLang="zh-CN" sz="1050" dirty="0"/>
              <a:t>duty = (int)</a:t>
            </a:r>
            <a:r>
              <a:rPr lang="en-US" altLang="zh-CN" sz="1050" dirty="0" err="1"/>
              <a:t>target_val</a:t>
            </a:r>
            <a:r>
              <a:rPr lang="en-US" altLang="zh-CN" sz="1050" dirty="0"/>
              <a:t>;</a:t>
            </a:r>
          </a:p>
          <a:p>
            <a:r>
              <a:rPr lang="en-US" altLang="zh-CN" sz="1050" dirty="0"/>
              <a:t>      </a:t>
            </a:r>
            <a:r>
              <a:rPr lang="en-US" altLang="zh-CN" sz="1050" dirty="0" err="1"/>
              <a:t>BrushMotor_SetSpeed</a:t>
            </a:r>
            <a:r>
              <a:rPr lang="en-US" altLang="zh-CN" sz="1050" dirty="0"/>
              <a:t>(abs(duty)); // </a:t>
            </a:r>
            <a:r>
              <a:rPr lang="zh-CN" altLang="en-US" sz="1050" dirty="0"/>
              <a:t>设置速度</a:t>
            </a:r>
          </a:p>
          <a:p>
            <a:r>
              <a:rPr lang="zh-CN" altLang="en-US" sz="1050" dirty="0"/>
              <a:t>      </a:t>
            </a:r>
            <a:r>
              <a:rPr lang="en-US" altLang="zh-CN" sz="1050" dirty="0"/>
              <a:t>if (duty &gt; 0)</a:t>
            </a:r>
          </a:p>
          <a:p>
            <a:r>
              <a:rPr lang="en-US" altLang="zh-CN" sz="1050" dirty="0"/>
              <a:t>        </a:t>
            </a:r>
            <a:r>
              <a:rPr lang="en-US" altLang="zh-CN" sz="1050" dirty="0" err="1"/>
              <a:t>BrushMotor_SetDirection</a:t>
            </a:r>
            <a:r>
              <a:rPr lang="en-US" altLang="zh-CN" sz="1050" dirty="0"/>
              <a:t>(MOTOR_FORWARD); // </a:t>
            </a:r>
            <a:r>
              <a:rPr lang="zh-CN" altLang="en-US" sz="1050" dirty="0"/>
              <a:t>正转</a:t>
            </a:r>
          </a:p>
          <a:p>
            <a:r>
              <a:rPr lang="zh-CN" altLang="en-US" sz="1050" dirty="0"/>
              <a:t>      </a:t>
            </a:r>
            <a:r>
              <a:rPr lang="en-US" altLang="zh-CN" sz="1050" dirty="0"/>
              <a:t>else if (duty &lt; 0)</a:t>
            </a:r>
          </a:p>
          <a:p>
            <a:r>
              <a:rPr lang="en-US" altLang="zh-CN" sz="1050" dirty="0"/>
              <a:t>        </a:t>
            </a:r>
            <a:r>
              <a:rPr lang="en-US" altLang="zh-CN" sz="1050" dirty="0" err="1"/>
              <a:t>BrushMotor_SetDirection</a:t>
            </a:r>
            <a:r>
              <a:rPr lang="en-US" altLang="zh-CN" sz="1050" dirty="0"/>
              <a:t>(MOTOR_REVERSE); // </a:t>
            </a:r>
            <a:r>
              <a:rPr lang="zh-CN" altLang="en-US" sz="1050" dirty="0"/>
              <a:t>反转</a:t>
            </a:r>
          </a:p>
          <a:p>
            <a:r>
              <a:rPr lang="zh-CN" altLang="en-US" sz="1050" dirty="0"/>
              <a:t>      </a:t>
            </a:r>
            <a:r>
              <a:rPr lang="en-US" altLang="zh-CN" sz="1050" dirty="0"/>
              <a:t>else</a:t>
            </a:r>
          </a:p>
          <a:p>
            <a:r>
              <a:rPr lang="en-US" altLang="zh-CN" sz="1050" dirty="0"/>
              <a:t>        </a:t>
            </a:r>
            <a:r>
              <a:rPr lang="en-US" altLang="zh-CN" sz="1050" dirty="0" err="1"/>
              <a:t>BrushMotor_Stop</a:t>
            </a:r>
            <a:r>
              <a:rPr lang="en-US" altLang="zh-CN" sz="1050" dirty="0"/>
              <a:t>(); // </a:t>
            </a:r>
            <a:r>
              <a:rPr lang="zh-CN" altLang="en-US" sz="1050" dirty="0"/>
              <a:t>停止</a:t>
            </a:r>
          </a:p>
          <a:p>
            <a:r>
              <a:rPr lang="zh-CN" altLang="en-US" sz="1050" dirty="0"/>
              <a:t>    </a:t>
            </a:r>
            <a:r>
              <a:rPr lang="en-US" altLang="zh-CN" sz="1050" dirty="0"/>
              <a:t>}</a:t>
            </a:r>
          </a:p>
          <a:p>
            <a:r>
              <a:rPr lang="en-US" altLang="zh-CN" sz="1050" dirty="0"/>
              <a:t>    else</a:t>
            </a:r>
          </a:p>
          <a:p>
            <a:r>
              <a:rPr lang="en-US" altLang="zh-CN" sz="1050" dirty="0"/>
              <a:t>    {</a:t>
            </a:r>
          </a:p>
          <a:p>
            <a:r>
              <a:rPr lang="en-US" altLang="zh-CN" sz="1050" dirty="0"/>
              <a:t>      // </a:t>
            </a:r>
            <a:r>
              <a:rPr lang="zh-CN" altLang="en-US" sz="1050" dirty="0"/>
              <a:t>闭环模式，只需要设置目标</a:t>
            </a:r>
            <a:r>
              <a:rPr lang="en-US" altLang="zh-CN" sz="1050" dirty="0"/>
              <a:t>RPM</a:t>
            </a:r>
          </a:p>
          <a:p>
            <a:r>
              <a:rPr lang="en-US" altLang="zh-CN" sz="1050" dirty="0"/>
              <a:t>      </a:t>
            </a:r>
            <a:r>
              <a:rPr lang="en-US" altLang="zh-CN" sz="1050" dirty="0" err="1"/>
              <a:t>SpeedLoop_SetTargetRPM</a:t>
            </a:r>
            <a:r>
              <a:rPr lang="en-US" altLang="zh-CN" sz="1050" dirty="0"/>
              <a:t>(</a:t>
            </a:r>
            <a:r>
              <a:rPr lang="en-US" altLang="zh-CN" sz="1050" dirty="0" err="1"/>
              <a:t>target_val</a:t>
            </a:r>
            <a:r>
              <a:rPr lang="en-US" altLang="zh-CN" sz="1050" dirty="0"/>
              <a:t>);</a:t>
            </a:r>
          </a:p>
          <a:p>
            <a:r>
              <a:rPr lang="en-US" altLang="zh-CN" sz="105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898632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93A0-A4FA-1019-1918-8079FF4E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7F4FF-2972-BB33-4910-880A83AF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屏幕刷新与串口发送代码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D6068F-AC70-483A-2DA3-D706762F6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8157" y="923107"/>
            <a:ext cx="5831352" cy="6021977"/>
          </a:xfrm>
        </p:spPr>
        <p:txBody>
          <a:bodyPr>
            <a:normAutofit/>
          </a:bodyPr>
          <a:lstStyle/>
          <a:p>
            <a:r>
              <a:rPr lang="en-US" altLang="zh-CN" sz="1000" dirty="0"/>
              <a:t> static uint32_t </a:t>
            </a:r>
            <a:r>
              <a:rPr lang="en-US" altLang="zh-CN" sz="1000" dirty="0" err="1"/>
              <a:t>last_disp_time</a:t>
            </a:r>
            <a:r>
              <a:rPr lang="en-US" altLang="zh-CN" sz="1000" dirty="0"/>
              <a:t> = 0;</a:t>
            </a:r>
          </a:p>
          <a:p>
            <a:r>
              <a:rPr lang="en-US" altLang="zh-CN" sz="1000" dirty="0"/>
              <a:t>    static float </a:t>
            </a:r>
            <a:r>
              <a:rPr lang="en-US" altLang="zh-CN" sz="1000" dirty="0" err="1"/>
              <a:t>current_duty</a:t>
            </a:r>
            <a:r>
              <a:rPr lang="en-US" altLang="zh-CN" sz="1000" dirty="0"/>
              <a:t> = 0;</a:t>
            </a:r>
          </a:p>
          <a:p>
            <a:r>
              <a:rPr lang="en-US" altLang="zh-CN" sz="1000" dirty="0"/>
              <a:t>    if (</a:t>
            </a:r>
            <a:r>
              <a:rPr lang="en-US" altLang="zh-CN" sz="1000" dirty="0" err="1"/>
              <a:t>HAL_GetTick</a:t>
            </a:r>
            <a:r>
              <a:rPr lang="en-US" altLang="zh-CN" sz="1000" dirty="0"/>
              <a:t>() - </a:t>
            </a:r>
            <a:r>
              <a:rPr lang="en-US" altLang="zh-CN" sz="1000" dirty="0" err="1"/>
              <a:t>last_disp_time</a:t>
            </a:r>
            <a:r>
              <a:rPr lang="en-US" altLang="zh-CN" sz="1000" dirty="0"/>
              <a:t> &gt; 200)</a:t>
            </a:r>
          </a:p>
          <a:p>
            <a:r>
              <a:rPr lang="en-US" altLang="zh-CN" sz="1000" dirty="0"/>
              <a:t>    {</a:t>
            </a:r>
          </a:p>
          <a:p>
            <a:r>
              <a:rPr lang="en-US" altLang="zh-CN" sz="1000" dirty="0"/>
              <a:t>      // 1. </a:t>
            </a:r>
            <a:r>
              <a:rPr lang="zh-CN" altLang="en-US" sz="1000" dirty="0"/>
              <a:t>显示目标值</a:t>
            </a:r>
          </a:p>
          <a:p>
            <a:r>
              <a:rPr lang="zh-CN" altLang="en-US" sz="1000" dirty="0"/>
              <a:t>      </a:t>
            </a:r>
            <a:r>
              <a:rPr lang="en-US" altLang="zh-CN" sz="1000" dirty="0" err="1"/>
              <a:t>sprintf</a:t>
            </a:r>
            <a:r>
              <a:rPr lang="en-US" altLang="zh-CN" sz="1000" dirty="0"/>
              <a:t>((char *)</a:t>
            </a:r>
            <a:r>
              <a:rPr lang="en-US" altLang="zh-CN" sz="1000" dirty="0" err="1"/>
              <a:t>lcd_buf</a:t>
            </a:r>
            <a:r>
              <a:rPr lang="en-US" altLang="zh-CN" sz="1000" dirty="0"/>
              <a:t>, "Target: %6.1f   ",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);</a:t>
            </a:r>
          </a:p>
          <a:p>
            <a:r>
              <a:rPr lang="en-US" altLang="zh-CN" sz="1000" dirty="0"/>
              <a:t>      </a:t>
            </a:r>
            <a:r>
              <a:rPr lang="en-US" altLang="zh-CN" sz="1000" dirty="0" err="1"/>
              <a:t>lcd_show_string</a:t>
            </a:r>
            <a:r>
              <a:rPr lang="en-US" altLang="zh-CN" sz="1000" dirty="0"/>
              <a:t>(10, 100, 240, 24, 24, (char *)</a:t>
            </a:r>
            <a:r>
              <a:rPr lang="en-US" altLang="zh-CN" sz="1000" dirty="0" err="1"/>
              <a:t>lcd_buf</a:t>
            </a:r>
            <a:r>
              <a:rPr lang="en-US" altLang="zh-CN" sz="1000" dirty="0"/>
              <a:t>, BLUE);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   // 2. </a:t>
            </a:r>
            <a:r>
              <a:rPr lang="zh-CN" altLang="en-US" sz="1000" dirty="0"/>
              <a:t>显示实际实际转速</a:t>
            </a:r>
          </a:p>
          <a:p>
            <a:r>
              <a:rPr lang="zh-CN" altLang="en-US" sz="1000" dirty="0"/>
              <a:t>      </a:t>
            </a:r>
            <a:r>
              <a:rPr lang="en-US" altLang="zh-CN" sz="1000" dirty="0"/>
              <a:t>float </a:t>
            </a:r>
            <a:r>
              <a:rPr lang="en-US" altLang="zh-CN" sz="1000" dirty="0" err="1"/>
              <a:t>real_rpm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BSP_Encoder_GetSpeedRPM</a:t>
            </a:r>
            <a:r>
              <a:rPr lang="en-US" altLang="zh-CN" sz="1000" dirty="0"/>
              <a:t>(ENCODER_PM1);</a:t>
            </a:r>
          </a:p>
          <a:p>
            <a:r>
              <a:rPr lang="en-US" altLang="zh-CN" sz="1000" dirty="0"/>
              <a:t>      </a:t>
            </a:r>
            <a:r>
              <a:rPr lang="en-US" altLang="zh-CN" sz="1000" dirty="0" err="1"/>
              <a:t>sprintf</a:t>
            </a:r>
            <a:r>
              <a:rPr lang="en-US" altLang="zh-CN" sz="1000" dirty="0"/>
              <a:t>((char *)</a:t>
            </a:r>
            <a:r>
              <a:rPr lang="en-US" altLang="zh-CN" sz="1000" dirty="0" err="1"/>
              <a:t>lcd_buf</a:t>
            </a:r>
            <a:r>
              <a:rPr lang="en-US" altLang="zh-CN" sz="1000" dirty="0"/>
              <a:t>, "Actual: %6.1f RPM", </a:t>
            </a:r>
            <a:r>
              <a:rPr lang="en-US" altLang="zh-CN" sz="1000" dirty="0" err="1"/>
              <a:t>real_rpm</a:t>
            </a:r>
            <a:r>
              <a:rPr lang="en-US" altLang="zh-CN" sz="1000" dirty="0"/>
              <a:t>);</a:t>
            </a:r>
          </a:p>
          <a:p>
            <a:r>
              <a:rPr lang="en-US" altLang="zh-CN" sz="1000" dirty="0"/>
              <a:t>      </a:t>
            </a:r>
            <a:r>
              <a:rPr lang="en-US" altLang="zh-CN" sz="1000" dirty="0" err="1"/>
              <a:t>lcd_show_string</a:t>
            </a:r>
            <a:r>
              <a:rPr lang="en-US" altLang="zh-CN" sz="1000" dirty="0"/>
              <a:t>(10, 140, 240, 24, 24, (char *)</a:t>
            </a:r>
            <a:r>
              <a:rPr lang="en-US" altLang="zh-CN" sz="1000" dirty="0" err="1"/>
              <a:t>lcd_buf</a:t>
            </a:r>
            <a:r>
              <a:rPr lang="en-US" altLang="zh-CN" sz="1000" dirty="0"/>
              <a:t>, BLACK);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   // 3. </a:t>
            </a:r>
            <a:r>
              <a:rPr lang="zh-CN" altLang="en-US" sz="1000" dirty="0"/>
              <a:t>显示</a:t>
            </a:r>
            <a:r>
              <a:rPr lang="en-US" altLang="zh-CN" sz="1000" dirty="0"/>
              <a:t>PWM</a:t>
            </a:r>
          </a:p>
          <a:p>
            <a:r>
              <a:rPr lang="en-US" altLang="zh-CN" sz="1000" dirty="0"/>
              <a:t>      if (</a:t>
            </a:r>
            <a:r>
              <a:rPr lang="en-US" altLang="zh-CN" sz="1000" dirty="0" err="1"/>
              <a:t>current_mode</a:t>
            </a:r>
            <a:r>
              <a:rPr lang="en-US" altLang="zh-CN" sz="1000" dirty="0"/>
              <a:t> == MODE_OPEN_LOOP)</a:t>
            </a:r>
          </a:p>
          <a:p>
            <a:r>
              <a:rPr lang="en-US" altLang="zh-CN" sz="1000" dirty="0"/>
              <a:t>      {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current_duty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target_val</a:t>
            </a:r>
            <a:r>
              <a:rPr lang="en-US" altLang="zh-CN" sz="1000" dirty="0"/>
              <a:t>; // </a:t>
            </a:r>
            <a:r>
              <a:rPr lang="zh-CN" altLang="en-US" sz="1000" dirty="0"/>
              <a:t>开环模式下，目标值是</a:t>
            </a:r>
            <a:r>
              <a:rPr lang="en-US" altLang="zh-CN" sz="1000" dirty="0" err="1"/>
              <a:t>pwm</a:t>
            </a:r>
            <a:r>
              <a:rPr lang="zh-CN" altLang="en-US" sz="1000" dirty="0"/>
              <a:t>输出值</a:t>
            </a:r>
          </a:p>
          <a:p>
            <a:r>
              <a:rPr lang="zh-CN" altLang="en-US" sz="1000" dirty="0"/>
              <a:t>      </a:t>
            </a:r>
            <a:r>
              <a:rPr lang="en-US" altLang="zh-CN" sz="1000" dirty="0"/>
              <a:t>}</a:t>
            </a:r>
          </a:p>
          <a:p>
            <a:r>
              <a:rPr lang="en-US" altLang="zh-CN" sz="1000" dirty="0"/>
              <a:t>      else</a:t>
            </a:r>
          </a:p>
          <a:p>
            <a:r>
              <a:rPr lang="en-US" altLang="zh-CN" sz="1000" dirty="0"/>
              <a:t>      {</a:t>
            </a:r>
          </a:p>
          <a:p>
            <a:r>
              <a:rPr lang="en-US" altLang="zh-CN" sz="1000" dirty="0"/>
              <a:t>        // </a:t>
            </a:r>
            <a:r>
              <a:rPr lang="zh-CN" altLang="en-US" sz="1000" dirty="0"/>
              <a:t>闭环模式下，占空比是</a:t>
            </a:r>
            <a:r>
              <a:rPr lang="en-US" altLang="zh-CN" sz="1000" dirty="0"/>
              <a:t>PID</a:t>
            </a:r>
            <a:r>
              <a:rPr lang="zh-CN" altLang="en-US" sz="1000" dirty="0"/>
              <a:t>的计算输出结果</a:t>
            </a:r>
          </a:p>
          <a:p>
            <a:r>
              <a:rPr lang="zh-CN" altLang="en-US" sz="1000" dirty="0"/>
              <a:t>        </a:t>
            </a:r>
            <a:r>
              <a:rPr lang="en-US" altLang="zh-CN" sz="1000" dirty="0"/>
              <a:t>extern </a:t>
            </a:r>
            <a:r>
              <a:rPr lang="en-US" altLang="zh-CN" sz="1000" dirty="0" err="1"/>
              <a:t>PID_Handle_t</a:t>
            </a:r>
            <a:r>
              <a:rPr lang="en-US" altLang="zh-CN" sz="1000" dirty="0"/>
              <a:t> </a:t>
            </a:r>
            <a:r>
              <a:rPr lang="en-US" altLang="zh-CN" sz="1000" dirty="0" err="1"/>
              <a:t>hspeed_pid</a:t>
            </a:r>
            <a:r>
              <a:rPr lang="en-US" altLang="zh-CN" sz="1000" dirty="0"/>
              <a:t>;</a:t>
            </a:r>
          </a:p>
          <a:p>
            <a:r>
              <a:rPr lang="en-US" altLang="zh-CN" sz="1000" dirty="0"/>
              <a:t>        </a:t>
            </a:r>
            <a:r>
              <a:rPr lang="en-US" altLang="zh-CN" sz="1000" dirty="0" err="1"/>
              <a:t>current_duty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hspeed_pid.Output</a:t>
            </a:r>
            <a:r>
              <a:rPr lang="en-US" altLang="zh-CN" sz="1000" dirty="0"/>
              <a:t>;</a:t>
            </a:r>
          </a:p>
          <a:p>
            <a:r>
              <a:rPr lang="en-US" altLang="zh-CN" sz="1000" dirty="0"/>
              <a:t>      }</a:t>
            </a:r>
          </a:p>
          <a:p>
            <a:r>
              <a:rPr lang="en-US" altLang="zh-CN" sz="1000" dirty="0"/>
              <a:t>      </a:t>
            </a:r>
            <a:r>
              <a:rPr lang="en-US" altLang="zh-CN" sz="1000" dirty="0" err="1"/>
              <a:t>sprintf</a:t>
            </a:r>
            <a:r>
              <a:rPr lang="en-US" altLang="zh-CN" sz="1000" dirty="0"/>
              <a:t>((char *)</a:t>
            </a:r>
            <a:r>
              <a:rPr lang="en-US" altLang="zh-CN" sz="1000" dirty="0" err="1"/>
              <a:t>lcd_buf</a:t>
            </a:r>
            <a:r>
              <a:rPr lang="en-US" altLang="zh-CN" sz="1000" dirty="0"/>
              <a:t>, "Duty  : %6.1f %% ", </a:t>
            </a:r>
            <a:r>
              <a:rPr lang="en-US" altLang="zh-CN" sz="1000" dirty="0" err="1"/>
              <a:t>current_duty</a:t>
            </a:r>
            <a:r>
              <a:rPr lang="en-US" altLang="zh-CN" sz="1000" dirty="0"/>
              <a:t>);</a:t>
            </a:r>
          </a:p>
          <a:p>
            <a:r>
              <a:rPr lang="en-US" altLang="zh-CN" sz="1000" dirty="0"/>
              <a:t>      </a:t>
            </a:r>
            <a:r>
              <a:rPr lang="en-US" altLang="zh-CN" sz="1000" dirty="0" err="1"/>
              <a:t>lcd_show_string</a:t>
            </a:r>
            <a:r>
              <a:rPr lang="en-US" altLang="zh-CN" sz="1000" dirty="0"/>
              <a:t>(10, 180, 240, 24, 24, (char *)</a:t>
            </a:r>
            <a:r>
              <a:rPr lang="en-US" altLang="zh-CN" sz="1000" dirty="0" err="1"/>
              <a:t>lcd_buf</a:t>
            </a:r>
            <a:r>
              <a:rPr lang="en-US" altLang="zh-CN" sz="1000" dirty="0"/>
              <a:t>, RED);</a:t>
            </a:r>
          </a:p>
          <a:p>
            <a:r>
              <a:rPr lang="en-US" altLang="zh-CN" sz="1000" dirty="0"/>
              <a:t>      </a:t>
            </a:r>
            <a:r>
              <a:rPr lang="en-US" altLang="zh-CN" sz="1000" dirty="0" err="1"/>
              <a:t>last_disp_time</a:t>
            </a:r>
            <a:r>
              <a:rPr lang="en-US" altLang="zh-CN" sz="1000" dirty="0"/>
              <a:t> = </a:t>
            </a:r>
            <a:r>
              <a:rPr lang="en-US" altLang="zh-CN" sz="1000" dirty="0" err="1"/>
              <a:t>HAL_GetTick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    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A8D3D3-7A30-AE77-BF4C-E3C4AD6A2C71}"/>
              </a:ext>
            </a:extLst>
          </p:cNvPr>
          <p:cNvSpPr txBox="1"/>
          <p:nvPr/>
        </p:nvSpPr>
        <p:spPr>
          <a:xfrm>
            <a:off x="6347923" y="692395"/>
            <a:ext cx="5408648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050" dirty="0"/>
          </a:p>
          <a:p>
            <a:r>
              <a:rPr lang="en-US" altLang="zh-CN" sz="1050" dirty="0"/>
              <a:t>    // </a:t>
            </a:r>
            <a:r>
              <a:rPr lang="zh-CN" altLang="en-US" sz="1050" dirty="0"/>
              <a:t>读取编码器数据</a:t>
            </a:r>
          </a:p>
          <a:p>
            <a:r>
              <a:rPr lang="zh-CN" altLang="en-US" sz="1050" dirty="0"/>
              <a:t>    </a:t>
            </a:r>
            <a:r>
              <a:rPr lang="en-US" altLang="zh-CN" sz="1050" dirty="0"/>
              <a:t>float rpm1 = </a:t>
            </a:r>
            <a:r>
              <a:rPr lang="en-US" altLang="zh-CN" sz="1050" dirty="0" err="1"/>
              <a:t>BSP_Encoder_GetSpeedRPM</a:t>
            </a:r>
            <a:r>
              <a:rPr lang="en-US" altLang="zh-CN" sz="1050" dirty="0"/>
              <a:t>(ENCODER_PM1);</a:t>
            </a:r>
          </a:p>
          <a:p>
            <a:endParaRPr lang="en-US" altLang="zh-CN" sz="1050" dirty="0"/>
          </a:p>
          <a:p>
            <a:r>
              <a:rPr lang="en-US" altLang="zh-CN" sz="1050" dirty="0"/>
              <a:t>    // </a:t>
            </a:r>
            <a:r>
              <a:rPr lang="zh-CN" altLang="en-US" sz="1050" dirty="0"/>
              <a:t>读取电流数据</a:t>
            </a:r>
          </a:p>
          <a:p>
            <a:r>
              <a:rPr lang="zh-CN" altLang="en-US" sz="1050" dirty="0"/>
              <a:t>    </a:t>
            </a:r>
            <a:r>
              <a:rPr lang="en-US" altLang="zh-CN" sz="1050" dirty="0"/>
              <a:t>float </a:t>
            </a:r>
            <a:r>
              <a:rPr lang="en-US" altLang="zh-CN" sz="1050" dirty="0" err="1"/>
              <a:t>current_ma</a:t>
            </a:r>
            <a:r>
              <a:rPr lang="en-US" altLang="zh-CN" sz="1050" dirty="0"/>
              <a:t> = </a:t>
            </a:r>
            <a:r>
              <a:rPr lang="en-US" altLang="zh-CN" sz="1050" dirty="0" err="1"/>
              <a:t>BSP_CurrentSensor_GetCurrent</a:t>
            </a:r>
            <a:r>
              <a:rPr lang="en-US" altLang="zh-CN" sz="1050" dirty="0"/>
              <a:t>();</a:t>
            </a:r>
          </a:p>
          <a:p>
            <a:endParaRPr lang="en-US" altLang="zh-CN" sz="1050" dirty="0"/>
          </a:p>
          <a:p>
            <a:r>
              <a:rPr lang="en-US" altLang="zh-CN" sz="1050" dirty="0"/>
              <a:t>    // </a:t>
            </a:r>
            <a:r>
              <a:rPr lang="zh-CN" altLang="en-US" sz="1050" dirty="0"/>
              <a:t>读取电压值并显示</a:t>
            </a:r>
          </a:p>
          <a:p>
            <a:r>
              <a:rPr lang="zh-CN" altLang="en-US" sz="1050" dirty="0"/>
              <a:t>    </a:t>
            </a:r>
            <a:r>
              <a:rPr lang="en-US" altLang="zh-CN" sz="1050" dirty="0"/>
              <a:t>float </a:t>
            </a:r>
            <a:r>
              <a:rPr lang="en-US" altLang="zh-CN" sz="1050" dirty="0" err="1"/>
              <a:t>voltage_v</a:t>
            </a:r>
            <a:r>
              <a:rPr lang="en-US" altLang="zh-CN" sz="1050" dirty="0"/>
              <a:t> = </a:t>
            </a:r>
            <a:r>
              <a:rPr lang="en-US" altLang="zh-CN" sz="1050" dirty="0" err="1"/>
              <a:t>BSP_VoltageSensor_GetPowerVoltage</a:t>
            </a:r>
            <a:r>
              <a:rPr lang="en-US" altLang="zh-CN" sz="1050" dirty="0"/>
              <a:t>();</a:t>
            </a:r>
          </a:p>
          <a:p>
            <a:endParaRPr lang="en-US" altLang="zh-CN" sz="1050" dirty="0"/>
          </a:p>
          <a:p>
            <a:r>
              <a:rPr lang="en-US" altLang="zh-CN" sz="1050" dirty="0"/>
              <a:t>    // </a:t>
            </a:r>
            <a:r>
              <a:rPr lang="zh-CN" altLang="en-US" sz="1050" dirty="0"/>
              <a:t>读取温度值并显示</a:t>
            </a:r>
          </a:p>
          <a:p>
            <a:r>
              <a:rPr lang="zh-CN" altLang="en-US" sz="1050" dirty="0"/>
              <a:t>    </a:t>
            </a:r>
            <a:r>
              <a:rPr lang="en-US" altLang="zh-CN" sz="1050" dirty="0"/>
              <a:t>float </a:t>
            </a:r>
            <a:r>
              <a:rPr lang="en-US" altLang="zh-CN" sz="1050" dirty="0" err="1"/>
              <a:t>temper_c</a:t>
            </a:r>
            <a:r>
              <a:rPr lang="en-US" altLang="zh-CN" sz="1050" dirty="0"/>
              <a:t> = </a:t>
            </a:r>
            <a:r>
              <a:rPr lang="en-US" altLang="zh-CN" sz="1050" dirty="0" err="1"/>
              <a:t>BSP_TemperSensor_GetTemperature</a:t>
            </a:r>
            <a:r>
              <a:rPr lang="en-US" altLang="zh-CN" sz="1050" dirty="0"/>
              <a:t>();</a:t>
            </a:r>
          </a:p>
          <a:p>
            <a:r>
              <a:rPr lang="en-US" altLang="zh-CN" sz="1050" dirty="0"/>
              <a:t>    // </a:t>
            </a:r>
            <a:r>
              <a:rPr lang="zh-CN" altLang="en-US" sz="1050" dirty="0"/>
              <a:t>串口发送（每 </a:t>
            </a:r>
            <a:r>
              <a:rPr lang="en-US" altLang="zh-CN" sz="1050" dirty="0"/>
              <a:t>10*10 + 10*</a:t>
            </a:r>
            <a:r>
              <a:rPr lang="zh-CN" altLang="en-US" sz="1050" dirty="0"/>
              <a:t>可能的按键消抖所用时长 </a:t>
            </a:r>
            <a:r>
              <a:rPr lang="en-US" altLang="zh-CN" sz="1050" dirty="0" err="1"/>
              <a:t>ms</a:t>
            </a:r>
            <a:r>
              <a:rPr lang="en-US" altLang="zh-CN" sz="1050" dirty="0"/>
              <a:t> </a:t>
            </a:r>
            <a:r>
              <a:rPr lang="zh-CN" altLang="en-US" sz="1050" dirty="0"/>
              <a:t>一次）</a:t>
            </a:r>
          </a:p>
          <a:p>
            <a:r>
              <a:rPr lang="zh-CN" altLang="en-US" sz="1050" dirty="0"/>
              <a:t>    </a:t>
            </a:r>
            <a:r>
              <a:rPr lang="en-US" altLang="zh-CN" sz="1050" dirty="0"/>
              <a:t>if (++</a:t>
            </a:r>
            <a:r>
              <a:rPr lang="en-US" altLang="zh-CN" sz="1050" dirty="0" err="1"/>
              <a:t>send_cnt</a:t>
            </a:r>
            <a:r>
              <a:rPr lang="en-US" altLang="zh-CN" sz="1050" dirty="0"/>
              <a:t> &gt;= 100)</a:t>
            </a:r>
          </a:p>
          <a:p>
            <a:r>
              <a:rPr lang="en-US" altLang="zh-CN" sz="1050" dirty="0"/>
              <a:t>    { // </a:t>
            </a:r>
            <a:r>
              <a:rPr lang="zh-CN" altLang="en-US" sz="1050" dirty="0"/>
              <a:t>假设 </a:t>
            </a:r>
            <a:r>
              <a:rPr lang="en-US" altLang="zh-CN" sz="1050" dirty="0"/>
              <a:t>while(1) </a:t>
            </a:r>
            <a:r>
              <a:rPr lang="zh-CN" altLang="en-US" sz="1050" dirty="0"/>
              <a:t>循环 </a:t>
            </a:r>
            <a:r>
              <a:rPr lang="en-US" altLang="zh-CN" sz="1050" dirty="0"/>
              <a:t>~50ms/</a:t>
            </a:r>
            <a:r>
              <a:rPr lang="zh-CN" altLang="en-US" sz="1050" dirty="0"/>
              <a:t>次 → </a:t>
            </a:r>
            <a:r>
              <a:rPr lang="en-US" altLang="zh-CN" sz="1050" dirty="0"/>
              <a:t>10×50=500ms</a:t>
            </a:r>
          </a:p>
          <a:p>
            <a:r>
              <a:rPr lang="en-US" altLang="zh-CN" sz="1050" dirty="0"/>
              <a:t>      </a:t>
            </a:r>
            <a:r>
              <a:rPr lang="en-US" altLang="zh-CN" sz="1050" dirty="0" err="1"/>
              <a:t>send_cnt</a:t>
            </a:r>
            <a:r>
              <a:rPr lang="en-US" altLang="zh-CN" sz="1050" dirty="0"/>
              <a:t> = 0;</a:t>
            </a:r>
          </a:p>
          <a:p>
            <a:r>
              <a:rPr lang="en-US" altLang="zh-CN" sz="1050" dirty="0"/>
              <a:t>      </a:t>
            </a:r>
            <a:r>
              <a:rPr lang="en-US" altLang="zh-CN" sz="1050" dirty="0" err="1"/>
              <a:t>sprintf</a:t>
            </a:r>
            <a:r>
              <a:rPr lang="en-US" altLang="zh-CN" sz="1050" dirty="0"/>
              <a:t>((char *)</a:t>
            </a:r>
            <a:r>
              <a:rPr lang="en-US" altLang="zh-CN" sz="1050" dirty="0" err="1"/>
              <a:t>lcd_buf</a:t>
            </a:r>
            <a:r>
              <a:rPr lang="en-US" altLang="zh-CN" sz="1050" dirty="0"/>
              <a:t>, "PM1_Pulses: %.1f, RPM: %.2f\r\n",</a:t>
            </a:r>
          </a:p>
          <a:p>
            <a:r>
              <a:rPr lang="en-US" altLang="zh-CN" sz="1050" dirty="0"/>
              <a:t>              </a:t>
            </a:r>
            <a:r>
              <a:rPr lang="en-US" altLang="zh-CN" sz="1050" dirty="0" err="1"/>
              <a:t>current_duty</a:t>
            </a:r>
            <a:r>
              <a:rPr lang="en-US" altLang="zh-CN" sz="1050" dirty="0"/>
              <a:t>, rpm1);</a:t>
            </a:r>
          </a:p>
          <a:p>
            <a:endParaRPr lang="en-US" altLang="zh-CN" sz="1050" dirty="0"/>
          </a:p>
          <a:p>
            <a:r>
              <a:rPr lang="en-US" altLang="zh-CN" sz="1050" dirty="0"/>
              <a:t>      </a:t>
            </a:r>
            <a:r>
              <a:rPr lang="en-US" altLang="zh-CN" sz="1050" dirty="0" err="1"/>
              <a:t>USART_SendString</a:t>
            </a:r>
            <a:r>
              <a:rPr lang="en-US" altLang="zh-CN" sz="1050" dirty="0"/>
              <a:t>((char *)</a:t>
            </a:r>
            <a:r>
              <a:rPr lang="en-US" altLang="zh-CN" sz="1050" dirty="0" err="1"/>
              <a:t>lcd_buf</a:t>
            </a:r>
            <a:r>
              <a:rPr lang="en-US" altLang="zh-CN" sz="1050" dirty="0"/>
              <a:t>);</a:t>
            </a:r>
          </a:p>
          <a:p>
            <a:r>
              <a:rPr lang="en-US" altLang="zh-CN" sz="1050" dirty="0"/>
              <a:t>    }</a:t>
            </a:r>
          </a:p>
          <a:p>
            <a:r>
              <a:rPr lang="en-US" altLang="zh-CN" sz="1050" dirty="0"/>
              <a:t>    </a:t>
            </a:r>
            <a:r>
              <a:rPr lang="en-US" altLang="zh-CN" sz="1050" dirty="0" err="1"/>
              <a:t>HAL_Delay</a:t>
            </a:r>
            <a:r>
              <a:rPr lang="en-US" altLang="zh-CN" sz="1050" dirty="0"/>
              <a:t>(10);</a:t>
            </a:r>
          </a:p>
        </p:txBody>
      </p:sp>
    </p:spTree>
    <p:extLst>
      <p:ext uri="{BB962C8B-B14F-4D97-AF65-F5344CB8AC3E}">
        <p14:creationId xmlns:p14="http://schemas.microsoft.com/office/powerpoint/2010/main" val="3244852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B7EDD-98F0-BAE5-CA5D-895DBC02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8D641DA-D14A-D8C4-39A6-88FCEEDAB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514" y="2886529"/>
            <a:ext cx="8273143" cy="651147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Keil MDK</a:t>
            </a:r>
            <a:r>
              <a:rPr lang="zh-CN" altLang="en-US" sz="4000" dirty="0"/>
              <a:t>配置、观察实验结果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32288-794E-09CF-461A-A1517FE7373C}"/>
              </a:ext>
            </a:extLst>
          </p:cNvPr>
          <p:cNvSpPr txBox="1"/>
          <p:nvPr/>
        </p:nvSpPr>
        <p:spPr>
          <a:xfrm>
            <a:off x="1889760" y="2829790"/>
            <a:ext cx="16807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/>
              <a:t>10.2.4 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3488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B086C-985C-DE8D-3769-84329A20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33755-FDD5-E5FC-94F7-0C20D5D4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文件、编译路径的添加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F4ED18-209E-B4EF-3BE4-BFA04DF5103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60" y="1305945"/>
            <a:ext cx="4972050" cy="344805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CA1B49A-11BE-88A4-A7C2-F9F2FD3C4C09}"/>
              </a:ext>
            </a:extLst>
          </p:cNvPr>
          <p:cNvCxnSpPr/>
          <p:nvPr/>
        </p:nvCxnSpPr>
        <p:spPr>
          <a:xfrm flipH="1">
            <a:off x="1558834" y="2638697"/>
            <a:ext cx="409303" cy="7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3F428DA-1164-E743-7CC4-7BA353E2AA26}"/>
              </a:ext>
            </a:extLst>
          </p:cNvPr>
          <p:cNvCxnSpPr/>
          <p:nvPr/>
        </p:nvCxnSpPr>
        <p:spPr>
          <a:xfrm flipH="1">
            <a:off x="1637211" y="2638697"/>
            <a:ext cx="330926" cy="191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1376865-928F-DCF2-2DDA-7FDA78263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1305945"/>
            <a:ext cx="62103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58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768E3-E587-A3A0-7652-84B6F00D2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配置下载调试工具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E6DF422-78B4-7607-D164-F8DB9C4AB24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120" y="1217227"/>
            <a:ext cx="619125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5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2026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嵌入式</a:t>
            </a:r>
            <a:endParaRPr kumimoji="1" lang="zh-CN" altLang="en-US" dirty="0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2026.01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8722</TotalTime>
  <Words>4178</Words>
  <Application>Microsoft Office PowerPoint</Application>
  <PresentationFormat>宽屏</PresentationFormat>
  <Paragraphs>441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Source Han Sans</vt:lpstr>
      <vt:lpstr>Source Han Sans CN Regular</vt:lpstr>
      <vt:lpstr>等线</vt:lpstr>
      <vt:lpstr>微软雅黑</vt:lpstr>
      <vt:lpstr>Arial</vt:lpstr>
      <vt:lpstr>Consolas</vt:lpstr>
      <vt:lpstr>Office 主题​​</vt:lpstr>
      <vt:lpstr>PowerPoint 演示文稿</vt:lpstr>
      <vt:lpstr>目标</vt:lpstr>
      <vt:lpstr>10.2.1 CubeMX工程准备</vt:lpstr>
      <vt:lpstr>1 代码下载，Gitee共享链接</vt:lpstr>
      <vt:lpstr>2. 更改CubeMX的工程名</vt:lpstr>
      <vt:lpstr>3. 生成keil mdk工程代码</vt:lpstr>
      <vt:lpstr>10.2.2 添加速度环的控制代码</vt:lpstr>
      <vt:lpstr>1. PID控制部分的代码框架</vt:lpstr>
      <vt:lpstr>2 配置control_config.h</vt:lpstr>
      <vt:lpstr>3 pid_controller.h</vt:lpstr>
      <vt:lpstr>4 pid_controller.c</vt:lpstr>
      <vt:lpstr>4 pid_controller.c</vt:lpstr>
      <vt:lpstr>5 speed_loop.h</vt:lpstr>
      <vt:lpstr>5 speed_loop.c</vt:lpstr>
      <vt:lpstr>添加速度环的应用层代码（main.c中添加的代码)</vt:lpstr>
      <vt:lpstr>1 main.c</vt:lpstr>
      <vt:lpstr>2. 更新初始化的代码</vt:lpstr>
      <vt:lpstr>3. 按键处理的代码</vt:lpstr>
      <vt:lpstr>4. 电机控制逻辑执行代码</vt:lpstr>
      <vt:lpstr>5. 屏幕刷新与串口发送代码</vt:lpstr>
      <vt:lpstr>Keil MDK配置、观察实验结果</vt:lpstr>
      <vt:lpstr>1. 文件、编译路径的添加 </vt:lpstr>
      <vt:lpstr>2. 配置下载调试工具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222</cp:revision>
  <dcterms:created xsi:type="dcterms:W3CDTF">2025-05-21T06:55:53Z</dcterms:created>
  <dcterms:modified xsi:type="dcterms:W3CDTF">2026-02-25T06:53:08Z</dcterms:modified>
</cp:coreProperties>
</file>