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77" r:id="rId4"/>
    <p:sldId id="278" r:id="rId5"/>
    <p:sldId id="279" r:id="rId6"/>
    <p:sldId id="297" r:id="rId7"/>
    <p:sldId id="280" r:id="rId8"/>
    <p:sldId id="281" r:id="rId9"/>
    <p:sldId id="282" r:id="rId10"/>
    <p:sldId id="296" r:id="rId11"/>
    <p:sldId id="283" r:id="rId12"/>
    <p:sldId id="286" r:id="rId13"/>
    <p:sldId id="284" r:id="rId14"/>
    <p:sldId id="287" r:id="rId15"/>
    <p:sldId id="289" r:id="rId16"/>
    <p:sldId id="29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8FDDF4-97FE-43E9-94D3-E8714FD2AAE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95B0677-2A68-4491-BC02-631975F262BD}">
      <dgm:prSet/>
      <dgm:spPr/>
      <dgm:t>
        <a:bodyPr/>
        <a:lstStyle/>
        <a:p>
          <a:r>
            <a:rPr 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b="1" i="0">
              <a:latin typeface="微软雅黑" panose="020B0503020204020204" pitchFamily="34" charset="-122"/>
              <a:ea typeface="微软雅黑" panose="020B0503020204020204" pitchFamily="34" charset="-122"/>
            </a:rPr>
            <a:t>应用与业务逻辑层 </a:t>
          </a:r>
          <a:r>
            <a:rPr 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(Application Layer)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191DD1-4564-4FDC-BB58-7DFD596F9423}" type="parTrans" cxnId="{C7C11F42-1E93-4EE8-9D46-E1F0B1EAA79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1825A9C-B7AB-4B35-A125-C6B572100962}" type="sibTrans" cxnId="{C7C11F42-1E93-4EE8-9D46-E1F0B1EAA79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7880193-7FDF-4DFF-8A87-F901B2F8CB28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Core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459DFF-261C-4BE6-AD6E-D6E7B66D1E80}" type="parTrans" cxnId="{E42905EF-9C48-44A8-AE2F-ED2116189816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EDC2A56-6E13-4178-A2F3-D1A0917C3629}" type="sibTrans" cxnId="{E42905EF-9C48-44A8-AE2F-ED2116189816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C658712-C71B-40BD-8F4F-945A0BDAF820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系统的入口与主循环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b="0" i="0" dirty="0" err="1">
              <a:latin typeface="微软雅黑" panose="020B0503020204020204" pitchFamily="34" charset="-122"/>
              <a:ea typeface="微软雅黑" panose="020B0503020204020204" pitchFamily="34" charset="-122"/>
            </a:rPr>
            <a:t>main.c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），接收各底层反馈并进行整体调度。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1E76F8-E87C-42E4-AF2A-6EACC20C6522}" type="parTrans" cxnId="{E1C35BD2-959B-492B-8153-BC152A58259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202BAD-F003-4462-81E0-0AE2BB7C1DFC}" type="sibTrans" cxnId="{E1C35BD2-959B-492B-8153-BC152A58259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D0DBEC-3629-4183-A76B-D05E98A90E6A}">
      <dgm:prSet/>
      <dgm:spPr/>
      <dgm:t>
        <a:bodyPr/>
        <a:lstStyle/>
        <a:p>
          <a:r>
            <a:rPr lang="en-US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核心算法层 </a:t>
          </a:r>
          <a:r>
            <a:rPr lang="en-US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(Control/Algorithm Layer)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8490C5-0DC4-4580-A8A2-084A40CA474E}" type="parTrans" cxnId="{E4F5AF44-7FB3-4228-B10F-41BE44C67CC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8DC227-C568-4F24-A57C-CA45E2FD05F6}" type="sibTrans" cxnId="{E4F5AF44-7FB3-4228-B10F-41BE44C67CC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9452E4-6345-4919-A374-564211943615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Control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6DF8DAD-E89D-4C95-89E8-C64430319774}" type="parTrans" cxnId="{B7C63F19-0D26-4710-9C98-923A83C477D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B6751D-B148-4479-B3CF-A072789EDF05}" type="sibTrans" cxnId="{B7C63F19-0D26-4710-9C98-923A83C477D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B9BB932-FCEE-4D9A-98B7-A1AD29483E5C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包含模块：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b="0" i="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pid.c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(PID 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核心算法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b="0" i="0" dirty="0" err="1">
              <a:latin typeface="微软雅黑" panose="020B0503020204020204" pitchFamily="34" charset="-122"/>
              <a:ea typeface="微软雅黑" panose="020B0503020204020204" pitchFamily="34" charset="-122"/>
            </a:rPr>
            <a:t>current_loop.c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(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电流环状态机与计算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CF040E-ACCA-439A-B46F-5FBDF80F3913}" type="parTrans" cxnId="{D32292C0-DD9C-4E0E-B690-953D95F8FA0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9D0C75-FC59-420E-976F-97B140781CF3}" type="sibTrans" cxnId="{D32292C0-DD9C-4E0E-B690-953D95F8FA0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B006AD-CC24-4446-8731-F1328FDC0D26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纯软件算法，不直接操作硬件寄存器。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实现算法与硬件的解耦，方便后续移植到 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RISC-V 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或其他平台。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B53D768-1F6F-4041-9274-DCAEC93515A4}" type="parTrans" cxnId="{5B3D2DCE-179A-417F-A3AB-B5B22AEB1F3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411309A-79F7-4CF1-8489-39CD97AA6013}" type="sibTrans" cxnId="{5B3D2DCE-179A-417F-A3AB-B5B22AEB1F3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20C6F08-CB8F-435E-B515-2DBA04213AF3}">
      <dgm:prSet/>
      <dgm:spPr/>
      <dgm:t>
        <a:bodyPr/>
        <a:lstStyle/>
        <a:p>
          <a:r>
            <a:rPr 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zh-CN" b="1" i="0">
              <a:latin typeface="微软雅黑" panose="020B0503020204020204" pitchFamily="34" charset="-122"/>
              <a:ea typeface="微软雅黑" panose="020B0503020204020204" pitchFamily="34" charset="-122"/>
            </a:rPr>
            <a:t>板级支持包与外设驱动层 </a:t>
          </a:r>
          <a:r>
            <a:rPr 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(BSP &amp; Driver Layer)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96E5B55-5AF2-461F-9C01-640C70D44A5C}" type="parTrans" cxnId="{8C3CD46E-7DF5-43AF-8598-BE23141498E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3062A4F-CA39-4126-AFF4-08EE2A48CC2B}" type="sibTrans" cxnId="{8C3CD46E-7DF5-43AF-8598-BE23141498E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272E3E7-905D-4AD7-9687-7C450629B566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Drivers/BSP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4F3FEE6-C2B9-4722-A500-2DF2ACE8227E}" type="parTrans" cxnId="{5058EA4B-D96F-4F6F-B19D-F5F5B907580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0A6D580-46DC-4965-A8A5-501697175257}" type="sibTrans" cxnId="{5058EA4B-D96F-4F6F-B19D-F5F5B907580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891AE6-A54B-480A-A0D6-4DF1E3809A65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包含模块：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b="0" i="0" dirty="0" err="1">
              <a:latin typeface="微软雅黑" panose="020B0503020204020204" pitchFamily="34" charset="-122"/>
              <a:ea typeface="微软雅黑" panose="020B0503020204020204" pitchFamily="34" charset="-122"/>
            </a:rPr>
            <a:t>bsp_brush_motor.c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(PWM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输出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有刷电机控制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b="0" i="0" dirty="0" err="1">
              <a:latin typeface="微软雅黑" panose="020B0503020204020204" pitchFamily="34" charset="-122"/>
              <a:ea typeface="微软雅黑" panose="020B0503020204020204" pitchFamily="34" charset="-122"/>
            </a:rPr>
            <a:t>bsp_current_sensor.c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(ADC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采样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电流计算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AC83F0-E759-43CC-A5B0-7DB77BF0D3CE}" type="parTrans" cxnId="{D1089FA4-6D12-4173-B9DC-0D3EB8A2201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8EC5771-6610-4FDC-977D-9F106ED7CA49}" type="sibTrans" cxnId="{D1089FA4-6D12-4173-B9DC-0D3EB8A2201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418C968-FB4A-4C24-AA06-016577B4E886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硬件抽象层。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将底层芯片的硬件细节（如 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ADC 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寄存器、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TIM 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寄存器）封装为具体的业务对象（如“电流传感器”、“电机”），向上层提供统一接口。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BBD92DE-0101-499F-9DEC-73308D329418}" type="parTrans" cxnId="{9C824FEF-CF68-4AB5-BF0A-198BF70004E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E07E01-4287-42D5-9533-1710273A3AD7}" type="sibTrans" cxnId="{9C824FEF-CF68-4AB5-BF0A-198BF70004E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DE4D251-4E72-418D-B50B-BD340143DA51}">
      <dgm:prSet/>
      <dgm:spPr/>
      <dgm:t>
        <a:bodyPr/>
        <a:lstStyle/>
        <a:p>
          <a:r>
            <a:rPr 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zh-CN" b="1" i="0">
              <a:latin typeface="微软雅黑" panose="020B0503020204020204" pitchFamily="34" charset="-122"/>
              <a:ea typeface="微软雅黑" panose="020B0503020204020204" pitchFamily="34" charset="-122"/>
            </a:rPr>
            <a:t>芯片物理芯片包与芯片库 </a:t>
          </a:r>
          <a:r>
            <a:rPr 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(Hardware &amp; Library Layer)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F300ECE-52D4-468B-9B50-1948E259BF70}" type="parTrans" cxnId="{C8F93A89-CA93-4C26-9568-AF279AAFD3E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BF142C-2017-40F6-BDC8-F8BCF6539196}" type="sibTrans" cxnId="{C8F93A89-CA93-4C26-9568-AF279AAFD3E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B0B481B-CFCD-475B-B7A0-45FF70F56547}">
      <dgm:prSet/>
      <dgm:spPr/>
      <dgm:t>
        <a:bodyPr/>
        <a:lstStyle/>
        <a:p>
          <a:r>
            <a:rPr lang="zh-CN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STM32F4xx_HAL_Driver / CMSIS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C0FFE0-A116-4481-B025-D37B1CC43A58}" type="parTrans" cxnId="{D5A4CE48-7BA9-4219-B0F3-232AEAB0E8C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F60D9F4-A2D8-4DE4-BE45-5B30588885B9}" type="sibTrans" cxnId="{D5A4CE48-7BA9-4219-B0F3-232AEAB0E8C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06E1BB-3AAA-4287-8EA0-A5046FE53901}">
      <dgm:prSet/>
      <dgm:spPr/>
      <dgm:t>
        <a:bodyPr/>
        <a:lstStyle/>
        <a:p>
          <a:r>
            <a:rPr lang="zh-CN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官方提供的标准库，负责最底层的寄存器映射。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F837A7-61A9-4DFE-8558-1DCEE7AF2ED5}" type="parTrans" cxnId="{F720181E-8441-47D1-AB67-81FD967DCCE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15C1D2B-B1C2-4E68-BDDF-8402880F77C7}" type="sibTrans" cxnId="{F720181E-8441-47D1-AB67-81FD967DCCE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10C013F-FE33-47F6-B403-95B2904C7764}" type="pres">
      <dgm:prSet presAssocID="{AD8FDDF4-97FE-43E9-94D3-E8714FD2AAE0}" presName="linear" presStyleCnt="0">
        <dgm:presLayoutVars>
          <dgm:dir/>
          <dgm:animLvl val="lvl"/>
          <dgm:resizeHandles val="exact"/>
        </dgm:presLayoutVars>
      </dgm:prSet>
      <dgm:spPr/>
    </dgm:pt>
    <dgm:pt modelId="{781093E2-9888-4A01-ACDA-6718B8B9DDB0}" type="pres">
      <dgm:prSet presAssocID="{195B0677-2A68-4491-BC02-631975F262BD}" presName="parentLin" presStyleCnt="0"/>
      <dgm:spPr/>
    </dgm:pt>
    <dgm:pt modelId="{11ED3D7F-45A7-4FEE-BBC9-F7AF3A7137A2}" type="pres">
      <dgm:prSet presAssocID="{195B0677-2A68-4491-BC02-631975F262BD}" presName="parentLeftMargin" presStyleLbl="node1" presStyleIdx="0" presStyleCnt="4"/>
      <dgm:spPr/>
    </dgm:pt>
    <dgm:pt modelId="{5B9A38F2-8991-42A6-9E1F-CC98C2B17576}" type="pres">
      <dgm:prSet presAssocID="{195B0677-2A68-4491-BC02-631975F262B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F3A593-C526-4144-B360-67033D9D094A}" type="pres">
      <dgm:prSet presAssocID="{195B0677-2A68-4491-BC02-631975F262BD}" presName="negativeSpace" presStyleCnt="0"/>
      <dgm:spPr/>
    </dgm:pt>
    <dgm:pt modelId="{958AA12E-26FF-4559-91AA-B162D08975DE}" type="pres">
      <dgm:prSet presAssocID="{195B0677-2A68-4491-BC02-631975F262BD}" presName="childText" presStyleLbl="conFgAcc1" presStyleIdx="0" presStyleCnt="4">
        <dgm:presLayoutVars>
          <dgm:bulletEnabled val="1"/>
        </dgm:presLayoutVars>
      </dgm:prSet>
      <dgm:spPr/>
    </dgm:pt>
    <dgm:pt modelId="{1EA4354F-37BD-43B5-8037-98ED7F49B445}" type="pres">
      <dgm:prSet presAssocID="{A1825A9C-B7AB-4B35-A125-C6B572100962}" presName="spaceBetweenRectangles" presStyleCnt="0"/>
      <dgm:spPr/>
    </dgm:pt>
    <dgm:pt modelId="{EE86253A-421B-4DD1-BCCD-99515215CECB}" type="pres">
      <dgm:prSet presAssocID="{E6D0DBEC-3629-4183-A76B-D05E98A90E6A}" presName="parentLin" presStyleCnt="0"/>
      <dgm:spPr/>
    </dgm:pt>
    <dgm:pt modelId="{EE772803-C4CC-49AD-96B4-E4D029C03A67}" type="pres">
      <dgm:prSet presAssocID="{E6D0DBEC-3629-4183-A76B-D05E98A90E6A}" presName="parentLeftMargin" presStyleLbl="node1" presStyleIdx="0" presStyleCnt="4"/>
      <dgm:spPr/>
    </dgm:pt>
    <dgm:pt modelId="{255C73CA-6E73-4F18-B888-2C6B20C7E1A2}" type="pres">
      <dgm:prSet presAssocID="{E6D0DBEC-3629-4183-A76B-D05E98A90E6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60D565-27BF-4038-BBCE-31633A7FCEA3}" type="pres">
      <dgm:prSet presAssocID="{E6D0DBEC-3629-4183-A76B-D05E98A90E6A}" presName="negativeSpace" presStyleCnt="0"/>
      <dgm:spPr/>
    </dgm:pt>
    <dgm:pt modelId="{39875938-2EAE-496B-A355-8B4EA1D177F0}" type="pres">
      <dgm:prSet presAssocID="{E6D0DBEC-3629-4183-A76B-D05E98A90E6A}" presName="childText" presStyleLbl="conFgAcc1" presStyleIdx="1" presStyleCnt="4">
        <dgm:presLayoutVars>
          <dgm:bulletEnabled val="1"/>
        </dgm:presLayoutVars>
      </dgm:prSet>
      <dgm:spPr/>
    </dgm:pt>
    <dgm:pt modelId="{8830AD3D-61E4-463C-8CBE-73A9219C3B24}" type="pres">
      <dgm:prSet presAssocID="{418DC227-C568-4F24-A57C-CA45E2FD05F6}" presName="spaceBetweenRectangles" presStyleCnt="0"/>
      <dgm:spPr/>
    </dgm:pt>
    <dgm:pt modelId="{B053744E-D71F-4393-AABF-5E1649001B2A}" type="pres">
      <dgm:prSet presAssocID="{020C6F08-CB8F-435E-B515-2DBA04213AF3}" presName="parentLin" presStyleCnt="0"/>
      <dgm:spPr/>
    </dgm:pt>
    <dgm:pt modelId="{E66BC8EE-EB78-4236-BFCA-11DAC2BD8720}" type="pres">
      <dgm:prSet presAssocID="{020C6F08-CB8F-435E-B515-2DBA04213AF3}" presName="parentLeftMargin" presStyleLbl="node1" presStyleIdx="1" presStyleCnt="4"/>
      <dgm:spPr/>
    </dgm:pt>
    <dgm:pt modelId="{23CBE01D-6A36-4DDE-A476-19549F62A265}" type="pres">
      <dgm:prSet presAssocID="{020C6F08-CB8F-435E-B515-2DBA04213A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E70AB0-3B40-4F9B-81C4-D91A69C09515}" type="pres">
      <dgm:prSet presAssocID="{020C6F08-CB8F-435E-B515-2DBA04213AF3}" presName="negativeSpace" presStyleCnt="0"/>
      <dgm:spPr/>
    </dgm:pt>
    <dgm:pt modelId="{684C6239-9C76-42A0-BA56-067F1AEB2380}" type="pres">
      <dgm:prSet presAssocID="{020C6F08-CB8F-435E-B515-2DBA04213AF3}" presName="childText" presStyleLbl="conFgAcc1" presStyleIdx="2" presStyleCnt="4">
        <dgm:presLayoutVars>
          <dgm:bulletEnabled val="1"/>
        </dgm:presLayoutVars>
      </dgm:prSet>
      <dgm:spPr/>
    </dgm:pt>
    <dgm:pt modelId="{5F9A8343-B452-415C-B91D-41E2FB46DEDA}" type="pres">
      <dgm:prSet presAssocID="{93062A4F-CA39-4126-AFF4-08EE2A48CC2B}" presName="spaceBetweenRectangles" presStyleCnt="0"/>
      <dgm:spPr/>
    </dgm:pt>
    <dgm:pt modelId="{C35E5F3D-F46C-48DD-BA41-1910E50E9811}" type="pres">
      <dgm:prSet presAssocID="{EDE4D251-4E72-418D-B50B-BD340143DA51}" presName="parentLin" presStyleCnt="0"/>
      <dgm:spPr/>
    </dgm:pt>
    <dgm:pt modelId="{4CD76EC9-7576-418B-9003-06528C95018A}" type="pres">
      <dgm:prSet presAssocID="{EDE4D251-4E72-418D-B50B-BD340143DA51}" presName="parentLeftMargin" presStyleLbl="node1" presStyleIdx="2" presStyleCnt="4"/>
      <dgm:spPr/>
    </dgm:pt>
    <dgm:pt modelId="{0338F9E4-EC41-4D15-85B0-0E0582981722}" type="pres">
      <dgm:prSet presAssocID="{EDE4D251-4E72-418D-B50B-BD340143DA5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13B31EF-7493-4C32-AEED-5C9205F5EF76}" type="pres">
      <dgm:prSet presAssocID="{EDE4D251-4E72-418D-B50B-BD340143DA51}" presName="negativeSpace" presStyleCnt="0"/>
      <dgm:spPr/>
    </dgm:pt>
    <dgm:pt modelId="{1D8772B4-D560-43AD-A495-C0AD2242058B}" type="pres">
      <dgm:prSet presAssocID="{EDE4D251-4E72-418D-B50B-BD340143DA5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2AC9C01-DEE1-4B5C-8AC2-ACA5BB8C38B9}" type="presOf" srcId="{EDE4D251-4E72-418D-B50B-BD340143DA51}" destId="{4CD76EC9-7576-418B-9003-06528C95018A}" srcOrd="0" destOrd="0" presId="urn:microsoft.com/office/officeart/2005/8/layout/list1"/>
    <dgm:cxn modelId="{85AE1F14-352A-4EA7-84BA-F219425553A2}" type="presOf" srcId="{9B0B481B-CFCD-475B-B7A0-45FF70F56547}" destId="{1D8772B4-D560-43AD-A495-C0AD2242058B}" srcOrd="0" destOrd="0" presId="urn:microsoft.com/office/officeart/2005/8/layout/list1"/>
    <dgm:cxn modelId="{B7C63F19-0D26-4710-9C98-923A83C477DB}" srcId="{E6D0DBEC-3629-4183-A76B-D05E98A90E6A}" destId="{3D9452E4-6345-4919-A374-564211943615}" srcOrd="0" destOrd="0" parTransId="{26DF8DAD-E89D-4C95-89E8-C64430319774}" sibTransId="{98B6751D-B148-4479-B3CF-A072789EDF05}"/>
    <dgm:cxn modelId="{F720181E-8441-47D1-AB67-81FD967DCCE5}" srcId="{EDE4D251-4E72-418D-B50B-BD340143DA51}" destId="{A306E1BB-3AAA-4287-8EA0-A5046FE53901}" srcOrd="1" destOrd="0" parTransId="{78F837A7-61A9-4DFE-8558-1DCEE7AF2ED5}" sibTransId="{F15C1D2B-B1C2-4E68-BDDF-8402880F77C7}"/>
    <dgm:cxn modelId="{FD5F5C28-2AC8-49A8-8F40-BA3ECA19DF09}" type="presOf" srcId="{4418C968-FB4A-4C24-AA06-016577B4E886}" destId="{684C6239-9C76-42A0-BA56-067F1AEB2380}" srcOrd="0" destOrd="2" presId="urn:microsoft.com/office/officeart/2005/8/layout/list1"/>
    <dgm:cxn modelId="{D8C58036-D962-4348-9ECC-D4231E89F407}" type="presOf" srcId="{1A891AE6-A54B-480A-A0D6-4DF1E3809A65}" destId="{684C6239-9C76-42A0-BA56-067F1AEB2380}" srcOrd="0" destOrd="1" presId="urn:microsoft.com/office/officeart/2005/8/layout/list1"/>
    <dgm:cxn modelId="{C7C11F42-1E93-4EE8-9D46-E1F0B1EAA79E}" srcId="{AD8FDDF4-97FE-43E9-94D3-E8714FD2AAE0}" destId="{195B0677-2A68-4491-BC02-631975F262BD}" srcOrd="0" destOrd="0" parTransId="{8A191DD1-4564-4FDC-BB58-7DFD596F9423}" sibTransId="{A1825A9C-B7AB-4B35-A125-C6B572100962}"/>
    <dgm:cxn modelId="{E4F5AF44-7FB3-4228-B10F-41BE44C67CCE}" srcId="{AD8FDDF4-97FE-43E9-94D3-E8714FD2AAE0}" destId="{E6D0DBEC-3629-4183-A76B-D05E98A90E6A}" srcOrd="1" destOrd="0" parTransId="{0D8490C5-0DC4-4580-A8A2-084A40CA474E}" sibTransId="{418DC227-C568-4F24-A57C-CA45E2FD05F6}"/>
    <dgm:cxn modelId="{D5A4CE48-7BA9-4219-B0F3-232AEAB0E8C2}" srcId="{EDE4D251-4E72-418D-B50B-BD340143DA51}" destId="{9B0B481B-CFCD-475B-B7A0-45FF70F56547}" srcOrd="0" destOrd="0" parTransId="{86C0FFE0-A116-4481-B025-D37B1CC43A58}" sibTransId="{4F60D9F4-A2D8-4DE4-BE45-5B30588885B9}"/>
    <dgm:cxn modelId="{EBC5326B-22D1-4E3C-BD00-C9C341FA4660}" type="presOf" srcId="{020C6F08-CB8F-435E-B515-2DBA04213AF3}" destId="{E66BC8EE-EB78-4236-BFCA-11DAC2BD8720}" srcOrd="0" destOrd="0" presId="urn:microsoft.com/office/officeart/2005/8/layout/list1"/>
    <dgm:cxn modelId="{5058EA4B-D96F-4F6F-B19D-F5F5B907580F}" srcId="{020C6F08-CB8F-435E-B515-2DBA04213AF3}" destId="{2272E3E7-905D-4AD7-9687-7C450629B566}" srcOrd="0" destOrd="0" parTransId="{94F3FEE6-C2B9-4722-A500-2DF2ACE8227E}" sibTransId="{70A6D580-46DC-4965-A8A5-501697175257}"/>
    <dgm:cxn modelId="{8C3CD46E-7DF5-43AF-8598-BE23141498EF}" srcId="{AD8FDDF4-97FE-43E9-94D3-E8714FD2AAE0}" destId="{020C6F08-CB8F-435E-B515-2DBA04213AF3}" srcOrd="2" destOrd="0" parTransId="{E96E5B55-5AF2-461F-9C01-640C70D44A5C}" sibTransId="{93062A4F-CA39-4126-AFF4-08EE2A48CC2B}"/>
    <dgm:cxn modelId="{6C96D86E-543A-444B-BD8E-B91CB56A5639}" type="presOf" srcId="{EDE4D251-4E72-418D-B50B-BD340143DA51}" destId="{0338F9E4-EC41-4D15-85B0-0E0582981722}" srcOrd="1" destOrd="0" presId="urn:microsoft.com/office/officeart/2005/8/layout/list1"/>
    <dgm:cxn modelId="{566FA852-85F9-420C-80FE-0846F59C7BE5}" type="presOf" srcId="{E6D0DBEC-3629-4183-A76B-D05E98A90E6A}" destId="{255C73CA-6E73-4F18-B888-2C6B20C7E1A2}" srcOrd="1" destOrd="0" presId="urn:microsoft.com/office/officeart/2005/8/layout/list1"/>
    <dgm:cxn modelId="{A49AEC7D-B0FC-41E2-AD7B-F010D6520606}" type="presOf" srcId="{195B0677-2A68-4491-BC02-631975F262BD}" destId="{5B9A38F2-8991-42A6-9E1F-CC98C2B17576}" srcOrd="1" destOrd="0" presId="urn:microsoft.com/office/officeart/2005/8/layout/list1"/>
    <dgm:cxn modelId="{B95B6384-F829-46E7-B8DE-BD5CD9041FF4}" type="presOf" srcId="{3D9452E4-6345-4919-A374-564211943615}" destId="{39875938-2EAE-496B-A355-8B4EA1D177F0}" srcOrd="0" destOrd="0" presId="urn:microsoft.com/office/officeart/2005/8/layout/list1"/>
    <dgm:cxn modelId="{690AA588-4911-45ED-9AD9-FB6560E57F7A}" type="presOf" srcId="{8C658712-C71B-40BD-8F4F-945A0BDAF820}" destId="{958AA12E-26FF-4559-91AA-B162D08975DE}" srcOrd="0" destOrd="1" presId="urn:microsoft.com/office/officeart/2005/8/layout/list1"/>
    <dgm:cxn modelId="{C8F93A89-CA93-4C26-9568-AF279AAFD3EF}" srcId="{AD8FDDF4-97FE-43E9-94D3-E8714FD2AAE0}" destId="{EDE4D251-4E72-418D-B50B-BD340143DA51}" srcOrd="3" destOrd="0" parTransId="{3F300ECE-52D4-468B-9B50-1948E259BF70}" sibTransId="{1EBF142C-2017-40F6-BDC8-F8BCF6539196}"/>
    <dgm:cxn modelId="{D302E69D-CF81-431D-9054-9E7195BC8B98}" type="presOf" srcId="{195B0677-2A68-4491-BC02-631975F262BD}" destId="{11ED3D7F-45A7-4FEE-BBC9-F7AF3A7137A2}" srcOrd="0" destOrd="0" presId="urn:microsoft.com/office/officeart/2005/8/layout/list1"/>
    <dgm:cxn modelId="{1019FCA3-CD77-47F4-AC9E-5378006BE089}" type="presOf" srcId="{97880193-7FDF-4DFF-8A87-F901B2F8CB28}" destId="{958AA12E-26FF-4559-91AA-B162D08975DE}" srcOrd="0" destOrd="0" presId="urn:microsoft.com/office/officeart/2005/8/layout/list1"/>
    <dgm:cxn modelId="{D1089FA4-6D12-4173-B9DC-0D3EB8A2201E}" srcId="{020C6F08-CB8F-435E-B515-2DBA04213AF3}" destId="{1A891AE6-A54B-480A-A0D6-4DF1E3809A65}" srcOrd="1" destOrd="0" parTransId="{6BAC83F0-E759-43CC-A5B0-7DB77BF0D3CE}" sibTransId="{B8EC5771-6610-4FDC-977D-9F106ED7CA49}"/>
    <dgm:cxn modelId="{5E00CBA5-5EBD-4ED1-BA33-966F5147996F}" type="presOf" srcId="{E6D0DBEC-3629-4183-A76B-D05E98A90E6A}" destId="{EE772803-C4CC-49AD-96B4-E4D029C03A67}" srcOrd="0" destOrd="0" presId="urn:microsoft.com/office/officeart/2005/8/layout/list1"/>
    <dgm:cxn modelId="{AA01C0AB-4DAD-4B3E-9453-08AEAF213955}" type="presOf" srcId="{EB9BB932-FCEE-4D9A-98B7-A1AD29483E5C}" destId="{39875938-2EAE-496B-A355-8B4EA1D177F0}" srcOrd="0" destOrd="1" presId="urn:microsoft.com/office/officeart/2005/8/layout/list1"/>
    <dgm:cxn modelId="{9BB1D6B1-4F4E-464E-BB90-6D7746828ED8}" type="presOf" srcId="{020C6F08-CB8F-435E-B515-2DBA04213AF3}" destId="{23CBE01D-6A36-4DDE-A476-19549F62A265}" srcOrd="1" destOrd="0" presId="urn:microsoft.com/office/officeart/2005/8/layout/list1"/>
    <dgm:cxn modelId="{3164E8B3-58C7-4CD7-80E2-AD968F0775C4}" type="presOf" srcId="{2272E3E7-905D-4AD7-9687-7C450629B566}" destId="{684C6239-9C76-42A0-BA56-067F1AEB2380}" srcOrd="0" destOrd="0" presId="urn:microsoft.com/office/officeart/2005/8/layout/list1"/>
    <dgm:cxn modelId="{D32292C0-DD9C-4E0E-B690-953D95F8FA00}" srcId="{E6D0DBEC-3629-4183-A76B-D05E98A90E6A}" destId="{EB9BB932-FCEE-4D9A-98B7-A1AD29483E5C}" srcOrd="1" destOrd="0" parTransId="{CACF040E-ACCA-439A-B46F-5FBDF80F3913}" sibTransId="{5C9D0C75-FC59-420E-976F-97B140781CF3}"/>
    <dgm:cxn modelId="{5B3D2DCE-179A-417F-A3AB-B5B22AEB1F32}" srcId="{E6D0DBEC-3629-4183-A76B-D05E98A90E6A}" destId="{DDB006AD-CC24-4446-8731-F1328FDC0D26}" srcOrd="2" destOrd="0" parTransId="{5B53D768-1F6F-4041-9274-DCAEC93515A4}" sibTransId="{8411309A-79F7-4CF1-8489-39CD97AA6013}"/>
    <dgm:cxn modelId="{1464E9D0-A88D-4222-8E2E-B2717372A342}" type="presOf" srcId="{DDB006AD-CC24-4446-8731-F1328FDC0D26}" destId="{39875938-2EAE-496B-A355-8B4EA1D177F0}" srcOrd="0" destOrd="2" presId="urn:microsoft.com/office/officeart/2005/8/layout/list1"/>
    <dgm:cxn modelId="{E1C35BD2-959B-492B-8153-BC152A58259C}" srcId="{195B0677-2A68-4491-BC02-631975F262BD}" destId="{8C658712-C71B-40BD-8F4F-945A0BDAF820}" srcOrd="1" destOrd="0" parTransId="{E21E76F8-E87C-42E4-AF2A-6EACC20C6522}" sibTransId="{DD202BAD-F003-4462-81E0-0AE2BB7C1DFC}"/>
    <dgm:cxn modelId="{A8E6D5DC-3A47-4D92-A0D9-A160761BAE6B}" type="presOf" srcId="{A306E1BB-3AAA-4287-8EA0-A5046FE53901}" destId="{1D8772B4-D560-43AD-A495-C0AD2242058B}" srcOrd="0" destOrd="1" presId="urn:microsoft.com/office/officeart/2005/8/layout/list1"/>
    <dgm:cxn modelId="{E42905EF-9C48-44A8-AE2F-ED2116189816}" srcId="{195B0677-2A68-4491-BC02-631975F262BD}" destId="{97880193-7FDF-4DFF-8A87-F901B2F8CB28}" srcOrd="0" destOrd="0" parTransId="{88459DFF-261C-4BE6-AD6E-D6E7B66D1E80}" sibTransId="{6EDC2A56-6E13-4178-A2F3-D1A0917C3629}"/>
    <dgm:cxn modelId="{9C824FEF-CF68-4AB5-BF0A-198BF70004EF}" srcId="{020C6F08-CB8F-435E-B515-2DBA04213AF3}" destId="{4418C968-FB4A-4C24-AA06-016577B4E886}" srcOrd="2" destOrd="0" parTransId="{5BBD92DE-0101-499F-9DEC-73308D329418}" sibTransId="{61E07E01-4287-42D5-9533-1710273A3AD7}"/>
    <dgm:cxn modelId="{1FBAFBF3-4FCC-4981-8E82-4321B87670E7}" type="presOf" srcId="{AD8FDDF4-97FE-43E9-94D3-E8714FD2AAE0}" destId="{A10C013F-FE33-47F6-B403-95B2904C7764}" srcOrd="0" destOrd="0" presId="urn:microsoft.com/office/officeart/2005/8/layout/list1"/>
    <dgm:cxn modelId="{5DC17662-FD98-47C4-812F-8D5B0E703655}" type="presParOf" srcId="{A10C013F-FE33-47F6-B403-95B2904C7764}" destId="{781093E2-9888-4A01-ACDA-6718B8B9DDB0}" srcOrd="0" destOrd="0" presId="urn:microsoft.com/office/officeart/2005/8/layout/list1"/>
    <dgm:cxn modelId="{B753AB04-E4CE-4329-9D2F-88063441D535}" type="presParOf" srcId="{781093E2-9888-4A01-ACDA-6718B8B9DDB0}" destId="{11ED3D7F-45A7-4FEE-BBC9-F7AF3A7137A2}" srcOrd="0" destOrd="0" presId="urn:microsoft.com/office/officeart/2005/8/layout/list1"/>
    <dgm:cxn modelId="{4431F7A6-7DC6-43D5-923B-9FEEDF705507}" type="presParOf" srcId="{781093E2-9888-4A01-ACDA-6718B8B9DDB0}" destId="{5B9A38F2-8991-42A6-9E1F-CC98C2B17576}" srcOrd="1" destOrd="0" presId="urn:microsoft.com/office/officeart/2005/8/layout/list1"/>
    <dgm:cxn modelId="{3E081038-A6BC-42F1-9680-2D6320DEFE9E}" type="presParOf" srcId="{A10C013F-FE33-47F6-B403-95B2904C7764}" destId="{0BF3A593-C526-4144-B360-67033D9D094A}" srcOrd="1" destOrd="0" presId="urn:microsoft.com/office/officeart/2005/8/layout/list1"/>
    <dgm:cxn modelId="{F0D57207-41A8-4AF7-8B3F-A8D93F4EAD91}" type="presParOf" srcId="{A10C013F-FE33-47F6-B403-95B2904C7764}" destId="{958AA12E-26FF-4559-91AA-B162D08975DE}" srcOrd="2" destOrd="0" presId="urn:microsoft.com/office/officeart/2005/8/layout/list1"/>
    <dgm:cxn modelId="{68C40695-2D0A-4D10-8A8D-C62BE21FDCFA}" type="presParOf" srcId="{A10C013F-FE33-47F6-B403-95B2904C7764}" destId="{1EA4354F-37BD-43B5-8037-98ED7F49B445}" srcOrd="3" destOrd="0" presId="urn:microsoft.com/office/officeart/2005/8/layout/list1"/>
    <dgm:cxn modelId="{989E1D3A-5D43-49B6-9302-302E4B410F69}" type="presParOf" srcId="{A10C013F-FE33-47F6-B403-95B2904C7764}" destId="{EE86253A-421B-4DD1-BCCD-99515215CECB}" srcOrd="4" destOrd="0" presId="urn:microsoft.com/office/officeart/2005/8/layout/list1"/>
    <dgm:cxn modelId="{02C63D85-3664-4530-9817-7B850A5CE343}" type="presParOf" srcId="{EE86253A-421B-4DD1-BCCD-99515215CECB}" destId="{EE772803-C4CC-49AD-96B4-E4D029C03A67}" srcOrd="0" destOrd="0" presId="urn:microsoft.com/office/officeart/2005/8/layout/list1"/>
    <dgm:cxn modelId="{10586A50-9120-49C6-B83D-B5F36D9994F9}" type="presParOf" srcId="{EE86253A-421B-4DD1-BCCD-99515215CECB}" destId="{255C73CA-6E73-4F18-B888-2C6B20C7E1A2}" srcOrd="1" destOrd="0" presId="urn:microsoft.com/office/officeart/2005/8/layout/list1"/>
    <dgm:cxn modelId="{3FC33766-B41A-4E44-9E84-87CFBA591F57}" type="presParOf" srcId="{A10C013F-FE33-47F6-B403-95B2904C7764}" destId="{0060D565-27BF-4038-BBCE-31633A7FCEA3}" srcOrd="5" destOrd="0" presId="urn:microsoft.com/office/officeart/2005/8/layout/list1"/>
    <dgm:cxn modelId="{FFFA035E-57D9-4834-9777-59D5D09FF7B7}" type="presParOf" srcId="{A10C013F-FE33-47F6-B403-95B2904C7764}" destId="{39875938-2EAE-496B-A355-8B4EA1D177F0}" srcOrd="6" destOrd="0" presId="urn:microsoft.com/office/officeart/2005/8/layout/list1"/>
    <dgm:cxn modelId="{5A7C8332-A5B1-4AF7-B1A9-A04E2DD6BB7C}" type="presParOf" srcId="{A10C013F-FE33-47F6-B403-95B2904C7764}" destId="{8830AD3D-61E4-463C-8CBE-73A9219C3B24}" srcOrd="7" destOrd="0" presId="urn:microsoft.com/office/officeart/2005/8/layout/list1"/>
    <dgm:cxn modelId="{0BA15828-8A92-41FB-B3C7-816C29A65B04}" type="presParOf" srcId="{A10C013F-FE33-47F6-B403-95B2904C7764}" destId="{B053744E-D71F-4393-AABF-5E1649001B2A}" srcOrd="8" destOrd="0" presId="urn:microsoft.com/office/officeart/2005/8/layout/list1"/>
    <dgm:cxn modelId="{60698703-A268-4BB5-9C39-CE4CEBAE3231}" type="presParOf" srcId="{B053744E-D71F-4393-AABF-5E1649001B2A}" destId="{E66BC8EE-EB78-4236-BFCA-11DAC2BD8720}" srcOrd="0" destOrd="0" presId="urn:microsoft.com/office/officeart/2005/8/layout/list1"/>
    <dgm:cxn modelId="{8B97AB8E-39F3-4DB2-AE04-557A9D7AEA2C}" type="presParOf" srcId="{B053744E-D71F-4393-AABF-5E1649001B2A}" destId="{23CBE01D-6A36-4DDE-A476-19549F62A265}" srcOrd="1" destOrd="0" presId="urn:microsoft.com/office/officeart/2005/8/layout/list1"/>
    <dgm:cxn modelId="{0F1727BB-AE10-4A0D-ACEB-33AB5D2B458A}" type="presParOf" srcId="{A10C013F-FE33-47F6-B403-95B2904C7764}" destId="{EBE70AB0-3B40-4F9B-81C4-D91A69C09515}" srcOrd="9" destOrd="0" presId="urn:microsoft.com/office/officeart/2005/8/layout/list1"/>
    <dgm:cxn modelId="{4DA14D06-56C7-4677-8C5D-1C98A7455E2E}" type="presParOf" srcId="{A10C013F-FE33-47F6-B403-95B2904C7764}" destId="{684C6239-9C76-42A0-BA56-067F1AEB2380}" srcOrd="10" destOrd="0" presId="urn:microsoft.com/office/officeart/2005/8/layout/list1"/>
    <dgm:cxn modelId="{C97B0CDB-EC5F-4625-8FE9-9EE71EE3A3C2}" type="presParOf" srcId="{A10C013F-FE33-47F6-B403-95B2904C7764}" destId="{5F9A8343-B452-415C-B91D-41E2FB46DEDA}" srcOrd="11" destOrd="0" presId="urn:microsoft.com/office/officeart/2005/8/layout/list1"/>
    <dgm:cxn modelId="{CC9326B6-0814-48CD-B5FE-38A1591CA35C}" type="presParOf" srcId="{A10C013F-FE33-47F6-B403-95B2904C7764}" destId="{C35E5F3D-F46C-48DD-BA41-1910E50E9811}" srcOrd="12" destOrd="0" presId="urn:microsoft.com/office/officeart/2005/8/layout/list1"/>
    <dgm:cxn modelId="{5CD33215-9D3E-4733-8966-016AD7434930}" type="presParOf" srcId="{C35E5F3D-F46C-48DD-BA41-1910E50E9811}" destId="{4CD76EC9-7576-418B-9003-06528C95018A}" srcOrd="0" destOrd="0" presId="urn:microsoft.com/office/officeart/2005/8/layout/list1"/>
    <dgm:cxn modelId="{E108180E-2B03-4412-A5B5-D61642BFAA15}" type="presParOf" srcId="{C35E5F3D-F46C-48DD-BA41-1910E50E9811}" destId="{0338F9E4-EC41-4D15-85B0-0E0582981722}" srcOrd="1" destOrd="0" presId="urn:microsoft.com/office/officeart/2005/8/layout/list1"/>
    <dgm:cxn modelId="{CED15526-F677-4A07-8258-BA80CAF174C0}" type="presParOf" srcId="{A10C013F-FE33-47F6-B403-95B2904C7764}" destId="{B13B31EF-7493-4C32-AEED-5C9205F5EF76}" srcOrd="13" destOrd="0" presId="urn:microsoft.com/office/officeart/2005/8/layout/list1"/>
    <dgm:cxn modelId="{DF98004E-29FA-4D10-9B27-7EBBBEB9A1CE}" type="presParOf" srcId="{A10C013F-FE33-47F6-B403-95B2904C7764}" destId="{1D8772B4-D560-43AD-A495-C0AD2242058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AA12E-26FF-4559-91AA-B162D08975DE}">
      <dsp:nvSpPr>
        <dsp:cNvPr id="0" name=""/>
        <dsp:cNvSpPr/>
      </dsp:nvSpPr>
      <dsp:spPr>
        <a:xfrm>
          <a:off x="0" y="500644"/>
          <a:ext cx="9494982" cy="94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6" tIns="270764" rIns="73691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Core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系统的入口与主循环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sz="1300" b="0" i="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main.c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），接收各底层反馈并进行整体调度。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500644"/>
        <a:ext cx="9494982" cy="941850"/>
      </dsp:txXfrm>
    </dsp:sp>
    <dsp:sp modelId="{5B9A38F2-8991-42A6-9E1F-CC98C2B17576}">
      <dsp:nvSpPr>
        <dsp:cNvPr id="0" name=""/>
        <dsp:cNvSpPr/>
      </dsp:nvSpPr>
      <dsp:spPr>
        <a:xfrm>
          <a:off x="474749" y="308764"/>
          <a:ext cx="664648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221" tIns="0" rIns="2512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应用与业务逻辑层 </a:t>
          </a:r>
          <a:r>
            <a:rPr lang="en-US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(Application Layer)</a:t>
          </a:r>
          <a:endParaRPr lang="zh-CN" sz="13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93483" y="327498"/>
        <a:ext cx="6609019" cy="346292"/>
      </dsp:txXfrm>
    </dsp:sp>
    <dsp:sp modelId="{39875938-2EAE-496B-A355-8B4EA1D177F0}">
      <dsp:nvSpPr>
        <dsp:cNvPr id="0" name=""/>
        <dsp:cNvSpPr/>
      </dsp:nvSpPr>
      <dsp:spPr>
        <a:xfrm>
          <a:off x="0" y="1704575"/>
          <a:ext cx="9494982" cy="122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6" tIns="270764" rIns="73691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Control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包含模块：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sz="1300" b="0" i="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pid.c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(PID 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核心算法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sz="1300" b="0" i="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current_loop.c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(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电流环状态机与计算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纯软件算法，不直接操作硬件寄存器。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实现算法与硬件的解耦，方便后续移植到 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RISC-V 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或其他平台。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04575"/>
        <a:ext cx="9494982" cy="1228500"/>
      </dsp:txXfrm>
    </dsp:sp>
    <dsp:sp modelId="{255C73CA-6E73-4F18-B888-2C6B20C7E1A2}">
      <dsp:nvSpPr>
        <dsp:cNvPr id="0" name=""/>
        <dsp:cNvSpPr/>
      </dsp:nvSpPr>
      <dsp:spPr>
        <a:xfrm>
          <a:off x="474749" y="1512695"/>
          <a:ext cx="664648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221" tIns="0" rIns="2512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核心算法层 </a:t>
          </a:r>
          <a:r>
            <a:rPr lang="en-US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(Control/Algorithm Layer)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93483" y="1531429"/>
        <a:ext cx="6609019" cy="346292"/>
      </dsp:txXfrm>
    </dsp:sp>
    <dsp:sp modelId="{684C6239-9C76-42A0-BA56-067F1AEB2380}">
      <dsp:nvSpPr>
        <dsp:cNvPr id="0" name=""/>
        <dsp:cNvSpPr/>
      </dsp:nvSpPr>
      <dsp:spPr>
        <a:xfrm>
          <a:off x="0" y="3195155"/>
          <a:ext cx="9494982" cy="1515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6" tIns="270764" rIns="73691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Drivers/BSP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包含模块：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sz="1300" b="0" i="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bsp_brush_motor.c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(PWM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输出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有刷电机控制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sz="1300" b="0" i="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bsp_current_sensor.c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(ADC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采样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电流计算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硬件抽象层。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将底层芯片的硬件细节（如 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ADC 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寄存器、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TIM 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寄存器）封装为具体的业务对象（如“电流传感器”、“电机”），向上层提供统一接口。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195155"/>
        <a:ext cx="9494982" cy="1515150"/>
      </dsp:txXfrm>
    </dsp:sp>
    <dsp:sp modelId="{23CBE01D-6A36-4DDE-A476-19549F62A265}">
      <dsp:nvSpPr>
        <dsp:cNvPr id="0" name=""/>
        <dsp:cNvSpPr/>
      </dsp:nvSpPr>
      <dsp:spPr>
        <a:xfrm>
          <a:off x="474749" y="3003275"/>
          <a:ext cx="664648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221" tIns="0" rIns="2512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zh-CN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板级支持包与外设驱动层 </a:t>
          </a:r>
          <a:r>
            <a:rPr lang="en-US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(BSP &amp; Driver Layer)</a:t>
          </a:r>
          <a:endParaRPr lang="zh-CN" sz="13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93483" y="3022009"/>
        <a:ext cx="6609019" cy="346292"/>
      </dsp:txXfrm>
    </dsp:sp>
    <dsp:sp modelId="{1D8772B4-D560-43AD-A495-C0AD2242058B}">
      <dsp:nvSpPr>
        <dsp:cNvPr id="0" name=""/>
        <dsp:cNvSpPr/>
      </dsp:nvSpPr>
      <dsp:spPr>
        <a:xfrm>
          <a:off x="0" y="4972385"/>
          <a:ext cx="9494982" cy="94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6" tIns="270764" rIns="73691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对应目录：</a:t>
          </a:r>
          <a:r>
            <a:rPr lang="zh-CN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STM32F4xx_HAL_Driver / CMSIS</a:t>
          </a:r>
          <a:endParaRPr lang="zh-CN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官方提供的标准库，负责最底层的寄存器映射。</a:t>
          </a:r>
          <a:endParaRPr lang="zh-CN" altLang="en-US" sz="1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972385"/>
        <a:ext cx="9494982" cy="941850"/>
      </dsp:txXfrm>
    </dsp:sp>
    <dsp:sp modelId="{0338F9E4-EC41-4D15-85B0-0E0582981722}">
      <dsp:nvSpPr>
        <dsp:cNvPr id="0" name=""/>
        <dsp:cNvSpPr/>
      </dsp:nvSpPr>
      <dsp:spPr>
        <a:xfrm>
          <a:off x="474749" y="4780505"/>
          <a:ext cx="664648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221" tIns="0" rIns="2512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zh-CN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芯片物理芯片包与芯片库 </a:t>
          </a:r>
          <a:r>
            <a:rPr lang="en-US" sz="13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(Hardware &amp; Library Layer)</a:t>
          </a:r>
          <a:endParaRPr lang="zh-CN" sz="13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93483" y="4799239"/>
        <a:ext cx="6609019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直流有刷电机高性能控制实战系列》课程。今天我们将深入探讨PID控制中至关重要的一环——电流环。在前面的章节中，我们已经学习了电流检测、PID理论以及速度环的控制。本次课程，我们将聚焦于一个完整的电流环控制案例，从需求分析到系统设计，为大家构建一个清晰的工程实现蓝图。这是我们实战系列的第11-02节，让我们开始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了解了需求之后，我们进入第二部分：系统设计与实现。这一章将从宏观上构建我们整个控制系统的框架，并深入到软硬件的具体实现细节。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7B9A2-AE4E-288D-905E-EC3AEF18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12F267-9FED-6C54-1185-F6A5962AF4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BA69F-A198-F5C8-05EF-9C3CB4BED7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6A27640-1133-B5AB-64A8-3A295D8EA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B5C8AEC-1A70-2B16-3185-2EFDBC573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290B7-5977-9819-A240-2A148D565D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9F5F0-8111-183F-BB82-D33FDC6F9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03735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在硬件层面，我们首先要明确资源分配。这里列出了我们用到的关键外设和引脚，包括用于PWM输出的定时器、用于电流采集的ADC通道、用于驱动使能和故障指示的GPIO口。清晰的资源分配是后续软件开发的基础。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我们的软件结构清晰、易于维护，我们采用了分层设计思想。从下至上分别是硬件层、驱动层、算法层和应用层。硬件层是物理基础。驱动层封装了对硬件的操作。算法层实现了核心的控制算法。应用层则负责具体的业务逻辑。这种分层解耦的方式，使得每一层都可以独立开发和测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感谢大家的聆听！关于今天的内容，大家有什么问题吗？欢迎随时提问。我们下节课再见！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emf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svg"/><Relationship Id="rId4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11-02 </a:t>
            </a:r>
            <a:r>
              <a:rPr lang="en-US" sz="4800" b="1" i="0" u="none" strike="noStrike" dirty="0" err="1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电流环控制案例</a:t>
            </a:r>
            <a:r>
              <a:rPr lang="zh-CN" altLang="en-US" sz="48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（一）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需求分析与系统设计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1000" y="5334000"/>
            <a:ext cx="11430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5562600"/>
            <a:ext cx="508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主讲人：高博士 | 淘宝店铺：GenBotter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31000" y="5588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2026.05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286000" cy="68580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</a:t>
            </a:r>
            <a:b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921000" y="762000"/>
            <a:ext cx="863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21000" y="2540000"/>
            <a:ext cx="4254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175000" y="2794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2857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案例背景与核心需求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深入理解项目背景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拆解并明确核心功能需求</a:t>
            </a:r>
            <a:endParaRPr lang="en-US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29500" y="2540000"/>
            <a:ext cx="4254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83500" y="2794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26500" y="2857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根据硬件进行工程设计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核心模块的逻辑实现思路</a:t>
            </a:r>
            <a:endParaRPr lang="en-US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38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案例背景与核心需求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520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回顾：我们为什么需要电流环？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3302000" cy="3265059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500" y="2222500"/>
            <a:ext cx="889000" cy="889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952500" y="3429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精确控制力矩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900059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单一开环控制无法精确控制输出力矩，而电流是力矩的直接体现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4445000" y="1905000"/>
            <a:ext cx="3302000" cy="3265059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0" y="2222500"/>
            <a:ext cx="889000" cy="889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35500" y="3429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提升动态性能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900059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系统动态响应慢，且抗负载扰动能力差，电流环能显著改善系统性能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128000" y="1905000"/>
            <a:ext cx="3302000" cy="3265059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0" y="2222500"/>
            <a:ext cx="889000" cy="889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18500" y="3429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保障系统安全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900059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缺乏有效的过流保护机制容易造成硬件损坏，电流环是实现软硬件保护的基础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E100BB1D-59C7-952E-8FD6-764A01073F64}"/>
              </a:ext>
            </a:extLst>
          </p:cNvPr>
          <p:cNvSpPr/>
          <p:nvPr/>
        </p:nvSpPr>
        <p:spPr>
          <a:xfrm>
            <a:off x="762000" y="5545282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以电流环作为内环进行控制，通过控制电机电流来控制电机速度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A875C6-E4C3-8074-CB2F-9CABEE1DD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1" y="1098665"/>
            <a:ext cx="6428571" cy="4161905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745760B3-ED7C-B742-1794-8C37EFA48C5C}"/>
              </a:ext>
            </a:extLst>
          </p:cNvPr>
          <p:cNvSpPr/>
          <p:nvPr/>
        </p:nvSpPr>
        <p:spPr>
          <a:xfrm>
            <a:off x="7435273" y="2399144"/>
            <a:ext cx="1819563" cy="787401"/>
          </a:xfrm>
          <a:prstGeom prst="roundRect">
            <a:avLst>
              <a:gd name="adj" fmla="val 56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驱动板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999868-0011-EDFA-DCC8-55131A88AF32}"/>
              </a:ext>
            </a:extLst>
          </p:cNvPr>
          <p:cNvSpPr/>
          <p:nvPr/>
        </p:nvSpPr>
        <p:spPr>
          <a:xfrm>
            <a:off x="9938327" y="2392216"/>
            <a:ext cx="1819563" cy="787401"/>
          </a:xfrm>
          <a:prstGeom prst="roundRect">
            <a:avLst>
              <a:gd name="adj" fmla="val 56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电机</a:t>
            </a:r>
          </a:p>
        </p:txBody>
      </p:sp>
      <p:sp>
        <p:nvSpPr>
          <p:cNvPr id="6" name="箭头: 左右 5">
            <a:extLst>
              <a:ext uri="{FF2B5EF4-FFF2-40B4-BE49-F238E27FC236}">
                <a16:creationId xmlns:a16="http://schemas.microsoft.com/office/drawing/2014/main" id="{F9CA844D-BB8B-3EEF-B9C4-7EBD87266A39}"/>
              </a:ext>
            </a:extLst>
          </p:cNvPr>
          <p:cNvSpPr/>
          <p:nvPr/>
        </p:nvSpPr>
        <p:spPr>
          <a:xfrm>
            <a:off x="9254835" y="2706255"/>
            <a:ext cx="683491" cy="27709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左右 6">
            <a:extLst>
              <a:ext uri="{FF2B5EF4-FFF2-40B4-BE49-F238E27FC236}">
                <a16:creationId xmlns:a16="http://schemas.microsoft.com/office/drawing/2014/main" id="{A396EE39-A18D-FF7B-3065-B43E49F60634}"/>
              </a:ext>
            </a:extLst>
          </p:cNvPr>
          <p:cNvSpPr/>
          <p:nvPr/>
        </p:nvSpPr>
        <p:spPr>
          <a:xfrm>
            <a:off x="6410036" y="2654299"/>
            <a:ext cx="1025236" cy="27709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7C7360C-37FB-95BE-BE43-22EC3A240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657621"/>
              </p:ext>
            </p:extLst>
          </p:nvPr>
        </p:nvGraphicFramePr>
        <p:xfrm>
          <a:off x="6410035" y="3391694"/>
          <a:ext cx="5190838" cy="1361364"/>
        </p:xfrm>
        <a:graphic>
          <a:graphicData uri="http://schemas.openxmlformats.org/drawingml/2006/table">
            <a:tbl>
              <a:tblPr/>
              <a:tblGrid>
                <a:gridCol w="1597892">
                  <a:extLst>
                    <a:ext uri="{9D8B030D-6E8A-4147-A177-3AD203B41FA5}">
                      <a16:colId xmlns:a16="http://schemas.microsoft.com/office/drawing/2014/main" val="3577561309"/>
                    </a:ext>
                  </a:extLst>
                </a:gridCol>
                <a:gridCol w="3592946">
                  <a:extLst>
                    <a:ext uri="{9D8B030D-6E8A-4147-A177-3AD203B41FA5}">
                      <a16:colId xmlns:a16="http://schemas.microsoft.com/office/drawing/2014/main" val="2624288155"/>
                    </a:ext>
                  </a:extLst>
                </a:gridCol>
              </a:tblGrid>
              <a:tr h="2629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b="1">
                          <a:solidFill>
                            <a:srgbClr val="1A1D23"/>
                          </a:solidFill>
                          <a:effectLst/>
                        </a:rPr>
                        <a:t>按键</a:t>
                      </a:r>
                    </a:p>
                  </a:txBody>
                  <a:tcPr anchor="b">
                    <a:lnL w="12700" cap="flat" cmpd="sng" algn="ctr">
                      <a:solidFill>
                        <a:srgbClr val="C00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1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b="1">
                          <a:solidFill>
                            <a:srgbClr val="1A1D23"/>
                          </a:solidFill>
                          <a:effectLst/>
                        </a:rPr>
                        <a:t>功能</a:t>
                      </a:r>
                    </a:p>
                  </a:txBody>
                  <a:tcPr anchor="b">
                    <a:lnL w="9525" cap="flat" cmpd="sng" algn="ctr">
                      <a:solidFill>
                        <a:srgbClr val="C01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1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1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24817"/>
                  </a:ext>
                </a:extLst>
              </a:tr>
              <a:tr h="44696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KEY</a:t>
                      </a:r>
                      <a:r>
                        <a:rPr lang="en-US" altLang="zh-CN" dirty="0">
                          <a:effectLst/>
                        </a:rPr>
                        <a:t>0</a:t>
                      </a:r>
                      <a:endParaRPr lang="zh-CN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1B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目标电流 </a:t>
                      </a:r>
                      <a:r>
                        <a:rPr lang="zh-CN" b="1" dirty="0">
                          <a:solidFill>
                            <a:srgbClr val="1A1D23"/>
                          </a:solidFill>
                          <a:effectLst/>
                        </a:rPr>
                        <a:t>+</a:t>
                      </a:r>
                      <a:r>
                        <a:rPr lang="zh-CN" dirty="0">
                          <a:effectLst/>
                        </a:rPr>
                        <a:t>（每次 +</a:t>
                      </a:r>
                      <a:r>
                        <a:rPr lang="en-US" altLang="zh-CN" dirty="0">
                          <a:effectLst/>
                        </a:rPr>
                        <a:t>2</a:t>
                      </a:r>
                      <a:r>
                        <a:rPr lang="zh-CN" dirty="0">
                          <a:effectLst/>
                        </a:rPr>
                        <a:t>0mA </a:t>
                      </a:r>
                      <a:r>
                        <a:rPr lang="zh-CN" altLang="en-US" dirty="0">
                          <a:effectLst/>
                        </a:rPr>
                        <a:t>，最大</a:t>
                      </a:r>
                      <a:r>
                        <a:rPr lang="en-US" altLang="zh-CN" dirty="0">
                          <a:effectLst/>
                        </a:rPr>
                        <a:t>120mA</a:t>
                      </a:r>
                      <a:r>
                        <a:rPr lang="zh-CN" dirty="0">
                          <a:effectLst/>
                        </a:rPr>
                        <a:t>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0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1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72052"/>
                  </a:ext>
                </a:extLst>
              </a:tr>
              <a:tr h="26292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KEY</a:t>
                      </a:r>
                      <a:r>
                        <a:rPr lang="en-US" altLang="zh-CN" dirty="0">
                          <a:effectLst/>
                        </a:rPr>
                        <a:t>1</a:t>
                      </a:r>
                      <a:endParaRPr lang="zh-CN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1B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1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1B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1A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目标电流 </a:t>
                      </a:r>
                      <a:r>
                        <a:rPr lang="zh-CN" b="1" dirty="0">
                          <a:solidFill>
                            <a:srgbClr val="1A1D23"/>
                          </a:solidFill>
                          <a:effectLst/>
                        </a:rPr>
                        <a:t>−</a:t>
                      </a:r>
                      <a:r>
                        <a:rPr lang="zh-CN" altLang="zh-CN" dirty="0">
                          <a:effectLst/>
                        </a:rPr>
                        <a:t>（每次 </a:t>
                      </a:r>
                      <a:r>
                        <a:rPr lang="en-US" altLang="zh-CN" dirty="0">
                          <a:effectLst/>
                        </a:rPr>
                        <a:t>-2</a:t>
                      </a:r>
                      <a:r>
                        <a:rPr lang="zh-CN" altLang="zh-CN" dirty="0">
                          <a:effectLst/>
                        </a:rPr>
                        <a:t>0mA </a:t>
                      </a:r>
                      <a:r>
                        <a:rPr lang="zh-CN" altLang="en-US" dirty="0">
                          <a:effectLst/>
                        </a:rPr>
                        <a:t>，最小</a:t>
                      </a:r>
                      <a:r>
                        <a:rPr lang="en-US" altLang="zh-CN" dirty="0">
                          <a:effectLst/>
                        </a:rPr>
                        <a:t>-120mA</a:t>
                      </a:r>
                      <a:r>
                        <a:rPr lang="zh-CN" altLang="zh-CN" dirty="0">
                          <a:effectLst/>
                        </a:rPr>
                        <a:t>）</a:t>
                      </a:r>
                      <a:endParaRPr lang="zh-C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1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1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1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464838"/>
                  </a:ext>
                </a:extLst>
              </a:tr>
              <a:tr h="26292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KEY2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1A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1A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1A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电机启停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4498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575BC7F-F52A-5A77-84EC-F1B6AF4C0709}"/>
              </a:ext>
            </a:extLst>
          </p:cNvPr>
          <p:cNvSpPr txBox="1"/>
          <p:nvPr/>
        </p:nvSpPr>
        <p:spPr>
          <a:xfrm>
            <a:off x="7749309" y="5050929"/>
            <a:ext cx="38515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屏幕上显示：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05D61F-23DF-44FC-192D-B6B02CB440E3}"/>
              </a:ext>
            </a:extLst>
          </p:cNvPr>
          <p:cNvSpPr txBox="1"/>
          <p:nvPr/>
        </p:nvSpPr>
        <p:spPr>
          <a:xfrm>
            <a:off x="8054109" y="5472646"/>
            <a:ext cx="3546764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Target:  1.50 A</a:t>
            </a:r>
          </a:p>
          <a:p>
            <a:r>
              <a:rPr lang="zh-CN" altLang="en-US" dirty="0"/>
              <a:t>Current: 1.48 A</a:t>
            </a:r>
          </a:p>
          <a:p>
            <a:r>
              <a:rPr lang="zh-CN" altLang="en-US" dirty="0"/>
              <a:t>Duty:    62%</a:t>
            </a:r>
          </a:p>
          <a:p>
            <a:r>
              <a:rPr lang="zh-CN" altLang="en-US" dirty="0"/>
              <a:t>Status:  RUN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327B46C1-4922-89E8-DB75-05B0F323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案例目标：</a:t>
            </a:r>
          </a:p>
        </p:txBody>
      </p:sp>
    </p:spTree>
    <p:extLst>
      <p:ext uri="{BB962C8B-B14F-4D97-AF65-F5344CB8AC3E}">
        <p14:creationId xmlns:p14="http://schemas.microsoft.com/office/powerpoint/2010/main" val="294862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08000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实际项目中常见的非功能性</a:t>
            </a:r>
            <a:r>
              <a:rPr lang="en-US" sz="3200" b="1" i="0" u="none" strike="noStrike" dirty="0" err="1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609600" y="139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altLang="zh-CN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GenBotter-Motor-1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STM32F407IGT6开发板，实现一个直流有刷电机电流环控制器，满足以下量化指标：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09600" y="2413000"/>
            <a:ext cx="203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09600" y="2413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2794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47800" y="2768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控制精度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电流控制误差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≤ ±</a:t>
            </a:r>
            <a:r>
              <a:rPr lang="en-US" altLang="zh-CN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b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额定电流范围内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946400" y="2413000"/>
            <a:ext cx="203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946400" y="2413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0" y="2794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784600" y="2768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响应速度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98800" y="368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阶跃响应上升时间</a:t>
            </a:r>
            <a:b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5283200" y="2413000"/>
            <a:ext cx="203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283200" y="2413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7200" y="2794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121400" y="2768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保护功能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35600" y="368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实现“硬件+软件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b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双重过流保护机制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20000" y="2413000"/>
            <a:ext cx="203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0" y="2413000"/>
            <a:ext cx="2032000" cy="508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0" y="2794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458200" y="2768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运行频率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72400" y="3683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电流闭环控制频率达到</a:t>
            </a:r>
            <a:r>
              <a:rPr lang="en-US" sz="13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 10000Hz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855200" y="2413000"/>
            <a:ext cx="1727200" cy="2540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855200" y="2413000"/>
            <a:ext cx="1727200" cy="508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8400" y="2794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591800" y="27686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956800" y="3683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适配0-24V、0-5A</a:t>
            </a:r>
            <a:b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规格直流有刷电机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609600" y="5207000"/>
            <a:ext cx="10972800" cy="1143000"/>
          </a:xfrm>
          <a:prstGeom prst="roundRect">
            <a:avLst>
              <a:gd name="adj" fmla="val 8888"/>
            </a:avLst>
          </a:prstGeom>
          <a:solidFill>
            <a:srgbClr val="00838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09600" y="53975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dirty="0" err="1">
                <a:sym typeface="Noto Sans SC"/>
              </a:rPr>
              <a:t>核心价值：构建高可靠、高性能</a:t>
            </a:r>
            <a:r>
              <a:rPr lang="en-US" sz="1800" err="1">
                <a:sym typeface="Noto Sans SC"/>
              </a:rPr>
              <a:t>、</a:t>
            </a:r>
            <a:r>
              <a:rPr lang="en-US" sz="1800">
                <a:sym typeface="Noto Sans SC"/>
              </a:rPr>
              <a:t>可复用的电机控制基础框架</a:t>
            </a:r>
            <a:r>
              <a:rPr lang="en-US" sz="1800" err="1">
                <a:sym typeface="Noto Sans SC"/>
              </a:rPr>
              <a:t>，</a:t>
            </a:r>
            <a:r>
              <a:rPr lang="en-US" sz="1800">
                <a:sym typeface="Noto Sans SC"/>
              </a:rPr>
              <a:t>为后续复杂运动控制算法提供稳定底层支撑。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核心需求拆解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3556000" cy="4572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032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35000" y="292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22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基础控制需求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接收外部给定的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目标电流指令</a:t>
            </a:r>
            <a:endParaRPr lang="en-US" sz="1100" dirty="0"/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实时采集电机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实际电枢电流</a:t>
            </a:r>
            <a:endParaRPr lang="en-US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通过PID算法计算PWM输出占空比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实现电流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的跟踪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3556000" cy="4572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2032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445000" y="292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2. 安全保护需求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3810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软件限流：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超过设定阈值立即限制PWM输出</a:t>
            </a:r>
            <a:endParaRPr lang="en-US" sz="1100" dirty="0"/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硬件过流保护：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触发后立即关断所有驱动输出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故障状态指示：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LED闪烁提示过流故障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556000" cy="4572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1200" y="2032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92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3. 可扩展性需求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810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支持电流环参数在线调试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zh-CN" altLang="en-US" sz="14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参考速度环，本章不再实现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  <a:p>
            <a:pPr indent="0" algn="l">
              <a:lnSpc>
                <a:spcPct val="133333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预留转矩控制接口（直接给定目标电流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57ABD33B-C10B-2EA1-D6F1-DEF78DF11683}"/>
              </a:ext>
            </a:extLst>
          </p:cNvPr>
          <p:cNvSpPr/>
          <p:nvPr/>
        </p:nvSpPr>
        <p:spPr>
          <a:xfrm>
            <a:off x="635000" y="5227782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本章案例只实现基础需求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38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520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FEB3-2C52-AB10-B1C5-D820ACAB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8A6F2E3-DB82-4369-11A1-82C5225E56B6}"/>
              </a:ext>
            </a:extLst>
          </p:cNvPr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单环电流控制系统框图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C40EE20-484E-0939-85BB-01F7B382BB79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3ADF623-88C7-E30C-9D85-E4B41F50724D}"/>
              </a:ext>
            </a:extLst>
          </p:cNvPr>
          <p:cNvSpPr/>
          <p:nvPr/>
        </p:nvSpPr>
        <p:spPr>
          <a:xfrm>
            <a:off x="741217" y="4572000"/>
            <a:ext cx="4726710" cy="1016000"/>
          </a:xfrm>
          <a:prstGeom prst="roundRect">
            <a:avLst>
              <a:gd name="adj" fmla="val 12500"/>
            </a:avLst>
          </a:prstGeom>
          <a:solidFill>
            <a:srgbClr val="E0F2F1">
              <a:alpha val="100000"/>
            </a:srgbClr>
          </a:solidFill>
          <a:ln w="12700" cap="flat" cmpd="sng">
            <a:solidFill>
              <a:srgbClr val="00838F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🔄 </a:t>
            </a:r>
            <a:r>
              <a:rPr lang="en-US" sz="1400" b="0" i="0" u="none" strike="noStrike" dirty="0" err="1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负反馈回路：将采样值送回PID输入端与目标值比较，形成闭环控制</a:t>
            </a:r>
            <a:endParaRPr lang="en-US" sz="1100" dirty="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04BEC32C-1EB3-3F39-7BC3-34EDFAE1C128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B27138B-CD42-DC5B-958E-CEFFEC838123}"/>
              </a:ext>
            </a:extLst>
          </p:cNvPr>
          <p:cNvSpPr/>
          <p:nvPr/>
        </p:nvSpPr>
        <p:spPr>
          <a:xfrm>
            <a:off x="6604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▌ 系统控制流程解析</a:t>
            </a:r>
            <a:endParaRPr lang="en-US" sz="1100"/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54DC57AC-C0F1-4480-5C23-261E0F019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540000"/>
            <a:ext cx="304800" cy="3048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8B9FE8E0-6FEC-DE21-136E-C6AB7CB8AFB5}"/>
              </a:ext>
            </a:extLst>
          </p:cNvPr>
          <p:cNvSpPr/>
          <p:nvPr/>
        </p:nvSpPr>
        <p:spPr>
          <a:xfrm>
            <a:off x="7112000" y="2476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设定目标：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由上位机或核心控制逻辑向系统输入期望的“</a:t>
            </a:r>
            <a:r>
              <a:rPr lang="en-US" sz="14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目标电流值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作为闭环控制的基准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4851EEC2-123B-95FA-60E5-7BDBF5F47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3429000"/>
            <a:ext cx="304800" cy="304800"/>
          </a:xfrm>
          <a:prstGeom prst="rect">
            <a:avLst/>
          </a:prstGeom>
        </p:spPr>
      </p:pic>
      <p:sp>
        <p:nvSpPr>
          <p:cNvPr id="20" name="AutoShape 20">
            <a:extLst>
              <a:ext uri="{FF2B5EF4-FFF2-40B4-BE49-F238E27FC236}">
                <a16:creationId xmlns:a16="http://schemas.microsoft.com/office/drawing/2014/main" id="{F28AE084-0BB6-2CF7-6D1E-A34BF2227099}"/>
              </a:ext>
            </a:extLst>
          </p:cNvPr>
          <p:cNvSpPr/>
          <p:nvPr/>
        </p:nvSpPr>
        <p:spPr>
          <a:xfrm>
            <a:off x="7112000" y="3365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实时采集：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利用高精度采样电阻和ADC模块，高频采集电机的“</a:t>
            </a:r>
            <a:r>
              <a:rPr lang="en-US" sz="14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实际电流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确保数据实时性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3A69F4E6-2EFB-A18B-C89C-C77DE564C6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318000"/>
            <a:ext cx="304800" cy="304800"/>
          </a:xfrm>
          <a:prstGeom prst="rect">
            <a:avLst/>
          </a:prstGeom>
        </p:spPr>
      </p:pic>
      <p:sp>
        <p:nvSpPr>
          <p:cNvPr id="22" name="AutoShape 22">
            <a:extLst>
              <a:ext uri="{FF2B5EF4-FFF2-40B4-BE49-F238E27FC236}">
                <a16:creationId xmlns:a16="http://schemas.microsoft.com/office/drawing/2014/main" id="{A20CCB7B-8A60-8B5E-81FC-0E235582E15C}"/>
              </a:ext>
            </a:extLst>
          </p:cNvPr>
          <p:cNvSpPr/>
          <p:nvPr/>
        </p:nvSpPr>
        <p:spPr>
          <a:xfrm>
            <a:off x="7112000" y="4254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运算与驱动：</a:t>
            </a:r>
            <a:r>
              <a:rPr lang="en-US" sz="14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PID控制器计算误差并输出控制量，转化为PWM占空比，精准调节驱动电路输出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3" name="Picture 23">
            <a:extLst>
              <a:ext uri="{FF2B5EF4-FFF2-40B4-BE49-F238E27FC236}">
                <a16:creationId xmlns:a16="http://schemas.microsoft.com/office/drawing/2014/main" id="{2DCB364B-8542-BACC-AC2A-2DA796674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5207000"/>
            <a:ext cx="304800" cy="304800"/>
          </a:xfrm>
          <a:prstGeom prst="rect">
            <a:avLst/>
          </a:prstGeom>
        </p:spPr>
      </p:pic>
      <p:sp>
        <p:nvSpPr>
          <p:cNvPr id="24" name="AutoShape 24">
            <a:extLst>
              <a:ext uri="{FF2B5EF4-FFF2-40B4-BE49-F238E27FC236}">
                <a16:creationId xmlns:a16="http://schemas.microsoft.com/office/drawing/2014/main" id="{9A547633-028A-058C-744F-28AE6FF9C435}"/>
              </a:ext>
            </a:extLst>
          </p:cNvPr>
          <p:cNvSpPr/>
          <p:nvPr/>
        </p:nvSpPr>
        <p:spPr>
          <a:xfrm>
            <a:off x="7112000" y="5143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闭环调节：</a:t>
            </a:r>
            <a:r>
              <a:rPr lang="en-US" sz="1400" b="0" i="0" u="none" strike="noStrike" dirty="0" err="1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上述过程以极高频率重复运行，不断修正误差，使电机电流始终稳定跟踪目标值，实现精确控制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302E2AF0-B472-0176-5D1F-C98EF2053E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76" y="2271822"/>
            <a:ext cx="5212447" cy="167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4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74899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硬件原理图部分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618" y="1209964"/>
            <a:ext cx="6091382" cy="5327072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26655" y="6156036"/>
            <a:ext cx="4445000" cy="381000"/>
          </a:xfrm>
          <a:prstGeom prst="roundRect">
            <a:avLst>
              <a:gd name="adj" fmla="val 12500"/>
            </a:avLst>
          </a:prstGeom>
          <a:solidFill>
            <a:srgbClr val="E0F2F1">
              <a:alpha val="100000"/>
            </a:srgbClr>
          </a:solidFill>
          <a:ln w="12700" cap="flat" cmpd="sng">
            <a:solidFill>
              <a:srgbClr val="00838F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直流有刷电机驱动板电机检测有关的原理图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899858" y="1209964"/>
            <a:ext cx="5285216" cy="5327072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EB4957AE-BF68-E383-DE0D-C3FBD37B6BF4}"/>
              </a:ext>
            </a:extLst>
          </p:cNvPr>
          <p:cNvSpPr/>
          <p:nvPr/>
        </p:nvSpPr>
        <p:spPr>
          <a:xfrm>
            <a:off x="6985000" y="6156036"/>
            <a:ext cx="4445000" cy="381000"/>
          </a:xfrm>
          <a:prstGeom prst="roundRect">
            <a:avLst>
              <a:gd name="adj" fmla="val 12500"/>
            </a:avLst>
          </a:prstGeom>
          <a:solidFill>
            <a:srgbClr val="E0F2F1">
              <a:alpha val="100000"/>
            </a:srgbClr>
          </a:solidFill>
          <a:ln w="12700" cap="flat" cmpd="sng">
            <a:solidFill>
              <a:srgbClr val="00838F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电机开发板电流检测</a:t>
            </a:r>
            <a:r>
              <a:rPr lang="en-US" altLang="zh-CN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\</a:t>
            </a:r>
            <a:r>
              <a:rPr lang="zh-CN" alt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电机驱动接口</a:t>
            </a:r>
            <a:endParaRPr lang="en-US" sz="11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73A1357C-53B0-BD49-6357-8118A8FFE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" y="259019"/>
            <a:ext cx="3688832" cy="200890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E5177E4-8071-88F6-9DFC-7DC7CA9C3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2345" y="2267928"/>
            <a:ext cx="4587079" cy="3919868"/>
          </a:xfrm>
          <a:prstGeom prst="rect">
            <a:avLst/>
          </a:prstGeom>
        </p:spPr>
      </p:pic>
      <p:pic>
        <p:nvPicPr>
          <p:cNvPr id="4" name="内容占位符 5">
            <a:extLst>
              <a:ext uri="{FF2B5EF4-FFF2-40B4-BE49-F238E27FC236}">
                <a16:creationId xmlns:a16="http://schemas.microsoft.com/office/drawing/2014/main" id="{E0CBD75F-529A-B31D-7C75-CA80E06BE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097" y="3055480"/>
            <a:ext cx="4024324" cy="22391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84CE13-D0AD-B99F-48E6-47CA3D45A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0473" y="1298619"/>
            <a:ext cx="4830618" cy="22391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F4F8AA-7DC5-DF35-4856-421E90CCB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0529" y="3428999"/>
            <a:ext cx="2002553" cy="4762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CB7EF5-95BA-D2DB-6783-13FD3B1C7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885" y="4444871"/>
            <a:ext cx="1914525" cy="11715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92F2FAF-CF3F-0B26-CC0A-05A1CC1745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5410" y="4401730"/>
            <a:ext cx="1895475" cy="6000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381DD11-35F2-911B-BD29-EC1D2ADF2F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4282" y="5664936"/>
            <a:ext cx="18288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08000"/>
            <a:ext cx="1097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核心硬件资源分配（STM32F407IGT6）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524000"/>
            <a:ext cx="109728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09600" y="1524000"/>
            <a:ext cx="10972800" cy="812800"/>
          </a:xfrm>
          <a:prstGeom prst="roundRect">
            <a:avLst>
              <a:gd name="adj" fmla="val 1875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09600" y="1524000"/>
            <a:ext cx="228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895600" y="1524000"/>
            <a:ext cx="266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外设资源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62600" y="1524000"/>
            <a:ext cx="2032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594600" y="1524000"/>
            <a:ext cx="3987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说明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2336800"/>
            <a:ext cx="10972800" cy="7112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09600" y="23368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PWM输出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895600" y="2336800"/>
            <a:ext cx="266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TIM8_CH1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5562600" y="2336800"/>
            <a:ext cx="203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P</a:t>
            </a:r>
            <a:r>
              <a:rPr lang="en-US" altLang="zh-CN" sz="14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I5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594600" y="2336800"/>
            <a:ext cx="3987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PWM_H </a:t>
            </a:r>
            <a:r>
              <a:rPr lang="zh-CN" alt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上半桥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驱动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09600" y="3048000"/>
            <a:ext cx="109728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09600" y="30480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（续）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895600" y="3048000"/>
            <a:ext cx="266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TIM8_CH1</a:t>
            </a:r>
            <a:r>
              <a:rPr lang="en-US" altLang="zh-CN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5562600" y="3048000"/>
            <a:ext cx="203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P</a:t>
            </a:r>
            <a:r>
              <a:rPr lang="en-US" altLang="zh-CN" sz="14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H13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594600" y="3048000"/>
            <a:ext cx="3987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PWM_L </a:t>
            </a:r>
            <a:r>
              <a:rPr lang="zh-CN" alt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下半桥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驱动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09600" y="3759200"/>
            <a:ext cx="10972800" cy="7112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09600" y="37592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电流采集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2895600" y="3759200"/>
            <a:ext cx="266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ADC1/2/3_CH12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5562600" y="3759200"/>
            <a:ext cx="203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4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PC2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594600" y="3759200"/>
            <a:ext cx="3987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电流采样输入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" y="4470400"/>
            <a:ext cx="109728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09600" y="44704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使能控制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895600" y="4470400"/>
            <a:ext cx="266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GPIO 输出模式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562600" y="4470400"/>
            <a:ext cx="203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4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PF2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7594600" y="4470400"/>
            <a:ext cx="3987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驱动芯片使能信号 (EN)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系统分层设计思想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08000" y="1463969"/>
            <a:ext cx="2667000" cy="4060531"/>
          </a:xfrm>
          <a:prstGeom prst="roundRect">
            <a:avLst>
              <a:gd name="adj" fmla="val 38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06500" y="1781469"/>
            <a:ext cx="1270000" cy="1270000"/>
          </a:xfrm>
          <a:prstGeom prst="ellipse">
            <a:avLst/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0500" y="2035469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" y="3241969"/>
            <a:ext cx="2413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硬件层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Hardware</a:t>
            </a:r>
          </a:p>
          <a:p>
            <a:pPr indent="0" algn="ctr">
              <a:lnSpc>
                <a:spcPct val="116666"/>
              </a:lnSpc>
              <a:spcBef>
                <a:spcPts val="2000"/>
              </a:spcBef>
            </a:pP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系统的物理基础，包括STM32核心板、电机驱动H桥、电流采样电路等。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429000" y="1463969"/>
            <a:ext cx="2667000" cy="4060531"/>
          </a:xfrm>
          <a:prstGeom prst="roundRect">
            <a:avLst>
              <a:gd name="adj" fmla="val 38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127500" y="1781469"/>
            <a:ext cx="1270000" cy="1270000"/>
          </a:xfrm>
          <a:prstGeom prst="ellipse">
            <a:avLst/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0" y="2035469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556000" y="3241969"/>
            <a:ext cx="2413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驱动层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Driver/</a:t>
            </a:r>
            <a:r>
              <a:rPr lang="en-US" altLang="zh-CN" sz="1400" b="0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BSP</a:t>
            </a:r>
            <a:endParaRPr lang="en-US" sz="1400" b="0" i="0" u="none" strike="noStrike" dirty="0">
              <a:solidFill>
                <a:srgbClr val="F57C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16666"/>
              </a:lnSpc>
              <a:spcBef>
                <a:spcPts val="2000"/>
              </a:spcBef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直接操作硬件的软件层，提供统一的硬件访问接口。如ADC驱动、PWM驱动等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463969"/>
            <a:ext cx="2667000" cy="4060531"/>
          </a:xfrm>
          <a:prstGeom prst="roundRect">
            <a:avLst>
              <a:gd name="adj" fmla="val 38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048500" y="1781469"/>
            <a:ext cx="1270000" cy="1270000"/>
          </a:xfrm>
          <a:prstGeom prst="ellipse">
            <a:avLst/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2500" y="2035469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77000" y="3241969"/>
            <a:ext cx="2413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算法</a:t>
            </a:r>
            <a:r>
              <a:rPr lang="zh-CN" altLang="en-US" sz="2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</a:t>
            </a:r>
            <a:r>
              <a:rPr lang="en-US" sz="2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层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altLang="zh-CN" sz="1400" b="0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Driver/Control</a:t>
            </a:r>
            <a:endParaRPr lang="en-US" sz="1400" b="0" i="0" u="none" strike="noStrike" dirty="0">
              <a:solidFill>
                <a:srgbClr val="F57C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16666"/>
              </a:lnSpc>
              <a:spcBef>
                <a:spcPts val="2000"/>
              </a:spcBef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实现核心控制逻辑的软件层，与硬件无关。如PID控制器、数字滤波等算法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271000" y="1463969"/>
            <a:ext cx="2667000" cy="4060531"/>
          </a:xfrm>
          <a:prstGeom prst="roundRect">
            <a:avLst>
              <a:gd name="adj" fmla="val 38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969500" y="1781469"/>
            <a:ext cx="1270000" cy="1270000"/>
          </a:xfrm>
          <a:prstGeom prst="ellipse">
            <a:avLst/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23500" y="2035469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367982" y="3241969"/>
            <a:ext cx="2473036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Application</a:t>
            </a:r>
          </a:p>
          <a:p>
            <a:pPr indent="0" algn="ctr">
              <a:lnSpc>
                <a:spcPct val="116666"/>
              </a:lnSpc>
              <a:spcBef>
                <a:spcPts val="2000"/>
              </a:spcBef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实现具体业务逻辑的软件层，调用算法层和驱动层完成特定任务</a:t>
            </a:r>
            <a:r>
              <a:rPr lang="zh-CN" alt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并显示结果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29">
            <a:extLst>
              <a:ext uri="{FF2B5EF4-FFF2-40B4-BE49-F238E27FC236}">
                <a16:creationId xmlns:a16="http://schemas.microsoft.com/office/drawing/2014/main" id="{3504CFC1-4E82-62F6-C901-F4F09B490E89}"/>
              </a:ext>
            </a:extLst>
          </p:cNvPr>
          <p:cNvSpPr/>
          <p:nvPr/>
        </p:nvSpPr>
        <p:spPr>
          <a:xfrm>
            <a:off x="609600" y="5715000"/>
            <a:ext cx="10972800" cy="1143000"/>
          </a:xfrm>
          <a:prstGeom prst="roundRect">
            <a:avLst>
              <a:gd name="adj" fmla="val 8888"/>
            </a:avLst>
          </a:prstGeom>
          <a:solidFill>
            <a:srgbClr val="00838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30">
            <a:extLst>
              <a:ext uri="{FF2B5EF4-FFF2-40B4-BE49-F238E27FC236}">
                <a16:creationId xmlns:a16="http://schemas.microsoft.com/office/drawing/2014/main" id="{B1BA294A-0FB3-DD29-105E-F721302C182F}"/>
              </a:ext>
            </a:extLst>
          </p:cNvPr>
          <p:cNvSpPr/>
          <p:nvPr/>
        </p:nvSpPr>
        <p:spPr>
          <a:xfrm>
            <a:off x="609600" y="59055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dirty="0">
                <a:sym typeface="Noto Sans SC"/>
              </a:rPr>
              <a:t>和上</a:t>
            </a:r>
            <a:r>
              <a:rPr lang="zh-CN" altLang="en-US" sz="1800">
                <a:sym typeface="Noto Sans SC"/>
              </a:rPr>
              <a:t>一章速度环</a:t>
            </a:r>
            <a:r>
              <a:rPr lang="zh-CN" altLang="en-US" sz="1800" dirty="0">
                <a:sym typeface="Noto Sans SC"/>
              </a:rPr>
              <a:t>控制的工程框架设计思路类似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45525" y="25400"/>
            <a:ext cx="656705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项目架构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2868DF0-1443-670D-0256-BE77A7F41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822885" cy="6858000"/>
          </a:xfrm>
          <a:prstGeom prst="rect">
            <a:avLst/>
          </a:prstGeom>
        </p:spPr>
      </p:pic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A7931CF7-FE98-E2B8-DDDB-CA7C7D441A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971404"/>
              </p:ext>
            </p:extLst>
          </p:nvPr>
        </p:nvGraphicFramePr>
        <p:xfrm>
          <a:off x="2697019" y="635000"/>
          <a:ext cx="9494982" cy="622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59507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一些需要考虑的问题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572493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72493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26493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762993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关于</a:t>
            </a:r>
            <a:r>
              <a:rPr lang="en-US" altLang="zh-CN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ADC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采样</a:t>
            </a:r>
            <a:endParaRPr lang="en-US" sz="1400" b="0" i="0" u="none" strike="noStrike" dirty="0">
              <a:solidFill>
                <a:srgbClr val="FFFFFF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52500" y="2715493"/>
            <a:ext cx="2921000" cy="309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600"/>
              </a:spcAft>
              <a:defRPr/>
            </a:pPr>
            <a:r>
              <a:rPr lang="zh-CN" altLang="en-US" sz="16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第</a:t>
            </a:r>
            <a:r>
              <a:rPr lang="en-US" altLang="zh-CN" sz="16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zh-CN" altLang="en-US" sz="16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章的</a:t>
            </a:r>
            <a:r>
              <a:rPr lang="zh-CN" altLang="en-US" sz="1600" b="1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电流检测方法可行吗？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altLang="zh-CN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ADC+DMA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的无脑搬运模式，</a:t>
            </a:r>
            <a:r>
              <a:rPr lang="zh-CN" altLang="zh-CN" dirty="0"/>
              <a:t>极易踩到功率管开关瞬间的</a:t>
            </a:r>
            <a:r>
              <a:rPr lang="zh-CN" altLang="zh-CN" b="1" dirty="0"/>
              <a:t>电压毛刺</a:t>
            </a:r>
            <a:r>
              <a:rPr lang="zh-CN" altLang="zh-CN" dirty="0"/>
              <a:t>上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通过定时器触发</a:t>
            </a:r>
            <a:r>
              <a:rPr lang="en-US" altLang="zh-CN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ADC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，可以配置为在</a:t>
            </a:r>
            <a:r>
              <a:rPr lang="en-US" altLang="zh-CN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PWM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中心点采样</a:t>
            </a:r>
            <a:endParaRPr lang="en-US" altLang="zh-CN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配置为注入组，优先采集（防止覆盖）</a:t>
            </a:r>
            <a:endParaRPr lang="en-US" altLang="zh-CN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spcBef>
                <a:spcPts val="2400"/>
              </a:spcBef>
            </a:pPr>
            <a:endParaRPr lang="en-US" sz="1200" b="0" i="0" u="none" strike="noStrike" dirty="0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572493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572493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826493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70500" y="1762993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关于控制频率</a:t>
            </a:r>
            <a:endParaRPr lang="en-US" sz="1400" b="0" i="0" u="none" strike="noStrike" dirty="0">
              <a:solidFill>
                <a:srgbClr val="FFFFFF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572493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28000" y="1572493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1826493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53500" y="1762993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关于</a:t>
            </a:r>
            <a:r>
              <a:rPr lang="en-US" altLang="zh-CN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PID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的计算时机</a:t>
            </a:r>
            <a:endParaRPr lang="en-US" sz="1400" b="0" i="0" u="none" strike="noStrike" dirty="0">
              <a:solidFill>
                <a:srgbClr val="FFFFFF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4C7BE0C-770C-B261-4936-F39CF82172E0}"/>
              </a:ext>
            </a:extLst>
          </p:cNvPr>
          <p:cNvGrpSpPr/>
          <p:nvPr/>
        </p:nvGrpSpPr>
        <p:grpSpPr>
          <a:xfrm>
            <a:off x="1396422" y="4828316"/>
            <a:ext cx="1652156" cy="685797"/>
            <a:chOff x="1460499" y="5514108"/>
            <a:chExt cx="1652156" cy="267856"/>
          </a:xfrm>
        </p:grpSpPr>
        <p:cxnSp>
          <p:nvCxnSpPr>
            <p:cNvPr id="19" name="连接符: 肘形 18">
              <a:extLst>
                <a:ext uri="{FF2B5EF4-FFF2-40B4-BE49-F238E27FC236}">
                  <a16:creationId xmlns:a16="http://schemas.microsoft.com/office/drawing/2014/main" id="{F33C08AC-9C6A-81DB-8464-7D0524FEAEFC}"/>
                </a:ext>
              </a:extLst>
            </p:cNvPr>
            <p:cNvCxnSpPr>
              <a:cxnSpLocks/>
            </p:cNvCxnSpPr>
            <p:nvPr/>
          </p:nvCxnSpPr>
          <p:spPr>
            <a:xfrm>
              <a:off x="2207491" y="5514109"/>
              <a:ext cx="905164" cy="26785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53BECBFE-FD25-1420-977F-1693771B15C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460499" y="5514108"/>
              <a:ext cx="880346" cy="2678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AutoShape 7">
            <a:extLst>
              <a:ext uri="{FF2B5EF4-FFF2-40B4-BE49-F238E27FC236}">
                <a16:creationId xmlns:a16="http://schemas.microsoft.com/office/drawing/2014/main" id="{5B3BD925-741A-46AC-9AB6-55B27B579871}"/>
              </a:ext>
            </a:extLst>
          </p:cNvPr>
          <p:cNvSpPr/>
          <p:nvPr/>
        </p:nvSpPr>
        <p:spPr>
          <a:xfrm>
            <a:off x="4620492" y="2537693"/>
            <a:ext cx="2921000" cy="322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600"/>
              </a:spcAft>
              <a:defRPr/>
            </a:pPr>
            <a:r>
              <a:rPr lang="zh-CN" altLang="en-US" sz="1600" b="1" i="0" u="none" strike="noStrike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电流环控制频率是响应频率</a:t>
            </a:r>
            <a:r>
              <a:rPr lang="zh-CN" altLang="en-US" sz="1600" b="1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吗？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b="1" dirty="0"/>
              <a:t>闭环带宽 </a:t>
            </a:r>
            <a:r>
              <a:rPr lang="en-US" altLang="zh-CN" dirty="0"/>
              <a:t>= </a:t>
            </a:r>
            <a:r>
              <a:rPr lang="zh-CN" altLang="en-US" dirty="0"/>
              <a:t>闭环控制系统能稳定跟踪的最高信号频率，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dirty="0"/>
              <a:t>响应频率和闭环带宽相关，但是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电流环控制频率≠闭环带宽</a:t>
            </a:r>
            <a:endParaRPr lang="en-US" altLang="zh-CN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例：目标电流变为</a:t>
            </a: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3A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PID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很快算出</a:t>
            </a: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PWM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，但是电机电感阻碍电流突变，需要一点时间。</a:t>
            </a:r>
            <a:endParaRPr lang="en-US" altLang="zh-CN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endParaRPr lang="en-US" sz="1200" b="0" i="0" u="none" strike="noStrike" dirty="0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7">
            <a:extLst>
              <a:ext uri="{FF2B5EF4-FFF2-40B4-BE49-F238E27FC236}">
                <a16:creationId xmlns:a16="http://schemas.microsoft.com/office/drawing/2014/main" id="{5C9622A0-68FF-E3E9-1A65-EEC5BDB0D930}"/>
              </a:ext>
            </a:extLst>
          </p:cNvPr>
          <p:cNvSpPr/>
          <p:nvPr/>
        </p:nvSpPr>
        <p:spPr>
          <a:xfrm>
            <a:off x="8318500" y="2596113"/>
            <a:ext cx="2921000" cy="322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1600"/>
              </a:spcAft>
              <a:defRPr/>
            </a:pPr>
            <a:r>
              <a:rPr lang="zh-CN" altLang="en-US" sz="1600" b="1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在中断还是在</a:t>
            </a:r>
            <a:r>
              <a:rPr lang="en-US" altLang="zh-CN" sz="1600" b="1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main</a:t>
            </a:r>
            <a:r>
              <a:rPr lang="zh-CN" altLang="en-US" sz="1600" b="1" dirty="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函数？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dirty="0"/>
              <a:t>电流环内环，它的采样和计算频率高（通常在 </a:t>
            </a:r>
            <a:r>
              <a:rPr lang="en-US" altLang="zh-CN" dirty="0"/>
              <a:t>10 kHz ~20 kHz</a:t>
            </a:r>
            <a:r>
              <a:rPr lang="zh-CN" altLang="en-US" dirty="0"/>
              <a:t>）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altLang="zh-CN" dirty="0"/>
              <a:t>main</a:t>
            </a:r>
            <a:r>
              <a:rPr lang="zh-CN" altLang="en-US" dirty="0"/>
              <a:t>函数可能被其他高优先级中断打断，或者因为执行其他逻辑（如串口通信等）导致循环周期忽长忽短。</a:t>
            </a:r>
            <a:endParaRPr lang="en-US" altLang="zh-CN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sz="1800" b="1" dirty="0"/>
              <a:t>即时采样，即时响应</a:t>
            </a:r>
            <a:endParaRPr lang="en-US" altLang="zh-CN" b="1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endParaRPr lang="en-US" sz="12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endParaRPr lang="en-US" sz="1200" b="0" i="0" u="none" strike="noStrike" dirty="0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3FA29DD-5C92-2D35-14A1-C7DA076BB971}"/>
              </a:ext>
            </a:extLst>
          </p:cNvPr>
          <p:cNvSpPr txBox="1"/>
          <p:nvPr/>
        </p:nvSpPr>
        <p:spPr>
          <a:xfrm>
            <a:off x="762000" y="5953993"/>
            <a:ext cx="1066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理想的模式：</a:t>
            </a:r>
            <a:r>
              <a:rPr lang="en-US" altLang="zh-CN" sz="1800" b="1" dirty="0">
                <a:effectLst/>
                <a:latin typeface="Google Sans Text"/>
              </a:rPr>
              <a:t>ADC </a:t>
            </a:r>
            <a:r>
              <a:rPr lang="zh-CN" altLang="en-US" sz="1800" b="1" dirty="0">
                <a:effectLst/>
                <a:latin typeface="Google Sans Text"/>
              </a:rPr>
              <a:t>采集完成 </a:t>
            </a:r>
            <a:r>
              <a:rPr lang="en-US" altLang="zh-CN" sz="1800" b="1" dirty="0">
                <a:latin typeface="Google Sans Text"/>
                <a:sym typeface="Wingdings" panose="05000000000000000000" pitchFamily="2" charset="2"/>
              </a:rPr>
              <a:t> </a:t>
            </a:r>
            <a:r>
              <a:rPr lang="zh-CN" altLang="en-US" sz="1800" b="1" dirty="0">
                <a:effectLst/>
                <a:latin typeface="Google Sans Text"/>
              </a:rPr>
              <a:t>立即触发中断 </a:t>
            </a:r>
            <a:r>
              <a:rPr lang="en-US" altLang="zh-CN" sz="1800" b="1" dirty="0">
                <a:latin typeface="Google Sans Text"/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effectLst/>
                <a:latin typeface="Google Sans Text"/>
              </a:rPr>
              <a:t> CPU </a:t>
            </a:r>
            <a:r>
              <a:rPr lang="zh-CN" altLang="en-US" sz="1800" b="1" dirty="0">
                <a:effectLst/>
                <a:latin typeface="Google Sans Text"/>
              </a:rPr>
              <a:t>耗时几个微秒算出 </a:t>
            </a:r>
            <a:r>
              <a:rPr lang="en-US" altLang="zh-CN" sz="1800" b="1" dirty="0">
                <a:effectLst/>
                <a:latin typeface="Google Sans Text"/>
              </a:rPr>
              <a:t>PID </a:t>
            </a:r>
            <a:r>
              <a:rPr lang="zh-CN" altLang="en-US" sz="1800" b="1" dirty="0">
                <a:effectLst/>
                <a:latin typeface="Google Sans Text"/>
              </a:rPr>
              <a:t>结果 </a:t>
            </a:r>
            <a:r>
              <a:rPr lang="en-US" altLang="zh-CN" sz="1800" b="1" dirty="0">
                <a:latin typeface="Google Sans Text"/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effectLst/>
                <a:latin typeface="Google Sans Text"/>
              </a:rPr>
              <a:t> </a:t>
            </a:r>
            <a:r>
              <a:rPr lang="zh-CN" altLang="en-US" sz="1800" b="1" dirty="0">
                <a:effectLst/>
                <a:latin typeface="Google Sans Text"/>
              </a:rPr>
              <a:t>更新 </a:t>
            </a:r>
            <a:r>
              <a:rPr lang="en-US" altLang="zh-CN" sz="1800" b="1" dirty="0">
                <a:effectLst/>
                <a:latin typeface="Google Sans Text"/>
              </a:rPr>
              <a:t>PWM </a:t>
            </a:r>
            <a:r>
              <a:rPr lang="zh-CN" altLang="en-US" sz="1800" b="1" dirty="0">
                <a:effectLst/>
                <a:latin typeface="Google Sans Text"/>
              </a:rPr>
              <a:t>占空比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7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4338320" y="3340100"/>
            <a:ext cx="3510280" cy="88900"/>
          </a:xfrm>
          <a:prstGeom prst="roundRect">
            <a:avLst>
              <a:gd name="adj" fmla="val 0"/>
            </a:avLst>
          </a:prstGeom>
          <a:solidFill>
            <a:srgbClr val="F57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798320" y="3683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淘宝店铺：GenBotter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高博士_嵌入式</a:t>
            </a:r>
            <a:endParaRPr 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3810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2026.05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1043</Words>
  <Application>Microsoft Office PowerPoint</Application>
  <PresentationFormat>宽屏</PresentationFormat>
  <Paragraphs>181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Google Sans Text</vt:lpstr>
      <vt:lpstr>Noto Sans SC</vt:lpstr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案例目标：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延增 高</cp:lastModifiedBy>
  <cp:revision>33</cp:revision>
  <dcterms:modified xsi:type="dcterms:W3CDTF">2026-06-09T03:06:26Z</dcterms:modified>
</cp:coreProperties>
</file>