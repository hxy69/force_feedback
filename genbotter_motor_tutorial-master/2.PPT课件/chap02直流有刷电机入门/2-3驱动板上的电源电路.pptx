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9" r:id="rId2"/>
    <p:sldId id="292" r:id="rId3"/>
    <p:sldId id="287" r:id="rId4"/>
    <p:sldId id="282" r:id="rId5"/>
    <p:sldId id="294" r:id="rId6"/>
    <p:sldId id="283" r:id="rId7"/>
    <p:sldId id="293" r:id="rId8"/>
    <p:sldId id="28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61" autoAdjust="0"/>
    <p:restoredTop sz="96652" autoAdjust="0"/>
  </p:normalViewPr>
  <p:slideViewPr>
    <p:cSldViewPr snapToGrid="0">
      <p:cViewPr varScale="1">
        <p:scale>
          <a:sx n="110" d="100"/>
          <a:sy n="110" d="100"/>
        </p:scale>
        <p:origin x="114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FA423-769F-0D50-8978-A746DD19C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365125"/>
            <a:ext cx="10267950" cy="7588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C781BF-EA3C-EF47-1469-E52350BD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825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0A28E4B-8D0A-4608-9DAE-00FBA1A70945}" type="datetimeFigureOut">
              <a:rPr lang="zh-CN" altLang="en-US" smtClean="0"/>
              <a:pPr/>
              <a:t>2025/7/5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2C1EA7-1D5B-5D35-7386-B82F0D2999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43975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FCB2E52-3EBE-40F1-B7CA-E76F5B1CA9D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FF2483-EB6F-58CF-4D52-6F2A86B457C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4825" y="1362076"/>
            <a:ext cx="11182350" cy="4867274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678FE9D-492D-106D-E13C-D12CAD8B8FBE}"/>
              </a:ext>
            </a:extLst>
          </p:cNvPr>
          <p:cNvSpPr/>
          <p:nvPr userDrawn="1"/>
        </p:nvSpPr>
        <p:spPr>
          <a:xfrm>
            <a:off x="733425" y="511177"/>
            <a:ext cx="319087" cy="374648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9CBF875-8197-1C4D-2759-669F3DCB4C7B}"/>
              </a:ext>
            </a:extLst>
          </p:cNvPr>
          <p:cNvSpPr/>
          <p:nvPr userDrawn="1"/>
        </p:nvSpPr>
        <p:spPr>
          <a:xfrm>
            <a:off x="504825" y="511177"/>
            <a:ext cx="319087" cy="374648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E6FF394C-7213-6672-5B4E-FFAA7ABC0724}"/>
              </a:ext>
            </a:extLst>
          </p:cNvPr>
          <p:cNvSpPr/>
          <p:nvPr userDrawn="1"/>
        </p:nvSpPr>
        <p:spPr>
          <a:xfrm>
            <a:off x="962025" y="511177"/>
            <a:ext cx="319087" cy="374648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76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-834428" y="-28011"/>
            <a:ext cx="2564716" cy="2564716"/>
          </a:xfrm>
          <a:prstGeom prst="ellipse">
            <a:avLst/>
          </a:prstGeom>
          <a:gradFill>
            <a:gsLst>
              <a:gs pos="0">
                <a:schemeClr val="accent1">
                  <a:alpha val="30000"/>
                </a:schemeClr>
              </a:gs>
              <a:gs pos="72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7116953" y="4414372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01" y="661753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23146" y="2531649"/>
            <a:ext cx="4816609" cy="152654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28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搞懂有刷电机驱动板上的</a:t>
            </a:r>
            <a:endParaRPr kumimoji="1" lang="en-US" altLang="zh-CN" sz="28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kumimoji="1" lang="zh-CN" altLang="en-US" sz="48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电源电路</a:t>
            </a:r>
            <a:endParaRPr kumimoji="1" lang="en-US" altLang="zh-CN" sz="48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6693" y="1806581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【02-03】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6830CC9B-B954-E8DE-0F3F-428CCBCEF3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263" y="1303077"/>
            <a:ext cx="3582272" cy="300844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B134942-3E80-939C-3E88-5B5D5468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79A089-F6A9-4016-56A4-4543CDC9AA5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1. </a:t>
            </a:r>
            <a:r>
              <a:rPr lang="zh-CN" altLang="en-US" dirty="0"/>
              <a:t>整体概述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2. </a:t>
            </a:r>
            <a:r>
              <a:rPr lang="zh-CN" altLang="en-US" dirty="0"/>
              <a:t>电源输入及预处理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3. DC-DC</a:t>
            </a:r>
            <a:r>
              <a:rPr lang="zh-CN" altLang="en-US" dirty="0"/>
              <a:t>转换电路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4. </a:t>
            </a:r>
            <a:r>
              <a:rPr lang="zh-CN" altLang="en-US" dirty="0"/>
              <a:t>低压线性稳压电路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51845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B134942-3E80-939C-3E88-5B5D5468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</a:t>
            </a:r>
            <a:r>
              <a:rPr lang="zh-CN" altLang="en-US" dirty="0"/>
              <a:t>整体概述</a:t>
            </a:r>
            <a:endParaRPr lang="zh-CN" altLang="en-US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400BE35-A8D9-6F5B-CE5D-05888B847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56" y="1294781"/>
            <a:ext cx="11538857" cy="476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626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1D8D4-C8D3-DEF9-D2A5-9B668B1A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66C5EB8B-62A7-8475-BACC-A7222A44C8B9}"/>
              </a:ext>
            </a:extLst>
          </p:cNvPr>
          <p:cNvSpPr txBox="1"/>
          <p:nvPr/>
        </p:nvSpPr>
        <p:spPr>
          <a:xfrm rot="2544951">
            <a:off x="415546" y="374372"/>
            <a:ext cx="134622" cy="197908"/>
          </a:xfrm>
          <a:custGeom>
            <a:avLst/>
            <a:gdLst>
              <a:gd name="connsiteX0" fmla="*/ 265175 w 356639"/>
              <a:gd name="connsiteY0" fmla="*/ 0 h 524296"/>
              <a:gd name="connsiteX1" fmla="*/ 356639 w 356639"/>
              <a:gd name="connsiteY1" fmla="*/ 0 h 524296"/>
              <a:gd name="connsiteX2" fmla="*/ 356639 w 356639"/>
              <a:gd name="connsiteY2" fmla="*/ 521734 h 524296"/>
              <a:gd name="connsiteX3" fmla="*/ 345917 w 356639"/>
              <a:gd name="connsiteY3" fmla="*/ 521734 h 524296"/>
              <a:gd name="connsiteX4" fmla="*/ 345921 w 356639"/>
              <a:gd name="connsiteY4" fmla="*/ 522433 h 524296"/>
              <a:gd name="connsiteX5" fmla="*/ 493 w 356639"/>
              <a:gd name="connsiteY5" fmla="*/ 524296 h 524296"/>
              <a:gd name="connsiteX6" fmla="*/ 0 w 356639"/>
              <a:gd name="connsiteY6" fmla="*/ 432834 h 524296"/>
              <a:gd name="connsiteX7" fmla="*/ 265175 w 356639"/>
              <a:gd name="connsiteY7" fmla="*/ 431403 h 524296"/>
            </a:gdLst>
            <a:ahLst/>
            <a:cxnLst/>
            <a:rect l="l" t="t" r="r" b="b"/>
            <a:pathLst>
              <a:path w="356639" h="524296">
                <a:moveTo>
                  <a:pt x="265175" y="0"/>
                </a:moveTo>
                <a:lnTo>
                  <a:pt x="356639" y="0"/>
                </a:lnTo>
                <a:lnTo>
                  <a:pt x="356639" y="521734"/>
                </a:lnTo>
                <a:lnTo>
                  <a:pt x="345917" y="521734"/>
                </a:lnTo>
                <a:lnTo>
                  <a:pt x="345921" y="522433"/>
                </a:lnTo>
                <a:lnTo>
                  <a:pt x="493" y="524296"/>
                </a:lnTo>
                <a:lnTo>
                  <a:pt x="0" y="432834"/>
                </a:lnTo>
                <a:lnTo>
                  <a:pt x="265175" y="431403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97A6495-4001-1ED7-C76C-4CA0F2C65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电源输入及预处理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EFDDA525-B493-E3F1-5812-96120DF33214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253515" y="1454149"/>
            <a:ext cx="3772919" cy="2212428"/>
          </a:xfr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5F69F75-700D-BCCD-B36B-A80B28A76E66}"/>
              </a:ext>
            </a:extLst>
          </p:cNvPr>
          <p:cNvSpPr txBox="1"/>
          <p:nvPr/>
        </p:nvSpPr>
        <p:spPr>
          <a:xfrm>
            <a:off x="4650377" y="1323656"/>
            <a:ext cx="747246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400" b="0" i="0" dirty="0">
                <a:effectLst/>
                <a:latin typeface="Inter"/>
              </a:rPr>
              <a:t>输入部分有 </a:t>
            </a:r>
            <a:r>
              <a:rPr lang="en-US" altLang="zh-CN" sz="1400" b="1" i="0" dirty="0">
                <a:effectLst/>
                <a:latin typeface="Inter"/>
              </a:rPr>
              <a:t>VIN</a:t>
            </a:r>
            <a:r>
              <a:rPr lang="zh-CN" altLang="en-US" sz="1400" b="0" i="0" dirty="0">
                <a:effectLst/>
                <a:latin typeface="Inter"/>
              </a:rPr>
              <a:t> 输入端口，搭配了防雷、防反接等保护电路：</a:t>
            </a:r>
          </a:p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Inter"/>
              </a:rPr>
              <a:t>防雷与防反接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endParaRPr lang="en-US" altLang="zh-CN" sz="14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VD2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SMAJ60CA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）是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TVS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（瞬态抑制二极管 ），用于吸收浪涌电压，保护后级电路；</a:t>
            </a:r>
            <a:endParaRPr lang="en-US" altLang="zh-CN" sz="14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D4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D5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SS510B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）组成防反接电路，当输入电压极性接反时，二极管反向截止，阻止电流倒灌损坏电路，确保只有正确极性输入时，电流能通过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D4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D5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流向后级。</a:t>
            </a:r>
          </a:p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Inter"/>
              </a:rPr>
              <a:t>滤波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endParaRPr lang="en-US" altLang="zh-CN" sz="14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L3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47uH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）、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C18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47uF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）、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C19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2.2uF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）、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C20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100nF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）构成输入滤波电路，可滤除输入电压中的高频噪声和纹波，让输入到后级转换电路的电压更纯净。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11EE833-FAD4-2092-653C-8467F365D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60" y="4183376"/>
            <a:ext cx="2934067" cy="218630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8E3667A-ACE1-AE72-B026-7B7583DBF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3208" y="5276529"/>
            <a:ext cx="2165377" cy="955952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E55F6F8-BB57-4CF2-6A24-4A6F9E90DCDF}"/>
              </a:ext>
            </a:extLst>
          </p:cNvPr>
          <p:cNvSpPr txBox="1"/>
          <p:nvPr/>
        </p:nvSpPr>
        <p:spPr>
          <a:xfrm>
            <a:off x="5955714" y="4121217"/>
            <a:ext cx="61011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0" dirty="0">
                <a:solidFill>
                  <a:srgbClr val="1C1F23"/>
                </a:solidFill>
                <a:effectLst/>
                <a:latin typeface="Inter"/>
              </a:rPr>
              <a:t>5V </a:t>
            </a:r>
            <a:r>
              <a:rPr lang="zh-CN" altLang="en-US" sz="1600" b="1" i="0" dirty="0">
                <a:solidFill>
                  <a:srgbClr val="1C1F23"/>
                </a:solidFill>
                <a:effectLst/>
                <a:latin typeface="Inter"/>
              </a:rPr>
              <a:t>电源冗余分配与稳压电路 </a:t>
            </a:r>
            <a:r>
              <a:rPr lang="zh-CN" altLang="en-US" sz="1600" b="0" i="0" dirty="0">
                <a:solidFill>
                  <a:srgbClr val="1C1F23"/>
                </a:solidFill>
                <a:effectLst/>
                <a:latin typeface="Inter"/>
              </a:rPr>
              <a:t>，</a:t>
            </a:r>
            <a:r>
              <a:rPr lang="zh-CN" altLang="en-US" sz="1600" dirty="0">
                <a:solidFill>
                  <a:srgbClr val="1C1F23"/>
                </a:solidFill>
                <a:latin typeface="Inter"/>
              </a:rPr>
              <a:t>即</a:t>
            </a:r>
            <a:r>
              <a:rPr lang="en-US" altLang="zh-CN" sz="1600" dirty="0">
                <a:solidFill>
                  <a:srgbClr val="1C1F23"/>
                </a:solidFill>
                <a:latin typeface="Inter"/>
              </a:rPr>
              <a:t>VCC5</a:t>
            </a:r>
            <a:r>
              <a:rPr lang="zh-CN" altLang="en-US" sz="1600" dirty="0">
                <a:solidFill>
                  <a:srgbClr val="1C1F23"/>
                </a:solidFill>
                <a:latin typeface="Inter"/>
              </a:rPr>
              <a:t>和</a:t>
            </a:r>
            <a:r>
              <a:rPr lang="en-US" altLang="zh-CN" sz="1600" dirty="0">
                <a:solidFill>
                  <a:srgbClr val="1C1F23"/>
                </a:solidFill>
                <a:latin typeface="Inter"/>
              </a:rPr>
              <a:t>VLDO_IN</a:t>
            </a:r>
            <a:r>
              <a:rPr lang="zh-CN" altLang="en-US" sz="1600" dirty="0">
                <a:solidFill>
                  <a:srgbClr val="1C1F23"/>
                </a:solidFill>
                <a:latin typeface="Inter"/>
              </a:rPr>
              <a:t>选其中一个作为</a:t>
            </a:r>
            <a:r>
              <a:rPr lang="en-US" altLang="zh-CN" sz="1600" dirty="0">
                <a:solidFill>
                  <a:srgbClr val="1C1F23"/>
                </a:solidFill>
                <a:latin typeface="Inter"/>
              </a:rPr>
              <a:t>VLDO_IN</a:t>
            </a:r>
            <a:endParaRPr lang="en-US" altLang="zh-CN" sz="1600" b="0" i="0" dirty="0">
              <a:solidFill>
                <a:srgbClr val="1C1F23"/>
              </a:solidFill>
              <a:effectLst/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rgbClr val="1C1F23"/>
                </a:solidFill>
                <a:effectLst/>
                <a:latin typeface="Inter"/>
              </a:rPr>
              <a:t>双路输入与防反接</a:t>
            </a:r>
            <a:r>
              <a:rPr lang="en-US" altLang="zh-CN" sz="1600" b="1" dirty="0">
                <a:solidFill>
                  <a:srgbClr val="1C1F23"/>
                </a:solidFill>
                <a:latin typeface="Inter"/>
              </a:rPr>
              <a:t>:</a:t>
            </a:r>
            <a:r>
              <a:rPr lang="en-US" altLang="zh-CN" sz="1600" b="0" i="0" dirty="0">
                <a:solidFill>
                  <a:srgbClr val="1C1F23"/>
                </a:solidFill>
                <a:effectLst/>
                <a:latin typeface="Inter"/>
              </a:rPr>
              <a:t> </a:t>
            </a:r>
            <a:r>
              <a:rPr lang="zh-CN" altLang="en-US" sz="1600" b="0" i="0" dirty="0">
                <a:solidFill>
                  <a:srgbClr val="1C1F23"/>
                </a:solidFill>
                <a:effectLst/>
                <a:latin typeface="Inter"/>
              </a:rPr>
              <a:t>采用肖特基二极管（</a:t>
            </a:r>
            <a:r>
              <a:rPr lang="en-US" altLang="zh-CN" sz="1600" b="0" i="0" dirty="0">
                <a:solidFill>
                  <a:srgbClr val="1C1F23"/>
                </a:solidFill>
                <a:effectLst/>
                <a:latin typeface="Inter"/>
              </a:rPr>
              <a:t>U1</a:t>
            </a:r>
            <a:r>
              <a:rPr lang="zh-CN" altLang="en-US" sz="1600" b="0" i="0" dirty="0">
                <a:solidFill>
                  <a:srgbClr val="1C1F23"/>
                </a:solidFill>
                <a:effectLst/>
                <a:latin typeface="Inter"/>
              </a:rPr>
              <a:t>、</a:t>
            </a:r>
            <a:r>
              <a:rPr lang="en-US" altLang="zh-CN" sz="1600" b="0" i="0" dirty="0">
                <a:solidFill>
                  <a:srgbClr val="1C1F23"/>
                </a:solidFill>
                <a:effectLst/>
                <a:latin typeface="Inter"/>
              </a:rPr>
              <a:t>U2</a:t>
            </a:r>
            <a:r>
              <a:rPr lang="zh-CN" altLang="en-US" sz="1600" b="0" i="0" dirty="0">
                <a:solidFill>
                  <a:srgbClr val="1C1F23"/>
                </a:solidFill>
                <a:effectLst/>
                <a:latin typeface="Inter"/>
              </a:rPr>
              <a:t>：</a:t>
            </a:r>
            <a:r>
              <a:rPr lang="en-US" altLang="zh-CN" sz="1600" b="0" i="0" dirty="0">
                <a:solidFill>
                  <a:srgbClr val="1C1F23"/>
                </a:solidFill>
                <a:effectLst/>
                <a:latin typeface="Inter"/>
              </a:rPr>
              <a:t>MBR0520L </a:t>
            </a:r>
            <a:r>
              <a:rPr lang="zh-CN" altLang="en-US" sz="1600" b="0" i="0" dirty="0">
                <a:solidFill>
                  <a:srgbClr val="1C1F23"/>
                </a:solidFill>
                <a:effectLst/>
                <a:latin typeface="Inter"/>
              </a:rPr>
              <a:t>），</a:t>
            </a:r>
            <a:r>
              <a:rPr lang="en-US" altLang="zh-CN" sz="1600" b="0" i="0" dirty="0">
                <a:solidFill>
                  <a:srgbClr val="1C1F23"/>
                </a:solidFill>
                <a:effectLst/>
                <a:latin typeface="Inter"/>
              </a:rPr>
              <a:t> </a:t>
            </a:r>
            <a:r>
              <a:rPr lang="zh-CN" altLang="en-US" sz="1600" b="0" i="0" dirty="0">
                <a:solidFill>
                  <a:srgbClr val="1C1F23"/>
                </a:solidFill>
                <a:effectLst/>
                <a:latin typeface="Inter"/>
              </a:rPr>
              <a:t>防止 </a:t>
            </a:r>
            <a:r>
              <a:rPr lang="en-US" altLang="zh-CN" sz="1600" b="0" i="0" dirty="0">
                <a:solidFill>
                  <a:srgbClr val="1C1F23"/>
                </a:solidFill>
                <a:effectLst/>
                <a:latin typeface="Inter"/>
              </a:rPr>
              <a:t>`5V_IN`/`VLDO_IN` </a:t>
            </a:r>
            <a:r>
              <a:rPr lang="zh-CN" altLang="en-US" sz="1600" b="0" i="0" dirty="0">
                <a:solidFill>
                  <a:srgbClr val="1C1F23"/>
                </a:solidFill>
                <a:effectLst/>
                <a:latin typeface="Inter"/>
              </a:rPr>
              <a:t>极性接反损坏电路 </a:t>
            </a:r>
            <a:endParaRPr lang="en-US" altLang="zh-CN" sz="1600" b="0" i="0" dirty="0">
              <a:solidFill>
                <a:srgbClr val="1C1F23"/>
              </a:solidFill>
              <a:effectLst/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rgbClr val="1C1F23"/>
                </a:solidFill>
                <a:effectLst/>
                <a:latin typeface="Inter"/>
              </a:rPr>
              <a:t>滤波与稳压强化</a:t>
            </a:r>
            <a:r>
              <a:rPr lang="en-US" altLang="zh-CN" sz="1600" b="1" i="0" dirty="0">
                <a:solidFill>
                  <a:srgbClr val="1C1F23"/>
                </a:solidFill>
                <a:effectLst/>
                <a:latin typeface="Inter"/>
              </a:rPr>
              <a:t>:</a:t>
            </a:r>
            <a:r>
              <a:rPr lang="en-US" altLang="zh-CN" sz="1600" b="0" i="0" dirty="0">
                <a:solidFill>
                  <a:srgbClr val="1C1F23"/>
                </a:solidFill>
                <a:effectLst/>
                <a:latin typeface="Inter"/>
              </a:rPr>
              <a:t>`C13</a:t>
            </a:r>
            <a:r>
              <a:rPr lang="zh-CN" altLang="en-US" sz="1600" b="0" i="0" dirty="0">
                <a:solidFill>
                  <a:srgbClr val="1C1F23"/>
                </a:solidFill>
                <a:effectLst/>
                <a:latin typeface="Inter"/>
              </a:rPr>
              <a:t>、</a:t>
            </a:r>
            <a:r>
              <a:rPr lang="en-US" altLang="zh-CN" sz="1600" b="0" i="0" dirty="0">
                <a:solidFill>
                  <a:srgbClr val="1C1F23"/>
                </a:solidFill>
                <a:effectLst/>
                <a:latin typeface="Inter"/>
              </a:rPr>
              <a:t>C39</a:t>
            </a:r>
            <a:r>
              <a:rPr lang="zh-CN" altLang="en-US" sz="1600" b="0" i="0" dirty="0">
                <a:solidFill>
                  <a:srgbClr val="1C1F23"/>
                </a:solidFill>
                <a:effectLst/>
                <a:latin typeface="Inter"/>
              </a:rPr>
              <a:t>、</a:t>
            </a:r>
            <a:r>
              <a:rPr lang="en-US" altLang="zh-CN" sz="1600" b="0" i="0" dirty="0">
                <a:solidFill>
                  <a:srgbClr val="1C1F23"/>
                </a:solidFill>
                <a:effectLst/>
                <a:latin typeface="Inter"/>
              </a:rPr>
              <a:t>C7` </a:t>
            </a:r>
            <a:r>
              <a:rPr lang="zh-CN" altLang="en-US" sz="1600" b="0" i="0" dirty="0">
                <a:solidFill>
                  <a:srgbClr val="1C1F23"/>
                </a:solidFill>
                <a:effectLst/>
                <a:latin typeface="Inter"/>
              </a:rPr>
              <a:t>多级滤波，滤除 </a:t>
            </a:r>
            <a:r>
              <a:rPr lang="en-US" altLang="zh-CN" sz="1600" b="0" i="0" dirty="0">
                <a:solidFill>
                  <a:srgbClr val="1C1F23"/>
                </a:solidFill>
                <a:effectLst/>
                <a:latin typeface="Inter"/>
              </a:rPr>
              <a:t>5V </a:t>
            </a:r>
            <a:r>
              <a:rPr lang="zh-CN" altLang="en-US" sz="1600" b="0" i="0" dirty="0">
                <a:solidFill>
                  <a:srgbClr val="1C1F23"/>
                </a:solidFill>
                <a:effectLst/>
                <a:latin typeface="Inter"/>
              </a:rPr>
              <a:t>电压纹波与噪声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75483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04624-C5C3-84A4-7E93-E4DC4A229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B4FE85A1-4CAF-B530-E7BF-B733C8D3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249237"/>
            <a:ext cx="10267950" cy="7588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3. DC-DC</a:t>
            </a:r>
            <a:r>
              <a:rPr lang="zh-CN" altLang="en-US" dirty="0"/>
              <a:t>转换电路</a:t>
            </a:r>
            <a:r>
              <a:rPr lang="en-US" altLang="zh-CN" dirty="0"/>
              <a:t>VC11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F4967E7-8FCD-0577-3CEE-0F60EACDC6B0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45460" y="1505902"/>
            <a:ext cx="7477125" cy="2628900"/>
          </a:xfr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50714D9-214B-9ABB-5531-97AD907AE90A}"/>
              </a:ext>
            </a:extLst>
          </p:cNvPr>
          <p:cNvSpPr txBox="1"/>
          <p:nvPr/>
        </p:nvSpPr>
        <p:spPr>
          <a:xfrm>
            <a:off x="8046720" y="512020"/>
            <a:ext cx="3866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 err="1">
                <a:effectLst/>
                <a:latin typeface="Inter"/>
              </a:rPr>
              <a:t>SW:Switch</a:t>
            </a:r>
            <a:r>
              <a:rPr lang="zh-CN" altLang="en-US" b="0" i="0" dirty="0">
                <a:effectLst/>
                <a:latin typeface="Inter"/>
              </a:rPr>
              <a:t>开关 </a:t>
            </a:r>
            <a:r>
              <a:rPr lang="zh-CN" altLang="en-US" dirty="0">
                <a:latin typeface="Inter"/>
              </a:rPr>
              <a:t>，开关电源转换芯片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C36905-BD09-7B8A-079B-942FDAEE68C5}"/>
              </a:ext>
            </a:extLst>
          </p:cNvPr>
          <p:cNvSpPr txBox="1"/>
          <p:nvPr/>
        </p:nvSpPr>
        <p:spPr>
          <a:xfrm>
            <a:off x="8046720" y="1270845"/>
            <a:ext cx="3999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Inter"/>
              </a:rPr>
              <a:t>通过内部开关管高频通断，把输入电压 “斩波” 后重新整合，输出稳定 </a:t>
            </a:r>
            <a:r>
              <a:rPr lang="en-US" altLang="zh-CN" b="0" i="0" dirty="0">
                <a:effectLst/>
                <a:latin typeface="Inter"/>
              </a:rPr>
              <a:t>11V </a:t>
            </a:r>
            <a:r>
              <a:rPr lang="zh-CN" altLang="en-US" b="0" i="0" dirty="0">
                <a:effectLst/>
                <a:latin typeface="Inter"/>
              </a:rPr>
              <a:t>。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7E7FF76-201E-7E3A-3037-B45ECEC77269}"/>
              </a:ext>
            </a:extLst>
          </p:cNvPr>
          <p:cNvSpPr txBox="1"/>
          <p:nvPr/>
        </p:nvSpPr>
        <p:spPr>
          <a:xfrm>
            <a:off x="7524206" y="2084448"/>
            <a:ext cx="466779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Inter"/>
              </a:rPr>
              <a:t>输入保护与滤波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（左侧）：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D2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SS310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二极管）：防反接、防倒灌，保护芯片；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L3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C18/C19/C20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：滤波，滤除输入电压的噪声，让输入更纯净。</a:t>
            </a:r>
          </a:p>
          <a:p>
            <a:pPr algn="l"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Inter"/>
              </a:rPr>
              <a:t>芯片工作回路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（中间）：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SW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（引脚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1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）：芯片内部开关管的输出端，高频通断产生脉冲电压；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L2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47uH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电感）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+ C15/C16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（电容）：和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SW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配合，把脉冲电压 “平滑” 成直流，实现电压转换；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FB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（引脚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5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）：反馈引脚，通过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R8/R9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分压采集输出电压，芯片根据反馈实时调整输出，保障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11V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稳定。</a:t>
            </a:r>
          </a:p>
          <a:p>
            <a:pPr algn="l"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Inter"/>
              </a:rPr>
              <a:t>输出滤波与保护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（右侧）：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C1/C2/C4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：进一步滤波，降低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11V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输出的纹波；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VD1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SMF12A TVS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管）：过压保护，当输出电压异常飙升时，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TVS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导通 “钳位”，保护后级电路。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233EE8-9CBC-9B71-8A55-D6726024538B}"/>
              </a:ext>
            </a:extLst>
          </p:cNvPr>
          <p:cNvSpPr txBox="1"/>
          <p:nvPr/>
        </p:nvSpPr>
        <p:spPr>
          <a:xfrm>
            <a:off x="637902" y="5155364"/>
            <a:ext cx="59719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effectLst/>
                <a:latin typeface="Inter"/>
              </a:rPr>
              <a:t>VD1</a:t>
            </a:r>
            <a:r>
              <a:rPr lang="zh-CN" altLang="en-US" b="0" i="0" dirty="0">
                <a:effectLst/>
                <a:latin typeface="Inter"/>
              </a:rPr>
              <a:t>（</a:t>
            </a:r>
            <a:r>
              <a:rPr lang="en-US" altLang="zh-CN" b="0" i="0" dirty="0">
                <a:effectLst/>
                <a:latin typeface="Inter"/>
              </a:rPr>
              <a:t>SMF12A</a:t>
            </a:r>
            <a:r>
              <a:rPr lang="zh-CN" altLang="en-US" b="0" i="0" dirty="0">
                <a:effectLst/>
                <a:latin typeface="Inter"/>
              </a:rPr>
              <a:t>）瞬态电压抑制二极管，</a:t>
            </a:r>
            <a:r>
              <a:rPr lang="en-US" altLang="zh-CN" b="0" i="0" dirty="0">
                <a:effectLst/>
                <a:latin typeface="Inter"/>
              </a:rPr>
              <a:t>VC11</a:t>
            </a:r>
            <a:r>
              <a:rPr lang="zh-CN" altLang="en-US" b="0" i="0" dirty="0">
                <a:effectLst/>
                <a:latin typeface="Inter"/>
              </a:rPr>
              <a:t>输出电压超过其击穿电压时迅速反向击穿，将电压钳位在安全值并泄放过压电流，保护后级电路免受过高电压损害。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1291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B67C3-7F25-CE38-3717-66DB1DEE6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337FCA5-89C3-90DB-07A7-57C471042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249237"/>
            <a:ext cx="10267950" cy="7588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3. DC-DC</a:t>
            </a:r>
            <a:r>
              <a:rPr lang="zh-CN" altLang="en-US" dirty="0"/>
              <a:t>转换电路</a:t>
            </a:r>
            <a:r>
              <a:rPr lang="en-US" altLang="zh-CN" dirty="0"/>
              <a:t>VCC5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EC1B23-056C-55B6-70D6-DFE742CD02D1}"/>
              </a:ext>
            </a:extLst>
          </p:cNvPr>
          <p:cNvSpPr txBox="1"/>
          <p:nvPr/>
        </p:nvSpPr>
        <p:spPr>
          <a:xfrm>
            <a:off x="8046720" y="512020"/>
            <a:ext cx="3866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Inter"/>
              </a:rPr>
              <a:t>把 </a:t>
            </a:r>
            <a:r>
              <a:rPr lang="en-US" altLang="zh-CN" b="0" i="0" dirty="0">
                <a:effectLst/>
                <a:latin typeface="Inter"/>
              </a:rPr>
              <a:t>VCC11</a:t>
            </a:r>
            <a:r>
              <a:rPr lang="zh-CN" altLang="en-US" b="0" i="0" dirty="0">
                <a:effectLst/>
                <a:latin typeface="Inter"/>
              </a:rPr>
              <a:t>（</a:t>
            </a:r>
            <a:r>
              <a:rPr lang="en-US" altLang="zh-CN" b="0" i="0" dirty="0">
                <a:effectLst/>
                <a:latin typeface="Inter"/>
              </a:rPr>
              <a:t>11V</a:t>
            </a:r>
            <a:r>
              <a:rPr lang="zh-CN" altLang="en-US" b="0" i="0" dirty="0">
                <a:effectLst/>
                <a:latin typeface="Inter"/>
              </a:rPr>
              <a:t>）转换成稳定 </a:t>
            </a:r>
            <a:r>
              <a:rPr lang="en-US" altLang="zh-CN" b="0" i="0" dirty="0">
                <a:effectLst/>
                <a:latin typeface="Inter"/>
              </a:rPr>
              <a:t>5V </a:t>
            </a:r>
            <a:r>
              <a:rPr lang="zh-CN" altLang="en-US" b="0" i="0" dirty="0">
                <a:effectLst/>
                <a:latin typeface="Inter"/>
              </a:rPr>
              <a:t>输出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03FED72-FEC0-5A51-06D6-6526E0F457A1}"/>
              </a:ext>
            </a:extLst>
          </p:cNvPr>
          <p:cNvSpPr txBox="1"/>
          <p:nvPr/>
        </p:nvSpPr>
        <p:spPr>
          <a:xfrm>
            <a:off x="6749144" y="1334200"/>
            <a:ext cx="5442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RY3825 </a:t>
            </a:r>
            <a:r>
              <a:rPr lang="zh-CN" altLang="en-US" dirty="0"/>
              <a:t>是 </a:t>
            </a:r>
            <a:r>
              <a:rPr lang="zh-CN" altLang="en-US" b="1" dirty="0"/>
              <a:t>开关型降压转换器</a:t>
            </a:r>
            <a:r>
              <a:rPr lang="zh-CN" altLang="en-US" dirty="0"/>
              <a:t>，通过内部开关管高频通断，把 </a:t>
            </a:r>
            <a:r>
              <a:rPr lang="en-US" altLang="zh-CN" dirty="0"/>
              <a:t>11V </a:t>
            </a:r>
            <a:r>
              <a:rPr lang="zh-CN" altLang="en-US" dirty="0"/>
              <a:t>电压 “切碎重组”，输出 </a:t>
            </a:r>
            <a:r>
              <a:rPr lang="en-US" altLang="zh-CN" dirty="0"/>
              <a:t>5V </a:t>
            </a:r>
            <a:endParaRPr lang="zh-CN" altLang="en-US" dirty="0"/>
          </a:p>
        </p:txBody>
      </p:sp>
      <p:pic>
        <p:nvPicPr>
          <p:cNvPr id="18" name="内容占位符 17">
            <a:extLst>
              <a:ext uri="{FF2B5EF4-FFF2-40B4-BE49-F238E27FC236}">
                <a16:creationId xmlns:a16="http://schemas.microsoft.com/office/drawing/2014/main" id="{AE4C3D94-69B7-8354-1DAE-80B41AEF9552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0" y="1375348"/>
            <a:ext cx="6593477" cy="2379998"/>
          </a:xfrm>
        </p:spPr>
      </p:pic>
      <p:sp>
        <p:nvSpPr>
          <p:cNvPr id="23" name="Rectangle 5">
            <a:extLst>
              <a:ext uri="{FF2B5EF4-FFF2-40B4-BE49-F238E27FC236}">
                <a16:creationId xmlns:a16="http://schemas.microsoft.com/office/drawing/2014/main" id="{5865B29A-CF94-F90D-8D4A-D5AA53EB5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7703" y="2306669"/>
            <a:ext cx="5534297" cy="42073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输入滤波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（左侧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C5/C6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）：</a:t>
            </a:r>
            <a:endParaRPr lang="en-US" altLang="zh-CN" sz="1400" dirty="0">
              <a:solidFill>
                <a:srgbClr val="000000"/>
              </a:solidFill>
              <a:latin typeface="Arial" panose="020B0604020202020204" pitchFamily="34" charset="0"/>
              <a:ea typeface="Inter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22μF + 100nF 电容组合，滤除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VCC11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输入的高频噪声，让电压更 “干净”。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芯片工作回路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（中间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U11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及周边 ）：</a:t>
            </a:r>
          </a:p>
          <a:p>
            <a:pPr marL="17145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SW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（引脚 2）：内部开关管输出端，高频脉冲电压从这流出；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17145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L1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（10uH 电感）+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C21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（100nF 电容）：和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SW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配合，把脉冲 “搓成” 平滑 5V 直流；</a:t>
            </a:r>
          </a:p>
          <a:p>
            <a:pPr marL="17145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FB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（引脚 4）：反馈引脚，通过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R5/R1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分压监测输出电压，芯片实时调整输出，保证 5V 稳定。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输出滤波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（右侧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C3/C8/C9/C11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）：</a:t>
            </a:r>
            <a:endParaRPr lang="en-US" altLang="zh-CN" sz="1400" dirty="0">
              <a:solidFill>
                <a:srgbClr val="000000"/>
              </a:solidFill>
              <a:latin typeface="Arial" panose="020B0604020202020204" pitchFamily="34" charset="0"/>
              <a:ea typeface="Inter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多颗电容并联，进一步过滤 5V 输出的纹波，让电压更纯净，给后级电路（如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VCC5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）供电。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252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E8484-2992-5C7E-4075-FEEDE972E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88B10F6B-9E37-B630-B493-2CCCC5F20379}"/>
              </a:ext>
            </a:extLst>
          </p:cNvPr>
          <p:cNvSpPr txBox="1"/>
          <p:nvPr/>
        </p:nvSpPr>
        <p:spPr>
          <a:xfrm rot="2544951">
            <a:off x="415546" y="374372"/>
            <a:ext cx="134622" cy="197908"/>
          </a:xfrm>
          <a:custGeom>
            <a:avLst/>
            <a:gdLst>
              <a:gd name="connsiteX0" fmla="*/ 265175 w 356639"/>
              <a:gd name="connsiteY0" fmla="*/ 0 h 524296"/>
              <a:gd name="connsiteX1" fmla="*/ 356639 w 356639"/>
              <a:gd name="connsiteY1" fmla="*/ 0 h 524296"/>
              <a:gd name="connsiteX2" fmla="*/ 356639 w 356639"/>
              <a:gd name="connsiteY2" fmla="*/ 521734 h 524296"/>
              <a:gd name="connsiteX3" fmla="*/ 345917 w 356639"/>
              <a:gd name="connsiteY3" fmla="*/ 521734 h 524296"/>
              <a:gd name="connsiteX4" fmla="*/ 345921 w 356639"/>
              <a:gd name="connsiteY4" fmla="*/ 522433 h 524296"/>
              <a:gd name="connsiteX5" fmla="*/ 493 w 356639"/>
              <a:gd name="connsiteY5" fmla="*/ 524296 h 524296"/>
              <a:gd name="connsiteX6" fmla="*/ 0 w 356639"/>
              <a:gd name="connsiteY6" fmla="*/ 432834 h 524296"/>
              <a:gd name="connsiteX7" fmla="*/ 265175 w 356639"/>
              <a:gd name="connsiteY7" fmla="*/ 431403 h 524296"/>
            </a:gdLst>
            <a:ahLst/>
            <a:cxnLst/>
            <a:rect l="l" t="t" r="r" b="b"/>
            <a:pathLst>
              <a:path w="356639" h="524296">
                <a:moveTo>
                  <a:pt x="265175" y="0"/>
                </a:moveTo>
                <a:lnTo>
                  <a:pt x="356639" y="0"/>
                </a:lnTo>
                <a:lnTo>
                  <a:pt x="356639" y="521734"/>
                </a:lnTo>
                <a:lnTo>
                  <a:pt x="345917" y="521734"/>
                </a:lnTo>
                <a:lnTo>
                  <a:pt x="345921" y="522433"/>
                </a:lnTo>
                <a:lnTo>
                  <a:pt x="493" y="524296"/>
                </a:lnTo>
                <a:lnTo>
                  <a:pt x="0" y="432834"/>
                </a:lnTo>
                <a:lnTo>
                  <a:pt x="265175" y="431403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F4E49EF-8965-8ED1-174B-55D67DAB4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365125"/>
            <a:ext cx="10267950" cy="758825"/>
          </a:xfrm>
        </p:spPr>
        <p:txBody>
          <a:bodyPr>
            <a:normAutofit/>
          </a:bodyPr>
          <a:lstStyle/>
          <a:p>
            <a:r>
              <a:rPr lang="en-US" altLang="zh-CN" dirty="0"/>
              <a:t>4. </a:t>
            </a:r>
            <a:r>
              <a:rPr lang="zh-CN" altLang="en-US" dirty="0"/>
              <a:t>低压线性稳压（</a:t>
            </a:r>
            <a:r>
              <a:rPr lang="en-US" altLang="zh-CN" dirty="0"/>
              <a:t>LDO</a:t>
            </a:r>
            <a:r>
              <a:rPr lang="zh-CN" altLang="en-US" dirty="0"/>
              <a:t>）电路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F34EB68-75F6-E807-0AB9-98F02013B8AE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66418" y="1527945"/>
            <a:ext cx="6255988" cy="2495415"/>
          </a:xfr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0A3F3C1-519F-CF6F-C898-0730201B36B1}"/>
              </a:ext>
            </a:extLst>
          </p:cNvPr>
          <p:cNvSpPr txBox="1"/>
          <p:nvPr/>
        </p:nvSpPr>
        <p:spPr>
          <a:xfrm>
            <a:off x="6622406" y="1712474"/>
            <a:ext cx="5233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运放和比较器这类模拟器件对电源纹波更加敏感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6E516D2-EAC3-F3F9-10A1-99D8A95E24C1}"/>
              </a:ext>
            </a:extLst>
          </p:cNvPr>
          <p:cNvSpPr txBox="1"/>
          <p:nvPr/>
        </p:nvSpPr>
        <p:spPr>
          <a:xfrm>
            <a:off x="9170126" y="668774"/>
            <a:ext cx="2804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Low Dropout Regulator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07F5260-7BDD-3484-90C4-2CD6B49992FB}"/>
              </a:ext>
            </a:extLst>
          </p:cNvPr>
          <p:cNvSpPr txBox="1"/>
          <p:nvPr/>
        </p:nvSpPr>
        <p:spPr>
          <a:xfrm>
            <a:off x="6622406" y="2406251"/>
            <a:ext cx="50647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effectLst/>
                <a:latin typeface="Inter"/>
              </a:rPr>
              <a:t>ME6207 </a:t>
            </a:r>
            <a:r>
              <a:rPr lang="zh-CN" altLang="en-US" b="0" i="0" dirty="0">
                <a:effectLst/>
                <a:latin typeface="Inter"/>
              </a:rPr>
              <a:t>把输入的 </a:t>
            </a:r>
            <a:r>
              <a:rPr lang="en-US" altLang="zh-CN" b="0" i="0" dirty="0">
                <a:effectLst/>
                <a:latin typeface="Inter"/>
              </a:rPr>
              <a:t>5V </a:t>
            </a:r>
            <a:r>
              <a:rPr lang="zh-CN" altLang="en-US" b="0" i="0" dirty="0">
                <a:effectLst/>
                <a:latin typeface="Inter"/>
              </a:rPr>
              <a:t>稳定降压到 </a:t>
            </a:r>
            <a:r>
              <a:rPr lang="en-US" altLang="zh-CN" b="0" i="0" dirty="0">
                <a:effectLst/>
                <a:latin typeface="Inter"/>
              </a:rPr>
              <a:t>3.3V </a:t>
            </a:r>
            <a:r>
              <a:rPr lang="zh-CN" altLang="en-US" b="0" i="0" dirty="0">
                <a:effectLst/>
                <a:latin typeface="Inter"/>
              </a:rPr>
              <a:t>，适合对电压精度要求高的场景。</a:t>
            </a:r>
            <a:endParaRPr lang="zh-CN" altLang="en-US" dirty="0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E3169AF1-4F7C-E13A-3B29-386FB0441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965" y="3953718"/>
            <a:ext cx="9318171" cy="2446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输入保护与滤波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（左侧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D1/D3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 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及电容 ）：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D1（MBR0520LT1G）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：防反接，防止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5V_IN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 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极性接反烧坏芯片；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C13/C39/C7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：滤波，去除 5V 输入的纹波，让电压更纯净。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LDO 工作回路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（中间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U8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 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及周边 ）：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VIN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（引脚 1）：接收滤波后的 5V 输入（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VLDO_IN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 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）；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VOUT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（引脚 5）：输出稳定 3.3V ，给后级电路供电；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CE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（引脚 3）：使能端（高电平 / 悬空通常为使能 ），控制 LDO 开启 / 关闭（此电路直接接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VLDO_IN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，默认常开启 ）。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输出滤波与指示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（右侧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C10/C14/C17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 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及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PWR1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 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）：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C10/C14/C17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：进一步滤波，降低 3.3V 输出的纹波；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PWR1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（LED）+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R4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（1kΩ）：电源指示灯，3.3V 正常输出时 LED 点亮，直观显示电路工作状态。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531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2025.7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2140</TotalTime>
  <Words>1008</Words>
  <Application>Microsoft Office PowerPoint</Application>
  <PresentationFormat>宽屏</PresentationFormat>
  <Paragraphs>70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 Unicode MS</vt:lpstr>
      <vt:lpstr>Inter</vt:lpstr>
      <vt:lpstr>Source Han Sans</vt:lpstr>
      <vt:lpstr>Source Han Sans CN Regular</vt:lpstr>
      <vt:lpstr>等线</vt:lpstr>
      <vt:lpstr>微软雅黑</vt:lpstr>
      <vt:lpstr>Arial</vt:lpstr>
      <vt:lpstr>Wingdings</vt:lpstr>
      <vt:lpstr>Office 主题​​</vt:lpstr>
      <vt:lpstr>PowerPoint 演示文稿</vt:lpstr>
      <vt:lpstr>目录</vt:lpstr>
      <vt:lpstr>1.整体概述</vt:lpstr>
      <vt:lpstr>2. 电源输入及预处理</vt:lpstr>
      <vt:lpstr>3. DC-DC转换电路VC11</vt:lpstr>
      <vt:lpstr>3. DC-DC转换电路VCC5</vt:lpstr>
      <vt:lpstr>4. 低压线性稳压（LDO）电路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50</cp:revision>
  <dcterms:created xsi:type="dcterms:W3CDTF">2025-05-21T06:55:53Z</dcterms:created>
  <dcterms:modified xsi:type="dcterms:W3CDTF">2025-07-05T06:57:25Z</dcterms:modified>
</cp:coreProperties>
</file>