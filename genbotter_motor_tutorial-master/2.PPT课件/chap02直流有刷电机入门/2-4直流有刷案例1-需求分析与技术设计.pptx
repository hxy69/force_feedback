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9" r:id="rId2"/>
    <p:sldId id="292" r:id="rId3"/>
    <p:sldId id="287" r:id="rId4"/>
    <p:sldId id="282" r:id="rId5"/>
    <p:sldId id="294" r:id="rId6"/>
    <p:sldId id="295" r:id="rId7"/>
    <p:sldId id="300" r:id="rId8"/>
    <p:sldId id="299" r:id="rId9"/>
    <p:sldId id="301" r:id="rId10"/>
    <p:sldId id="283" r:id="rId11"/>
    <p:sldId id="296" r:id="rId12"/>
    <p:sldId id="302" r:id="rId13"/>
    <p:sldId id="298" r:id="rId14"/>
    <p:sldId id="28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6652" autoAdjust="0"/>
  </p:normalViewPr>
  <p:slideViewPr>
    <p:cSldViewPr snapToGrid="0">
      <p:cViewPr>
        <p:scale>
          <a:sx n="150" d="100"/>
          <a:sy n="150" d="100"/>
        </p:scale>
        <p:origin x="84" y="-10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2025/7/25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467233" y="4365752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01" y="661753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23146" y="2531649"/>
            <a:ext cx="4816609" cy="152654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2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直流有刷电机驱动案例</a:t>
            </a:r>
            <a:r>
              <a:rPr kumimoji="1" lang="en-US" altLang="zh-CN" sz="2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需求与设计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6693" y="1806581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【02-04】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830CC9B-B954-E8DE-0F3F-428CCBCEF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440" y="1252658"/>
            <a:ext cx="3582272" cy="300844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79A089-F6A9-4016-56A4-4543CDC9AA5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目标需求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技术实现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开发环境准备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184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</a:t>
            </a:r>
            <a:r>
              <a:rPr lang="zh-CN" altLang="en-US" dirty="0"/>
              <a:t> 需求目标分析</a:t>
            </a: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B97A16-7914-42EE-C1CA-9C623B041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69" y="3297330"/>
            <a:ext cx="4420159" cy="28061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E7B4D4-EE76-3A6B-ABB3-E522CE804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787" y="3466821"/>
            <a:ext cx="1663561" cy="12388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86B09A5-6464-EDB3-E24D-94A162B25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354" y="2150518"/>
            <a:ext cx="1573145" cy="1242556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E17DA276-3966-075B-7E30-A04C9B905AF3}"/>
              </a:ext>
            </a:extLst>
          </p:cNvPr>
          <p:cNvSpPr/>
          <p:nvPr/>
        </p:nvSpPr>
        <p:spPr>
          <a:xfrm>
            <a:off x="4863993" y="3988014"/>
            <a:ext cx="791456" cy="3150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AFE19D-E203-ADB5-1E57-F67D0BE6FCCD}"/>
              </a:ext>
            </a:extLst>
          </p:cNvPr>
          <p:cNvSpPr/>
          <p:nvPr/>
        </p:nvSpPr>
        <p:spPr>
          <a:xfrm rot="20005884">
            <a:off x="7429015" y="3587807"/>
            <a:ext cx="791456" cy="3150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ED9FC3-197C-2B57-7069-366EB71A5B26}"/>
              </a:ext>
            </a:extLst>
          </p:cNvPr>
          <p:cNvSpPr txBox="1"/>
          <p:nvPr/>
        </p:nvSpPr>
        <p:spPr>
          <a:xfrm>
            <a:off x="6233905" y="527701"/>
            <a:ext cx="5179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3200" b="1" i="0" dirty="0">
                <a:solidFill>
                  <a:srgbClr val="FF0000"/>
                </a:solidFill>
                <a:effectLst/>
                <a:latin typeface="Inter"/>
              </a:rPr>
              <a:t>开环控制直流有刷电机</a:t>
            </a:r>
            <a:endParaRPr lang="en-US" altLang="zh-CN" sz="3200" b="1" i="0" dirty="0">
              <a:solidFill>
                <a:srgbClr val="FF0000"/>
              </a:solidFill>
              <a:effectLst/>
              <a:latin typeface="Inter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rgbClr val="000000"/>
                </a:solidFill>
                <a:latin typeface="Inter"/>
              </a:rPr>
              <a:t>正转、反转</a:t>
            </a:r>
            <a:endParaRPr lang="en-US" altLang="zh-CN" sz="3200" dirty="0">
              <a:solidFill>
                <a:srgbClr val="000000"/>
              </a:solidFill>
              <a:latin typeface="Inter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Inter"/>
              </a:rPr>
              <a:t>转速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66158EA5-FA03-75AC-A446-F81D063A386F}"/>
              </a:ext>
            </a:extLst>
          </p:cNvPr>
          <p:cNvSpPr/>
          <p:nvPr/>
        </p:nvSpPr>
        <p:spPr>
          <a:xfrm rot="12168086">
            <a:off x="7429015" y="4244330"/>
            <a:ext cx="791456" cy="3150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3ABB3CD-033D-3CA1-0ACC-D68CADDFF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16741" y="2480723"/>
            <a:ext cx="939494" cy="37763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7C4C563-7928-A245-4F46-E1E54040FC62}"/>
              </a:ext>
            </a:extLst>
          </p:cNvPr>
          <p:cNvSpPr txBox="1"/>
          <p:nvPr/>
        </p:nvSpPr>
        <p:spPr>
          <a:xfrm>
            <a:off x="124942" y="1451030"/>
            <a:ext cx="1500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GenBotter</a:t>
            </a:r>
            <a:endParaRPr lang="en-US" altLang="zh-CN" b="1" dirty="0"/>
          </a:p>
          <a:p>
            <a:r>
              <a:rPr lang="zh-CN" altLang="en-US" b="1" dirty="0"/>
              <a:t>高速</a:t>
            </a:r>
            <a:r>
              <a:rPr lang="en-US" altLang="zh-CN" b="1" dirty="0" err="1"/>
              <a:t>DapLink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81193A-449D-3B9E-82F4-737F3292A45F}"/>
              </a:ext>
            </a:extLst>
          </p:cNvPr>
          <p:cNvSpPr txBox="1"/>
          <p:nvPr/>
        </p:nvSpPr>
        <p:spPr>
          <a:xfrm>
            <a:off x="875308" y="6123543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GenBotter</a:t>
            </a:r>
            <a:r>
              <a:rPr lang="en-US" altLang="zh-CN" b="1" dirty="0"/>
              <a:t> </a:t>
            </a:r>
            <a:r>
              <a:rPr lang="zh-CN" altLang="en-US" b="1" dirty="0"/>
              <a:t>电机开发板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D70AFC-077E-6402-EB90-A8E1A3B237E7}"/>
              </a:ext>
            </a:extLst>
          </p:cNvPr>
          <p:cNvSpPr txBox="1"/>
          <p:nvPr/>
        </p:nvSpPr>
        <p:spPr>
          <a:xfrm>
            <a:off x="5610962" y="478937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有刷电机驱动板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BBEB67-87A2-0E12-3EC3-100EBCE27051}"/>
              </a:ext>
            </a:extLst>
          </p:cNvPr>
          <p:cNvSpPr txBox="1"/>
          <p:nvPr/>
        </p:nvSpPr>
        <p:spPr>
          <a:xfrm>
            <a:off x="9975493" y="258713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直流有刷电机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3705592-2551-8689-2F6E-60F75AC5DFBE}"/>
              </a:ext>
            </a:extLst>
          </p:cNvPr>
          <p:cNvSpPr txBox="1"/>
          <p:nvPr/>
        </p:nvSpPr>
        <p:spPr>
          <a:xfrm>
            <a:off x="8895990" y="4481215"/>
            <a:ext cx="2345550" cy="375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zh-CN" altLang="en-US" b="1" i="0" dirty="0">
                <a:solidFill>
                  <a:srgbClr val="11192D"/>
                </a:solidFill>
                <a:effectLst/>
                <a:latin typeface="PingFangSC-Semibold"/>
              </a:rPr>
              <a:t>可调直流稳压电源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F5F1229F-01E2-252C-7DB9-28CA1E19B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138" y="3876497"/>
            <a:ext cx="646852" cy="12822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9EAFD60-DD07-FB38-1C11-F9CE7E08A340}"/>
              </a:ext>
            </a:extLst>
          </p:cNvPr>
          <p:cNvSpPr txBox="1"/>
          <p:nvPr/>
        </p:nvSpPr>
        <p:spPr>
          <a:xfrm>
            <a:off x="4735499" y="4887746"/>
            <a:ext cx="364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K2</a:t>
            </a:r>
          </a:p>
          <a:p>
            <a:r>
              <a:rPr lang="en-US" altLang="zh-CN" sz="1200" b="1" dirty="0"/>
              <a:t>K1</a:t>
            </a:r>
          </a:p>
          <a:p>
            <a:r>
              <a:rPr lang="en-US" altLang="zh-CN" sz="1200" b="1" dirty="0"/>
              <a:t>K0</a:t>
            </a:r>
            <a:endParaRPr lang="zh-CN" altLang="en-US" sz="12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7F2C50-CE8E-0C30-29B6-0C3CD2ABF57D}"/>
              </a:ext>
            </a:extLst>
          </p:cNvPr>
          <p:cNvSpPr txBox="1"/>
          <p:nvPr/>
        </p:nvSpPr>
        <p:spPr>
          <a:xfrm>
            <a:off x="5259721" y="5336885"/>
            <a:ext cx="6096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K0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，增大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PWM 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比较值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；按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，减小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PWM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比较值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比较值为正，电机正转；比较值为负，电机反转</a:t>
            </a:r>
            <a:endParaRPr lang="en-US" altLang="zh-CN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比较值变量的绝对值越大，电机速度越快</a:t>
            </a:r>
            <a:endParaRPr lang="en-US" altLang="zh-CN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，停止电机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B53102-439C-F6E4-78E5-69F5A6C7FE49}"/>
              </a:ext>
            </a:extLst>
          </p:cNvPr>
          <p:cNvSpPr txBox="1"/>
          <p:nvPr/>
        </p:nvSpPr>
        <p:spPr>
          <a:xfrm>
            <a:off x="1207016" y="219979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或， </a:t>
            </a:r>
            <a:r>
              <a:rPr lang="en-US" altLang="zh-CN" b="1" dirty="0"/>
              <a:t>ST-Link V2.1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2762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8D4-C8D3-DEF9-D2A5-9B668B1A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12C66BA4-5C3E-2DF1-BD50-819D87763F44}"/>
              </a:ext>
            </a:extLst>
          </p:cNvPr>
          <p:cNvGraphicFramePr>
            <a:graphicFrameLocks noGrp="1" noChangeAspect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902134084"/>
              </p:ext>
            </p:extLst>
          </p:nvPr>
        </p:nvGraphicFramePr>
        <p:xfrm>
          <a:off x="1458919" y="1504963"/>
          <a:ext cx="8472257" cy="535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934563" imgH="6276989" progId="Visio.Drawing.15">
                  <p:embed/>
                </p:oleObj>
              </mc:Choice>
              <mc:Fallback>
                <p:oleObj name="Visio" r:id="rId2" imgW="9934563" imgH="6276989" progId="Visio.Drawing.15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2C66BA4-5C3E-2DF1-BD50-819D87763F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9" y="1504963"/>
                        <a:ext cx="8472257" cy="5353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标题 1">
            <a:extLst>
              <a:ext uri="{FF2B5EF4-FFF2-40B4-BE49-F238E27FC236}">
                <a16:creationId xmlns:a16="http://schemas.microsoft.com/office/drawing/2014/main" id="{66C5EB8B-62A7-8475-BACC-A7222A44C8B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7A6495-4001-1ED7-C76C-4CA0F2C6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2.1 </a:t>
            </a:r>
            <a:r>
              <a:rPr lang="zh-CN" altLang="en-US" dirty="0"/>
              <a:t>技术实现</a:t>
            </a:r>
            <a:r>
              <a:rPr lang="en-US" altLang="zh-CN" dirty="0"/>
              <a:t>——</a:t>
            </a:r>
            <a:r>
              <a:rPr lang="zh-CN" altLang="en-US" dirty="0"/>
              <a:t>驱动器</a:t>
            </a:r>
            <a:r>
              <a:rPr lang="en-US" altLang="zh-CN" dirty="0"/>
              <a:t>H</a:t>
            </a:r>
            <a:r>
              <a:rPr lang="zh-CN" altLang="en-US" dirty="0"/>
              <a:t>桥驱动部分原理图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0528EFE-2F0D-4D28-A5BA-D4189C018CFB}"/>
              </a:ext>
            </a:extLst>
          </p:cNvPr>
          <p:cNvSpPr txBox="1"/>
          <p:nvPr/>
        </p:nvSpPr>
        <p:spPr>
          <a:xfrm>
            <a:off x="1458919" y="5353037"/>
            <a:ext cx="2425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过</a:t>
            </a:r>
            <a:r>
              <a:rPr lang="en-US" altLang="zh-CN" sz="1800" b="1" dirty="0"/>
              <a:t>EL0631</a:t>
            </a:r>
            <a:r>
              <a:rPr lang="zh-CN" altLang="en-US" sz="1800" b="1" dirty="0"/>
              <a:t>后极性反了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47548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4624-C5C3-84A4-7E93-E4DC4A22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4FE85A1-4CAF-B530-E7BF-B733C8D3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2. 2</a:t>
            </a:r>
            <a:r>
              <a:rPr lang="zh-CN" altLang="en-US" sz="2800" dirty="0"/>
              <a:t>技术实现</a:t>
            </a:r>
            <a:r>
              <a:rPr lang="en-US" altLang="zh-CN" sz="2800" dirty="0"/>
              <a:t>——</a:t>
            </a:r>
            <a:r>
              <a:rPr lang="zh-CN" altLang="en-US" sz="2800" dirty="0"/>
              <a:t>简化版</a:t>
            </a:r>
            <a:r>
              <a:rPr lang="en-US" altLang="zh-CN" sz="2800" dirty="0"/>
              <a:t>H</a:t>
            </a:r>
            <a:r>
              <a:rPr lang="zh-CN" altLang="en-US" sz="2800" dirty="0"/>
              <a:t>桥驱动原理与</a:t>
            </a:r>
            <a:r>
              <a:rPr lang="en-US" altLang="zh-CN" sz="2800" dirty="0"/>
              <a:t>PWM</a:t>
            </a:r>
            <a:r>
              <a:rPr lang="zh-CN" altLang="en-US" sz="2800" dirty="0"/>
              <a:t>输入与电机调速</a:t>
            </a:r>
            <a:endParaRPr lang="en-US" altLang="zh-CN" sz="2800" dirty="0"/>
          </a:p>
        </p:txBody>
      </p:sp>
      <p:graphicFrame>
        <p:nvGraphicFramePr>
          <p:cNvPr id="14" name="内容占位符 10">
            <a:extLst>
              <a:ext uri="{FF2B5EF4-FFF2-40B4-BE49-F238E27FC236}">
                <a16:creationId xmlns:a16="http://schemas.microsoft.com/office/drawing/2014/main" id="{766807EE-5691-1EF3-DFD9-C32E5341EB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8460694"/>
              </p:ext>
            </p:extLst>
          </p:nvPr>
        </p:nvGraphicFramePr>
        <p:xfrm>
          <a:off x="215265" y="2012733"/>
          <a:ext cx="4318636" cy="14623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040617">
                  <a:extLst>
                    <a:ext uri="{9D8B030D-6E8A-4147-A177-3AD203B41FA5}">
                      <a16:colId xmlns:a16="http://schemas.microsoft.com/office/drawing/2014/main" val="1291569679"/>
                    </a:ext>
                  </a:extLst>
                </a:gridCol>
                <a:gridCol w="1155712">
                  <a:extLst>
                    <a:ext uri="{9D8B030D-6E8A-4147-A177-3AD203B41FA5}">
                      <a16:colId xmlns:a16="http://schemas.microsoft.com/office/drawing/2014/main" val="3868594682"/>
                    </a:ext>
                  </a:extLst>
                </a:gridCol>
                <a:gridCol w="1071659">
                  <a:extLst>
                    <a:ext uri="{9D8B030D-6E8A-4147-A177-3AD203B41FA5}">
                      <a16:colId xmlns:a16="http://schemas.microsoft.com/office/drawing/2014/main" val="2036380667"/>
                    </a:ext>
                  </a:extLst>
                </a:gridCol>
                <a:gridCol w="1050648">
                  <a:extLst>
                    <a:ext uri="{9D8B030D-6E8A-4147-A177-3AD203B41FA5}">
                      <a16:colId xmlns:a16="http://schemas.microsoft.com/office/drawing/2014/main" val="1818092943"/>
                    </a:ext>
                  </a:extLst>
                </a:gridCol>
              </a:tblGrid>
              <a:tr h="305814">
                <a:tc gridSpan="2">
                  <a:txBody>
                    <a:bodyPr/>
                    <a:lstStyle/>
                    <a:p>
                      <a:pPr indent="22860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输入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127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输出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24576"/>
                  </a:ext>
                </a:extLst>
              </a:tr>
              <a:tr h="268206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IN</a:t>
                      </a:r>
                      <a:r>
                        <a:rPr lang="en-US" altLang="zh-CN" sz="1600" b="0" dirty="0">
                          <a:effectLst/>
                        </a:rPr>
                        <a:t>(</a:t>
                      </a:r>
                      <a:r>
                        <a:rPr lang="zh-CN" sz="1600" b="0" dirty="0">
                          <a:effectLst/>
                        </a:rPr>
                        <a:t>引脚 </a:t>
                      </a:r>
                      <a:r>
                        <a:rPr lang="en-US" sz="1600" b="0" dirty="0">
                          <a:effectLst/>
                        </a:rPr>
                        <a:t>2</a:t>
                      </a:r>
                      <a:r>
                        <a:rPr lang="en-US" altLang="zh-CN" sz="1600" b="0" dirty="0">
                          <a:effectLst/>
                        </a:rPr>
                        <a:t>)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 SD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sz="1600" dirty="0">
                          <a:effectLst/>
                        </a:rPr>
                        <a:t>引脚 </a:t>
                      </a:r>
                      <a:r>
                        <a:rPr lang="en-US" sz="1600" dirty="0">
                          <a:effectLst/>
                        </a:rPr>
                        <a:t>3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HO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sz="1600" dirty="0">
                          <a:effectLst/>
                        </a:rPr>
                        <a:t>引脚</a:t>
                      </a:r>
                      <a:r>
                        <a:rPr lang="en-US" sz="1600" dirty="0">
                          <a:effectLst/>
                        </a:rPr>
                        <a:t>7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LO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sz="1600" dirty="0">
                          <a:effectLst/>
                        </a:rPr>
                        <a:t>引脚</a:t>
                      </a:r>
                      <a:r>
                        <a:rPr lang="en-US" sz="1600" dirty="0">
                          <a:effectLst/>
                        </a:rPr>
                        <a:t>5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4265613"/>
                  </a:ext>
                </a:extLst>
              </a:tr>
              <a:tr h="222086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0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5576697"/>
                  </a:ext>
                </a:extLst>
              </a:tr>
              <a:tr h="222086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7434321"/>
                  </a:ext>
                </a:extLst>
              </a:tr>
              <a:tr h="222086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0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6203882"/>
                  </a:ext>
                </a:extLst>
              </a:tr>
              <a:tr h="222086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637064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C7D59D3-89A1-9E7B-49F9-1D476CB94575}"/>
              </a:ext>
            </a:extLst>
          </p:cNvPr>
          <p:cNvSpPr txBox="1"/>
          <p:nvPr/>
        </p:nvSpPr>
        <p:spPr>
          <a:xfrm>
            <a:off x="206593" y="1604241"/>
            <a:ext cx="2425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IR2104</a:t>
            </a:r>
            <a:r>
              <a:rPr lang="zh-CN" altLang="en-US" sz="1800" b="1" dirty="0"/>
              <a:t>的真值表</a:t>
            </a:r>
            <a:endParaRPr lang="en-US" altLang="zh-CN" sz="1800" b="1" dirty="0"/>
          </a:p>
        </p:txBody>
      </p:sp>
      <p:graphicFrame>
        <p:nvGraphicFramePr>
          <p:cNvPr id="37" name="内容占位符 10">
            <a:extLst>
              <a:ext uri="{FF2B5EF4-FFF2-40B4-BE49-F238E27FC236}">
                <a16:creationId xmlns:a16="http://schemas.microsoft.com/office/drawing/2014/main" id="{7AA18870-C326-1B35-928B-E2AEE8C867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4747046"/>
              </p:ext>
            </p:extLst>
          </p:nvPr>
        </p:nvGraphicFramePr>
        <p:xfrm>
          <a:off x="215265" y="4010241"/>
          <a:ext cx="7222810" cy="216780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006104">
                  <a:extLst>
                    <a:ext uri="{9D8B030D-6E8A-4147-A177-3AD203B41FA5}">
                      <a16:colId xmlns:a16="http://schemas.microsoft.com/office/drawing/2014/main" val="1291569679"/>
                    </a:ext>
                  </a:extLst>
                </a:gridCol>
                <a:gridCol w="1117382">
                  <a:extLst>
                    <a:ext uri="{9D8B030D-6E8A-4147-A177-3AD203B41FA5}">
                      <a16:colId xmlns:a16="http://schemas.microsoft.com/office/drawing/2014/main" val="3868594682"/>
                    </a:ext>
                  </a:extLst>
                </a:gridCol>
                <a:gridCol w="1036116">
                  <a:extLst>
                    <a:ext uri="{9D8B030D-6E8A-4147-A177-3AD203B41FA5}">
                      <a16:colId xmlns:a16="http://schemas.microsoft.com/office/drawing/2014/main" val="2036380667"/>
                    </a:ext>
                  </a:extLst>
                </a:gridCol>
                <a:gridCol w="1015802">
                  <a:extLst>
                    <a:ext uri="{9D8B030D-6E8A-4147-A177-3AD203B41FA5}">
                      <a16:colId xmlns:a16="http://schemas.microsoft.com/office/drawing/2014/main" val="1818092943"/>
                    </a:ext>
                  </a:extLst>
                </a:gridCol>
                <a:gridCol w="1015802">
                  <a:extLst>
                    <a:ext uri="{9D8B030D-6E8A-4147-A177-3AD203B41FA5}">
                      <a16:colId xmlns:a16="http://schemas.microsoft.com/office/drawing/2014/main" val="3511084400"/>
                    </a:ext>
                  </a:extLst>
                </a:gridCol>
                <a:gridCol w="1015802">
                  <a:extLst>
                    <a:ext uri="{9D8B030D-6E8A-4147-A177-3AD203B41FA5}">
                      <a16:colId xmlns:a16="http://schemas.microsoft.com/office/drawing/2014/main" val="2099567781"/>
                    </a:ext>
                  </a:extLst>
                </a:gridCol>
                <a:gridCol w="1015802">
                  <a:extLst>
                    <a:ext uri="{9D8B030D-6E8A-4147-A177-3AD203B41FA5}">
                      <a16:colId xmlns:a16="http://schemas.microsoft.com/office/drawing/2014/main" val="1914098494"/>
                    </a:ext>
                  </a:extLst>
                </a:gridCol>
              </a:tblGrid>
              <a:tr h="447488">
                <a:tc gridSpan="2">
                  <a:txBody>
                    <a:bodyPr/>
                    <a:lstStyle/>
                    <a:p>
                      <a:pPr indent="22860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输入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indent="1270" algn="ctr">
                        <a:lnSpc>
                          <a:spcPts val="1200"/>
                        </a:lnSpc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H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桥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MOS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管导通情况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1270" algn="ctr">
                        <a:lnSpc>
                          <a:spcPts val="1200"/>
                        </a:lnSpc>
                        <a:buNone/>
                      </a:pPr>
                      <a:endParaRPr lang="en-US" altLang="zh-CN" sz="1600" dirty="0">
                        <a:effectLst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indent="1270" algn="ctr">
                        <a:lnSpc>
                          <a:spcPts val="1200"/>
                        </a:lnSpc>
                        <a:buNone/>
                      </a:pPr>
                      <a:endParaRPr lang="en-US" altLang="zh-CN" sz="1600" dirty="0">
                        <a:effectLst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indent="1270" algn="ctr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电机旋转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5624576"/>
                  </a:ext>
                </a:extLst>
              </a:tr>
              <a:tr h="465760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altLang="zh-CN" sz="1600" b="0" dirty="0">
                          <a:effectLst/>
                        </a:rPr>
                        <a:t>PWM_UH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127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effectLst/>
                        </a:rPr>
                        <a:t>PWM_UL</a:t>
                      </a:r>
                      <a:endParaRPr lang="zh-CN" alt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Q1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Q2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Q3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Q4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4265613"/>
                  </a:ext>
                </a:extLst>
              </a:tr>
              <a:tr h="313639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0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止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止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不转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5576697"/>
                  </a:ext>
                </a:extLst>
              </a:tr>
              <a:tr h="313639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0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止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止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反转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7434321"/>
                  </a:ext>
                </a:extLst>
              </a:tr>
              <a:tr h="313639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止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通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止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正转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6203882"/>
                  </a:ext>
                </a:extLst>
              </a:tr>
              <a:tr h="313639"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</a:t>
                      </a:r>
                      <a:endParaRPr lang="zh-CN" sz="1600" b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止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通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止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" algn="just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不转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637064"/>
                  </a:ext>
                </a:extLst>
              </a:tr>
            </a:tbl>
          </a:graphicData>
        </a:graphic>
      </p:graphicFrame>
      <p:grpSp>
        <p:nvGrpSpPr>
          <p:cNvPr id="52" name="组合 51">
            <a:extLst>
              <a:ext uri="{FF2B5EF4-FFF2-40B4-BE49-F238E27FC236}">
                <a16:creationId xmlns:a16="http://schemas.microsoft.com/office/drawing/2014/main" id="{8E3AA0A8-9654-69CA-5EFE-B2353C9E1F08}"/>
              </a:ext>
            </a:extLst>
          </p:cNvPr>
          <p:cNvGrpSpPr/>
          <p:nvPr/>
        </p:nvGrpSpPr>
        <p:grpSpPr>
          <a:xfrm>
            <a:off x="4800053" y="1185025"/>
            <a:ext cx="6872781" cy="2746896"/>
            <a:chOff x="17435" y="1097785"/>
            <a:chExt cx="7238406" cy="3017247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F75C1FB-858B-9CE9-C6B6-37117B2CB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1010" y="1097785"/>
              <a:ext cx="1971946" cy="3017247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76581BE-6CDB-4B87-9AA7-1C5E4E73B94A}"/>
                </a:ext>
              </a:extLst>
            </p:cNvPr>
            <p:cNvSpPr/>
            <p:nvPr/>
          </p:nvSpPr>
          <p:spPr>
            <a:xfrm>
              <a:off x="1750226" y="2223242"/>
              <a:ext cx="437537" cy="6989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U4</a:t>
              </a:r>
              <a:endParaRPr lang="zh-CN" altLang="en-US" sz="1100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BD63F83-05B8-73CF-FB3E-7DC0997F4E2F}"/>
                </a:ext>
              </a:extLst>
            </p:cNvPr>
            <p:cNvSpPr/>
            <p:nvPr/>
          </p:nvSpPr>
          <p:spPr>
            <a:xfrm>
              <a:off x="5193852" y="2223242"/>
              <a:ext cx="437537" cy="6989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U6</a:t>
              </a:r>
              <a:endParaRPr lang="zh-CN" altLang="en-US" sz="1100" dirty="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D9E52DB-B681-7A63-5B84-F5EE52A3E4AA}"/>
                </a:ext>
              </a:extLst>
            </p:cNvPr>
            <p:cNvGrpSpPr/>
            <p:nvPr/>
          </p:nvGrpSpPr>
          <p:grpSpPr>
            <a:xfrm rot="5400000">
              <a:off x="1121008" y="2432835"/>
              <a:ext cx="199785" cy="279803"/>
              <a:chOff x="2059321" y="4914604"/>
              <a:chExt cx="199785" cy="279803"/>
            </a:xfrm>
          </p:grpSpPr>
          <p:sp>
            <p:nvSpPr>
              <p:cNvPr id="4" name="等腰三角形 3">
                <a:extLst>
                  <a:ext uri="{FF2B5EF4-FFF2-40B4-BE49-F238E27FC236}">
                    <a16:creationId xmlns:a16="http://schemas.microsoft.com/office/drawing/2014/main" id="{AA709E0D-1FAC-9315-7A9B-DC77F333AF9D}"/>
                  </a:ext>
                </a:extLst>
              </p:cNvPr>
              <p:cNvSpPr/>
              <p:nvPr/>
            </p:nvSpPr>
            <p:spPr>
              <a:xfrm>
                <a:off x="2059321" y="4979254"/>
                <a:ext cx="199785" cy="215153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A26148E5-CF11-5D90-7E8D-C5142F7B090C}"/>
                  </a:ext>
                </a:extLst>
              </p:cNvPr>
              <p:cNvSpPr/>
              <p:nvPr/>
            </p:nvSpPr>
            <p:spPr>
              <a:xfrm>
                <a:off x="2129633" y="4914604"/>
                <a:ext cx="59160" cy="646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908787F-BA9F-1B6B-372F-CDCCC24626E0}"/>
                </a:ext>
              </a:extLst>
            </p:cNvPr>
            <p:cNvGrpSpPr/>
            <p:nvPr/>
          </p:nvGrpSpPr>
          <p:grpSpPr>
            <a:xfrm rot="16200000">
              <a:off x="6134969" y="2432835"/>
              <a:ext cx="199785" cy="279803"/>
              <a:chOff x="2059321" y="4914604"/>
              <a:chExt cx="199785" cy="279803"/>
            </a:xfrm>
          </p:grpSpPr>
          <p:sp>
            <p:nvSpPr>
              <p:cNvPr id="9" name="等腰三角形 8">
                <a:extLst>
                  <a:ext uri="{FF2B5EF4-FFF2-40B4-BE49-F238E27FC236}">
                    <a16:creationId xmlns:a16="http://schemas.microsoft.com/office/drawing/2014/main" id="{45E903AB-435F-3C35-B52B-C03070B60E6D}"/>
                  </a:ext>
                </a:extLst>
              </p:cNvPr>
              <p:cNvSpPr/>
              <p:nvPr/>
            </p:nvSpPr>
            <p:spPr>
              <a:xfrm>
                <a:off x="2059321" y="4979254"/>
                <a:ext cx="199785" cy="215153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84E31DA8-F887-F0B0-A9B2-FBF80A9371E7}"/>
                  </a:ext>
                </a:extLst>
              </p:cNvPr>
              <p:cNvSpPr/>
              <p:nvPr/>
            </p:nvSpPr>
            <p:spPr>
              <a:xfrm>
                <a:off x="2129633" y="4914604"/>
                <a:ext cx="59160" cy="6465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3085E31E-F754-D596-1807-5B5CBF3FD569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>
              <a:off x="635495" y="2572736"/>
              <a:ext cx="44550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A3566E8-6A89-C3FA-91FB-12608114A92A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6374763" y="2567863"/>
              <a:ext cx="408482" cy="48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D6DED89-9F42-9E69-4420-6F8C409E7721}"/>
                </a:ext>
              </a:extLst>
            </p:cNvPr>
            <p:cNvSpPr txBox="1"/>
            <p:nvPr/>
          </p:nvSpPr>
          <p:spPr>
            <a:xfrm>
              <a:off x="17435" y="2223242"/>
              <a:ext cx="971099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PWM_UH</a:t>
              </a:r>
              <a:endParaRPr lang="zh-CN" altLang="en-US" sz="14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5BBA3E9-1FA6-5359-9C79-7C2AF28E1001}"/>
                </a:ext>
              </a:extLst>
            </p:cNvPr>
            <p:cNvSpPr txBox="1"/>
            <p:nvPr/>
          </p:nvSpPr>
          <p:spPr>
            <a:xfrm>
              <a:off x="6328637" y="2232984"/>
              <a:ext cx="927204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PWM_UL</a:t>
              </a:r>
              <a:endParaRPr lang="zh-CN" altLang="en-US" sz="1400" dirty="0"/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79F41438-3A21-7445-57C6-9E0756B0112F}"/>
                </a:ext>
              </a:extLst>
            </p:cNvPr>
            <p:cNvCxnSpPr>
              <a:cxnSpLocks/>
              <a:stCxn id="10" idx="0"/>
              <a:endCxn id="3" idx="3"/>
            </p:cNvCxnSpPr>
            <p:nvPr/>
          </p:nvCxnSpPr>
          <p:spPr>
            <a:xfrm flipH="1">
              <a:off x="5631389" y="2572737"/>
              <a:ext cx="4635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475E2797-AD18-DCAD-03F3-B01F7498C096}"/>
                </a:ext>
              </a:extLst>
            </p:cNvPr>
            <p:cNvCxnSpPr>
              <a:cxnSpLocks/>
              <a:stCxn id="5" idx="0"/>
              <a:endCxn id="2" idx="1"/>
            </p:cNvCxnSpPr>
            <p:nvPr/>
          </p:nvCxnSpPr>
          <p:spPr>
            <a:xfrm>
              <a:off x="1360802" y="2572736"/>
              <a:ext cx="38942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7F07389C-3186-43B7-89B4-EE1CD1F6C628}"/>
                </a:ext>
              </a:extLst>
            </p:cNvPr>
            <p:cNvCxnSpPr/>
            <p:nvPr/>
          </p:nvCxnSpPr>
          <p:spPr>
            <a:xfrm flipH="1" flipV="1">
              <a:off x="4592956" y="2004060"/>
              <a:ext cx="600896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DE80FA19-E7DA-1AB9-C76F-F0FBB7864D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2956" y="2756632"/>
              <a:ext cx="600896" cy="4110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F26F349-C4B2-9F06-2E5D-A513D88988B3}"/>
                </a:ext>
              </a:extLst>
            </p:cNvPr>
            <p:cNvSpPr txBox="1"/>
            <p:nvPr/>
          </p:nvSpPr>
          <p:spPr>
            <a:xfrm>
              <a:off x="4681733" y="2071178"/>
              <a:ext cx="469680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HO</a:t>
              </a:r>
              <a:endParaRPr lang="zh-CN" altLang="en-US" sz="1400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D56DF6F-6A34-B738-B152-61FB269410FA}"/>
                </a:ext>
              </a:extLst>
            </p:cNvPr>
            <p:cNvSpPr txBox="1"/>
            <p:nvPr/>
          </p:nvSpPr>
          <p:spPr>
            <a:xfrm>
              <a:off x="4681733" y="2729529"/>
              <a:ext cx="425785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LO</a:t>
              </a:r>
              <a:endParaRPr lang="zh-CN" altLang="en-US" sz="1400" dirty="0"/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B9ED742D-9856-E3FE-0DB2-95FA33BD54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5898" y="2003075"/>
              <a:ext cx="434227" cy="381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06B8FEFB-4AF7-7EC2-4760-7352AC7C50DA}"/>
                </a:ext>
              </a:extLst>
            </p:cNvPr>
            <p:cNvCxnSpPr>
              <a:cxnSpLocks/>
            </p:cNvCxnSpPr>
            <p:nvPr/>
          </p:nvCxnSpPr>
          <p:spPr>
            <a:xfrm>
              <a:off x="2194860" y="2784432"/>
              <a:ext cx="426150" cy="4381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C61287EB-12BA-BA8D-6184-3C765616A066}"/>
                </a:ext>
              </a:extLst>
            </p:cNvPr>
            <p:cNvSpPr txBox="1"/>
            <p:nvPr/>
          </p:nvSpPr>
          <p:spPr>
            <a:xfrm>
              <a:off x="2183472" y="2098978"/>
              <a:ext cx="469680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HO</a:t>
              </a:r>
              <a:endParaRPr lang="zh-CN" altLang="en-US" sz="14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3F436C9C-7612-F43E-8793-9FC3D198A9FA}"/>
                </a:ext>
              </a:extLst>
            </p:cNvPr>
            <p:cNvSpPr txBox="1"/>
            <p:nvPr/>
          </p:nvSpPr>
          <p:spPr>
            <a:xfrm>
              <a:off x="2183472" y="2757329"/>
              <a:ext cx="425785" cy="338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LO</a:t>
              </a:r>
              <a:endParaRPr lang="zh-CN" altLang="en-US" sz="1400" dirty="0"/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29630E3B-E6D8-B21D-924F-FC5A17DAD89A}"/>
              </a:ext>
            </a:extLst>
          </p:cNvPr>
          <p:cNvSpPr txBox="1"/>
          <p:nvPr/>
        </p:nvSpPr>
        <p:spPr>
          <a:xfrm>
            <a:off x="215265" y="3613448"/>
            <a:ext cx="3076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驱动板输入和电机转向情况</a:t>
            </a:r>
            <a:endParaRPr lang="en-US" altLang="zh-CN" sz="18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9AAE76D-6C3B-35D0-1A62-CD7CB4339169}"/>
              </a:ext>
            </a:extLst>
          </p:cNvPr>
          <p:cNvSpPr txBox="1"/>
          <p:nvPr/>
        </p:nvSpPr>
        <p:spPr>
          <a:xfrm>
            <a:off x="7891440" y="4085533"/>
            <a:ext cx="3076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转速调节（以正转为例）</a:t>
            </a:r>
            <a:endParaRPr lang="en-US" altLang="zh-CN" sz="18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3330BD9-D1AA-7B2E-AF08-84DC5648D75E}"/>
              </a:ext>
            </a:extLst>
          </p:cNvPr>
          <p:cNvSpPr txBox="1"/>
          <p:nvPr/>
        </p:nvSpPr>
        <p:spPr>
          <a:xfrm>
            <a:off x="7891440" y="4487167"/>
            <a:ext cx="4063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在一个周期内，</a:t>
            </a:r>
            <a:r>
              <a:rPr lang="en-US" altLang="zh-CN" sz="1800" dirty="0"/>
              <a:t>Q2</a:t>
            </a:r>
            <a:r>
              <a:rPr lang="zh-CN" altLang="en-US" sz="1800" dirty="0"/>
              <a:t>保持导通，</a:t>
            </a:r>
            <a:r>
              <a:rPr lang="en-US" altLang="zh-CN" sz="1800" dirty="0"/>
              <a:t>Q3</a:t>
            </a:r>
            <a:r>
              <a:rPr lang="zh-CN" altLang="en-US" sz="1800" dirty="0"/>
              <a:t>导通的时间越长，转速越快。</a:t>
            </a:r>
            <a:endParaRPr lang="en-US" altLang="zh-CN" sz="1800" dirty="0"/>
          </a:p>
          <a:p>
            <a:r>
              <a:rPr lang="zh-CN" altLang="en-US" sz="1800" dirty="0"/>
              <a:t>即：</a:t>
            </a:r>
            <a:r>
              <a:rPr lang="en-US" altLang="zh-CN" sz="1800" b="1" dirty="0"/>
              <a:t>PWM_UH</a:t>
            </a:r>
            <a:r>
              <a:rPr lang="zh-CN" altLang="en-US" sz="1800" b="1" dirty="0"/>
              <a:t>输入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PWM_UL</a:t>
            </a:r>
            <a:r>
              <a:rPr lang="zh-CN" altLang="en-US" sz="1800" b="1" dirty="0"/>
              <a:t>输入</a:t>
            </a:r>
            <a:r>
              <a:rPr lang="en-US" altLang="zh-CN" sz="1800" b="1" dirty="0"/>
              <a:t>PWM</a:t>
            </a:r>
            <a:r>
              <a:rPr lang="zh-CN" altLang="en-US" sz="1800" b="1" dirty="0"/>
              <a:t>信号调节电机正转速度。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2341291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9A830-42F8-C1EF-40F9-F1ABD0C4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F4466CD-4F3D-BC00-230C-364F193C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/>
              <a:t>2.3 </a:t>
            </a:r>
            <a:r>
              <a:rPr lang="zh-CN" altLang="en-US" sz="3600" dirty="0"/>
              <a:t>技术实现</a:t>
            </a:r>
            <a:r>
              <a:rPr lang="en-US" altLang="zh-CN" sz="3600" dirty="0"/>
              <a:t>——STM32F407IGT6</a:t>
            </a:r>
            <a:r>
              <a:rPr lang="zh-CN" altLang="en-US" sz="3600" dirty="0"/>
              <a:t>生成</a:t>
            </a:r>
            <a:r>
              <a:rPr lang="en-US" altLang="zh-CN" sz="3600" dirty="0"/>
              <a:t>PWM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13120EC-ED82-C481-4CF7-A565703036C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63880" y="1599328"/>
            <a:ext cx="4107180" cy="1912144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7E45862-C2A3-3F5C-6604-AEA3ACE2F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1" y="1599328"/>
            <a:ext cx="3757613" cy="19266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8ACB0C3-31F4-979C-5D54-6EF8BFD2E05A}"/>
              </a:ext>
            </a:extLst>
          </p:cNvPr>
          <p:cNvSpPr txBox="1"/>
          <p:nvPr/>
        </p:nvSpPr>
        <p:spPr>
          <a:xfrm>
            <a:off x="563880" y="3733406"/>
            <a:ext cx="480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电机开发板上的端子</a:t>
            </a:r>
            <a:endParaRPr lang="en-US" altLang="zh-CN" sz="18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94F181-2B04-2CC2-6656-A3746216DCB7}"/>
              </a:ext>
            </a:extLst>
          </p:cNvPr>
          <p:cNvSpPr txBox="1"/>
          <p:nvPr/>
        </p:nvSpPr>
        <p:spPr>
          <a:xfrm>
            <a:off x="4671060" y="3733406"/>
            <a:ext cx="3879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有刷电机驱动板上的端子</a:t>
            </a:r>
            <a:endParaRPr lang="en-US" altLang="zh-CN" sz="18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29AC095-5310-CEF0-981F-F850BC63DE16}"/>
              </a:ext>
            </a:extLst>
          </p:cNvPr>
          <p:cNvSpPr txBox="1"/>
          <p:nvPr/>
        </p:nvSpPr>
        <p:spPr>
          <a:xfrm>
            <a:off x="517206" y="4979887"/>
            <a:ext cx="108137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TIM1_CH1</a:t>
            </a:r>
            <a:r>
              <a:rPr lang="zh-CN" altLang="en-US" dirty="0"/>
              <a:t>（主通道，</a:t>
            </a:r>
            <a:r>
              <a:rPr lang="en-US" altLang="zh-CN" dirty="0"/>
              <a:t>PA8</a:t>
            </a:r>
            <a:r>
              <a:rPr lang="zh-CN" altLang="en-US" dirty="0"/>
              <a:t>）输出 </a:t>
            </a:r>
            <a:r>
              <a:rPr lang="en-US" altLang="zh-CN" dirty="0"/>
              <a:t>PWM </a:t>
            </a:r>
            <a:r>
              <a:rPr lang="zh-CN" altLang="en-US" dirty="0"/>
              <a:t>，</a:t>
            </a:r>
            <a:r>
              <a:rPr lang="en-US" altLang="zh-CN" dirty="0"/>
              <a:t>TIM1_CH1N</a:t>
            </a:r>
            <a:r>
              <a:rPr lang="zh-CN" altLang="en-US" dirty="0"/>
              <a:t>（互补通道，</a:t>
            </a:r>
            <a:r>
              <a:rPr lang="en-US" altLang="zh-CN" dirty="0"/>
              <a:t>PB13</a:t>
            </a:r>
            <a:r>
              <a:rPr lang="zh-CN" altLang="en-US" dirty="0"/>
              <a:t>）固定输出高电平，此时只要调节</a:t>
            </a:r>
            <a:r>
              <a:rPr lang="en-US" altLang="zh-CN" dirty="0"/>
              <a:t>PWM </a:t>
            </a:r>
            <a:r>
              <a:rPr lang="zh-CN" altLang="en-US" dirty="0"/>
              <a:t>占空比即可调整电机上的电压，进而控制电机的速度。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当电机需要换向的时候，就让主通道固定输出高电平，互补通道输</a:t>
            </a:r>
            <a:r>
              <a:rPr lang="en-US" altLang="zh-CN" dirty="0"/>
              <a:t>PWM </a:t>
            </a:r>
            <a:r>
              <a:rPr lang="zh-CN" altLang="en-US" dirty="0"/>
              <a:t>即可。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PM1_CTRL_SD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，则</a:t>
            </a:r>
            <a:r>
              <a:rPr lang="en-US" altLang="zh-CN" dirty="0"/>
              <a:t>SD_IN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，电机停转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EE9F47-481B-8F90-94F4-87CE62FA1A9F}"/>
              </a:ext>
            </a:extLst>
          </p:cNvPr>
          <p:cNvSpPr txBox="1"/>
          <p:nvPr/>
        </p:nvSpPr>
        <p:spPr>
          <a:xfrm>
            <a:off x="517206" y="4533506"/>
            <a:ext cx="3879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那么：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0CD5620-31D8-CCA6-A09C-E271C77D8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900" y="2452854"/>
            <a:ext cx="3031807" cy="10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4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ACC8-8E92-84A0-303B-381FB7F2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0D5BE-073A-6892-F65B-4566D7A9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2.4 </a:t>
            </a:r>
            <a:r>
              <a:rPr lang="zh-CN" altLang="en-US" dirty="0"/>
              <a:t>技术实现</a:t>
            </a:r>
            <a:r>
              <a:rPr lang="en-US" altLang="zh-CN" dirty="0"/>
              <a:t>——</a:t>
            </a:r>
            <a:r>
              <a:rPr lang="zh-CN" altLang="en-US" dirty="0"/>
              <a:t>定时器怎么生成</a:t>
            </a:r>
            <a:r>
              <a:rPr lang="en-US" altLang="zh-CN" dirty="0"/>
              <a:t>PWM</a:t>
            </a:r>
            <a:r>
              <a:rPr lang="zh-CN" altLang="en-US" dirty="0"/>
              <a:t>的？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97D1A85-8DFD-7730-8295-900368668D3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28812" y="1101754"/>
            <a:ext cx="6899870" cy="5756246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D59296-356E-BB72-9FD5-6E3316AC3090}"/>
              </a:ext>
            </a:extLst>
          </p:cNvPr>
          <p:cNvSpPr txBox="1"/>
          <p:nvPr/>
        </p:nvSpPr>
        <p:spPr>
          <a:xfrm>
            <a:off x="7028682" y="1773704"/>
            <a:ext cx="51633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在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PWM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模式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1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TIM_OCMode_PWM1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 下：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当 计数器值（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CNT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&lt; 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比较寄存器值（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CCR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 ：输出为 高电平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当 计数器值（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CNT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 ≥ 比较寄存器值（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CCR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 ：输出为 低电平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0227A9C-A020-544C-BE12-4EC2B805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569" y="3854667"/>
            <a:ext cx="4500606" cy="70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system-ui"/>
              </a:rPr>
              <a:t>改变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F Mono"/>
              </a:rPr>
              <a:t>CCR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system-ui"/>
              </a:rPr>
              <a:t> 的值即可调节高电平所占时间比例，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system-ui"/>
              </a:rPr>
              <a:t>即改变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system-ui"/>
              </a:rPr>
              <a:t> PWM 占空比。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85114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F148-96F7-6463-0641-5B438DB1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082AD-8F72-ED87-A7BE-70E85EE5C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2.5 </a:t>
            </a:r>
            <a:r>
              <a:rPr lang="zh-CN" altLang="en-US" dirty="0"/>
              <a:t>电机停转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E5BF792-0631-D7C4-7A3B-7768314BF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909" y="4710605"/>
            <a:ext cx="2840583" cy="430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FF0000"/>
                </a:solidFill>
              </a:rPr>
              <a:t>给</a:t>
            </a:r>
            <a:r>
              <a:rPr lang="en-US" altLang="zh-CN" dirty="0">
                <a:solidFill>
                  <a:srgbClr val="FF0000"/>
                </a:solidFill>
              </a:rPr>
              <a:t>SD_IN</a:t>
            </a:r>
            <a:r>
              <a:rPr lang="zh-CN" altLang="en-US" dirty="0">
                <a:solidFill>
                  <a:srgbClr val="FF0000"/>
                </a:solidFill>
              </a:rPr>
              <a:t>输入一个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即可。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graphicFrame>
        <p:nvGraphicFramePr>
          <p:cNvPr id="6" name="内容占位符 7">
            <a:extLst>
              <a:ext uri="{FF2B5EF4-FFF2-40B4-BE49-F238E27FC236}">
                <a16:creationId xmlns:a16="http://schemas.microsoft.com/office/drawing/2014/main" id="{8445203F-FB83-0D5D-9C89-895FF923E667}"/>
              </a:ext>
            </a:extLst>
          </p:cNvPr>
          <p:cNvGraphicFramePr>
            <a:graphicFrameLocks noGrp="1" noChangeAspect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998144686"/>
              </p:ext>
            </p:extLst>
          </p:nvPr>
        </p:nvGraphicFramePr>
        <p:xfrm>
          <a:off x="99921" y="1420065"/>
          <a:ext cx="5080224" cy="3209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934563" imgH="6276989" progId="Visio.Drawing.15">
                  <p:embed/>
                </p:oleObj>
              </mc:Choice>
              <mc:Fallback>
                <p:oleObj name="Visio" r:id="rId2" imgW="9934563" imgH="6276989" progId="Visio.Drawing.15">
                  <p:embed/>
                  <p:pic>
                    <p:nvPicPr>
                      <p:cNvPr id="8" name="内容占位符 7">
                        <a:extLst>
                          <a:ext uri="{FF2B5EF4-FFF2-40B4-BE49-F238E27FC236}">
                            <a16:creationId xmlns:a16="http://schemas.microsoft.com/office/drawing/2014/main" id="{12C66BA4-5C3E-2DF1-BD50-819D87763F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21" y="1420065"/>
                        <a:ext cx="5080224" cy="32098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BB99FFF9-77DA-49E1-7C41-7B06B1EAA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327" y="2005501"/>
            <a:ext cx="3865069" cy="22208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3E39350-9FF7-8297-AD4B-566737220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6396" y="2234413"/>
            <a:ext cx="242887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77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A0BC2-7D48-6E02-4C57-DDA7176E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E3BB8F-8D3B-067A-30B6-4465D377D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2.6 </a:t>
            </a:r>
            <a:r>
              <a:rPr lang="zh-CN" altLang="en-US" dirty="0"/>
              <a:t>按键、</a:t>
            </a:r>
            <a:r>
              <a:rPr lang="en-US" altLang="zh-CN" dirty="0"/>
              <a:t>LED</a:t>
            </a:r>
            <a:r>
              <a:rPr lang="zh-CN" altLang="en-US" dirty="0"/>
              <a:t>指示灯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FD532D1-4BF4-04AF-1E1E-64B0590FE0A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335247" y="1746617"/>
            <a:ext cx="2322734" cy="2948548"/>
          </a:xfr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FA3D5E-E93F-A27A-5D8F-5AFEF8488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580" y="2578114"/>
            <a:ext cx="1674173" cy="22248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BB19CB2-3E83-A9A4-84DD-044457A3C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067" y="1638781"/>
            <a:ext cx="2480427" cy="31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9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67C3-7F25-CE38-3717-66DB1DE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337FCA5-89C3-90DB-07A7-57C47104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/>
              <a:t>3. </a:t>
            </a:r>
            <a:r>
              <a:rPr lang="zh-CN" altLang="en-US" sz="4000" dirty="0"/>
              <a:t>开发环境准备</a:t>
            </a:r>
            <a:r>
              <a:rPr lang="en-US" altLang="zh-CN" sz="4000" dirty="0"/>
              <a:t>1——</a:t>
            </a:r>
            <a:r>
              <a:rPr lang="zh-CN" altLang="en-US" sz="4000" dirty="0"/>
              <a:t>安装</a:t>
            </a:r>
            <a:r>
              <a:rPr lang="en-US" altLang="zh-CN" sz="4000" dirty="0"/>
              <a:t>STM32CubeMX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0C9E00B-9F00-4621-D1DC-4A6157C39EC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77995" y="1448615"/>
            <a:ext cx="6272534" cy="2978605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B2D46A4-0DFE-9CFA-0236-56C62CF2E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648" y="1294776"/>
            <a:ext cx="1956665" cy="228095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1826298-1288-6535-EB60-E5802A6CC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0842" y="1294776"/>
            <a:ext cx="1956665" cy="163346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E200329-8C77-AE2D-816A-F208A711299F}"/>
              </a:ext>
            </a:extLst>
          </p:cNvPr>
          <p:cNvSpPr txBox="1"/>
          <p:nvPr/>
        </p:nvSpPr>
        <p:spPr>
          <a:xfrm>
            <a:off x="316582" y="4730554"/>
            <a:ext cx="3866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Inter"/>
              </a:rPr>
              <a:t>下载</a:t>
            </a:r>
            <a:r>
              <a:rPr lang="en-US" altLang="zh-CN" dirty="0">
                <a:latin typeface="Inter"/>
              </a:rPr>
              <a:t>STM32CubeMX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31FDA8-9C35-7A05-FE02-4AE9505A6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113" y="5793819"/>
            <a:ext cx="2505075" cy="3714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4CE135E-207A-F5B9-A918-F88D79C646BE}"/>
              </a:ext>
            </a:extLst>
          </p:cNvPr>
          <p:cNvSpPr txBox="1"/>
          <p:nvPr/>
        </p:nvSpPr>
        <p:spPr>
          <a:xfrm>
            <a:off x="316582" y="5795962"/>
            <a:ext cx="2205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Inter"/>
              </a:rPr>
              <a:t>解压缩后：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61484B-A664-E495-3B99-027144B9B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3794418"/>
            <a:ext cx="5003280" cy="281434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A40F1C6-051B-A617-F916-1FD36E3C7639}"/>
              </a:ext>
            </a:extLst>
          </p:cNvPr>
          <p:cNvSpPr txBox="1"/>
          <p:nvPr/>
        </p:nvSpPr>
        <p:spPr>
          <a:xfrm>
            <a:off x="5144300" y="4702180"/>
            <a:ext cx="1481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Inter"/>
              </a:rPr>
              <a:t>安装后打开：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625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4853-6409-22A7-FC5F-E48EEA10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F4D0880C-FEB2-5DF6-C054-2B729745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/>
              <a:t>3. </a:t>
            </a:r>
            <a:r>
              <a:rPr lang="zh-CN" altLang="en-US" sz="4000" dirty="0"/>
              <a:t>开发环境准备</a:t>
            </a:r>
            <a:r>
              <a:rPr lang="en-US" altLang="zh-CN" sz="4000" dirty="0"/>
              <a:t>1——</a:t>
            </a:r>
            <a:r>
              <a:rPr lang="zh-CN" altLang="en-US" sz="4000" dirty="0"/>
              <a:t>安装</a:t>
            </a:r>
            <a:r>
              <a:rPr lang="en-US" altLang="zh-CN" sz="4000" dirty="0"/>
              <a:t>Keil MDK</a:t>
            </a:r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570CC152-CAC1-B0EA-0839-3833A419493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795246" y="1181099"/>
            <a:ext cx="6200414" cy="5590823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8B766E3-63FD-B71C-9604-DCD912947038}"/>
              </a:ext>
            </a:extLst>
          </p:cNvPr>
          <p:cNvSpPr txBox="1"/>
          <p:nvPr/>
        </p:nvSpPr>
        <p:spPr>
          <a:xfrm>
            <a:off x="997003" y="1624924"/>
            <a:ext cx="232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effectLst/>
                <a:latin typeface="Inter"/>
              </a:rPr>
              <a:t>MDK-Professional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9013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8932-4B3D-CA5F-40AD-CD473181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A0176627-9214-E7D5-5217-B8C831A4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/>
              <a:t>3. </a:t>
            </a:r>
            <a:r>
              <a:rPr lang="zh-CN" altLang="en-US" sz="4000" dirty="0"/>
              <a:t>开发环境准备</a:t>
            </a:r>
            <a:r>
              <a:rPr lang="en-US" altLang="zh-CN" sz="4000" dirty="0"/>
              <a:t>1——</a:t>
            </a:r>
            <a:r>
              <a:rPr lang="zh-CN" altLang="en-US" sz="4000" dirty="0"/>
              <a:t>安装</a:t>
            </a:r>
            <a:r>
              <a:rPr lang="en-US" altLang="zh-CN" sz="4000" dirty="0"/>
              <a:t>VS Code</a:t>
            </a:r>
            <a:r>
              <a:rPr lang="zh-CN" altLang="en-US" sz="4000" dirty="0"/>
              <a:t>（可选）</a:t>
            </a:r>
            <a:endParaRPr lang="en-US" altLang="zh-CN" sz="4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4D036B-FF16-12F6-65DE-EB76AB236B2E}"/>
              </a:ext>
            </a:extLst>
          </p:cNvPr>
          <p:cNvSpPr txBox="1"/>
          <p:nvPr/>
        </p:nvSpPr>
        <p:spPr>
          <a:xfrm>
            <a:off x="997003" y="1624924"/>
            <a:ext cx="2322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effectLst/>
                <a:latin typeface="Inter"/>
              </a:rPr>
              <a:t>VS Code</a:t>
            </a:r>
          </a:p>
          <a:p>
            <a:endParaRPr lang="en-US" altLang="zh-CN" b="1" dirty="0">
              <a:latin typeface="Inter"/>
            </a:endParaRPr>
          </a:p>
          <a:p>
            <a:r>
              <a:rPr lang="zh-CN" altLang="en-US" b="1" dirty="0">
                <a:latin typeface="Inter"/>
              </a:rPr>
              <a:t>用于代码编辑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0592651-A441-AEBA-55D7-326DDC7D1B7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657599" y="1624924"/>
            <a:ext cx="7261309" cy="4539110"/>
          </a:xfrm>
        </p:spPr>
      </p:pic>
    </p:spTree>
    <p:extLst>
      <p:ext uri="{BB962C8B-B14F-4D97-AF65-F5344CB8AC3E}">
        <p14:creationId xmlns:p14="http://schemas.microsoft.com/office/powerpoint/2010/main" val="3974169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A777-A8C7-2CF8-C5AE-3F55078E5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ED9EB46-C523-3A72-7F8A-155987FD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249237"/>
            <a:ext cx="10267950" cy="758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/>
              <a:t>3. </a:t>
            </a:r>
            <a:r>
              <a:rPr lang="zh-CN" altLang="en-US" sz="4000" dirty="0"/>
              <a:t>开发环境准备</a:t>
            </a:r>
            <a:r>
              <a:rPr lang="en-US" altLang="zh-CN" sz="4000" dirty="0"/>
              <a:t>2——</a:t>
            </a:r>
            <a:r>
              <a:rPr lang="zh-CN" altLang="en-US" sz="4000" dirty="0"/>
              <a:t>使用</a:t>
            </a:r>
            <a:r>
              <a:rPr lang="en-US" altLang="zh-CN" sz="4000" dirty="0"/>
              <a:t>STM32CubeIDE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E257DA-4CF1-62AE-902F-059DABEDDFE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dirty="0"/>
              <a:t>到</a:t>
            </a:r>
            <a:r>
              <a:rPr lang="en-US" altLang="zh-CN" dirty="0"/>
              <a:t>ST</a:t>
            </a:r>
            <a:r>
              <a:rPr lang="zh-CN" altLang="en-US" dirty="0"/>
              <a:t>官网下载</a:t>
            </a:r>
            <a:r>
              <a:rPr lang="en-US" altLang="zh-CN" dirty="0"/>
              <a:t>STM32CubeIDE</a:t>
            </a:r>
          </a:p>
          <a:p>
            <a:r>
              <a:rPr lang="zh-CN" altLang="en-US" dirty="0"/>
              <a:t>安装</a:t>
            </a:r>
            <a:r>
              <a:rPr lang="en-US" altLang="zh-CN" dirty="0"/>
              <a:t>STM32CubeIDE</a:t>
            </a:r>
            <a:r>
              <a:rPr lang="zh-CN" altLang="en-US" dirty="0"/>
              <a:t>（可能还需要提前安装</a:t>
            </a:r>
            <a:r>
              <a:rPr lang="en-US" altLang="zh-CN" dirty="0"/>
              <a:t>JRE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4395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2025.7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3121</TotalTime>
  <Words>601</Words>
  <Application>Microsoft Office PowerPoint</Application>
  <PresentationFormat>宽屏</PresentationFormat>
  <Paragraphs>139</Paragraphs>
  <Slides>14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 Unicode MS</vt:lpstr>
      <vt:lpstr>Inter</vt:lpstr>
      <vt:lpstr>PingFangSC-Semibold</vt:lpstr>
      <vt:lpstr>Source Han Sans</vt:lpstr>
      <vt:lpstr>Source Han Sans CN Regular</vt:lpstr>
      <vt:lpstr>system-ui</vt:lpstr>
      <vt:lpstr>等线</vt:lpstr>
      <vt:lpstr>宋体</vt:lpstr>
      <vt:lpstr>微软雅黑</vt:lpstr>
      <vt:lpstr>Arial</vt:lpstr>
      <vt:lpstr>Times New Roman</vt:lpstr>
      <vt:lpstr>Office 主题​​</vt:lpstr>
      <vt:lpstr>Visio</vt:lpstr>
      <vt:lpstr>PowerPoint 演示文稿</vt:lpstr>
      <vt:lpstr>目录</vt:lpstr>
      <vt:lpstr>1. 需求目标分析</vt:lpstr>
      <vt:lpstr>2.1 技术实现——驱动器H桥驱动部分原理图</vt:lpstr>
      <vt:lpstr>2. 2技术实现——简化版H桥驱动原理与PWM输入与电机调速</vt:lpstr>
      <vt:lpstr>2.3 技术实现——STM32F407IGT6生成PWM</vt:lpstr>
      <vt:lpstr>2.4 技术实现——定时器怎么生成PWM的？</vt:lpstr>
      <vt:lpstr>2.5 电机停转</vt:lpstr>
      <vt:lpstr>2.6 按键、LED指示灯</vt:lpstr>
      <vt:lpstr>3. 开发环境准备1——安装STM32CubeMX</vt:lpstr>
      <vt:lpstr>3. 开发环境准备1——安装Keil MDK</vt:lpstr>
      <vt:lpstr>3. 开发环境准备1——安装VS Code（可选）</vt:lpstr>
      <vt:lpstr>3. 开发环境准备2——使用STM32CubeIDE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68</cp:revision>
  <dcterms:created xsi:type="dcterms:W3CDTF">2025-05-21T06:55:53Z</dcterms:created>
  <dcterms:modified xsi:type="dcterms:W3CDTF">2025-07-25T05:41:50Z</dcterms:modified>
</cp:coreProperties>
</file>