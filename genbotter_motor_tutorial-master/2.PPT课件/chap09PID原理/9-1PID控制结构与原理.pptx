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803" r:id="rId2"/>
    <p:sldId id="289" r:id="rId3"/>
    <p:sldId id="802" r:id="rId4"/>
    <p:sldId id="800" r:id="rId5"/>
    <p:sldId id="815" r:id="rId6"/>
    <p:sldId id="807" r:id="rId7"/>
    <p:sldId id="816" r:id="rId8"/>
    <p:sldId id="805" r:id="rId9"/>
    <p:sldId id="286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AC431"/>
    <a:srgbClr val="098F4A"/>
    <a:srgbClr val="FFFFFF"/>
    <a:srgbClr val="0193D8"/>
    <a:srgbClr val="F94502"/>
    <a:srgbClr val="0194D4"/>
    <a:srgbClr val="9D9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918" autoAdjust="0"/>
    <p:restoredTop sz="96238" autoAdjust="0"/>
  </p:normalViewPr>
  <p:slideViewPr>
    <p:cSldViewPr snapToGrid="0">
      <p:cViewPr varScale="1">
        <p:scale>
          <a:sx n="134" d="100"/>
          <a:sy n="134" d="100"/>
        </p:scale>
        <p:origin x="348" y="1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1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35AF6-A61D-48FD-9A60-E72F8F36BF54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D62781-BAE5-4C95-91E2-1B732473B5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3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E33EE-9CF4-FA5B-3761-EB11C13A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9BB56B4-F573-F2EE-3841-51335B855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493529-937D-7BC8-4C0F-5CE0CB07A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从这一讲开始，我们正式进入</a:t>
            </a:r>
            <a:r>
              <a:rPr lang="zh-CN" altLang="en-US" b="1" dirty="0"/>
              <a:t>控制器设计</a:t>
            </a:r>
            <a:r>
              <a:rPr lang="zh-CN" altLang="en-US" dirty="0"/>
              <a:t>。前面第 </a:t>
            </a:r>
            <a:r>
              <a:rPr lang="en-US" altLang="zh-CN" dirty="0"/>
              <a:t>7 </a:t>
            </a:r>
            <a:r>
              <a:rPr lang="zh-CN" altLang="en-US" dirty="0"/>
              <a:t>章我们已经知道什么是闭环控制，那今天要解决的问题是：</a:t>
            </a:r>
            <a:br>
              <a:rPr lang="zh-CN" altLang="en-US" dirty="0"/>
            </a:br>
            <a:r>
              <a:rPr lang="zh-CN" altLang="en-US" b="1" dirty="0"/>
              <a:t>闭环里，谁在做决定？它是怎么想的？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7DD01A-7410-E5EE-E706-6C1CCB95F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8165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875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在第 </a:t>
            </a:r>
            <a:r>
              <a:rPr lang="en-US" altLang="zh-CN" dirty="0"/>
              <a:t>7 </a:t>
            </a:r>
            <a:r>
              <a:rPr lang="zh-CN" altLang="en-US" dirty="0"/>
              <a:t>章，我们反复看到这个结构。但当时有一个问题我们是</a:t>
            </a:r>
            <a:r>
              <a:rPr lang="zh-CN" altLang="en-US" b="1" dirty="0"/>
              <a:t>刻意回避的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👉 控制器内部，到底是怎么算控制量的？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677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不管你是温度、速度还是高度控制，控制器真正关心的只有一个东西：</a:t>
            </a:r>
            <a:br>
              <a:rPr lang="zh-CN" altLang="en-US" dirty="0"/>
            </a:br>
            <a:r>
              <a:rPr lang="zh-CN" altLang="en-US" b="1" dirty="0"/>
              <a:t>我现在差多少？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30780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ECD6F-B3D5-0AE0-1D6F-0C24B5CB1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E93A87-A4CD-EB6F-03DC-2D4AA1462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0374C58-8023-2D25-144D-B1C983DBF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404F30-C108-4ED2-AEC1-796D6C8BB3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043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22AB-E850-55D6-BF70-AFD49BA98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A35DC59-E56D-8CC8-AD96-B891A3C5D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2B885-EF80-29AB-AA5A-2EDEAF719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01B8C-A88D-B88F-003C-4692EBD192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0597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5DFF3-03DC-9AC2-2A51-B19DD72E7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9E0CDF-A067-5642-ADC6-43E1418EC1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CFEC04-13E8-2EBA-6914-44C47FFA0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52BED2-67D3-603A-E1BB-BE2D6F53E0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9064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759DE-F316-88BA-5B67-DCF4224FB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05C667-A7B3-EB26-B415-C6063BCA6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5BD9EB-4EE7-9D54-E7FE-77EFE6B9B6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FB81FF-9D84-3E4B-5080-84427EFF37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D62781-BAE5-4C95-91E2-1B732473B51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1964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98010-6D3A-00E5-A9FA-DECFFB455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E1EFDD-F9A5-E1E7-5D12-813C0ADE6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61DEB-E866-A6CB-C9D9-D70CB857C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B5A9A-13CC-4F73-B43A-1D8F85083558}" type="datetimeFigureOut">
              <a:rPr lang="zh-CN" altLang="en-US" smtClean="0"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4FA6D-3848-FE75-BFDB-ED698F730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DC8086-56EA-2D74-D57B-897B28CE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C10E8-A8EA-4250-938C-FCA801FD03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974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05CB43-7C60-AD99-B4A9-B399E8C68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4100" y="2755900"/>
            <a:ext cx="9258300" cy="81597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38E94D4-A501-192F-6ED2-5506F3FAE203}"/>
              </a:ext>
            </a:extLst>
          </p:cNvPr>
          <p:cNvSpPr/>
          <p:nvPr/>
        </p:nvSpPr>
        <p:spPr>
          <a:xfrm>
            <a:off x="12739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E92C170-EF74-FE50-678B-F5D875A50DA4}"/>
              </a:ext>
            </a:extLst>
          </p:cNvPr>
          <p:cNvSpPr/>
          <p:nvPr/>
        </p:nvSpPr>
        <p:spPr>
          <a:xfrm>
            <a:off x="1045368" y="2897187"/>
            <a:ext cx="319087" cy="533400"/>
          </a:xfrm>
          <a:custGeom>
            <a:avLst/>
            <a:gdLst>
              <a:gd name="connsiteX0" fmla="*/ 0 w 319087"/>
              <a:gd name="connsiteY0" fmla="*/ 533400 h 533400"/>
              <a:gd name="connsiteX1" fmla="*/ 119063 w 319087"/>
              <a:gd name="connsiteY1" fmla="*/ 533400 h 533400"/>
              <a:gd name="connsiteX2" fmla="*/ 319088 w 319087"/>
              <a:gd name="connsiteY2" fmla="*/ 266700 h 533400"/>
              <a:gd name="connsiteX3" fmla="*/ 119063 w 319087"/>
              <a:gd name="connsiteY3" fmla="*/ 0 h 533400"/>
              <a:gd name="connsiteX4" fmla="*/ 0 w 319087"/>
              <a:gd name="connsiteY4" fmla="*/ 0 h 533400"/>
              <a:gd name="connsiteX5" fmla="*/ 200025 w 319087"/>
              <a:gd name="connsiteY5" fmla="*/ 266700 h 533400"/>
              <a:gd name="connsiteX6" fmla="*/ 0 w 319087"/>
              <a:gd name="connsiteY6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0" y="533400"/>
                </a:move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A22F98-0864-A629-77B5-8F14CD2056B6}"/>
              </a:ext>
            </a:extLst>
          </p:cNvPr>
          <p:cNvSpPr/>
          <p:nvPr/>
        </p:nvSpPr>
        <p:spPr>
          <a:xfrm>
            <a:off x="1502568" y="2897187"/>
            <a:ext cx="319087" cy="533400"/>
          </a:xfrm>
          <a:custGeom>
            <a:avLst/>
            <a:gdLst>
              <a:gd name="connsiteX0" fmla="*/ 119063 w 319087"/>
              <a:gd name="connsiteY0" fmla="*/ 0 h 533400"/>
              <a:gd name="connsiteX1" fmla="*/ 0 w 319087"/>
              <a:gd name="connsiteY1" fmla="*/ 0 h 533400"/>
              <a:gd name="connsiteX2" fmla="*/ 200025 w 319087"/>
              <a:gd name="connsiteY2" fmla="*/ 266700 h 533400"/>
              <a:gd name="connsiteX3" fmla="*/ 0 w 319087"/>
              <a:gd name="connsiteY3" fmla="*/ 533400 h 533400"/>
              <a:gd name="connsiteX4" fmla="*/ 119063 w 319087"/>
              <a:gd name="connsiteY4" fmla="*/ 533400 h 533400"/>
              <a:gd name="connsiteX5" fmla="*/ 319088 w 319087"/>
              <a:gd name="connsiteY5" fmla="*/ 266700 h 533400"/>
              <a:gd name="connsiteX6" fmla="*/ 119063 w 319087"/>
              <a:gd name="connsiteY6" fmla="*/ 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19087" h="533400">
                <a:moveTo>
                  <a:pt x="119063" y="0"/>
                </a:moveTo>
                <a:lnTo>
                  <a:pt x="0" y="0"/>
                </a:lnTo>
                <a:lnTo>
                  <a:pt x="200025" y="266700"/>
                </a:lnTo>
                <a:lnTo>
                  <a:pt x="0" y="533400"/>
                </a:lnTo>
                <a:lnTo>
                  <a:pt x="119063" y="533400"/>
                </a:lnTo>
                <a:lnTo>
                  <a:pt x="319088" y="266700"/>
                </a:lnTo>
                <a:lnTo>
                  <a:pt x="119063" y="0"/>
                </a:lnTo>
                <a:close/>
              </a:path>
            </a:pathLst>
          </a:custGeom>
          <a:solidFill>
            <a:srgbClr val="00206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00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112188" y="374795"/>
            <a:ext cx="10528876" cy="390527"/>
          </a:xfrm>
          <a:prstGeom prst="rect">
            <a:avLst/>
          </a:prstGeom>
        </p:spPr>
        <p:txBody>
          <a:bodyPr rtlCol="0">
            <a:no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F08C6-3C39-9C11-0725-75CC7427A6E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6927" y="208572"/>
            <a:ext cx="568252" cy="72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2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>
            <a:off x="1008194" y="833245"/>
            <a:ext cx="1046457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7"/>
          <p:cNvGrpSpPr/>
          <p:nvPr/>
        </p:nvGrpSpPr>
        <p:grpSpPr bwMode="auto">
          <a:xfrm>
            <a:off x="431856" y="390435"/>
            <a:ext cx="520768" cy="274574"/>
            <a:chOff x="0" y="0"/>
            <a:chExt cx="1041399" cy="549275"/>
          </a:xfrm>
        </p:grpSpPr>
        <p:sp>
          <p:nvSpPr>
            <p:cNvPr id="5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2147483646 w 400"/>
                <a:gd name="T1" fmla="*/ 2147483646 h 608"/>
                <a:gd name="T2" fmla="*/ 2147483646 w 400"/>
                <a:gd name="T3" fmla="*/ 0 h 608"/>
                <a:gd name="T4" fmla="*/ 2147483646 w 400"/>
                <a:gd name="T5" fmla="*/ 2147483646 h 608"/>
                <a:gd name="T6" fmla="*/ 2147483646 w 400"/>
                <a:gd name="T7" fmla="*/ 2147483646 h 608"/>
                <a:gd name="T8" fmla="*/ 0 w 400"/>
                <a:gd name="T9" fmla="*/ 2147483646 h 608"/>
                <a:gd name="T10" fmla="*/ 2147483646 w 400"/>
                <a:gd name="T11" fmla="*/ 2147483646 h 608"/>
                <a:gd name="T12" fmla="*/ 2147483646 w 400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6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  <p:sp>
          <p:nvSpPr>
            <p:cNvPr id="7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2147483646 w 399"/>
                <a:gd name="T1" fmla="*/ 2147483646 h 608"/>
                <a:gd name="T2" fmla="*/ 2147483646 w 399"/>
                <a:gd name="T3" fmla="*/ 0 h 608"/>
                <a:gd name="T4" fmla="*/ 2147483646 w 399"/>
                <a:gd name="T5" fmla="*/ 2147483646 h 608"/>
                <a:gd name="T6" fmla="*/ 2147483646 w 399"/>
                <a:gd name="T7" fmla="*/ 2147483646 h 608"/>
                <a:gd name="T8" fmla="*/ 0 w 399"/>
                <a:gd name="T9" fmla="*/ 2147483646 h 608"/>
                <a:gd name="T10" fmla="*/ 2147483646 w 399"/>
                <a:gd name="T11" fmla="*/ 2147483646 h 608"/>
                <a:gd name="T12" fmla="*/ 2147483646 w 399"/>
                <a:gd name="T13" fmla="*/ 2147483646 h 60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79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800"/>
            </a:p>
          </p:txBody>
        </p:sp>
      </p:grpSp>
      <p:sp>
        <p:nvSpPr>
          <p:cNvPr id="9" name="标题占位符 1"/>
          <p:cNvSpPr>
            <a:spLocks noGrp="1"/>
          </p:cNvSpPr>
          <p:nvPr>
            <p:ph type="title"/>
          </p:nvPr>
        </p:nvSpPr>
        <p:spPr>
          <a:xfrm>
            <a:off x="1054784" y="374795"/>
            <a:ext cx="3974034" cy="390527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0"/>
          </p:nvPr>
        </p:nvSpPr>
        <p:spPr>
          <a:xfrm>
            <a:off x="952624" y="1053857"/>
            <a:ext cx="10688441" cy="5345255"/>
          </a:xfrm>
        </p:spPr>
        <p:txBody>
          <a:bodyPr/>
          <a:lstStyle>
            <a:lvl1pPr marL="0" indent="457109">
              <a:lnSpc>
                <a:spcPct val="130000"/>
              </a:lnSpc>
              <a:spcBef>
                <a:spcPts val="0"/>
              </a:spcBef>
              <a:buNone/>
              <a:defRPr/>
            </a:lvl1pPr>
            <a:lvl2pPr marL="990402" indent="0">
              <a:buNone/>
              <a:defRPr/>
            </a:lvl2pPr>
            <a:lvl3pPr marL="1523695" indent="0">
              <a:buNone/>
              <a:defRPr/>
            </a:lvl3pPr>
            <a:lvl4pPr marL="2133173" indent="0">
              <a:buNone/>
              <a:defRPr/>
            </a:lvl4pPr>
            <a:lvl5pPr marL="2742651" indent="0"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1"/>
          </p:nvPr>
        </p:nvSpPr>
        <p:spPr>
          <a:xfrm>
            <a:off x="38105" y="6467037"/>
            <a:ext cx="2845170" cy="36504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https://www.genbotter.com</a:t>
            </a:r>
          </a:p>
        </p:txBody>
      </p:sp>
    </p:spTree>
    <p:extLst>
      <p:ext uri="{BB962C8B-B14F-4D97-AF65-F5344CB8AC3E}">
        <p14:creationId xmlns:p14="http://schemas.microsoft.com/office/powerpoint/2010/main" val="821182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D7C869B-A0BA-D6AE-D0D4-11E1B533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5A2620-29DE-CD42-F733-2907E23863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3A470E-780F-8158-CABC-A03E9BA79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CEB5A9A-13CC-4F73-B43A-1D8F85083558}" type="datetimeFigureOut">
              <a:rPr lang="zh-CN" altLang="en-US" smtClean="0"/>
              <a:pPr/>
              <a:t>2026/1/14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52838F-97EC-E402-AA26-CEB2CE7D7E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322C9C5-7D1E-DCC5-EC29-F23101B580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644C10E8-A8EA-4250-938C-FCA801FD03A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8490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9F282-F80C-154F-7C72-A3C8DDAD0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0F8C764-B10E-AF1B-177F-1E4F68C5309A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56" name="标题 1">
            <a:extLst>
              <a:ext uri="{FF2B5EF4-FFF2-40B4-BE49-F238E27FC236}">
                <a16:creationId xmlns:a16="http://schemas.microsoft.com/office/drawing/2014/main" id="{435EA853-567B-EB8E-4E36-3177EB2EED9B}"/>
              </a:ext>
            </a:extLst>
          </p:cNvPr>
          <p:cNvSpPr txBox="1"/>
          <p:nvPr/>
        </p:nvSpPr>
        <p:spPr>
          <a:xfrm>
            <a:off x="1948481" y="2605064"/>
            <a:ext cx="6132949" cy="1425748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kumimoji="1" lang="zh-CN" altLang="en-US" sz="48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理解</a:t>
            </a:r>
            <a:r>
              <a:rPr kumimoji="1" lang="en-US" altLang="zh-CN" sz="48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kumimoji="1" lang="zh-CN" altLang="en-US" sz="48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控制理论</a:t>
            </a:r>
            <a:endParaRPr kumimoji="1" lang="en-US" altLang="zh-CN" sz="48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73D92F75-B6EC-970B-3D8C-7A4D750FBECD}"/>
              </a:ext>
            </a:extLst>
          </p:cNvPr>
          <p:cNvSpPr txBox="1"/>
          <p:nvPr/>
        </p:nvSpPr>
        <p:spPr>
          <a:xfrm>
            <a:off x="3390380" y="4004662"/>
            <a:ext cx="5155472" cy="683342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kumimoji="1" lang="en-US" altLang="zh-CN" sz="36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——PID</a:t>
            </a:r>
            <a:r>
              <a:rPr kumimoji="1" lang="zh-CN" altLang="en-US" sz="36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控制之三</a:t>
            </a:r>
            <a:endParaRPr kumimoji="1" lang="en-US" altLang="zh-CN" sz="3600" b="1" dirty="0">
              <a:ln w="12700"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1684E16-F27B-56A8-C87F-2FB48002DB0B}"/>
              </a:ext>
            </a:extLst>
          </p:cNvPr>
          <p:cNvSpPr txBox="1"/>
          <p:nvPr/>
        </p:nvSpPr>
        <p:spPr>
          <a:xfrm>
            <a:off x="825856" y="1947872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kumimoji="1" lang="zh-CN" altLang="en-US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09</a:t>
            </a:r>
            <a:r>
              <a:rPr kumimoji="1" lang="zh-CN" altLang="en-US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B6875911-F965-10C4-6C61-43E1809AFDD4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1234AD20-F16C-E09C-1B59-69564EF7D687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8" name="标题 1">
              <a:extLst>
                <a:ext uri="{FF2B5EF4-FFF2-40B4-BE49-F238E27FC236}">
                  <a16:creationId xmlns:a16="http://schemas.microsoft.com/office/drawing/2014/main" id="{81E79F3F-9D93-686E-CED2-0E5C7A5793DE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083406F0-0614-FC90-8B33-533D5926C97E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0" name="标题 1">
              <a:extLst>
                <a:ext uri="{FF2B5EF4-FFF2-40B4-BE49-F238E27FC236}">
                  <a16:creationId xmlns:a16="http://schemas.microsoft.com/office/drawing/2014/main" id="{A354598E-D320-6B30-23AF-C3B065AC84A4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11" name="标题 1">
            <a:extLst>
              <a:ext uri="{FF2B5EF4-FFF2-40B4-BE49-F238E27FC236}">
                <a16:creationId xmlns:a16="http://schemas.microsoft.com/office/drawing/2014/main" id="{AD76799B-ECD6-FBA7-7470-5E20D1E69960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A32FD97C-7D8C-66EC-BBAE-781D7B900250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r>
              <a:rPr kumimoji="1" lang="en-US" altLang="zh-CN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_</a:t>
            </a:r>
            <a:r>
              <a:rPr kumimoji="1" lang="zh-CN" altLang="en-US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嵌入式 电机开发教程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2C60E35-B9B0-6176-E60C-B89DA01F54F2}"/>
              </a:ext>
            </a:extLst>
          </p:cNvPr>
          <p:cNvGrpSpPr/>
          <p:nvPr/>
        </p:nvGrpSpPr>
        <p:grpSpPr>
          <a:xfrm>
            <a:off x="7182901" y="1934704"/>
            <a:ext cx="3599598" cy="1199542"/>
            <a:chOff x="4281444" y="2800956"/>
            <a:chExt cx="3599598" cy="1199542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9A553E09-AD43-9D28-C253-4DAF31470D72}"/>
                </a:ext>
              </a:extLst>
            </p:cNvPr>
            <p:cNvSpPr/>
            <p:nvPr/>
          </p:nvSpPr>
          <p:spPr>
            <a:xfrm>
              <a:off x="6554309" y="2882257"/>
              <a:ext cx="584460" cy="5473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被控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D7891253-FCC7-65F8-7576-AB615DE47BDE}"/>
                </a:ext>
              </a:extLst>
            </p:cNvPr>
            <p:cNvSpPr/>
            <p:nvPr/>
          </p:nvSpPr>
          <p:spPr>
            <a:xfrm>
              <a:off x="5494913" y="2800956"/>
              <a:ext cx="883424" cy="708712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</a:t>
              </a: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392D8F1B-8F81-1DEA-CE3B-2BF9200A6C59}"/>
                </a:ext>
              </a:extLst>
            </p:cNvPr>
            <p:cNvSpPr/>
            <p:nvPr/>
          </p:nvSpPr>
          <p:spPr>
            <a:xfrm>
              <a:off x="5101227" y="3045429"/>
              <a:ext cx="217714" cy="219767"/>
            </a:xfrm>
            <a:prstGeom prst="ellipse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D9F5D071-72C1-D7D8-9674-7F94FB7A2827}"/>
                </a:ext>
              </a:extLst>
            </p:cNvPr>
            <p:cNvCxnSpPr>
              <a:stCxn id="17" idx="1"/>
              <a:endCxn id="17" idx="5"/>
            </p:cNvCxnSpPr>
            <p:nvPr/>
          </p:nvCxnSpPr>
          <p:spPr>
            <a:xfrm>
              <a:off x="5133110" y="3077613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43DC4B38-FBFC-9DE2-C72B-F4447F2FF4B7}"/>
                </a:ext>
              </a:extLst>
            </p:cNvPr>
            <p:cNvCxnSpPr>
              <a:stCxn id="17" idx="3"/>
              <a:endCxn id="17" idx="7"/>
            </p:cNvCxnSpPr>
            <p:nvPr/>
          </p:nvCxnSpPr>
          <p:spPr>
            <a:xfrm flipV="1">
              <a:off x="5133110" y="3077613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2144F784-9CBB-6369-D150-EFAA7D8B6A6B}"/>
                </a:ext>
              </a:extLst>
            </p:cNvPr>
            <p:cNvCxnSpPr/>
            <p:nvPr/>
          </p:nvCxnSpPr>
          <p:spPr>
            <a:xfrm>
              <a:off x="4701540" y="3155312"/>
              <a:ext cx="3996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E14E02A-3B94-D608-5260-F608EE257D2A}"/>
                </a:ext>
              </a:extLst>
            </p:cNvPr>
            <p:cNvSpPr/>
            <p:nvPr/>
          </p:nvSpPr>
          <p:spPr>
            <a:xfrm>
              <a:off x="5812035" y="3718560"/>
              <a:ext cx="1198365" cy="2819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测量元件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47578BB-3750-E682-7F97-12FD300AE05C}"/>
                </a:ext>
              </a:extLst>
            </p:cNvPr>
            <p:cNvSpPr txBox="1"/>
            <p:nvPr/>
          </p:nvSpPr>
          <p:spPr>
            <a:xfrm>
              <a:off x="7157767" y="2854286"/>
              <a:ext cx="7232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被控量</a:t>
              </a: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98B5E881-5217-650E-A16E-D872F4C5F000}"/>
                </a:ext>
              </a:extLst>
            </p:cNvPr>
            <p:cNvCxnSpPr>
              <a:cxnSpLocks/>
            </p:cNvCxnSpPr>
            <p:nvPr/>
          </p:nvCxnSpPr>
          <p:spPr>
            <a:xfrm>
              <a:off x="7138769" y="3163563"/>
              <a:ext cx="6793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连接符: 肘形 24">
              <a:extLst>
                <a:ext uri="{FF2B5EF4-FFF2-40B4-BE49-F238E27FC236}">
                  <a16:creationId xmlns:a16="http://schemas.microsoft.com/office/drawing/2014/main" id="{D2F1D724-809D-4CAB-2458-E6D0A1CC977D}"/>
                </a:ext>
              </a:extLst>
            </p:cNvPr>
            <p:cNvCxnSpPr>
              <a:stCxn id="21" idx="1"/>
              <a:endCxn id="17" idx="4"/>
            </p:cNvCxnSpPr>
            <p:nvPr/>
          </p:nvCxnSpPr>
          <p:spPr>
            <a:xfrm rot="10800000">
              <a:off x="5210085" y="3265197"/>
              <a:ext cx="601951" cy="59433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05F4DFD4-C532-19B2-2D62-3A99B8BBAD94}"/>
                </a:ext>
              </a:extLst>
            </p:cNvPr>
            <p:cNvCxnSpPr>
              <a:cxnSpLocks/>
              <a:stCxn id="17" idx="6"/>
              <a:endCxn id="16" idx="1"/>
            </p:cNvCxnSpPr>
            <p:nvPr/>
          </p:nvCxnSpPr>
          <p:spPr>
            <a:xfrm flipV="1">
              <a:off x="5318941" y="3155312"/>
              <a:ext cx="17597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375CDD99-70C4-B08C-70C6-1DE7674E6D27}"/>
                </a:ext>
              </a:extLst>
            </p:cNvPr>
            <p:cNvCxnSpPr>
              <a:cxnSpLocks/>
              <a:stCxn id="16" idx="3"/>
              <a:endCxn id="15" idx="1"/>
            </p:cNvCxnSpPr>
            <p:nvPr/>
          </p:nvCxnSpPr>
          <p:spPr>
            <a:xfrm>
              <a:off x="6378337" y="3155312"/>
              <a:ext cx="175972" cy="6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28" name="连接符: 肘形 27">
              <a:extLst>
                <a:ext uri="{FF2B5EF4-FFF2-40B4-BE49-F238E27FC236}">
                  <a16:creationId xmlns:a16="http://schemas.microsoft.com/office/drawing/2014/main" id="{A251B4EB-D94C-2D2F-AB21-C2A9DD276FA7}"/>
                </a:ext>
              </a:extLst>
            </p:cNvPr>
            <p:cNvCxnSpPr>
              <a:cxnSpLocks/>
              <a:stCxn id="22" idx="2"/>
              <a:endCxn id="21" idx="3"/>
            </p:cNvCxnSpPr>
            <p:nvPr/>
          </p:nvCxnSpPr>
          <p:spPr>
            <a:xfrm rot="5400000">
              <a:off x="6916170" y="3256294"/>
              <a:ext cx="697466" cy="509005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1BED0059-F8DF-6FF3-1586-4D9397D6A3F8}"/>
                </a:ext>
              </a:extLst>
            </p:cNvPr>
            <p:cNvSpPr txBox="1"/>
            <p:nvPr/>
          </p:nvSpPr>
          <p:spPr>
            <a:xfrm>
              <a:off x="4904346" y="2800958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+</a:t>
              </a:r>
              <a:endParaRPr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FF4767B9-0B11-2723-290D-EF712523AE4D}"/>
                </a:ext>
              </a:extLst>
            </p:cNvPr>
            <p:cNvSpPr txBox="1"/>
            <p:nvPr/>
          </p:nvSpPr>
          <p:spPr>
            <a:xfrm>
              <a:off x="5172524" y="3140335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-</a:t>
              </a:r>
              <a:endParaRPr lang="zh-CN" altLang="en-US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27C3BA24-4A0C-8D05-99F9-5B3BEA9FADC2}"/>
                </a:ext>
              </a:extLst>
            </p:cNvPr>
            <p:cNvSpPr txBox="1"/>
            <p:nvPr/>
          </p:nvSpPr>
          <p:spPr>
            <a:xfrm>
              <a:off x="4281444" y="2854286"/>
              <a:ext cx="7232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输入量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0496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标题 1"/>
          <p:cNvSpPr txBox="1"/>
          <p:nvPr/>
        </p:nvSpPr>
        <p:spPr>
          <a:xfrm>
            <a:off x="443436" y="50357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 dirty="0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4DA22E79-CE64-2DFE-BA96-AAD1C92B55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61" y="249848"/>
            <a:ext cx="568252" cy="722971"/>
          </a:xfrm>
          <a:prstGeom prst="rect">
            <a:avLst/>
          </a:prstGeom>
        </p:spPr>
      </p:pic>
      <p:sp>
        <p:nvSpPr>
          <p:cNvPr id="56" name="标题 1">
            <a:extLst>
              <a:ext uri="{FF2B5EF4-FFF2-40B4-BE49-F238E27FC236}">
                <a16:creationId xmlns:a16="http://schemas.microsoft.com/office/drawing/2014/main" id="{3E23DABD-351E-E28C-D66B-970AFEBBEDFF}"/>
              </a:ext>
            </a:extLst>
          </p:cNvPr>
          <p:cNvSpPr txBox="1"/>
          <p:nvPr/>
        </p:nvSpPr>
        <p:spPr>
          <a:xfrm>
            <a:off x="2055953" y="2818708"/>
            <a:ext cx="7601657" cy="893335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kumimoji="1" lang="en-US" altLang="zh-CN" sz="4000" b="1" dirty="0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PID</a:t>
            </a:r>
            <a:r>
              <a:rPr kumimoji="1" lang="zh-CN" altLang="en-US" sz="4000" b="1">
                <a:ln w="12700">
                  <a:noFill/>
                </a:ln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概述</a:t>
            </a:r>
            <a:endParaRPr kumimoji="1" lang="en-US" altLang="zh-CN" sz="4000" b="1" dirty="0">
              <a:ln w="12700">
                <a:noFill/>
              </a:ln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1">
            <a:extLst>
              <a:ext uri="{FF2B5EF4-FFF2-40B4-BE49-F238E27FC236}">
                <a16:creationId xmlns:a16="http://schemas.microsoft.com/office/drawing/2014/main" id="{197B368E-A7CA-382B-CDAA-BCB48B30880B}"/>
              </a:ext>
            </a:extLst>
          </p:cNvPr>
          <p:cNvSpPr txBox="1"/>
          <p:nvPr/>
        </p:nvSpPr>
        <p:spPr>
          <a:xfrm>
            <a:off x="8286750" y="473074"/>
            <a:ext cx="3504136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09C039-412F-F46F-73A2-007DE4586162}"/>
              </a:ext>
            </a:extLst>
          </p:cNvPr>
          <p:cNvGrpSpPr/>
          <p:nvPr/>
        </p:nvGrpSpPr>
        <p:grpSpPr>
          <a:xfrm>
            <a:off x="8395710" y="560916"/>
            <a:ext cx="191046" cy="123736"/>
            <a:chOff x="9405360" y="560916"/>
            <a:chExt cx="191046" cy="123736"/>
          </a:xfrm>
        </p:grpSpPr>
        <p:sp>
          <p:nvSpPr>
            <p:cNvPr id="7" name="标题 1">
              <a:extLst>
                <a:ext uri="{FF2B5EF4-FFF2-40B4-BE49-F238E27FC236}">
                  <a16:creationId xmlns:a16="http://schemas.microsoft.com/office/drawing/2014/main" id="{B16617C9-0B65-19CB-A449-FE7201FF3230}"/>
                </a:ext>
              </a:extLst>
            </p:cNvPr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9" name="标题 1">
              <a:extLst>
                <a:ext uri="{FF2B5EF4-FFF2-40B4-BE49-F238E27FC236}">
                  <a16:creationId xmlns:a16="http://schemas.microsoft.com/office/drawing/2014/main" id="{91F4996C-216D-A58E-B51D-F934E91657D8}"/>
                </a:ext>
              </a:extLst>
            </p:cNvPr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2051DA12-8F5E-043E-B013-630975152B47}"/>
                </a:ext>
              </a:extLst>
            </p:cNvPr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38" name="标题 1">
            <a:extLst>
              <a:ext uri="{FF2B5EF4-FFF2-40B4-BE49-F238E27FC236}">
                <a16:creationId xmlns:a16="http://schemas.microsoft.com/office/drawing/2014/main" id="{C6AF0379-367A-0305-C0CF-CAACD139A808}"/>
              </a:ext>
            </a:extLst>
          </p:cNvPr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7" name="标题 1">
            <a:extLst>
              <a:ext uri="{FF2B5EF4-FFF2-40B4-BE49-F238E27FC236}">
                <a16:creationId xmlns:a16="http://schemas.microsoft.com/office/drawing/2014/main" id="{E7383071-5452-D100-93D8-A8B3C57DDEC8}"/>
              </a:ext>
            </a:extLst>
          </p:cNvPr>
          <p:cNvSpPr txBox="1"/>
          <p:nvPr/>
        </p:nvSpPr>
        <p:spPr>
          <a:xfrm>
            <a:off x="8586777" y="503954"/>
            <a:ext cx="2815823" cy="2304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zh-CN" altLang="en-US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r>
              <a:rPr kumimoji="1" lang="en-US" altLang="zh-CN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_</a:t>
            </a:r>
            <a:r>
              <a:rPr kumimoji="1" lang="zh-CN" altLang="en-US" sz="1600" b="1" dirty="0">
                <a:ln w="12700">
                  <a:noFill/>
                </a:ln>
                <a:solidFill>
                  <a:srgbClr val="FF0000"/>
                </a:solidFill>
                <a:latin typeface="Source Han Sans"/>
                <a:ea typeface="Source Han Sans"/>
                <a:cs typeface="Source Han Sans"/>
              </a:rPr>
              <a:t>嵌入式 电机开发教程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8A9E283A-0844-3A11-F79D-90E3F8FFBA93}"/>
              </a:ext>
            </a:extLst>
          </p:cNvPr>
          <p:cNvSpPr txBox="1"/>
          <p:nvPr/>
        </p:nvSpPr>
        <p:spPr>
          <a:xfrm>
            <a:off x="1749598" y="2271335"/>
            <a:ext cx="2460153" cy="547373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2800" b="1" dirty="0">
                <a:ln w="12700"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【09-01】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065B79-D9FB-31EB-D83B-1DCAD60DE970}"/>
              </a:ext>
            </a:extLst>
          </p:cNvPr>
          <p:cNvSpPr txBox="1"/>
          <p:nvPr/>
        </p:nvSpPr>
        <p:spPr>
          <a:xfrm>
            <a:off x="3848782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7D81CDC7-1EC0-EBB6-2724-E1CB98E1C542}"/>
              </a:ext>
            </a:extLst>
          </p:cNvPr>
          <p:cNvSpPr txBox="1"/>
          <p:nvPr/>
        </p:nvSpPr>
        <p:spPr>
          <a:xfrm>
            <a:off x="4175906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2026</a:t>
            </a:r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F89CA-9DC5-5479-F9F5-74BC96FC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第七章的闭环系统回顾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5C95DCA5-25A3-AC75-02D5-77A16ADCF6F6}"/>
              </a:ext>
            </a:extLst>
          </p:cNvPr>
          <p:cNvGrpSpPr/>
          <p:nvPr/>
        </p:nvGrpSpPr>
        <p:grpSpPr>
          <a:xfrm>
            <a:off x="3713792" y="2274277"/>
            <a:ext cx="5856927" cy="2129551"/>
            <a:chOff x="4701540" y="2800956"/>
            <a:chExt cx="3179502" cy="1199542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EBD6A87-5195-89E9-AC1A-D8D3B3791D6B}"/>
                </a:ext>
              </a:extLst>
            </p:cNvPr>
            <p:cNvSpPr/>
            <p:nvPr/>
          </p:nvSpPr>
          <p:spPr>
            <a:xfrm>
              <a:off x="6554309" y="2882257"/>
              <a:ext cx="584460" cy="547373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被控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07FAEDF-BB3F-3353-8925-69EE5E69D3E3}"/>
                </a:ext>
              </a:extLst>
            </p:cNvPr>
            <p:cNvSpPr/>
            <p:nvPr/>
          </p:nvSpPr>
          <p:spPr>
            <a:xfrm>
              <a:off x="5494913" y="2800956"/>
              <a:ext cx="883424" cy="708712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控制</a:t>
              </a: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E5062D86-1BD9-5360-5BB3-F4A6A29F1C95}"/>
                </a:ext>
              </a:extLst>
            </p:cNvPr>
            <p:cNvSpPr/>
            <p:nvPr/>
          </p:nvSpPr>
          <p:spPr>
            <a:xfrm>
              <a:off x="5101227" y="3045429"/>
              <a:ext cx="217714" cy="219767"/>
            </a:xfrm>
            <a:prstGeom prst="ellipse">
              <a:avLst/>
            </a:prstGeom>
            <a:solidFill>
              <a:srgbClr val="FFF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9476EC3E-92BA-CA3E-B7FB-B8C859A429F4}"/>
                </a:ext>
              </a:extLst>
            </p:cNvPr>
            <p:cNvCxnSpPr>
              <a:stCxn id="9" idx="1"/>
              <a:endCxn id="9" idx="5"/>
            </p:cNvCxnSpPr>
            <p:nvPr/>
          </p:nvCxnSpPr>
          <p:spPr>
            <a:xfrm>
              <a:off x="5133110" y="3077613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72906751-2A58-7E9F-7B4B-15C9564C709A}"/>
                </a:ext>
              </a:extLst>
            </p:cNvPr>
            <p:cNvCxnSpPr>
              <a:stCxn id="9" idx="3"/>
              <a:endCxn id="9" idx="7"/>
            </p:cNvCxnSpPr>
            <p:nvPr/>
          </p:nvCxnSpPr>
          <p:spPr>
            <a:xfrm flipV="1">
              <a:off x="5133110" y="3077613"/>
              <a:ext cx="153948" cy="155399"/>
            </a:xfrm>
            <a:prstGeom prst="line">
              <a:avLst/>
            </a:prstGeom>
            <a:ln w="127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82A4DDF6-767D-AE35-3CA6-1334A727E4F4}"/>
                </a:ext>
              </a:extLst>
            </p:cNvPr>
            <p:cNvCxnSpPr/>
            <p:nvPr/>
          </p:nvCxnSpPr>
          <p:spPr>
            <a:xfrm>
              <a:off x="4701540" y="3155312"/>
              <a:ext cx="39968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54CBCA70-7D5B-3EC8-3C65-1D2157C5200E}"/>
                </a:ext>
              </a:extLst>
            </p:cNvPr>
            <p:cNvSpPr/>
            <p:nvPr/>
          </p:nvSpPr>
          <p:spPr>
            <a:xfrm>
              <a:off x="5812035" y="3718560"/>
              <a:ext cx="1198365" cy="28193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测量元件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CCB02C8-CD91-893D-BBEB-834FF80FE6E5}"/>
                </a:ext>
              </a:extLst>
            </p:cNvPr>
            <p:cNvSpPr txBox="1"/>
            <p:nvPr/>
          </p:nvSpPr>
          <p:spPr>
            <a:xfrm>
              <a:off x="7157767" y="2854286"/>
              <a:ext cx="723275" cy="236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被控量</a:t>
              </a: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FCAEEC1D-5AEC-D4EC-0E06-BF45A97657AA}"/>
                </a:ext>
              </a:extLst>
            </p:cNvPr>
            <p:cNvCxnSpPr>
              <a:cxnSpLocks/>
            </p:cNvCxnSpPr>
            <p:nvPr/>
          </p:nvCxnSpPr>
          <p:spPr>
            <a:xfrm>
              <a:off x="7138769" y="3163563"/>
              <a:ext cx="67935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连接符: 肘形 15">
              <a:extLst>
                <a:ext uri="{FF2B5EF4-FFF2-40B4-BE49-F238E27FC236}">
                  <a16:creationId xmlns:a16="http://schemas.microsoft.com/office/drawing/2014/main" id="{33344DBD-0E3C-2462-5A5B-08900CCD22C4}"/>
                </a:ext>
              </a:extLst>
            </p:cNvPr>
            <p:cNvCxnSpPr>
              <a:stCxn id="13" idx="1"/>
              <a:endCxn id="9" idx="4"/>
            </p:cNvCxnSpPr>
            <p:nvPr/>
          </p:nvCxnSpPr>
          <p:spPr>
            <a:xfrm rot="10800000">
              <a:off x="5210085" y="3265197"/>
              <a:ext cx="601951" cy="594333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22E00B22-62B5-80EB-9BAF-AB48745A9011}"/>
                </a:ext>
              </a:extLst>
            </p:cNvPr>
            <p:cNvCxnSpPr>
              <a:cxnSpLocks/>
              <a:stCxn id="9" idx="6"/>
              <a:endCxn id="8" idx="1"/>
            </p:cNvCxnSpPr>
            <p:nvPr/>
          </p:nvCxnSpPr>
          <p:spPr>
            <a:xfrm flipV="1">
              <a:off x="5318941" y="3155312"/>
              <a:ext cx="17597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154CED42-A3C9-5285-4AC8-56A060A07C11}"/>
                </a:ext>
              </a:extLst>
            </p:cNvPr>
            <p:cNvCxnSpPr>
              <a:cxnSpLocks/>
              <a:stCxn id="8" idx="3"/>
              <a:endCxn id="7" idx="1"/>
            </p:cNvCxnSpPr>
            <p:nvPr/>
          </p:nvCxnSpPr>
          <p:spPr>
            <a:xfrm>
              <a:off x="6378337" y="3155312"/>
              <a:ext cx="175972" cy="63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9" name="连接符: 肘形 18">
              <a:extLst>
                <a:ext uri="{FF2B5EF4-FFF2-40B4-BE49-F238E27FC236}">
                  <a16:creationId xmlns:a16="http://schemas.microsoft.com/office/drawing/2014/main" id="{7C5D7ABB-74A3-1FEE-2905-5FCEBF452AC6}"/>
                </a:ext>
              </a:extLst>
            </p:cNvPr>
            <p:cNvCxnSpPr>
              <a:cxnSpLocks/>
              <a:endCxn id="13" idx="3"/>
            </p:cNvCxnSpPr>
            <p:nvPr/>
          </p:nvCxnSpPr>
          <p:spPr>
            <a:xfrm rot="5400000">
              <a:off x="6920283" y="3260407"/>
              <a:ext cx="689239" cy="509004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2169413C-33AB-F202-08B7-DAD4D3C17B49}"/>
                </a:ext>
              </a:extLst>
            </p:cNvPr>
            <p:cNvSpPr txBox="1"/>
            <p:nvPr/>
          </p:nvSpPr>
          <p:spPr>
            <a:xfrm>
              <a:off x="4922740" y="2921628"/>
              <a:ext cx="159076" cy="208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+</a:t>
              </a:r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721D70BD-B841-D328-2EE1-6A6A4CED4579}"/>
                </a:ext>
              </a:extLst>
            </p:cNvPr>
            <p:cNvSpPr txBox="1"/>
            <p:nvPr/>
          </p:nvSpPr>
          <p:spPr>
            <a:xfrm>
              <a:off x="5210084" y="3259412"/>
              <a:ext cx="217714" cy="208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-</a:t>
              </a:r>
              <a:endParaRPr lang="zh-CN" altLang="en-US" dirty="0"/>
            </a:p>
          </p:txBody>
        </p:sp>
      </p:grpSp>
      <p:sp>
        <p:nvSpPr>
          <p:cNvPr id="24" name="文本框 23">
            <a:extLst>
              <a:ext uri="{FF2B5EF4-FFF2-40B4-BE49-F238E27FC236}">
                <a16:creationId xmlns:a16="http://schemas.microsoft.com/office/drawing/2014/main" id="{0212C3F5-C83D-5B6B-F16C-EB2ABC396095}"/>
              </a:ext>
            </a:extLst>
          </p:cNvPr>
          <p:cNvSpPr txBox="1"/>
          <p:nvPr/>
        </p:nvSpPr>
        <p:spPr>
          <a:xfrm>
            <a:off x="1074244" y="1265183"/>
            <a:ext cx="83493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章我们解决了“为什么要闭环”，现在要解决“闭环里谁在做决定”。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AA113F8-7C24-B209-4C08-11D5A047FB77}"/>
              </a:ext>
            </a:extLst>
          </p:cNvPr>
          <p:cNvSpPr txBox="1"/>
          <p:nvPr/>
        </p:nvSpPr>
        <p:spPr>
          <a:xfrm>
            <a:off x="1145810" y="4616636"/>
            <a:ext cx="60939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❓ 控制器怎么“算”？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9ED2C6B-D69A-1142-F89A-43F514C93E61}"/>
              </a:ext>
            </a:extLst>
          </p:cNvPr>
          <p:cNvSpPr txBox="1"/>
          <p:nvPr/>
        </p:nvSpPr>
        <p:spPr>
          <a:xfrm>
            <a:off x="3373423" y="2534034"/>
            <a:ext cx="831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目标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4E7880F-CD7A-628A-A198-1C9FEE40E998}"/>
              </a:ext>
            </a:extLst>
          </p:cNvPr>
          <p:cNvSpPr txBox="1"/>
          <p:nvPr/>
        </p:nvSpPr>
        <p:spPr>
          <a:xfrm>
            <a:off x="8204849" y="4153565"/>
            <a:ext cx="870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反馈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DB5AEC6-2302-677E-7620-3C3E52D2F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4605" y="3671565"/>
            <a:ext cx="1632837" cy="1438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86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6EF45-B8C8-A58C-4E29-E141193BC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3FA229-6591-F6A4-A727-47150D92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控制器的核心任务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F9478B5-EEBC-7003-4F0A-184642EB5F3A}"/>
              </a:ext>
            </a:extLst>
          </p:cNvPr>
          <p:cNvSpPr txBox="1"/>
          <p:nvPr/>
        </p:nvSpPr>
        <p:spPr>
          <a:xfrm>
            <a:off x="7646070" y="1420213"/>
            <a:ext cx="40898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根据误差做决策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68C6268-87FB-B600-7A79-761309CF69A6}"/>
              </a:ext>
            </a:extLst>
          </p:cNvPr>
          <p:cNvSpPr/>
          <p:nvPr/>
        </p:nvSpPr>
        <p:spPr>
          <a:xfrm>
            <a:off x="8420282" y="2581592"/>
            <a:ext cx="1058221" cy="547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被控对象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2F9A6F9-E8C5-86E9-D815-644D8310DF8D}"/>
              </a:ext>
            </a:extLst>
          </p:cNvPr>
          <p:cNvSpPr/>
          <p:nvPr/>
        </p:nvSpPr>
        <p:spPr>
          <a:xfrm>
            <a:off x="5367131" y="2583439"/>
            <a:ext cx="1066311" cy="547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控制器</a:t>
            </a: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A1158A57-CF93-5A16-23A1-91046F183D41}"/>
              </a:ext>
            </a:extLst>
          </p:cNvPr>
          <p:cNvSpPr/>
          <p:nvPr/>
        </p:nvSpPr>
        <p:spPr>
          <a:xfrm>
            <a:off x="4351384" y="2747242"/>
            <a:ext cx="217714" cy="219767"/>
          </a:xfrm>
          <a:prstGeom prst="ellipse">
            <a:avLst/>
          </a:prstGeom>
          <a:solidFill>
            <a:srgbClr val="FFFF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493A711-1C29-3A44-C7C7-AD376771EF13}"/>
              </a:ext>
            </a:extLst>
          </p:cNvPr>
          <p:cNvCxnSpPr>
            <a:stCxn id="30" idx="1"/>
            <a:endCxn id="30" idx="5"/>
          </p:cNvCxnSpPr>
          <p:nvPr/>
        </p:nvCxnSpPr>
        <p:spPr>
          <a:xfrm>
            <a:off x="4383267" y="2779426"/>
            <a:ext cx="153948" cy="15539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A81F491-D1AD-5AC8-44F4-E1C6A3100946}"/>
              </a:ext>
            </a:extLst>
          </p:cNvPr>
          <p:cNvCxnSpPr>
            <a:stCxn id="30" idx="3"/>
            <a:endCxn id="30" idx="7"/>
          </p:cNvCxnSpPr>
          <p:nvPr/>
        </p:nvCxnSpPr>
        <p:spPr>
          <a:xfrm flipV="1">
            <a:off x="4383267" y="2779426"/>
            <a:ext cx="153948" cy="155399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96FF2CBC-9504-A693-6FF8-F2C27C945204}"/>
              </a:ext>
            </a:extLst>
          </p:cNvPr>
          <p:cNvCxnSpPr>
            <a:cxnSpLocks/>
            <a:endCxn id="30" idx="2"/>
          </p:cNvCxnSpPr>
          <p:nvPr/>
        </p:nvCxnSpPr>
        <p:spPr>
          <a:xfrm>
            <a:off x="3490540" y="2854615"/>
            <a:ext cx="860844" cy="25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2418F798-6E6F-E34D-41C9-FA0FBB399611}"/>
              </a:ext>
            </a:extLst>
          </p:cNvPr>
          <p:cNvSpPr/>
          <p:nvPr/>
        </p:nvSpPr>
        <p:spPr>
          <a:xfrm>
            <a:off x="6925907" y="3467209"/>
            <a:ext cx="1058221" cy="4257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传感器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BA6C9A9-8FFB-2C1C-4415-F5208478B116}"/>
              </a:ext>
            </a:extLst>
          </p:cNvPr>
          <p:cNvSpPr txBox="1"/>
          <p:nvPr/>
        </p:nvSpPr>
        <p:spPr>
          <a:xfrm>
            <a:off x="9547910" y="2555065"/>
            <a:ext cx="72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被控量</a:t>
            </a: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DCFEA46-8AA3-A500-7FE9-0EF4918A8022}"/>
              </a:ext>
            </a:extLst>
          </p:cNvPr>
          <p:cNvCxnSpPr>
            <a:cxnSpLocks/>
            <a:stCxn id="27" idx="3"/>
          </p:cNvCxnSpPr>
          <p:nvPr/>
        </p:nvCxnSpPr>
        <p:spPr>
          <a:xfrm>
            <a:off x="9478503" y="2855279"/>
            <a:ext cx="729760" cy="2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6526EFB6-CAFB-3D68-3C5F-FB68FC947169}"/>
              </a:ext>
            </a:extLst>
          </p:cNvPr>
          <p:cNvCxnSpPr>
            <a:cxnSpLocks/>
            <a:stCxn id="34" idx="1"/>
            <a:endCxn id="30" idx="4"/>
          </p:cNvCxnSpPr>
          <p:nvPr/>
        </p:nvCxnSpPr>
        <p:spPr>
          <a:xfrm rot="10800000">
            <a:off x="4460241" y="2967009"/>
            <a:ext cx="2465666" cy="71308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FB7BCB1B-ED4C-DA41-1660-76CE589BC101}"/>
              </a:ext>
            </a:extLst>
          </p:cNvPr>
          <p:cNvCxnSpPr>
            <a:cxnSpLocks/>
            <a:stCxn id="30" idx="6"/>
            <a:endCxn id="28" idx="1"/>
          </p:cNvCxnSpPr>
          <p:nvPr/>
        </p:nvCxnSpPr>
        <p:spPr>
          <a:xfrm>
            <a:off x="4569098" y="2857126"/>
            <a:ext cx="798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318D2EEF-7C81-A52B-EA7F-F18F177BAB55}"/>
              </a:ext>
            </a:extLst>
          </p:cNvPr>
          <p:cNvCxnSpPr>
            <a:cxnSpLocks/>
            <a:stCxn id="28" idx="3"/>
            <a:endCxn id="45" idx="1"/>
          </p:cNvCxnSpPr>
          <p:nvPr/>
        </p:nvCxnSpPr>
        <p:spPr>
          <a:xfrm flipV="1">
            <a:off x="6433442" y="2855279"/>
            <a:ext cx="492465" cy="18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cxnSp>
      <p:cxnSp>
        <p:nvCxnSpPr>
          <p:cNvPr id="40" name="连接符: 肘形 39">
            <a:extLst>
              <a:ext uri="{FF2B5EF4-FFF2-40B4-BE49-F238E27FC236}">
                <a16:creationId xmlns:a16="http://schemas.microsoft.com/office/drawing/2014/main" id="{FE030875-914B-AEC5-28AA-5E819D413EAD}"/>
              </a:ext>
            </a:extLst>
          </p:cNvPr>
          <p:cNvCxnSpPr>
            <a:cxnSpLocks/>
            <a:stCxn id="35" idx="2"/>
            <a:endCxn id="34" idx="3"/>
          </p:cNvCxnSpPr>
          <p:nvPr/>
        </p:nvCxnSpPr>
        <p:spPr>
          <a:xfrm rot="5400000">
            <a:off x="8538214" y="2308756"/>
            <a:ext cx="817249" cy="192542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8ACD2D6F-0E44-5BFA-5CCA-6555C0C1BC8F}"/>
              </a:ext>
            </a:extLst>
          </p:cNvPr>
          <p:cNvSpPr txBox="1"/>
          <p:nvPr/>
        </p:nvSpPr>
        <p:spPr>
          <a:xfrm>
            <a:off x="4109264" y="2555065"/>
            <a:ext cx="3385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</a:t>
            </a:r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2A643274-78B6-281B-0E89-3C601EF3290A}"/>
              </a:ext>
            </a:extLst>
          </p:cNvPr>
          <p:cNvSpPr txBox="1"/>
          <p:nvPr/>
        </p:nvSpPr>
        <p:spPr>
          <a:xfrm>
            <a:off x="4470900" y="2860042"/>
            <a:ext cx="300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</a:t>
            </a:r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D2B4693-B3EA-99C4-467B-C5E6CA2A1DBD}"/>
              </a:ext>
            </a:extLst>
          </p:cNvPr>
          <p:cNvSpPr txBox="1"/>
          <p:nvPr/>
        </p:nvSpPr>
        <p:spPr>
          <a:xfrm>
            <a:off x="3427618" y="2546838"/>
            <a:ext cx="72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设定点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C2740E54-EB26-C420-7149-61787CAB2DC8}"/>
              </a:ext>
            </a:extLst>
          </p:cNvPr>
          <p:cNvSpPr txBox="1"/>
          <p:nvPr/>
        </p:nvSpPr>
        <p:spPr>
          <a:xfrm>
            <a:off x="4064142" y="2284119"/>
            <a:ext cx="7232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比较器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FE34CBD-0C36-239B-B11C-111B9773053D}"/>
              </a:ext>
            </a:extLst>
          </p:cNvPr>
          <p:cNvSpPr/>
          <p:nvPr/>
        </p:nvSpPr>
        <p:spPr>
          <a:xfrm>
            <a:off x="6925907" y="2581592"/>
            <a:ext cx="1058221" cy="54737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执行机构</a:t>
            </a:r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5C31C86B-F548-12AF-DD82-B3BE737ECF5F}"/>
              </a:ext>
            </a:extLst>
          </p:cNvPr>
          <p:cNvCxnSpPr>
            <a:cxnSpLocks/>
            <a:stCxn id="45" idx="3"/>
            <a:endCxn id="27" idx="1"/>
          </p:cNvCxnSpPr>
          <p:nvPr/>
        </p:nvCxnSpPr>
        <p:spPr>
          <a:xfrm>
            <a:off x="7984128" y="2855279"/>
            <a:ext cx="436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23FB3A2A-7F63-0300-099E-CCCFF67589F1}"/>
              </a:ext>
            </a:extLst>
          </p:cNvPr>
          <p:cNvSpPr txBox="1"/>
          <p:nvPr/>
        </p:nvSpPr>
        <p:spPr>
          <a:xfrm>
            <a:off x="3890884" y="311058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反馈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E3CEDE5-5D30-5A90-386C-EE49F77ACD6A}"/>
              </a:ext>
            </a:extLst>
          </p:cNvPr>
          <p:cNvSpPr txBox="1"/>
          <p:nvPr/>
        </p:nvSpPr>
        <p:spPr>
          <a:xfrm>
            <a:off x="4530867" y="2444848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误差</a:t>
            </a:r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302027EC-A337-AAB7-A51A-0792BD3BEB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552" y="2284119"/>
            <a:ext cx="1632837" cy="1438451"/>
          </a:xfrm>
          <a:prstGeom prst="rect">
            <a:avLst/>
          </a:prstGeom>
        </p:spPr>
      </p:pic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C288E832-8E6D-A89C-5A64-F0145BD58C7E}"/>
              </a:ext>
            </a:extLst>
          </p:cNvPr>
          <p:cNvCxnSpPr>
            <a:cxnSpLocks/>
          </p:cNvCxnSpPr>
          <p:nvPr/>
        </p:nvCxnSpPr>
        <p:spPr>
          <a:xfrm>
            <a:off x="580466" y="2862841"/>
            <a:ext cx="8589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76E0CBE1-6E73-507F-1D3E-854294614731}"/>
              </a:ext>
            </a:extLst>
          </p:cNvPr>
          <p:cNvCxnSpPr>
            <a:cxnSpLocks/>
          </p:cNvCxnSpPr>
          <p:nvPr/>
        </p:nvCxnSpPr>
        <p:spPr>
          <a:xfrm>
            <a:off x="580465" y="2747242"/>
            <a:ext cx="8589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988748A8-17BB-8783-0CEF-0B50E6C1F826}"/>
              </a:ext>
            </a:extLst>
          </p:cNvPr>
          <p:cNvCxnSpPr/>
          <p:nvPr/>
        </p:nvCxnSpPr>
        <p:spPr>
          <a:xfrm>
            <a:off x="752475" y="2438007"/>
            <a:ext cx="0" cy="309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62BE4231-0017-FBF9-6970-7A860A1A5330}"/>
              </a:ext>
            </a:extLst>
          </p:cNvPr>
          <p:cNvCxnSpPr>
            <a:cxnSpLocks/>
          </p:cNvCxnSpPr>
          <p:nvPr/>
        </p:nvCxnSpPr>
        <p:spPr>
          <a:xfrm flipV="1">
            <a:off x="755650" y="2868033"/>
            <a:ext cx="0" cy="2425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D485A031-44B8-D9DE-FD44-C1E1799B6399}"/>
              </a:ext>
            </a:extLst>
          </p:cNvPr>
          <p:cNvSpPr txBox="1"/>
          <p:nvPr/>
        </p:nvSpPr>
        <p:spPr>
          <a:xfrm>
            <a:off x="256871" y="2115531"/>
            <a:ext cx="2077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当前水位和目标水位的差距</a:t>
            </a:r>
          </a:p>
        </p:txBody>
      </p:sp>
    </p:spTree>
    <p:extLst>
      <p:ext uri="{BB962C8B-B14F-4D97-AF65-F5344CB8AC3E}">
        <p14:creationId xmlns:p14="http://schemas.microsoft.com/office/powerpoint/2010/main" val="2811269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1076B-6FCB-CCF9-310B-CCC1EFC97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9FCBB272-C0A0-1A07-C620-1A32E7068846}"/>
              </a:ext>
            </a:extLst>
          </p:cNvPr>
          <p:cNvSpPr/>
          <p:nvPr/>
        </p:nvSpPr>
        <p:spPr>
          <a:xfrm>
            <a:off x="8924925" y="2390775"/>
            <a:ext cx="1695450" cy="11174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F09B1F3D-ADB9-A8E9-D086-CEF2571B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通过一个例子理解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8750D2D-3B52-DAE4-9CBC-3B6A55797B1D}"/>
              </a:ext>
            </a:extLst>
          </p:cNvPr>
          <p:cNvSpPr/>
          <p:nvPr/>
        </p:nvSpPr>
        <p:spPr>
          <a:xfrm>
            <a:off x="8924925" y="2924176"/>
            <a:ext cx="1695450" cy="5840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箭头: 右 16">
            <a:extLst>
              <a:ext uri="{FF2B5EF4-FFF2-40B4-BE49-F238E27FC236}">
                <a16:creationId xmlns:a16="http://schemas.microsoft.com/office/drawing/2014/main" id="{181DB25B-CBCB-BE0C-EC1E-49F338CC9EF0}"/>
              </a:ext>
            </a:extLst>
          </p:cNvPr>
          <p:cNvSpPr/>
          <p:nvPr/>
        </p:nvSpPr>
        <p:spPr>
          <a:xfrm rot="1853768">
            <a:off x="8524878" y="1996131"/>
            <a:ext cx="495299" cy="3619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箭头: 右 17">
            <a:extLst>
              <a:ext uri="{FF2B5EF4-FFF2-40B4-BE49-F238E27FC236}">
                <a16:creationId xmlns:a16="http://schemas.microsoft.com/office/drawing/2014/main" id="{80F23581-A55C-E2DA-9996-BAD7FC86A3E5}"/>
              </a:ext>
            </a:extLst>
          </p:cNvPr>
          <p:cNvSpPr/>
          <p:nvPr/>
        </p:nvSpPr>
        <p:spPr>
          <a:xfrm rot="1853768">
            <a:off x="10635163" y="3437316"/>
            <a:ext cx="304862" cy="1418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EB55892-BE06-BECF-F3E0-26CDDEE9F548}"/>
              </a:ext>
            </a:extLst>
          </p:cNvPr>
          <p:cNvGrpSpPr/>
          <p:nvPr/>
        </p:nvGrpSpPr>
        <p:grpSpPr>
          <a:xfrm rot="20746364">
            <a:off x="8717260" y="1898711"/>
            <a:ext cx="110532" cy="157334"/>
            <a:chOff x="9867900" y="1179642"/>
            <a:chExt cx="186067" cy="238162"/>
          </a:xfrm>
          <a:solidFill>
            <a:srgbClr val="FFC000"/>
          </a:solidFill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1BF27BFE-D619-E477-B5C2-A8D42A0174F3}"/>
                </a:ext>
              </a:extLst>
            </p:cNvPr>
            <p:cNvSpPr/>
            <p:nvPr/>
          </p:nvSpPr>
          <p:spPr>
            <a:xfrm rot="19170985">
              <a:off x="9867900" y="1323975"/>
              <a:ext cx="133350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FC348356-AFF6-DA91-692E-060F01AB556F}"/>
                </a:ext>
              </a:extLst>
            </p:cNvPr>
            <p:cNvSpPr/>
            <p:nvPr/>
          </p:nvSpPr>
          <p:spPr>
            <a:xfrm rot="13536538">
              <a:off x="9894034" y="1257870"/>
              <a:ext cx="238162" cy="81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35714443-8BEC-5BE4-99EE-7BECA414167E}"/>
              </a:ext>
            </a:extLst>
          </p:cNvPr>
          <p:cNvSpPr/>
          <p:nvPr/>
        </p:nvSpPr>
        <p:spPr>
          <a:xfrm>
            <a:off x="8813844" y="4600292"/>
            <a:ext cx="1695450" cy="11174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8A9F146-5077-579B-8380-ABF52BF5B55B}"/>
              </a:ext>
            </a:extLst>
          </p:cNvPr>
          <p:cNvSpPr/>
          <p:nvPr/>
        </p:nvSpPr>
        <p:spPr>
          <a:xfrm>
            <a:off x="8813844" y="4931983"/>
            <a:ext cx="1695450" cy="7857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右 25">
            <a:extLst>
              <a:ext uri="{FF2B5EF4-FFF2-40B4-BE49-F238E27FC236}">
                <a16:creationId xmlns:a16="http://schemas.microsoft.com/office/drawing/2014/main" id="{626BDC1F-8AB1-F15D-F6EE-CA12099FA3C1}"/>
              </a:ext>
            </a:extLst>
          </p:cNvPr>
          <p:cNvSpPr/>
          <p:nvPr/>
        </p:nvSpPr>
        <p:spPr>
          <a:xfrm rot="1853768">
            <a:off x="8413797" y="4205648"/>
            <a:ext cx="495299" cy="3619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箭头: 右 26">
            <a:extLst>
              <a:ext uri="{FF2B5EF4-FFF2-40B4-BE49-F238E27FC236}">
                <a16:creationId xmlns:a16="http://schemas.microsoft.com/office/drawing/2014/main" id="{438CB36F-4334-4C07-71F7-34AD0BDD0A0E}"/>
              </a:ext>
            </a:extLst>
          </p:cNvPr>
          <p:cNvSpPr/>
          <p:nvPr/>
        </p:nvSpPr>
        <p:spPr>
          <a:xfrm rot="1853768">
            <a:off x="10524082" y="5646833"/>
            <a:ext cx="304862" cy="1418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A4EB02B-A594-B9C3-0BC5-BCA74E37B36D}"/>
              </a:ext>
            </a:extLst>
          </p:cNvPr>
          <p:cNvGrpSpPr/>
          <p:nvPr/>
        </p:nvGrpSpPr>
        <p:grpSpPr>
          <a:xfrm rot="20746364">
            <a:off x="8606179" y="4108228"/>
            <a:ext cx="110532" cy="157334"/>
            <a:chOff x="9867900" y="1179642"/>
            <a:chExt cx="186067" cy="238162"/>
          </a:xfrm>
          <a:solidFill>
            <a:srgbClr val="FFC000"/>
          </a:solidFill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69D396EF-1D8A-4AF8-78F6-2BA33D973D86}"/>
                </a:ext>
              </a:extLst>
            </p:cNvPr>
            <p:cNvSpPr/>
            <p:nvPr/>
          </p:nvSpPr>
          <p:spPr>
            <a:xfrm rot="19170985">
              <a:off x="9867900" y="1323975"/>
              <a:ext cx="133350" cy="8572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5F2269DE-B2EE-FA27-59A9-49DDEE875CF0}"/>
                </a:ext>
              </a:extLst>
            </p:cNvPr>
            <p:cNvSpPr/>
            <p:nvPr/>
          </p:nvSpPr>
          <p:spPr>
            <a:xfrm rot="13536538">
              <a:off x="9894034" y="1257870"/>
              <a:ext cx="238162" cy="81705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D9030B74-1980-7002-3FC8-AF24D677424F}"/>
              </a:ext>
            </a:extLst>
          </p:cNvPr>
          <p:cNvCxnSpPr/>
          <p:nvPr/>
        </p:nvCxnSpPr>
        <p:spPr>
          <a:xfrm>
            <a:off x="8924925" y="2603365"/>
            <a:ext cx="1695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8ACAE1CD-67B2-1ED6-7547-BDC4E53A23DE}"/>
              </a:ext>
            </a:extLst>
          </p:cNvPr>
          <p:cNvSpPr txBox="1"/>
          <p:nvPr/>
        </p:nvSpPr>
        <p:spPr>
          <a:xfrm>
            <a:off x="10620375" y="245027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目标水位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F63E7F8-7CD6-2C4E-C665-6D3EF5AB803C}"/>
              </a:ext>
            </a:extLst>
          </p:cNvPr>
          <p:cNvSpPr txBox="1"/>
          <p:nvPr/>
        </p:nvSpPr>
        <p:spPr>
          <a:xfrm>
            <a:off x="10621317" y="278685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实际水位</a:t>
            </a: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7957813-7AF8-3EC7-5E67-AC9805C9F96F}"/>
              </a:ext>
            </a:extLst>
          </p:cNvPr>
          <p:cNvCxnSpPr/>
          <p:nvPr/>
        </p:nvCxnSpPr>
        <p:spPr>
          <a:xfrm>
            <a:off x="8812902" y="4808074"/>
            <a:ext cx="16954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784F6642-523C-789F-72FE-15CB575D0BF7}"/>
              </a:ext>
            </a:extLst>
          </p:cNvPr>
          <p:cNvSpPr txBox="1"/>
          <p:nvPr/>
        </p:nvSpPr>
        <p:spPr>
          <a:xfrm>
            <a:off x="10508352" y="465498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目标水位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5DFB97D-BE6D-42B5-8E69-690A608E40DB}"/>
              </a:ext>
            </a:extLst>
          </p:cNvPr>
          <p:cNvSpPr txBox="1"/>
          <p:nvPr/>
        </p:nvSpPr>
        <p:spPr>
          <a:xfrm>
            <a:off x="10508352" y="483498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dirty="0"/>
              <a:t>实际水位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B77641-34B3-D837-A2A3-9A7EAD19E5B9}"/>
              </a:ext>
            </a:extLst>
          </p:cNvPr>
          <p:cNvSpPr txBox="1"/>
          <p:nvPr/>
        </p:nvSpPr>
        <p:spPr>
          <a:xfrm>
            <a:off x="243780" y="1114242"/>
            <a:ext cx="81553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假设有一个水池，目标是让水位保持在 </a:t>
            </a:r>
            <a:r>
              <a:rPr lang="en-US" altLang="zh-CN" sz="1400" b="1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b="1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米</a:t>
            </a:r>
            <a:r>
              <a:rPr lang="zh-CN" altLang="en-US" sz="14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（目标值</a:t>
            </a:r>
            <a:r>
              <a:rPr lang="en-US" altLang="zh-CN" sz="14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设定值）。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水池</a:t>
            </a:r>
            <a:r>
              <a:rPr lang="zh-CN" altLang="en-US" sz="1400" b="1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底部有出水口</a:t>
            </a:r>
            <a:r>
              <a:rPr lang="zh-CN" altLang="en-US" sz="14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（比如漏水或用水设备），出水量大致与当前水位成正比（可近似为常数</a:t>
            </a:r>
            <a:r>
              <a:rPr lang="en-US" altLang="zh-CN" sz="14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0.2</a:t>
            </a:r>
            <a:r>
              <a:rPr lang="zh-CN" altLang="en-US" sz="14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你通过一个</a:t>
            </a:r>
            <a:r>
              <a:rPr lang="zh-CN" altLang="en-US" sz="1400" b="1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水泵进水</a:t>
            </a:r>
            <a:r>
              <a:rPr lang="zh-CN" altLang="en-US" sz="14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，进水量由你控制（控制量 </a:t>
            </a:r>
            <a:r>
              <a:rPr lang="en-US" altLang="zh-CN" sz="14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sz="14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你每秒钟测量一次当前水位 </a:t>
            </a:r>
            <a:r>
              <a:rPr lang="en-US" altLang="zh-CN" sz="14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h(t)</a:t>
            </a:r>
            <a:r>
              <a:rPr lang="zh-CN" altLang="en-US" sz="14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，然后决定下一秒该开多大水泵</a:t>
            </a:r>
            <a:r>
              <a:rPr lang="en-US" altLang="zh-CN" sz="14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4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这就是</a:t>
            </a:r>
            <a:r>
              <a:rPr lang="zh-CN" altLang="en-US" sz="1400" b="1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反馈控制</a:t>
            </a:r>
            <a:r>
              <a:rPr lang="zh-CN" altLang="en-US" sz="14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306B9E6-1ACC-68D3-CC4F-661AECDDA704}"/>
              </a:ext>
            </a:extLst>
          </p:cNvPr>
          <p:cNvSpPr txBox="1"/>
          <p:nvPr/>
        </p:nvSpPr>
        <p:spPr>
          <a:xfrm>
            <a:off x="5200649" y="368441"/>
            <a:ext cx="42195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altLang="zh-CN" sz="24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4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比例控制</a:t>
            </a:r>
            <a:r>
              <a:rPr lang="en-US" altLang="zh-CN" sz="24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(P) - "</a:t>
            </a:r>
            <a:r>
              <a:rPr lang="zh-CN" altLang="en-US" sz="24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看现在</a:t>
            </a:r>
            <a:r>
              <a:rPr lang="en-US" altLang="zh-CN" sz="24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E3C08CE-C6B9-AD9D-0BDE-50F051830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924" y="2792898"/>
            <a:ext cx="2213631" cy="63610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89E7127-F835-E995-714E-18E16C03EB98}"/>
              </a:ext>
            </a:extLst>
          </p:cNvPr>
          <p:cNvSpPr txBox="1"/>
          <p:nvPr/>
        </p:nvSpPr>
        <p:spPr>
          <a:xfrm>
            <a:off x="492529" y="2333812"/>
            <a:ext cx="4043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Arial" panose="020B0604020202020204" pitchFamily="34" charset="0"/>
              <a:buChar char="•"/>
              <a:defRPr sz="1400" b="0" i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None/>
            </a:pPr>
            <a:r>
              <a:rPr lang="zh-CN" altLang="en-US" sz="2400" b="1" dirty="0"/>
              <a:t>控制律：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6FA0899-95AA-651D-EDBC-9D865CAF08C1}"/>
              </a:ext>
            </a:extLst>
          </p:cNvPr>
          <p:cNvSpPr txBox="1"/>
          <p:nvPr/>
        </p:nvSpPr>
        <p:spPr>
          <a:xfrm>
            <a:off x="3716198" y="2971812"/>
            <a:ext cx="11144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solidFill>
                  <a:srgbClr val="1D1D1F"/>
                </a:solidFill>
                <a:effectLst/>
                <a:latin typeface="system-ui"/>
              </a:rPr>
              <a:t>其中</a:t>
            </a:r>
            <a:endParaRPr lang="zh-CN" altLang="en-US" sz="1400" dirty="0"/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3D7E8D3A-2336-2050-5028-60337EA68B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9179" y="2829521"/>
            <a:ext cx="2619375" cy="561975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DF89AAA8-2F51-10E4-4AFE-B5A047FDBDA0}"/>
              </a:ext>
            </a:extLst>
          </p:cNvPr>
          <p:cNvSpPr txBox="1"/>
          <p:nvPr/>
        </p:nvSpPr>
        <p:spPr>
          <a:xfrm>
            <a:off x="290513" y="36473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👉 水位会怎么变化？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C7DA547A-24DB-EC1A-E541-346D0BC3C0D9}"/>
              </a:ext>
            </a:extLst>
          </p:cNvPr>
          <p:cNvSpPr txBox="1"/>
          <p:nvPr/>
        </p:nvSpPr>
        <p:spPr>
          <a:xfrm>
            <a:off x="4742516" y="3409417"/>
            <a:ext cx="30099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1D1D1F"/>
                </a:solidFill>
                <a:latin typeface="system-ui"/>
              </a:rPr>
              <a:t>结果</a:t>
            </a:r>
            <a:r>
              <a:rPr lang="en-US" altLang="zh-CN" sz="1400" dirty="0">
                <a:solidFill>
                  <a:srgbClr val="1D1D1F"/>
                </a:solidFill>
                <a:latin typeface="system-ui"/>
              </a:rPr>
              <a:t>u</a:t>
            </a:r>
            <a:r>
              <a:rPr lang="en-US" altLang="zh-CN" sz="1400" b="0" i="0" dirty="0">
                <a:solidFill>
                  <a:srgbClr val="1D1D1F"/>
                </a:solidFill>
                <a:effectLst/>
                <a:latin typeface="system-ui"/>
              </a:rPr>
              <a:t>(t)</a:t>
            </a:r>
            <a:r>
              <a:rPr lang="zh-CN" altLang="en-US" sz="1400" b="0" i="0" dirty="0">
                <a:solidFill>
                  <a:srgbClr val="1D1D1F"/>
                </a:solidFill>
                <a:effectLst/>
                <a:latin typeface="system-ui"/>
              </a:rPr>
              <a:t>为阀门打开的比例</a:t>
            </a:r>
            <a:endParaRPr lang="zh-CN" alt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62B05A6-D2B8-61FE-49C4-0DCF502A17B7}"/>
                  </a:ext>
                </a:extLst>
              </p:cNvPr>
              <p:cNvSpPr txBox="1"/>
              <p:nvPr/>
            </p:nvSpPr>
            <p:spPr>
              <a:xfrm>
                <a:off x="460452" y="4635718"/>
                <a:ext cx="8150879" cy="18538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初始水位为 </a:t>
                </a:r>
                <a:r>
                  <a:rPr lang="en-US" altLang="zh-CN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</a:t>
                </a: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，误差 </a:t>
                </a:r>
                <a:r>
                  <a:rPr lang="en-US" altLang="zh-CN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 1 → </a:t>
                </a: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水泵全开（假设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1600" i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u=1</a:t>
                </a: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水位上升 → 误差减小 → 水泵逐渐关小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zh-CN" altLang="en-US" sz="1600" b="1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但问题来了</a:t>
                </a: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：当水位升到某高度（比如 </a:t>
                </a:r>
                <a:r>
                  <a:rPr lang="en-US" altLang="zh-CN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0.8 </a:t>
                </a: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米）时，进水 </a:t>
                </a:r>
                <a:r>
                  <a:rPr lang="en-US" altLang="zh-CN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= </a:t>
                </a: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出水 → 系统平衡！</a:t>
                </a:r>
                <a:b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此时误差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=1−0.8=0.2</m:t>
                    </m:r>
                  </m:oMath>
                </a14:m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，水泵还在以 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zh-CN" altLang="en-US" sz="1600" i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0.2=0.2</m:t>
                    </m:r>
                  </m:oMath>
                </a14:m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运行，恰好抵消出水速率。</a:t>
                </a:r>
                <a:endParaRPr lang="en-US" altLang="zh-CN" sz="1600" b="0" i="0" dirty="0">
                  <a:solidFill>
                    <a:srgbClr val="1D1D1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/>
                <a:endParaRPr lang="zh-CN" altLang="en-US" sz="1600" b="0" i="0" dirty="0">
                  <a:solidFill>
                    <a:srgbClr val="1D1D1F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l">
                  <a:buNone/>
                </a:pP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✅ </a:t>
                </a:r>
                <a:r>
                  <a:rPr lang="zh-CN" altLang="en-US" sz="1600" b="1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优点</a:t>
                </a: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：响应快，简单</a:t>
                </a:r>
                <a:b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❌ </a:t>
                </a:r>
                <a:r>
                  <a:rPr lang="zh-CN" altLang="en-US" sz="1600" b="1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缺点</a:t>
                </a: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：存在</a:t>
                </a:r>
                <a:r>
                  <a:rPr lang="zh-CN" altLang="en-US" sz="1600" b="1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稳态误差（</a:t>
                </a:r>
                <a:r>
                  <a:rPr lang="en-US" altLang="zh-CN" sz="1600" b="1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Steady-State Error</a:t>
                </a:r>
                <a:r>
                  <a:rPr lang="zh-CN" altLang="en-US" sz="1600" b="1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→ 水位永远停在 </a:t>
                </a:r>
                <a:r>
                  <a:rPr lang="en-US" altLang="zh-CN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0.8 </a:t>
                </a: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米，达不到 </a:t>
                </a:r>
                <a:r>
                  <a:rPr lang="en-US" altLang="zh-CN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</a:t>
                </a: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米！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E62B05A6-D2B8-61FE-49C4-0DCF502A1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452" y="4635718"/>
                <a:ext cx="8150879" cy="1853841"/>
              </a:xfrm>
              <a:prstGeom prst="rect">
                <a:avLst/>
              </a:prstGeom>
              <a:blipFill>
                <a:blip r:embed="rId5"/>
                <a:stretch>
                  <a:fillRect l="-449" t="-984" r="-1421" b="-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图片 45">
            <a:extLst>
              <a:ext uri="{FF2B5EF4-FFF2-40B4-BE49-F238E27FC236}">
                <a16:creationId xmlns:a16="http://schemas.microsoft.com/office/drawing/2014/main" id="{8785B6F4-E874-92E0-6006-CF91753D42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174" y="4156725"/>
            <a:ext cx="3800475" cy="447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86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F5B1-56F1-7FB3-C99A-F65C87E7D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607EF24-1BCC-9855-0824-7FD83ED51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通过一个例子理解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6B9142-A817-4B10-5775-FBAF4146E8AF}"/>
              </a:ext>
            </a:extLst>
          </p:cNvPr>
          <p:cNvSpPr txBox="1"/>
          <p:nvPr/>
        </p:nvSpPr>
        <p:spPr>
          <a:xfrm>
            <a:off x="5200649" y="368441"/>
            <a:ext cx="51911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altLang="zh-CN" sz="24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 PI</a:t>
            </a:r>
            <a:r>
              <a:rPr lang="zh-CN" altLang="en-US" sz="24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en-US" altLang="zh-CN" sz="24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- “</a:t>
            </a:r>
            <a:r>
              <a:rPr lang="zh-CN" altLang="en-US" sz="24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看现在</a:t>
            </a:r>
            <a:r>
              <a:rPr lang="en-US" altLang="zh-CN" sz="24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“&amp;</a:t>
            </a:r>
            <a:r>
              <a:rPr lang="zh-CN" altLang="en-US" sz="2400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”看累积”</a:t>
            </a:r>
            <a:endParaRPr lang="en-US" altLang="zh-CN" sz="2400" b="1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229B2DB-7C7D-42CC-5175-4FB73EB30A8E}"/>
              </a:ext>
            </a:extLst>
          </p:cNvPr>
          <p:cNvSpPr txBox="1"/>
          <p:nvPr/>
        </p:nvSpPr>
        <p:spPr>
          <a:xfrm>
            <a:off x="7562849" y="1553510"/>
            <a:ext cx="8191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en-US" sz="16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取：</a:t>
            </a:r>
            <a:endParaRPr lang="en-US" altLang="zh-CN" sz="1600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F2888161-98AE-F800-7A64-98DCA6B43B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423" y="1011837"/>
            <a:ext cx="4754608" cy="1033100"/>
          </a:xfrm>
          <a:prstGeom prst="rect">
            <a:avLst/>
          </a:prstGeom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07323D00-601A-3617-7A80-BAF3F7109ED2}"/>
              </a:ext>
            </a:extLst>
          </p:cNvPr>
          <p:cNvSpPr txBox="1"/>
          <p:nvPr/>
        </p:nvSpPr>
        <p:spPr>
          <a:xfrm>
            <a:off x="943609" y="1125486"/>
            <a:ext cx="4043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Arial" panose="020B0604020202020204" pitchFamily="34" charset="0"/>
              <a:buChar char="•"/>
              <a:defRPr sz="1400" b="0" i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None/>
            </a:pPr>
            <a:r>
              <a:rPr lang="zh-CN" altLang="en-US" sz="2400" b="1" dirty="0"/>
              <a:t>控制律：</a:t>
            </a: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3A245F1C-2B95-E2A3-A99E-35CE24F661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3400" y="1481001"/>
            <a:ext cx="1876425" cy="514350"/>
          </a:xfrm>
          <a:prstGeom prst="rect">
            <a:avLst/>
          </a:prstGeom>
        </p:spPr>
      </p:pic>
      <p:sp>
        <p:nvSpPr>
          <p:cNvPr id="46" name="文本框 45">
            <a:extLst>
              <a:ext uri="{FF2B5EF4-FFF2-40B4-BE49-F238E27FC236}">
                <a16:creationId xmlns:a16="http://schemas.microsoft.com/office/drawing/2014/main" id="{91889AAF-F65F-F23F-D355-6BE974282502}"/>
              </a:ext>
            </a:extLst>
          </p:cNvPr>
          <p:cNvSpPr txBox="1"/>
          <p:nvPr/>
        </p:nvSpPr>
        <p:spPr>
          <a:xfrm>
            <a:off x="1109031" y="5332830"/>
            <a:ext cx="455834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sz="16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✅ </a:t>
            </a:r>
            <a:r>
              <a:rPr lang="zh-CN" altLang="en-US" sz="1600" b="1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r>
              <a:rPr lang="zh-CN" altLang="en-US" sz="16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水位</a:t>
            </a:r>
            <a:r>
              <a:rPr lang="zh-CN" altLang="en-US" sz="1600" b="1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最终精确到达 </a:t>
            </a:r>
            <a:r>
              <a:rPr lang="en-US" altLang="zh-CN" sz="1600" b="1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1.0 m</a:t>
            </a:r>
            <a:r>
              <a:rPr lang="zh-CN" altLang="en-US" sz="16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e=0</a:t>
            </a:r>
            <a:r>
              <a:rPr lang="zh-CN" altLang="en-US" sz="16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sz="16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积分项累积到 </a:t>
            </a:r>
            <a:r>
              <a:rPr lang="en-US" altLang="zh-CN" sz="16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2.0</a:t>
            </a:r>
            <a:r>
              <a:rPr lang="zh-CN" altLang="en-US" sz="16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，刚好让 </a:t>
            </a:r>
            <a:r>
              <a:rPr lang="en-US" altLang="zh-CN" sz="16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u=0.2 </a:t>
            </a:r>
            <a:r>
              <a:rPr lang="zh-CN" altLang="en-US" sz="16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补偿出水</a:t>
            </a:r>
            <a:br>
              <a:rPr lang="zh-CN" altLang="en-US" sz="16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b="0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→ </a:t>
            </a:r>
            <a:r>
              <a:rPr lang="zh-CN" altLang="en-US" sz="1600" b="1" i="0" dirty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稳态误差彻底消除</a:t>
            </a:r>
            <a:endParaRPr lang="zh-CN" altLang="en-US" sz="1600" b="0" i="0" dirty="0">
              <a:solidFill>
                <a:srgbClr val="1D1D1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8F27FE17-C819-0E08-7CF6-BC5034ADA053}"/>
                  </a:ext>
                </a:extLst>
              </p:cNvPr>
              <p:cNvSpPr txBox="1"/>
              <p:nvPr/>
            </p:nvSpPr>
            <p:spPr>
              <a:xfrm>
                <a:off x="6210300" y="5332829"/>
                <a:ext cx="5076825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buNone/>
                </a:pPr>
                <a:r>
                  <a:rPr lang="zh-CN" altLang="en-US" sz="1600" b="1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⚠️ 但注意：</a:t>
                </a:r>
              </a:p>
              <a:p>
                <a:pPr algn="l">
                  <a:buFont typeface="Arial" panose="020B0604020202020204" pitchFamily="34" charset="0"/>
                  <a:buChar char="•"/>
                </a:pP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太大（如 </a:t>
                </a:r>
                <a:r>
                  <a:rPr lang="en-US" altLang="zh-CN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0.5</a:t>
                </a: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），第</a:t>
                </a:r>
                <a:r>
                  <a:rPr lang="en-US" altLang="zh-CN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步后：</a:t>
                </a:r>
                <a:b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→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i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sz="16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i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（超调！）</a:t>
                </a:r>
                <a:b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然后 </a:t>
                </a:r>
                <a:r>
                  <a:rPr lang="en-US" altLang="zh-CN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e=−0.3</a:t>
                </a:r>
                <a:r>
                  <a:rPr lang="zh-CN" altLang="en-US" sz="1600" b="0" i="0" dirty="0">
                    <a:solidFill>
                      <a:srgbClr val="1D1D1F"/>
                    </a:solidFill>
                    <a:effectLst/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，积分开始减，可能振荡。</a:t>
                </a: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8F27FE17-C819-0E08-7CF6-BC5034ADA0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300" y="5332829"/>
                <a:ext cx="5076825" cy="1077218"/>
              </a:xfrm>
              <a:prstGeom prst="rect">
                <a:avLst/>
              </a:prstGeom>
              <a:blipFill>
                <a:blip r:embed="rId5"/>
                <a:stretch>
                  <a:fillRect l="-720" t="-2260" b="-62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9" name="表格 48">
            <a:extLst>
              <a:ext uri="{FF2B5EF4-FFF2-40B4-BE49-F238E27FC236}">
                <a16:creationId xmlns:a16="http://schemas.microsoft.com/office/drawing/2014/main" id="{FD4002B4-70E4-134A-1F73-D09303B730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754412"/>
              </p:ext>
            </p:extLst>
          </p:nvPr>
        </p:nvGraphicFramePr>
        <p:xfrm>
          <a:off x="33336" y="2347000"/>
          <a:ext cx="12125328" cy="251565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133478">
                  <a:extLst>
                    <a:ext uri="{9D8B030D-6E8A-4147-A177-3AD203B41FA5}">
                      <a16:colId xmlns:a16="http://schemas.microsoft.com/office/drawing/2014/main" val="752947154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493990692"/>
                    </a:ext>
                  </a:extLst>
                </a:gridCol>
                <a:gridCol w="1390650">
                  <a:extLst>
                    <a:ext uri="{9D8B030D-6E8A-4147-A177-3AD203B41FA5}">
                      <a16:colId xmlns:a16="http://schemas.microsoft.com/office/drawing/2014/main" val="1931487560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3770077741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1671575104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81213243"/>
                    </a:ext>
                  </a:extLst>
                </a:gridCol>
                <a:gridCol w="1695450">
                  <a:extLst>
                    <a:ext uri="{9D8B030D-6E8A-4147-A177-3AD203B41FA5}">
                      <a16:colId xmlns:a16="http://schemas.microsoft.com/office/drawing/2014/main" val="3303487326"/>
                    </a:ext>
                  </a:extLst>
                </a:gridCol>
                <a:gridCol w="2105025">
                  <a:extLst>
                    <a:ext uri="{9D8B030D-6E8A-4147-A177-3AD203B41FA5}">
                      <a16:colId xmlns:a16="http://schemas.microsoft.com/office/drawing/2014/main" val="1616655456"/>
                    </a:ext>
                  </a:extLst>
                </a:gridCol>
              </a:tblGrid>
              <a:tr h="3452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/>
                        <a:t>阶段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/>
                        <a:t>时间区间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/>
                        <a:t>水位状态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/>
                        <a:t>误差 </a:t>
                      </a:r>
                      <a:r>
                        <a:rPr lang="en-US" sz="1400" b="1" dirty="0"/>
                        <a:t>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 dirty="0"/>
                        <a:t>P </a:t>
                      </a:r>
                      <a:r>
                        <a:rPr lang="zh-CN" altLang="en-US" sz="1400" b="1" dirty="0"/>
                        <a:t>项作用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/>
                        <a:t>I </a:t>
                      </a:r>
                      <a:r>
                        <a:rPr lang="zh-CN" altLang="en-US" sz="1400" b="1"/>
                        <a:t>项作用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/>
                        <a:t>水位变化现象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b="1" dirty="0"/>
                        <a:t>要点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100010827"/>
                  </a:ext>
                </a:extLst>
              </a:tr>
              <a:tr h="493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/>
                        <a:t>① 初始阶段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刚开始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水位很低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/>
                        <a:t>很大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/>
                        <a:t>强</a:t>
                      </a:r>
                      <a:r>
                        <a:rPr lang="zh-CN" altLang="en-US" sz="1400" dirty="0"/>
                        <a:t>：快速加大进水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/>
                        <a:t>很弱：开始几乎为 </a:t>
                      </a:r>
                      <a:r>
                        <a:rPr lang="en-US" altLang="zh-CN" sz="1400" dirty="0"/>
                        <a:t>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/>
                        <a:t>水位快速上升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P </a:t>
                      </a:r>
                      <a:r>
                        <a:rPr lang="zh-CN" altLang="en-US" sz="1400" dirty="0"/>
                        <a:t>项负责“把水位拉起来”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077752424"/>
                  </a:ext>
                </a:extLst>
              </a:tr>
              <a:tr h="493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② 上升阶段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接近目标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水位持续上升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逐渐变小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逐渐减弱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/>
                        <a:t>逐渐积累</a:t>
                      </a:r>
                      <a:endParaRPr lang="zh-CN" altLang="en-US" sz="14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上升速度开始变慢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P </a:t>
                      </a:r>
                      <a:r>
                        <a:rPr lang="zh-CN" altLang="en-US" sz="1400"/>
                        <a:t>项随误差变小而减弱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441811184"/>
                  </a:ext>
                </a:extLst>
              </a:tr>
              <a:tr h="345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③ 接近目标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临近目标水位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水位接近 </a:t>
                      </a:r>
                      <a:r>
                        <a:rPr lang="en-US" altLang="zh-CN" sz="1400"/>
                        <a:t>1.0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很小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很小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已有明显积累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水位继续缓慢上升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积分项开始“托底”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643373669"/>
                  </a:ext>
                </a:extLst>
              </a:tr>
              <a:tr h="4932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④ 到达目标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水位≈目标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水位达到 </a:t>
                      </a:r>
                      <a:r>
                        <a:rPr lang="en-US" altLang="zh-CN" sz="1400"/>
                        <a:t>1.0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≈ </a:t>
                      </a:r>
                      <a:r>
                        <a:rPr lang="en-US" altLang="zh-CN" sz="1400"/>
                        <a:t>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≈ </a:t>
                      </a:r>
                      <a:r>
                        <a:rPr lang="en-US" altLang="zh-CN" sz="1400"/>
                        <a:t>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/>
                        <a:t>保持常数输出</a:t>
                      </a:r>
                      <a:endParaRPr lang="zh-CN" altLang="en-US" sz="14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水位不再明显变化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积分项补偿持续出水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3577643745"/>
                  </a:ext>
                </a:extLst>
              </a:tr>
              <a:tr h="345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/>
                        <a:t>⑤ 稳态维持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t → ∞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水位稳定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0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恒定非零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进水 </a:t>
                      </a:r>
                      <a:r>
                        <a:rPr lang="en-US" altLang="zh-CN" sz="1400"/>
                        <a:t>= </a:t>
                      </a:r>
                      <a:r>
                        <a:rPr lang="zh-CN" altLang="en-US" sz="1400"/>
                        <a:t>出水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 dirty="0"/>
                        <a:t>I </a:t>
                      </a:r>
                      <a:r>
                        <a:rPr lang="zh-CN" altLang="en-US" sz="1400" dirty="0"/>
                        <a:t>项消除稳态误差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24959105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128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4EF9-8226-E505-1F48-91FD7CDBD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3241A31-DCEE-907D-2A76-65E7510E5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通过一个例子理解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0969179-AB0B-C2BD-509C-2404FEF37CC0}"/>
              </a:ext>
            </a:extLst>
          </p:cNvPr>
          <p:cNvSpPr txBox="1"/>
          <p:nvPr/>
        </p:nvSpPr>
        <p:spPr>
          <a:xfrm>
            <a:off x="5200648" y="368441"/>
            <a:ext cx="57150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altLang="zh-CN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 PID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 - “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看现在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“&amp;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”看累积”</a:t>
            </a:r>
            <a:r>
              <a:rPr lang="en-US" altLang="zh-CN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b="1" i="0" dirty="0">
                <a:solidFill>
                  <a:srgbClr val="0F1115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“看趋势”</a:t>
            </a:r>
            <a:endParaRPr lang="en-US" altLang="zh-CN" b="1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09531D37-AA4C-74BE-ECEA-F149669B47ED}"/>
              </a:ext>
            </a:extLst>
          </p:cNvPr>
          <p:cNvSpPr txBox="1"/>
          <p:nvPr/>
        </p:nvSpPr>
        <p:spPr>
          <a:xfrm>
            <a:off x="8033058" y="1318375"/>
            <a:ext cx="8191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400"/>
              </a:spcBef>
              <a:spcAft>
                <a:spcPts val="1200"/>
              </a:spcAft>
              <a:buNone/>
            </a:pPr>
            <a:r>
              <a:rPr lang="zh-CN" altLang="en-US" sz="1600" dirty="0">
                <a:solidFill>
                  <a:srgbClr val="0F11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取：</a:t>
            </a:r>
            <a:endParaRPr lang="en-US" altLang="zh-CN" sz="1600" i="0" dirty="0">
              <a:solidFill>
                <a:srgbClr val="0F1115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3CBA1BBF-F48B-B3B2-0794-91904B8894D2}"/>
              </a:ext>
            </a:extLst>
          </p:cNvPr>
          <p:cNvSpPr txBox="1"/>
          <p:nvPr/>
        </p:nvSpPr>
        <p:spPr>
          <a:xfrm>
            <a:off x="943609" y="1125486"/>
            <a:ext cx="404336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buFont typeface="Arial" panose="020B0604020202020204" pitchFamily="34" charset="0"/>
              <a:buChar char="•"/>
              <a:defRPr sz="1400" b="0" i="0">
                <a:solidFill>
                  <a:srgbClr val="1D1D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buNone/>
            </a:pPr>
            <a:r>
              <a:rPr lang="zh-CN" altLang="en-US" sz="2400" b="1" dirty="0"/>
              <a:t>控制律：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C39478-DFB0-B021-057B-119AC64B62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2175" y="1069346"/>
            <a:ext cx="5605452" cy="82271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20CA861-BF9D-9A51-D2B3-5896216D60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3291" y="1201902"/>
            <a:ext cx="2705100" cy="571500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CC68CE4-FDC1-731D-770C-76F4E306C9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51041"/>
              </p:ext>
            </p:extLst>
          </p:nvPr>
        </p:nvGraphicFramePr>
        <p:xfrm>
          <a:off x="1" y="1993293"/>
          <a:ext cx="12191999" cy="326241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157899">
                  <a:extLst>
                    <a:ext uri="{9D8B030D-6E8A-4147-A177-3AD203B41FA5}">
                      <a16:colId xmlns:a16="http://schemas.microsoft.com/office/drawing/2014/main" val="1483352942"/>
                    </a:ext>
                  </a:extLst>
                </a:gridCol>
                <a:gridCol w="924373">
                  <a:extLst>
                    <a:ext uri="{9D8B030D-6E8A-4147-A177-3AD203B41FA5}">
                      <a16:colId xmlns:a16="http://schemas.microsoft.com/office/drawing/2014/main" val="1806441460"/>
                    </a:ext>
                  </a:extLst>
                </a:gridCol>
                <a:gridCol w="1342774">
                  <a:extLst>
                    <a:ext uri="{9D8B030D-6E8A-4147-A177-3AD203B41FA5}">
                      <a16:colId xmlns:a16="http://schemas.microsoft.com/office/drawing/2014/main" val="2288474101"/>
                    </a:ext>
                  </a:extLst>
                </a:gridCol>
                <a:gridCol w="943833">
                  <a:extLst>
                    <a:ext uri="{9D8B030D-6E8A-4147-A177-3AD203B41FA5}">
                      <a16:colId xmlns:a16="http://schemas.microsoft.com/office/drawing/2014/main" val="511371888"/>
                    </a:ext>
                  </a:extLst>
                </a:gridCol>
                <a:gridCol w="1673602">
                  <a:extLst>
                    <a:ext uri="{9D8B030D-6E8A-4147-A177-3AD203B41FA5}">
                      <a16:colId xmlns:a16="http://schemas.microsoft.com/office/drawing/2014/main" val="1822756411"/>
                    </a:ext>
                  </a:extLst>
                </a:gridCol>
                <a:gridCol w="1303853">
                  <a:extLst>
                    <a:ext uri="{9D8B030D-6E8A-4147-A177-3AD203B41FA5}">
                      <a16:colId xmlns:a16="http://schemas.microsoft.com/office/drawing/2014/main" val="3143182625"/>
                    </a:ext>
                  </a:extLst>
                </a:gridCol>
                <a:gridCol w="1624951">
                  <a:extLst>
                    <a:ext uri="{9D8B030D-6E8A-4147-A177-3AD203B41FA5}">
                      <a16:colId xmlns:a16="http://schemas.microsoft.com/office/drawing/2014/main" val="1029559446"/>
                    </a:ext>
                  </a:extLst>
                </a:gridCol>
                <a:gridCol w="1508188">
                  <a:extLst>
                    <a:ext uri="{9D8B030D-6E8A-4147-A177-3AD203B41FA5}">
                      <a16:colId xmlns:a16="http://schemas.microsoft.com/office/drawing/2014/main" val="2985471062"/>
                    </a:ext>
                  </a:extLst>
                </a:gridCol>
                <a:gridCol w="1712526">
                  <a:extLst>
                    <a:ext uri="{9D8B030D-6E8A-4147-A177-3AD203B41FA5}">
                      <a16:colId xmlns:a16="http://schemas.microsoft.com/office/drawing/2014/main" val="3811927475"/>
                    </a:ext>
                  </a:extLst>
                </a:gridCol>
              </a:tblGrid>
              <a:tr h="4586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阶段</a:t>
                      </a:r>
                    </a:p>
                  </a:txBody>
                  <a:tcPr marL="83680" marR="83680" marT="41840" marB="418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时间区间</a:t>
                      </a:r>
                    </a:p>
                  </a:txBody>
                  <a:tcPr marL="83680" marR="83680" marT="41840" marB="418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水位状态</a:t>
                      </a:r>
                    </a:p>
                  </a:txBody>
                  <a:tcPr marL="83680" marR="83680" marT="41840" marB="418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/>
                        <a:t>误差 </a:t>
                      </a:r>
                      <a:r>
                        <a:rPr lang="en-US" sz="1400"/>
                        <a:t>e</a:t>
                      </a:r>
                    </a:p>
                  </a:txBody>
                  <a:tcPr marL="83680" marR="83680" marT="41840" marB="418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P </a:t>
                      </a:r>
                      <a:r>
                        <a:rPr lang="zh-CN" altLang="en-US" sz="1400" dirty="0"/>
                        <a:t>项作用</a:t>
                      </a:r>
                    </a:p>
                  </a:txBody>
                  <a:tcPr marL="83680" marR="83680" marT="41840" marB="418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I </a:t>
                      </a:r>
                      <a:r>
                        <a:rPr lang="zh-CN" altLang="en-US" sz="1400" dirty="0"/>
                        <a:t>项作用</a:t>
                      </a:r>
                    </a:p>
                  </a:txBody>
                  <a:tcPr marL="83680" marR="83680" marT="41840" marB="418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/>
                        <a:t>D </a:t>
                      </a:r>
                      <a:r>
                        <a:rPr lang="zh-CN" altLang="en-US" sz="1400" dirty="0"/>
                        <a:t>项作用</a:t>
                      </a:r>
                    </a:p>
                  </a:txBody>
                  <a:tcPr marL="83680" marR="83680" marT="41840" marB="418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水位变化现象</a:t>
                      </a:r>
                    </a:p>
                  </a:txBody>
                  <a:tcPr marL="83680" marR="83680" marT="41840" marB="4184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400" dirty="0"/>
                        <a:t>教学要点</a:t>
                      </a:r>
                    </a:p>
                  </a:txBody>
                  <a:tcPr marL="83680" marR="83680" marT="41840" marB="4184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5335317"/>
                  </a:ext>
                </a:extLst>
              </a:tr>
              <a:tr h="510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① 初始阶段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刚开始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水位很低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很大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/>
                        <a:t>强</a:t>
                      </a:r>
                      <a:r>
                        <a:rPr lang="zh-CN" altLang="en-US" sz="1400"/>
                        <a:t>：快速加大进水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很弱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对变化不敏感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水位快速上升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P </a:t>
                      </a:r>
                      <a:r>
                        <a:rPr lang="zh-CN" altLang="en-US" sz="1400"/>
                        <a:t>项仍是“起跑主力”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445204677"/>
                  </a:ext>
                </a:extLst>
              </a:tr>
              <a:tr h="458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② 加速上升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早期上升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水位快速上升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较大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较强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开始积累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/>
                        <a:t>开始感知上升速度</a:t>
                      </a:r>
                      <a:endParaRPr lang="zh-CN" altLang="en-US" sz="14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上升很快但可控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D </a:t>
                      </a:r>
                      <a:r>
                        <a:rPr lang="zh-CN" altLang="en-US" sz="1400"/>
                        <a:t>项开始“盯速度”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182467846"/>
                  </a:ext>
                </a:extLst>
              </a:tr>
              <a:tr h="458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③ 接近目标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临近目标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水位接近 </a:t>
                      </a:r>
                      <a:r>
                        <a:rPr lang="en-US" altLang="zh-CN" sz="1400"/>
                        <a:t>1.0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变小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明显减弱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已有积累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/>
                        <a:t>提前抑制上升趋势</a:t>
                      </a:r>
                      <a:endParaRPr lang="zh-CN" altLang="en-US" sz="14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上升明显减速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D </a:t>
                      </a:r>
                      <a:r>
                        <a:rPr lang="zh-CN" altLang="en-US" sz="1400"/>
                        <a:t>项开始“踩刹车”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278137393"/>
                  </a:ext>
                </a:extLst>
              </a:tr>
              <a:tr h="458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④ 到达目标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即将到达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水位接近目标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很小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很小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持续存在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/>
                        <a:t>显著抑制超调</a:t>
                      </a:r>
                      <a:endParaRPr lang="zh-CN" altLang="en-US" sz="14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几乎不冲过目标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 </a:t>
                      </a:r>
                      <a:r>
                        <a:rPr lang="zh-CN" altLang="en-US" sz="1400"/>
                        <a:t>项抑制超调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3771288635"/>
                  </a:ext>
                </a:extLst>
              </a:tr>
              <a:tr h="458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⑤ 稳态建立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水位稳定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水位≈</a:t>
                      </a:r>
                      <a:r>
                        <a:rPr lang="en-US" altLang="zh-CN" sz="1400"/>
                        <a:t>1.0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400"/>
                        <a:t>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/>
                        <a:t>维持恒定输出</a:t>
                      </a:r>
                      <a:endParaRPr lang="zh-CN" altLang="en-US" sz="140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≈ </a:t>
                      </a:r>
                      <a:r>
                        <a:rPr lang="en-US" altLang="zh-CN" sz="1400"/>
                        <a:t>0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水位稳定不振荡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 </a:t>
                      </a:r>
                      <a:r>
                        <a:rPr lang="zh-CN" altLang="en-US" sz="1400"/>
                        <a:t>项托底、</a:t>
                      </a:r>
                      <a:r>
                        <a:rPr lang="en-US" sz="1400"/>
                        <a:t>D </a:t>
                      </a:r>
                      <a:r>
                        <a:rPr lang="zh-CN" altLang="en-US" sz="1400"/>
                        <a:t>项退出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927586934"/>
                  </a:ext>
                </a:extLst>
              </a:tr>
              <a:tr h="4586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⑥ 抗扰动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稳态之后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外界扰动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突然变化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dirty="0"/>
                        <a:t>立即反应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缓慢修正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 b="1" dirty="0"/>
                        <a:t>快速响应变化趋势</a:t>
                      </a:r>
                      <a:endParaRPr lang="zh-CN" altLang="en-US" sz="1400" dirty="0"/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400"/>
                        <a:t>水位快速回稳</a:t>
                      </a:r>
                    </a:p>
                  </a:txBody>
                  <a:tcPr marL="83680" marR="83680" marT="41840" marB="4184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PID </a:t>
                      </a:r>
                      <a:r>
                        <a:rPr lang="zh-CN" altLang="en-US" sz="1400" dirty="0"/>
                        <a:t>协同工作</a:t>
                      </a:r>
                    </a:p>
                  </a:txBody>
                  <a:tcPr marL="83680" marR="83680" marT="41840" marB="41840" anchor="ctr"/>
                </a:tc>
                <a:extLst>
                  <a:ext uri="{0D108BD9-81ED-4DB2-BD59-A6C34878D82A}">
                    <a16:rowId xmlns:a16="http://schemas.microsoft.com/office/drawing/2014/main" val="1491917538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6DFB8FB4-2D86-CA22-3EB5-73F45D7B1897}"/>
              </a:ext>
            </a:extLst>
          </p:cNvPr>
          <p:cNvSpPr txBox="1"/>
          <p:nvPr/>
        </p:nvSpPr>
        <p:spPr>
          <a:xfrm>
            <a:off x="359569" y="5559875"/>
            <a:ext cx="28217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P</a:t>
            </a:r>
            <a:r>
              <a:rPr lang="zh-CN" altLang="en-US" b="1" dirty="0"/>
              <a:t>：决定“拉不拉得上来”</a:t>
            </a:r>
            <a:br>
              <a:rPr lang="zh-CN" altLang="en-US" dirty="0"/>
            </a:br>
            <a:r>
              <a:rPr lang="en-US" altLang="zh-CN" b="1" dirty="0"/>
              <a:t>I</a:t>
            </a:r>
            <a:r>
              <a:rPr lang="zh-CN" altLang="en-US" b="1" dirty="0"/>
              <a:t>： 决定“站不站得住”</a:t>
            </a:r>
            <a:br>
              <a:rPr lang="zh-CN" altLang="en-US" dirty="0"/>
            </a:br>
            <a:r>
              <a:rPr lang="en-US" altLang="zh-CN" b="1" dirty="0"/>
              <a:t>D</a:t>
            </a:r>
            <a:r>
              <a:rPr lang="zh-CN" altLang="en-US" b="1" dirty="0"/>
              <a:t>：决定“冲不冲过头”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265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715F-63FE-6F61-0F73-8CA636393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06492E2-8391-BB84-0BF6-CF9F25B54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  <a:r>
              <a:rPr lang="en-US" altLang="zh-CN" dirty="0"/>
              <a:t>——PID </a:t>
            </a:r>
            <a:r>
              <a:rPr lang="zh-CN" altLang="en-US" dirty="0"/>
              <a:t>是什么？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507B09B-4881-6919-BEEE-B9D3BFA44ABE}"/>
              </a:ext>
            </a:extLst>
          </p:cNvPr>
          <p:cNvSpPr txBox="1"/>
          <p:nvPr/>
        </p:nvSpPr>
        <p:spPr>
          <a:xfrm>
            <a:off x="942977" y="1068981"/>
            <a:ext cx="44577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PID </a:t>
            </a:r>
            <a:r>
              <a:rPr lang="zh-CN" altLang="en-US" b="1" dirty="0"/>
              <a:t>不是一个公式，是三个“思路”的组合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01693FD6-28F4-BEF8-DDEA-E442B7282E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015" y="2604308"/>
            <a:ext cx="7515225" cy="344857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309C9E6B-2247-37F8-7447-E98CC55343E4}"/>
              </a:ext>
            </a:extLst>
          </p:cNvPr>
          <p:cNvSpPr txBox="1"/>
          <p:nvPr/>
        </p:nvSpPr>
        <p:spPr>
          <a:xfrm>
            <a:off x="2333625" y="2604308"/>
            <a:ext cx="27051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比例，</a:t>
            </a:r>
            <a:r>
              <a:rPr lang="en-US" altLang="zh-CN" dirty="0"/>
              <a:t>Proportional</a:t>
            </a:r>
          </a:p>
          <a:p>
            <a:r>
              <a:rPr lang="zh-CN" altLang="en-US" dirty="0"/>
              <a:t>积分，</a:t>
            </a:r>
            <a:r>
              <a:rPr lang="en-US" altLang="zh-CN" dirty="0"/>
              <a:t>Integral</a:t>
            </a:r>
          </a:p>
          <a:p>
            <a:r>
              <a:rPr lang="zh-CN" altLang="en-US" dirty="0"/>
              <a:t>微分，</a:t>
            </a:r>
            <a:r>
              <a:rPr lang="en-US" altLang="zh-CN" dirty="0"/>
              <a:t>Derivative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CAB51F28-3FBE-6921-7FCF-19E5F4F0B1BD}"/>
              </a:ext>
            </a:extLst>
          </p:cNvPr>
          <p:cNvSpPr txBox="1"/>
          <p:nvPr/>
        </p:nvSpPr>
        <p:spPr>
          <a:xfrm>
            <a:off x="219760" y="2604308"/>
            <a:ext cx="22625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当前差多少？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过去一直差吗？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未来会不会超？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985C7870-9ACF-4CD9-A1FC-1FCFB6574F4E}"/>
              </a:ext>
            </a:extLst>
          </p:cNvPr>
          <p:cNvSpPr txBox="1"/>
          <p:nvPr/>
        </p:nvSpPr>
        <p:spPr>
          <a:xfrm>
            <a:off x="219760" y="3820761"/>
            <a:ext cx="3808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微分是误差的变化率，现在正在发生的变化速度，速度和未来相关</a:t>
            </a:r>
            <a:endParaRPr lang="zh-CN" altLang="en-US" dirty="0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25485F97-52D5-2DD2-E7A6-AA649A02D8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8215" y="1047351"/>
            <a:ext cx="5354025" cy="155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390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66071C5-AB2F-24FA-038E-C8B59E561172}"/>
              </a:ext>
            </a:extLst>
          </p:cNvPr>
          <p:cNvSpPr/>
          <p:nvPr/>
        </p:nvSpPr>
        <p:spPr>
          <a:xfrm>
            <a:off x="-15720" y="0"/>
            <a:ext cx="12207720" cy="6858000"/>
          </a:xfrm>
          <a:prstGeom prst="rect">
            <a:avLst/>
          </a:prstGeom>
          <a:solidFill>
            <a:srgbClr val="9D9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 txBox="1"/>
          <p:nvPr/>
        </p:nvSpPr>
        <p:spPr>
          <a:xfrm>
            <a:off x="422275" y="590414"/>
            <a:ext cx="11347450" cy="5397772"/>
          </a:xfrm>
          <a:custGeom>
            <a:avLst/>
            <a:gdLst>
              <a:gd name="connsiteX0" fmla="*/ 208098 w 10858500"/>
              <a:gd name="connsiteY0" fmla="*/ 0 h 4787900"/>
              <a:gd name="connsiteX1" fmla="*/ 10858500 w 10858500"/>
              <a:gd name="connsiteY1" fmla="*/ 0 h 4787900"/>
              <a:gd name="connsiteX2" fmla="*/ 10858500 w 10858500"/>
              <a:gd name="connsiteY2" fmla="*/ 4787900 h 4787900"/>
              <a:gd name="connsiteX3" fmla="*/ 208098 w 10858500"/>
              <a:gd name="connsiteY3" fmla="*/ 4787900 h 4787900"/>
              <a:gd name="connsiteX4" fmla="*/ 0 w 10858500"/>
              <a:gd name="connsiteY4" fmla="*/ 4579802 h 4787900"/>
              <a:gd name="connsiteX5" fmla="*/ 0 w 10858500"/>
              <a:gd name="connsiteY5" fmla="*/ 3310380 h 4787900"/>
              <a:gd name="connsiteX6" fmla="*/ 95250 w 10858500"/>
              <a:gd name="connsiteY6" fmla="*/ 3244635 h 4787900"/>
              <a:gd name="connsiteX7" fmla="*/ 95250 w 10858500"/>
              <a:gd name="connsiteY7" fmla="*/ 1543265 h 4787900"/>
              <a:gd name="connsiteX8" fmla="*/ 0 w 10858500"/>
              <a:gd name="connsiteY8" fmla="*/ 1477520 h 4787900"/>
              <a:gd name="connsiteX9" fmla="*/ 0 w 10858500"/>
              <a:gd name="connsiteY9" fmla="*/ 208098 h 4787900"/>
            </a:gdLst>
            <a:ahLst/>
            <a:cxnLst/>
            <a:rect l="l" t="t" r="r" b="b"/>
            <a:pathLst>
              <a:path w="10858500" h="4787900">
                <a:moveTo>
                  <a:pt x="208098" y="0"/>
                </a:moveTo>
                <a:lnTo>
                  <a:pt x="10858500" y="0"/>
                </a:lnTo>
                <a:lnTo>
                  <a:pt x="10858500" y="4787900"/>
                </a:lnTo>
                <a:lnTo>
                  <a:pt x="208098" y="4787900"/>
                </a:lnTo>
                <a:lnTo>
                  <a:pt x="0" y="4579802"/>
                </a:lnTo>
                <a:lnTo>
                  <a:pt x="0" y="3310380"/>
                </a:lnTo>
                <a:lnTo>
                  <a:pt x="95250" y="3244635"/>
                </a:lnTo>
                <a:lnTo>
                  <a:pt x="95250" y="1543265"/>
                </a:lnTo>
                <a:lnTo>
                  <a:pt x="0" y="1477520"/>
                </a:lnTo>
                <a:lnTo>
                  <a:pt x="0" y="20809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sq">
            <a:gradFill>
              <a:gsLst>
                <a:gs pos="0">
                  <a:schemeClr val="accent1"/>
                </a:gs>
                <a:gs pos="100000">
                  <a:schemeClr val="accent1">
                    <a:lumMod val="75000"/>
                    <a:alpha val="0"/>
                  </a:schemeClr>
                </a:gs>
              </a:gsLst>
              <a:lin ang="0" scaled="0"/>
            </a:gradFill>
            <a:miter/>
          </a:ln>
          <a:effectLst>
            <a:outerShdw blurRad="190500" algn="ctr" rotWithShape="0">
              <a:schemeClr val="accent1">
                <a:alpha val="7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6" name="标题 1"/>
          <p:cNvSpPr txBox="1"/>
          <p:nvPr/>
        </p:nvSpPr>
        <p:spPr>
          <a:xfrm>
            <a:off x="303423" y="4650607"/>
            <a:ext cx="251257" cy="7747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0" name="标题 1"/>
          <p:cNvSpPr txBox="1"/>
          <p:nvPr/>
        </p:nvSpPr>
        <p:spPr>
          <a:xfrm>
            <a:off x="9176313" y="473074"/>
            <a:ext cx="2614572" cy="2994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6350" cap="sq">
            <a:solidFill>
              <a:schemeClr val="bg1">
                <a:lumMod val="85000"/>
              </a:schemeClr>
            </a:solidFill>
            <a:miter/>
          </a:ln>
          <a:effectLst>
            <a:outerShdw blurRad="63500" sx="102000" sy="102000" algn="ctr" rotWithShape="0">
              <a:schemeClr val="accent1">
                <a:alpha val="40000"/>
              </a:schemeClr>
            </a:outerShdw>
          </a:effectLst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1" name="标题 1"/>
          <p:cNvSpPr txBox="1"/>
          <p:nvPr/>
        </p:nvSpPr>
        <p:spPr>
          <a:xfrm>
            <a:off x="1019429" y="5544688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12" name="标题 1"/>
          <p:cNvSpPr txBox="1"/>
          <p:nvPr/>
        </p:nvSpPr>
        <p:spPr>
          <a:xfrm rot="16200000">
            <a:off x="10853056" y="4936511"/>
            <a:ext cx="1783010" cy="175260"/>
          </a:xfrm>
          <a:custGeom>
            <a:avLst/>
            <a:gdLst>
              <a:gd name="connsiteX0" fmla="*/ 1685474 w 1783010"/>
              <a:gd name="connsiteY0" fmla="*/ 0 h 175260"/>
              <a:gd name="connsiteX1" fmla="*/ 1783010 w 1783010"/>
              <a:gd name="connsiteY1" fmla="*/ 0 h 175260"/>
              <a:gd name="connsiteX2" fmla="*/ 1717986 w 1783010"/>
              <a:gd name="connsiteY2" fmla="*/ 175260 h 175260"/>
              <a:gd name="connsiteX3" fmla="*/ 1620450 w 1783010"/>
              <a:gd name="connsiteY3" fmla="*/ 175260 h 175260"/>
              <a:gd name="connsiteX4" fmla="*/ 1523429 w 1783010"/>
              <a:gd name="connsiteY4" fmla="*/ 0 h 175260"/>
              <a:gd name="connsiteX5" fmla="*/ 1620965 w 1783010"/>
              <a:gd name="connsiteY5" fmla="*/ 0 h 175260"/>
              <a:gd name="connsiteX6" fmla="*/ 1555941 w 1783010"/>
              <a:gd name="connsiteY6" fmla="*/ 175260 h 175260"/>
              <a:gd name="connsiteX7" fmla="*/ 1458405 w 1783010"/>
              <a:gd name="connsiteY7" fmla="*/ 175260 h 175260"/>
              <a:gd name="connsiteX8" fmla="*/ 1361384 w 1783010"/>
              <a:gd name="connsiteY8" fmla="*/ 0 h 175260"/>
              <a:gd name="connsiteX9" fmla="*/ 1458920 w 1783010"/>
              <a:gd name="connsiteY9" fmla="*/ 0 h 175260"/>
              <a:gd name="connsiteX10" fmla="*/ 1393896 w 1783010"/>
              <a:gd name="connsiteY10" fmla="*/ 175260 h 175260"/>
              <a:gd name="connsiteX11" fmla="*/ 1296360 w 1783010"/>
              <a:gd name="connsiteY11" fmla="*/ 175260 h 175260"/>
              <a:gd name="connsiteX12" fmla="*/ 1199339 w 1783010"/>
              <a:gd name="connsiteY12" fmla="*/ 0 h 175260"/>
              <a:gd name="connsiteX13" fmla="*/ 1296875 w 1783010"/>
              <a:gd name="connsiteY13" fmla="*/ 0 h 175260"/>
              <a:gd name="connsiteX14" fmla="*/ 1231851 w 1783010"/>
              <a:gd name="connsiteY14" fmla="*/ 175260 h 175260"/>
              <a:gd name="connsiteX15" fmla="*/ 1134315 w 1783010"/>
              <a:gd name="connsiteY15" fmla="*/ 175260 h 175260"/>
              <a:gd name="connsiteX16" fmla="*/ 1037294 w 1783010"/>
              <a:gd name="connsiteY16" fmla="*/ 0 h 175260"/>
              <a:gd name="connsiteX17" fmla="*/ 1134830 w 1783010"/>
              <a:gd name="connsiteY17" fmla="*/ 0 h 175260"/>
              <a:gd name="connsiteX18" fmla="*/ 1069806 w 1783010"/>
              <a:gd name="connsiteY18" fmla="*/ 175260 h 175260"/>
              <a:gd name="connsiteX19" fmla="*/ 972270 w 1783010"/>
              <a:gd name="connsiteY19" fmla="*/ 175260 h 175260"/>
              <a:gd name="connsiteX20" fmla="*/ 875249 w 1783010"/>
              <a:gd name="connsiteY20" fmla="*/ 0 h 175260"/>
              <a:gd name="connsiteX21" fmla="*/ 972785 w 1783010"/>
              <a:gd name="connsiteY21" fmla="*/ 0 h 175260"/>
              <a:gd name="connsiteX22" fmla="*/ 907761 w 1783010"/>
              <a:gd name="connsiteY22" fmla="*/ 175260 h 175260"/>
              <a:gd name="connsiteX23" fmla="*/ 810225 w 1783010"/>
              <a:gd name="connsiteY23" fmla="*/ 175260 h 175260"/>
              <a:gd name="connsiteX24" fmla="*/ 713204 w 1783010"/>
              <a:gd name="connsiteY24" fmla="*/ 0 h 175260"/>
              <a:gd name="connsiteX25" fmla="*/ 810740 w 1783010"/>
              <a:gd name="connsiteY25" fmla="*/ 0 h 175260"/>
              <a:gd name="connsiteX26" fmla="*/ 745716 w 1783010"/>
              <a:gd name="connsiteY26" fmla="*/ 175260 h 175260"/>
              <a:gd name="connsiteX27" fmla="*/ 648180 w 1783010"/>
              <a:gd name="connsiteY27" fmla="*/ 175260 h 175260"/>
              <a:gd name="connsiteX28" fmla="*/ 551159 w 1783010"/>
              <a:gd name="connsiteY28" fmla="*/ 0 h 175260"/>
              <a:gd name="connsiteX29" fmla="*/ 648695 w 1783010"/>
              <a:gd name="connsiteY29" fmla="*/ 0 h 175260"/>
              <a:gd name="connsiteX30" fmla="*/ 583671 w 1783010"/>
              <a:gd name="connsiteY30" fmla="*/ 175260 h 175260"/>
              <a:gd name="connsiteX31" fmla="*/ 486135 w 1783010"/>
              <a:gd name="connsiteY31" fmla="*/ 175260 h 175260"/>
              <a:gd name="connsiteX32" fmla="*/ 389114 w 1783010"/>
              <a:gd name="connsiteY32" fmla="*/ 0 h 175260"/>
              <a:gd name="connsiteX33" fmla="*/ 486650 w 1783010"/>
              <a:gd name="connsiteY33" fmla="*/ 0 h 175260"/>
              <a:gd name="connsiteX34" fmla="*/ 421626 w 1783010"/>
              <a:gd name="connsiteY34" fmla="*/ 175260 h 175260"/>
              <a:gd name="connsiteX35" fmla="*/ 324090 w 1783010"/>
              <a:gd name="connsiteY35" fmla="*/ 175260 h 175260"/>
              <a:gd name="connsiteX36" fmla="*/ 227069 w 1783010"/>
              <a:gd name="connsiteY36" fmla="*/ 0 h 175260"/>
              <a:gd name="connsiteX37" fmla="*/ 324605 w 1783010"/>
              <a:gd name="connsiteY37" fmla="*/ 0 h 175260"/>
              <a:gd name="connsiteX38" fmla="*/ 259581 w 1783010"/>
              <a:gd name="connsiteY38" fmla="*/ 175260 h 175260"/>
              <a:gd name="connsiteX39" fmla="*/ 162045 w 1783010"/>
              <a:gd name="connsiteY39" fmla="*/ 175260 h 175260"/>
              <a:gd name="connsiteX40" fmla="*/ 65024 w 1783010"/>
              <a:gd name="connsiteY40" fmla="*/ 0 h 175260"/>
              <a:gd name="connsiteX41" fmla="*/ 162560 w 1783010"/>
              <a:gd name="connsiteY41" fmla="*/ 0 h 175260"/>
              <a:gd name="connsiteX42" fmla="*/ 97536 w 1783010"/>
              <a:gd name="connsiteY42" fmla="*/ 175260 h 175260"/>
              <a:gd name="connsiteX43" fmla="*/ 0 w 1783010"/>
              <a:gd name="connsiteY43" fmla="*/ 175260 h 175260"/>
            </a:gdLst>
            <a:ahLst/>
            <a:cxnLst/>
            <a:rect l="l" t="t" r="r" b="b"/>
            <a:pathLst>
              <a:path w="1783010" h="175260">
                <a:moveTo>
                  <a:pt x="1685474" y="0"/>
                </a:moveTo>
                <a:lnTo>
                  <a:pt x="1783010" y="0"/>
                </a:lnTo>
                <a:lnTo>
                  <a:pt x="1717986" y="175260"/>
                </a:lnTo>
                <a:lnTo>
                  <a:pt x="1620450" y="175260"/>
                </a:lnTo>
                <a:close/>
                <a:moveTo>
                  <a:pt x="1523429" y="0"/>
                </a:moveTo>
                <a:lnTo>
                  <a:pt x="1620965" y="0"/>
                </a:lnTo>
                <a:lnTo>
                  <a:pt x="1555941" y="175260"/>
                </a:lnTo>
                <a:lnTo>
                  <a:pt x="1458405" y="175260"/>
                </a:lnTo>
                <a:close/>
                <a:moveTo>
                  <a:pt x="1361384" y="0"/>
                </a:moveTo>
                <a:lnTo>
                  <a:pt x="1458920" y="0"/>
                </a:lnTo>
                <a:lnTo>
                  <a:pt x="1393896" y="175260"/>
                </a:lnTo>
                <a:lnTo>
                  <a:pt x="1296360" y="175260"/>
                </a:lnTo>
                <a:close/>
                <a:moveTo>
                  <a:pt x="1199339" y="0"/>
                </a:moveTo>
                <a:lnTo>
                  <a:pt x="1296875" y="0"/>
                </a:lnTo>
                <a:lnTo>
                  <a:pt x="1231851" y="175260"/>
                </a:lnTo>
                <a:lnTo>
                  <a:pt x="1134315" y="175260"/>
                </a:lnTo>
                <a:close/>
                <a:moveTo>
                  <a:pt x="1037294" y="0"/>
                </a:moveTo>
                <a:lnTo>
                  <a:pt x="1134830" y="0"/>
                </a:lnTo>
                <a:lnTo>
                  <a:pt x="1069806" y="175260"/>
                </a:lnTo>
                <a:lnTo>
                  <a:pt x="972270" y="175260"/>
                </a:lnTo>
                <a:close/>
                <a:moveTo>
                  <a:pt x="875249" y="0"/>
                </a:moveTo>
                <a:lnTo>
                  <a:pt x="972785" y="0"/>
                </a:lnTo>
                <a:lnTo>
                  <a:pt x="907761" y="175260"/>
                </a:lnTo>
                <a:lnTo>
                  <a:pt x="810225" y="175260"/>
                </a:lnTo>
                <a:close/>
                <a:moveTo>
                  <a:pt x="713204" y="0"/>
                </a:moveTo>
                <a:lnTo>
                  <a:pt x="810740" y="0"/>
                </a:lnTo>
                <a:lnTo>
                  <a:pt x="745716" y="175260"/>
                </a:lnTo>
                <a:lnTo>
                  <a:pt x="648180" y="175260"/>
                </a:lnTo>
                <a:close/>
                <a:moveTo>
                  <a:pt x="551159" y="0"/>
                </a:moveTo>
                <a:lnTo>
                  <a:pt x="648695" y="0"/>
                </a:lnTo>
                <a:lnTo>
                  <a:pt x="583671" y="175260"/>
                </a:lnTo>
                <a:lnTo>
                  <a:pt x="486135" y="175260"/>
                </a:lnTo>
                <a:close/>
                <a:moveTo>
                  <a:pt x="389114" y="0"/>
                </a:moveTo>
                <a:lnTo>
                  <a:pt x="486650" y="0"/>
                </a:lnTo>
                <a:lnTo>
                  <a:pt x="421626" y="175260"/>
                </a:lnTo>
                <a:lnTo>
                  <a:pt x="324090" y="175260"/>
                </a:lnTo>
                <a:close/>
                <a:moveTo>
                  <a:pt x="227069" y="0"/>
                </a:moveTo>
                <a:lnTo>
                  <a:pt x="324605" y="0"/>
                </a:lnTo>
                <a:lnTo>
                  <a:pt x="259581" y="175260"/>
                </a:lnTo>
                <a:lnTo>
                  <a:pt x="162045" y="175260"/>
                </a:lnTo>
                <a:close/>
                <a:moveTo>
                  <a:pt x="65024" y="0"/>
                </a:moveTo>
                <a:lnTo>
                  <a:pt x="162560" y="0"/>
                </a:lnTo>
                <a:lnTo>
                  <a:pt x="97536" y="175260"/>
                </a:lnTo>
                <a:lnTo>
                  <a:pt x="0" y="17526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6757549" y="1428253"/>
            <a:ext cx="4576068" cy="1103396"/>
            <a:chOff x="6757549" y="1428253"/>
            <a:chExt cx="4576068" cy="1103396"/>
          </a:xfrm>
        </p:grpSpPr>
        <p:sp>
          <p:nvSpPr>
            <p:cNvPr id="14" name="标题 1"/>
            <p:cNvSpPr txBox="1"/>
            <p:nvPr/>
          </p:nvSpPr>
          <p:spPr>
            <a:xfrm flipH="1">
              <a:off x="7693737" y="2180220"/>
              <a:ext cx="2313484" cy="278881"/>
            </a:xfrm>
            <a:custGeom>
              <a:avLst/>
              <a:gdLst>
                <a:gd name="connsiteX0" fmla="*/ 0 w 2417974"/>
                <a:gd name="connsiteY0" fmla="*/ 0 h 432722"/>
                <a:gd name="connsiteX1" fmla="*/ 1343899 w 2417974"/>
                <a:gd name="connsiteY1" fmla="*/ 0 h 432722"/>
                <a:gd name="connsiteX2" fmla="*/ 1776622 w 2417974"/>
                <a:gd name="connsiteY2" fmla="*/ 432722 h 432722"/>
                <a:gd name="connsiteX3" fmla="*/ 2417975 w 2417974"/>
                <a:gd name="connsiteY3" fmla="*/ 432722 h 432722"/>
              </a:gdLst>
              <a:ahLst/>
              <a:cxnLst/>
              <a:rect l="l" t="t" r="r" b="b"/>
              <a:pathLst>
                <a:path w="2417974" h="432722">
                  <a:moveTo>
                    <a:pt x="0" y="0"/>
                  </a:moveTo>
                  <a:lnTo>
                    <a:pt x="1343899" y="0"/>
                  </a:lnTo>
                  <a:lnTo>
                    <a:pt x="1776622" y="432722"/>
                  </a:lnTo>
                  <a:lnTo>
                    <a:pt x="2417975" y="432722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5" name="标题 1"/>
            <p:cNvSpPr txBox="1"/>
            <p:nvPr/>
          </p:nvSpPr>
          <p:spPr>
            <a:xfrm flipH="1">
              <a:off x="7648792" y="2432309"/>
              <a:ext cx="46644" cy="50600"/>
            </a:xfrm>
            <a:custGeom>
              <a:avLst/>
              <a:gdLst>
                <a:gd name="connsiteX0" fmla="*/ 11498 w 78513"/>
                <a:gd name="connsiteY0" fmla="*/ 67015 h 78513"/>
                <a:gd name="connsiteX1" fmla="*/ 67015 w 78513"/>
                <a:gd name="connsiteY1" fmla="*/ 67015 h 78513"/>
                <a:gd name="connsiteX2" fmla="*/ 67015 w 78513"/>
                <a:gd name="connsiteY2" fmla="*/ 11498 h 78513"/>
                <a:gd name="connsiteX3" fmla="*/ 11498 w 78513"/>
                <a:gd name="connsiteY3" fmla="*/ 11498 h 78513"/>
                <a:gd name="connsiteX4" fmla="*/ 11498 w 78513"/>
                <a:gd name="connsiteY4" fmla="*/ 67015 h 78513"/>
              </a:gdLst>
              <a:ahLst/>
              <a:cxnLst/>
              <a:rect l="l" t="t" r="r" b="b"/>
              <a:pathLst>
                <a:path w="78513" h="78513">
                  <a:moveTo>
                    <a:pt x="11498" y="67015"/>
                  </a:moveTo>
                  <a:cubicBezTo>
                    <a:pt x="26829" y="82346"/>
                    <a:pt x="51685" y="82346"/>
                    <a:pt x="67015" y="67015"/>
                  </a:cubicBezTo>
                  <a:cubicBezTo>
                    <a:pt x="82347" y="51685"/>
                    <a:pt x="82347" y="26829"/>
                    <a:pt x="67015" y="11498"/>
                  </a:cubicBezTo>
                  <a:cubicBezTo>
                    <a:pt x="51685" y="-3833"/>
                    <a:pt x="26829" y="-3833"/>
                    <a:pt x="11498" y="11498"/>
                  </a:cubicBezTo>
                  <a:cubicBezTo>
                    <a:pt x="-3833" y="26829"/>
                    <a:pt x="-3833" y="51685"/>
                    <a:pt x="11498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6" name="标题 1"/>
            <p:cNvSpPr txBox="1"/>
            <p:nvPr/>
          </p:nvSpPr>
          <p:spPr>
            <a:xfrm flipH="1">
              <a:off x="9020071" y="1428253"/>
              <a:ext cx="2313546" cy="278839"/>
            </a:xfrm>
            <a:custGeom>
              <a:avLst/>
              <a:gdLst>
                <a:gd name="connsiteX0" fmla="*/ 0 w 2418039"/>
                <a:gd name="connsiteY0" fmla="*/ 0 h 432656"/>
                <a:gd name="connsiteX1" fmla="*/ 1343899 w 2418039"/>
                <a:gd name="connsiteY1" fmla="*/ 0 h 432656"/>
                <a:gd name="connsiteX2" fmla="*/ 1776622 w 2418039"/>
                <a:gd name="connsiteY2" fmla="*/ 432657 h 432656"/>
                <a:gd name="connsiteX3" fmla="*/ 2418040 w 2418039"/>
                <a:gd name="connsiteY3" fmla="*/ 432657 h 432656"/>
              </a:gdLst>
              <a:ahLst/>
              <a:cxnLst/>
              <a:rect l="l" t="t" r="r" b="b"/>
              <a:pathLst>
                <a:path w="2418039" h="432656">
                  <a:moveTo>
                    <a:pt x="0" y="0"/>
                  </a:moveTo>
                  <a:lnTo>
                    <a:pt x="1343899" y="0"/>
                  </a:lnTo>
                  <a:lnTo>
                    <a:pt x="1776622" y="432657"/>
                  </a:lnTo>
                  <a:lnTo>
                    <a:pt x="2418040" y="432657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7" name="标题 1"/>
            <p:cNvSpPr txBox="1"/>
            <p:nvPr/>
          </p:nvSpPr>
          <p:spPr>
            <a:xfrm flipH="1">
              <a:off x="8975134" y="1680300"/>
              <a:ext cx="46674" cy="50600"/>
            </a:xfrm>
            <a:custGeom>
              <a:avLst/>
              <a:gdLst>
                <a:gd name="connsiteX0" fmla="*/ 11547 w 78562"/>
                <a:gd name="connsiteY0" fmla="*/ 67015 h 78513"/>
                <a:gd name="connsiteX1" fmla="*/ 67064 w 78562"/>
                <a:gd name="connsiteY1" fmla="*/ 67015 h 78513"/>
                <a:gd name="connsiteX2" fmla="*/ 67064 w 78562"/>
                <a:gd name="connsiteY2" fmla="*/ 11498 h 78513"/>
                <a:gd name="connsiteX3" fmla="*/ 11547 w 78562"/>
                <a:gd name="connsiteY3" fmla="*/ 11498 h 78513"/>
                <a:gd name="connsiteX4" fmla="*/ 11547 w 78562"/>
                <a:gd name="connsiteY4" fmla="*/ 67015 h 78513"/>
              </a:gdLst>
              <a:ahLst/>
              <a:cxnLst/>
              <a:rect l="l" t="t" r="r" b="b"/>
              <a:pathLst>
                <a:path w="78562" h="78513">
                  <a:moveTo>
                    <a:pt x="11547" y="67015"/>
                  </a:moveTo>
                  <a:cubicBezTo>
                    <a:pt x="26878" y="82346"/>
                    <a:pt x="51734" y="82346"/>
                    <a:pt x="67064" y="67015"/>
                  </a:cubicBezTo>
                  <a:cubicBezTo>
                    <a:pt x="82396" y="51685"/>
                    <a:pt x="82396" y="26829"/>
                    <a:pt x="67064" y="11498"/>
                  </a:cubicBezTo>
                  <a:cubicBezTo>
                    <a:pt x="51734" y="-3833"/>
                    <a:pt x="26878" y="-3833"/>
                    <a:pt x="11547" y="11498"/>
                  </a:cubicBezTo>
                  <a:cubicBezTo>
                    <a:pt x="-3849" y="26829"/>
                    <a:pt x="-3849" y="51685"/>
                    <a:pt x="11547" y="670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8" name="标题 1"/>
            <p:cNvSpPr txBox="1"/>
            <p:nvPr/>
          </p:nvSpPr>
          <p:spPr>
            <a:xfrm flipH="1">
              <a:off x="8438080" y="1693681"/>
              <a:ext cx="671937" cy="266100"/>
            </a:xfrm>
            <a:custGeom>
              <a:avLst/>
              <a:gdLst>
                <a:gd name="connsiteX0" fmla="*/ 702285 w 702285"/>
                <a:gd name="connsiteY0" fmla="*/ 0 h 412889"/>
                <a:gd name="connsiteX1" fmla="*/ 289395 w 702285"/>
                <a:gd name="connsiteY1" fmla="*/ 412890 h 412889"/>
                <a:gd name="connsiteX2" fmla="*/ 0 w 702285"/>
                <a:gd name="connsiteY2" fmla="*/ 412890 h 412889"/>
              </a:gdLst>
              <a:ahLst/>
              <a:cxnLst/>
              <a:rect l="l" t="t" r="r" b="b"/>
              <a:pathLst>
                <a:path w="702285" h="412889">
                  <a:moveTo>
                    <a:pt x="702285" y="0"/>
                  </a:moveTo>
                  <a:lnTo>
                    <a:pt x="289395" y="412890"/>
                  </a:lnTo>
                  <a:lnTo>
                    <a:pt x="0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19" name="标题 1"/>
            <p:cNvSpPr txBox="1"/>
            <p:nvPr/>
          </p:nvSpPr>
          <p:spPr>
            <a:xfrm flipH="1">
              <a:off x="9131678" y="1943615"/>
              <a:ext cx="28108" cy="30524"/>
            </a:xfrm>
            <a:custGeom>
              <a:avLst/>
              <a:gdLst>
                <a:gd name="connsiteX0" fmla="*/ 6899 w 47313"/>
                <a:gd name="connsiteY0" fmla="*/ 40415 h 47362"/>
                <a:gd name="connsiteX1" fmla="*/ 40366 w 47313"/>
                <a:gd name="connsiteY1" fmla="*/ 40415 h 47362"/>
                <a:gd name="connsiteX2" fmla="*/ 40366 w 47313"/>
                <a:gd name="connsiteY2" fmla="*/ 6948 h 47362"/>
                <a:gd name="connsiteX3" fmla="*/ 6899 w 47313"/>
                <a:gd name="connsiteY3" fmla="*/ 6948 h 47362"/>
                <a:gd name="connsiteX4" fmla="*/ 6899 w 47313"/>
                <a:gd name="connsiteY4" fmla="*/ 40415 h 47362"/>
              </a:gdLst>
              <a:ahLst/>
              <a:cxnLst/>
              <a:rect l="l" t="t" r="r" b="b"/>
              <a:pathLst>
                <a:path w="47313" h="47362">
                  <a:moveTo>
                    <a:pt x="6899" y="40415"/>
                  </a:moveTo>
                  <a:cubicBezTo>
                    <a:pt x="16162" y="49678"/>
                    <a:pt x="31102" y="49678"/>
                    <a:pt x="40366" y="40415"/>
                  </a:cubicBezTo>
                  <a:cubicBezTo>
                    <a:pt x="49629" y="31151"/>
                    <a:pt x="49629" y="16211"/>
                    <a:pt x="40366" y="6948"/>
                  </a:cubicBezTo>
                  <a:cubicBezTo>
                    <a:pt x="31102" y="-2316"/>
                    <a:pt x="16162" y="-2316"/>
                    <a:pt x="6899" y="6948"/>
                  </a:cubicBezTo>
                  <a:cubicBezTo>
                    <a:pt x="-2300" y="16211"/>
                    <a:pt x="-2300" y="31216"/>
                    <a:pt x="6899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0" name="标题 1"/>
            <p:cNvSpPr txBox="1"/>
            <p:nvPr/>
          </p:nvSpPr>
          <p:spPr>
            <a:xfrm flipH="1">
              <a:off x="8421113" y="1666625"/>
              <a:ext cx="28136" cy="30524"/>
            </a:xfrm>
            <a:custGeom>
              <a:avLst/>
              <a:gdLst>
                <a:gd name="connsiteX0" fmla="*/ 6948 w 47362"/>
                <a:gd name="connsiteY0" fmla="*/ 40415 h 47362"/>
                <a:gd name="connsiteX1" fmla="*/ 40415 w 47362"/>
                <a:gd name="connsiteY1" fmla="*/ 40415 h 47362"/>
                <a:gd name="connsiteX2" fmla="*/ 40415 w 47362"/>
                <a:gd name="connsiteY2" fmla="*/ 6948 h 47362"/>
                <a:gd name="connsiteX3" fmla="*/ 6948 w 47362"/>
                <a:gd name="connsiteY3" fmla="*/ 6948 h 47362"/>
                <a:gd name="connsiteX4" fmla="*/ 6948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6948" y="40415"/>
                  </a:moveTo>
                  <a:cubicBezTo>
                    <a:pt x="16212" y="49678"/>
                    <a:pt x="31151" y="49678"/>
                    <a:pt x="40415" y="40415"/>
                  </a:cubicBezTo>
                  <a:cubicBezTo>
                    <a:pt x="49679" y="31151"/>
                    <a:pt x="49679" y="16211"/>
                    <a:pt x="40415" y="6948"/>
                  </a:cubicBezTo>
                  <a:cubicBezTo>
                    <a:pt x="31151" y="-2316"/>
                    <a:pt x="16212" y="-2316"/>
                    <a:pt x="6948" y="6948"/>
                  </a:cubicBezTo>
                  <a:cubicBezTo>
                    <a:pt x="-2316" y="16211"/>
                    <a:pt x="-2316" y="31216"/>
                    <a:pt x="6948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1" name="标题 1"/>
            <p:cNvSpPr txBox="1"/>
            <p:nvPr/>
          </p:nvSpPr>
          <p:spPr>
            <a:xfrm flipH="1">
              <a:off x="8935369" y="2251191"/>
              <a:ext cx="671936" cy="266100"/>
            </a:xfrm>
            <a:custGeom>
              <a:avLst/>
              <a:gdLst>
                <a:gd name="connsiteX0" fmla="*/ 0 w 702284"/>
                <a:gd name="connsiteY0" fmla="*/ 0 h 412890"/>
                <a:gd name="connsiteX1" fmla="*/ 412890 w 702284"/>
                <a:gd name="connsiteY1" fmla="*/ 412890 h 412890"/>
                <a:gd name="connsiteX2" fmla="*/ 702285 w 702284"/>
                <a:gd name="connsiteY2" fmla="*/ 412890 h 412890"/>
              </a:gdLst>
              <a:ahLst/>
              <a:cxnLst/>
              <a:rect l="l" t="t" r="r" b="b"/>
              <a:pathLst>
                <a:path w="702284" h="412890">
                  <a:moveTo>
                    <a:pt x="0" y="0"/>
                  </a:moveTo>
                  <a:lnTo>
                    <a:pt x="412890" y="412890"/>
                  </a:lnTo>
                  <a:lnTo>
                    <a:pt x="702285" y="41289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2" name="标题 1"/>
            <p:cNvSpPr txBox="1"/>
            <p:nvPr/>
          </p:nvSpPr>
          <p:spPr>
            <a:xfrm flipH="1">
              <a:off x="8918964" y="250112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2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2" y="-2316"/>
                    <a:pt x="31151" y="-2316"/>
                    <a:pt x="40415" y="6948"/>
                  </a:cubicBezTo>
                  <a:cubicBezTo>
                    <a:pt x="49679" y="16147"/>
                    <a:pt x="49679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3" name="标题 1"/>
            <p:cNvSpPr txBox="1"/>
            <p:nvPr/>
          </p:nvSpPr>
          <p:spPr>
            <a:xfrm flipH="1">
              <a:off x="9629475" y="2224135"/>
              <a:ext cx="28136" cy="30524"/>
            </a:xfrm>
            <a:custGeom>
              <a:avLst/>
              <a:gdLst>
                <a:gd name="connsiteX0" fmla="*/ 40415 w 47362"/>
                <a:gd name="connsiteY0" fmla="*/ 40415 h 47362"/>
                <a:gd name="connsiteX1" fmla="*/ 6948 w 47362"/>
                <a:gd name="connsiteY1" fmla="*/ 40415 h 47362"/>
                <a:gd name="connsiteX2" fmla="*/ 6948 w 47362"/>
                <a:gd name="connsiteY2" fmla="*/ 6948 h 47362"/>
                <a:gd name="connsiteX3" fmla="*/ 40415 w 47362"/>
                <a:gd name="connsiteY3" fmla="*/ 6948 h 47362"/>
                <a:gd name="connsiteX4" fmla="*/ 40415 w 47362"/>
                <a:gd name="connsiteY4" fmla="*/ 40415 h 47362"/>
              </a:gdLst>
              <a:ahLst/>
              <a:cxnLst/>
              <a:rect l="l" t="t" r="r" b="b"/>
              <a:pathLst>
                <a:path w="47362" h="47362">
                  <a:moveTo>
                    <a:pt x="40415" y="40415"/>
                  </a:moveTo>
                  <a:cubicBezTo>
                    <a:pt x="31151" y="49678"/>
                    <a:pt x="16211" y="49678"/>
                    <a:pt x="6948" y="40415"/>
                  </a:cubicBezTo>
                  <a:cubicBezTo>
                    <a:pt x="-2316" y="31151"/>
                    <a:pt x="-2316" y="16211"/>
                    <a:pt x="6948" y="6948"/>
                  </a:cubicBezTo>
                  <a:cubicBezTo>
                    <a:pt x="16211" y="-2316"/>
                    <a:pt x="31151" y="-2316"/>
                    <a:pt x="40415" y="6948"/>
                  </a:cubicBezTo>
                  <a:cubicBezTo>
                    <a:pt x="49678" y="16147"/>
                    <a:pt x="49678" y="31151"/>
                    <a:pt x="40415" y="4041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4" name="标题 1"/>
            <p:cNvSpPr txBox="1"/>
            <p:nvPr/>
          </p:nvSpPr>
          <p:spPr>
            <a:xfrm flipH="1">
              <a:off x="6781239" y="1931862"/>
              <a:ext cx="3505679" cy="172256"/>
            </a:xfrm>
            <a:custGeom>
              <a:avLst/>
              <a:gdLst>
                <a:gd name="connsiteX0" fmla="*/ 0 w 3664016"/>
                <a:gd name="connsiteY0" fmla="*/ 238314 h 267279"/>
                <a:gd name="connsiteX1" fmla="*/ 2073454 w 3664016"/>
                <a:gd name="connsiteY1" fmla="*/ 238314 h 267279"/>
                <a:gd name="connsiteX2" fmla="*/ 2311702 w 3664016"/>
                <a:gd name="connsiteY2" fmla="*/ 0 h 267279"/>
                <a:gd name="connsiteX3" fmla="*/ 3039364 w 3664016"/>
                <a:gd name="connsiteY3" fmla="*/ 0 h 267279"/>
                <a:gd name="connsiteX4" fmla="*/ 3306644 w 3664016"/>
                <a:gd name="connsiteY4" fmla="*/ 267280 h 267279"/>
                <a:gd name="connsiteX5" fmla="*/ 3664017 w 3664016"/>
                <a:gd name="connsiteY5" fmla="*/ 267280 h 267279"/>
              </a:gdLst>
              <a:ahLst/>
              <a:cxnLst/>
              <a:rect l="l" t="t" r="r" b="b"/>
              <a:pathLst>
                <a:path w="3664016" h="267279">
                  <a:moveTo>
                    <a:pt x="0" y="238314"/>
                  </a:moveTo>
                  <a:lnTo>
                    <a:pt x="2073454" y="238314"/>
                  </a:lnTo>
                  <a:lnTo>
                    <a:pt x="2311702" y="0"/>
                  </a:lnTo>
                  <a:lnTo>
                    <a:pt x="3039364" y="0"/>
                  </a:lnTo>
                  <a:lnTo>
                    <a:pt x="3306644" y="267280"/>
                  </a:lnTo>
                  <a:lnTo>
                    <a:pt x="3664017" y="267280"/>
                  </a:lnTo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25" name="标题 1"/>
            <p:cNvSpPr txBox="1"/>
            <p:nvPr/>
          </p:nvSpPr>
          <p:spPr>
            <a:xfrm flipH="1">
              <a:off x="6757549" y="2086087"/>
              <a:ext cx="33050" cy="35838"/>
            </a:xfrm>
            <a:custGeom>
              <a:avLst/>
              <a:gdLst>
                <a:gd name="connsiteX0" fmla="*/ 47461 w 55631"/>
                <a:gd name="connsiteY0" fmla="*/ 47485 h 55607"/>
                <a:gd name="connsiteX1" fmla="*/ 8122 w 55631"/>
                <a:gd name="connsiteY1" fmla="*/ 47485 h 55607"/>
                <a:gd name="connsiteX2" fmla="*/ 8122 w 55631"/>
                <a:gd name="connsiteY2" fmla="*/ 8147 h 55607"/>
                <a:gd name="connsiteX3" fmla="*/ 47461 w 55631"/>
                <a:gd name="connsiteY3" fmla="*/ 8147 h 55607"/>
                <a:gd name="connsiteX4" fmla="*/ 47461 w 55631"/>
                <a:gd name="connsiteY4" fmla="*/ 47485 h 55607"/>
              </a:gdLst>
              <a:ahLst/>
              <a:cxnLst/>
              <a:rect l="l" t="t" r="r" b="b"/>
              <a:pathLst>
                <a:path w="55631" h="55607">
                  <a:moveTo>
                    <a:pt x="47461" y="47485"/>
                  </a:moveTo>
                  <a:cubicBezTo>
                    <a:pt x="36631" y="58315"/>
                    <a:pt x="19017" y="58315"/>
                    <a:pt x="8122" y="47485"/>
                  </a:cubicBezTo>
                  <a:cubicBezTo>
                    <a:pt x="-2707" y="36656"/>
                    <a:pt x="-2707" y="19042"/>
                    <a:pt x="8122" y="8147"/>
                  </a:cubicBezTo>
                  <a:cubicBezTo>
                    <a:pt x="18952" y="-2748"/>
                    <a:pt x="36566" y="-2683"/>
                    <a:pt x="47461" y="8147"/>
                  </a:cubicBezTo>
                  <a:cubicBezTo>
                    <a:pt x="58355" y="19042"/>
                    <a:pt x="58355" y="36590"/>
                    <a:pt x="47461" y="47485"/>
                  </a:cubicBezTo>
                  <a:close/>
                </a:path>
              </a:pathLst>
            </a:custGeom>
            <a:noFill/>
            <a:ln w="12700" cap="flat">
              <a:solidFill>
                <a:schemeClr val="accent2">
                  <a:lumMod val="20000"/>
                  <a:lumOff val="80000"/>
                  <a:alpha val="15000"/>
                </a:schemeClr>
              </a:solidFill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l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26" name="标题 1"/>
          <p:cNvSpPr txBox="1"/>
          <p:nvPr/>
        </p:nvSpPr>
        <p:spPr>
          <a:xfrm>
            <a:off x="1019175" y="1331496"/>
            <a:ext cx="3713246" cy="102020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kumimoji="1" lang="en-US" altLang="zh-CN" sz="8000" dirty="0">
                <a:ln w="12700">
                  <a:solidFill>
                    <a:srgbClr val="000000">
                      <a:alpha val="100000"/>
                    </a:srgbClr>
                  </a:solidFill>
                </a:ln>
                <a:noFill/>
                <a:latin typeface="Source Han Sans CN Regular"/>
                <a:ea typeface="Source Han Sans CN Regular"/>
                <a:cs typeface="Source Han Sans CN Regular"/>
              </a:rPr>
              <a:t>2025</a:t>
            </a:r>
            <a:endParaRPr kumimoji="1" lang="zh-CN" altLang="en-US" dirty="0"/>
          </a:p>
        </p:txBody>
      </p:sp>
      <p:sp>
        <p:nvSpPr>
          <p:cNvPr id="27" name="标题 1"/>
          <p:cNvSpPr txBox="1"/>
          <p:nvPr/>
        </p:nvSpPr>
        <p:spPr>
          <a:xfrm>
            <a:off x="1019429" y="2401896"/>
            <a:ext cx="6135350" cy="1977599"/>
          </a:xfrm>
          <a:prstGeom prst="rect">
            <a:avLst/>
          </a:prstGeom>
          <a:noFill/>
          <a:ln cap="sq">
            <a:noFill/>
          </a:ln>
        </p:spPr>
        <p:txBody>
          <a:bodyPr vert="horz"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kumimoji="1" lang="en-US" altLang="zh-CN" sz="48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 CN Regular"/>
                <a:ea typeface="Source Han Sans CN Regular"/>
                <a:cs typeface="Source Han Sans CN Regular"/>
              </a:rPr>
              <a:t>谢谢大家</a:t>
            </a:r>
            <a:endParaRPr kumimoji="1" lang="zh-CN" altLang="en-US"/>
          </a:p>
        </p:txBody>
      </p:sp>
      <p:sp>
        <p:nvSpPr>
          <p:cNvPr id="28" name="标题 1"/>
          <p:cNvSpPr txBox="1"/>
          <p:nvPr/>
        </p:nvSpPr>
        <p:spPr>
          <a:xfrm>
            <a:off x="1019429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29" name="标题 1"/>
          <p:cNvSpPr txBox="1"/>
          <p:nvPr/>
        </p:nvSpPr>
        <p:spPr>
          <a:xfrm>
            <a:off x="2056648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0" name="标题 1"/>
          <p:cNvSpPr txBox="1"/>
          <p:nvPr/>
        </p:nvSpPr>
        <p:spPr>
          <a:xfrm>
            <a:off x="3708562" y="4677430"/>
            <a:ext cx="1303866" cy="36933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1" name="标题 1"/>
          <p:cNvSpPr txBox="1"/>
          <p:nvPr/>
        </p:nvSpPr>
        <p:spPr>
          <a:xfrm>
            <a:off x="4707229" y="4677430"/>
            <a:ext cx="1340068" cy="3693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 cap="sq">
            <a:solidFill>
              <a:schemeClr val="accent1"/>
            </a:solidFill>
            <a:miter/>
          </a:ln>
          <a:effectLst>
            <a:outerShdw blurRad="190500" dist="38100" dir="2700000" algn="tl" rotWithShape="0">
              <a:schemeClr val="accent1">
                <a:alpha val="15000"/>
              </a:schemeClr>
            </a:outerShdw>
          </a:effectLst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2" name="标题 1"/>
          <p:cNvSpPr txBox="1"/>
          <p:nvPr/>
        </p:nvSpPr>
        <p:spPr>
          <a:xfrm rot="18920784" flipH="1">
            <a:off x="423566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3" name="标题 1"/>
          <p:cNvSpPr txBox="1"/>
          <p:nvPr/>
        </p:nvSpPr>
        <p:spPr>
          <a:xfrm rot="18920784" flipH="1">
            <a:off x="4367749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4" name="标题 1"/>
          <p:cNvSpPr txBox="1"/>
          <p:nvPr/>
        </p:nvSpPr>
        <p:spPr>
          <a:xfrm rot="18920784" flipH="1">
            <a:off x="4103588" y="529492"/>
            <a:ext cx="125149" cy="125149"/>
          </a:xfrm>
          <a:prstGeom prst="rtTriangle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5" name="标题 1"/>
          <p:cNvSpPr txBox="1"/>
          <p:nvPr/>
        </p:nvSpPr>
        <p:spPr>
          <a:xfrm>
            <a:off x="282738" y="6318642"/>
            <a:ext cx="11909262" cy="539358"/>
          </a:xfrm>
          <a:custGeom>
            <a:avLst/>
            <a:gdLst>
              <a:gd name="connsiteX0" fmla="*/ 523008 w 12192000"/>
              <a:gd name="connsiteY0" fmla="*/ 0 h 628461"/>
              <a:gd name="connsiteX1" fmla="*/ 12192000 w 12192000"/>
              <a:gd name="connsiteY1" fmla="*/ 0 h 628461"/>
              <a:gd name="connsiteX2" fmla="*/ 12192000 w 12192000"/>
              <a:gd name="connsiteY2" fmla="*/ 628461 h 628461"/>
              <a:gd name="connsiteX3" fmla="*/ 0 w 12192000"/>
              <a:gd name="connsiteY3" fmla="*/ 628461 h 628461"/>
              <a:gd name="connsiteX4" fmla="*/ 0 w 12192000"/>
              <a:gd name="connsiteY4" fmla="*/ 523008 h 628461"/>
              <a:gd name="connsiteX5" fmla="*/ 523008 w 12192000"/>
              <a:gd name="connsiteY5" fmla="*/ 0 h 628461"/>
            </a:gdLst>
            <a:ahLst/>
            <a:cxnLst/>
            <a:rect l="l" t="t" r="r" b="b"/>
            <a:pathLst>
              <a:path w="12192000" h="628461">
                <a:moveTo>
                  <a:pt x="523008" y="0"/>
                </a:moveTo>
                <a:lnTo>
                  <a:pt x="12192000" y="0"/>
                </a:lnTo>
                <a:lnTo>
                  <a:pt x="12192000" y="628461"/>
                </a:lnTo>
                <a:lnTo>
                  <a:pt x="0" y="628461"/>
                </a:lnTo>
                <a:lnTo>
                  <a:pt x="0" y="523008"/>
                </a:lnTo>
                <a:cubicBezTo>
                  <a:pt x="0" y="234159"/>
                  <a:pt x="234159" y="0"/>
                  <a:pt x="523008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46000"/>
                </a:schemeClr>
              </a:gs>
              <a:gs pos="100000">
                <a:schemeClr val="accent2">
                  <a:alpha val="3100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6" name="标题 1"/>
          <p:cNvSpPr txBox="1"/>
          <p:nvPr/>
        </p:nvSpPr>
        <p:spPr>
          <a:xfrm>
            <a:off x="421428" y="6470690"/>
            <a:ext cx="11770572" cy="387310"/>
          </a:xfrm>
          <a:custGeom>
            <a:avLst/>
            <a:gdLst>
              <a:gd name="connsiteX0" fmla="*/ 515778 w 12050017"/>
              <a:gd name="connsiteY0" fmla="*/ 0 h 451294"/>
              <a:gd name="connsiteX1" fmla="*/ 12050017 w 12050017"/>
              <a:gd name="connsiteY1" fmla="*/ 0 h 451294"/>
              <a:gd name="connsiteX2" fmla="*/ 12050017 w 12050017"/>
              <a:gd name="connsiteY2" fmla="*/ 451294 h 451294"/>
              <a:gd name="connsiteX3" fmla="*/ 0 w 12050017"/>
              <a:gd name="connsiteY3" fmla="*/ 451294 h 451294"/>
              <a:gd name="connsiteX4" fmla="*/ 3396 w 12050017"/>
              <a:gd name="connsiteY4" fmla="*/ 417604 h 451294"/>
              <a:gd name="connsiteX5" fmla="*/ 515778 w 12050017"/>
              <a:gd name="connsiteY5" fmla="*/ 0 h 451294"/>
            </a:gdLst>
            <a:ahLst/>
            <a:cxnLst/>
            <a:rect l="l" t="t" r="r" b="b"/>
            <a:pathLst>
              <a:path w="12050017" h="451294">
                <a:moveTo>
                  <a:pt x="515778" y="0"/>
                </a:moveTo>
                <a:lnTo>
                  <a:pt x="12050017" y="0"/>
                </a:lnTo>
                <a:lnTo>
                  <a:pt x="12050017" y="451294"/>
                </a:lnTo>
                <a:lnTo>
                  <a:pt x="0" y="451294"/>
                </a:lnTo>
                <a:lnTo>
                  <a:pt x="3396" y="417604"/>
                </a:lnTo>
                <a:cubicBezTo>
                  <a:pt x="52164" y="179278"/>
                  <a:pt x="263035" y="0"/>
                  <a:pt x="515778" y="0"/>
                </a:cubicBezTo>
                <a:close/>
              </a:path>
            </a:pathLst>
          </a:custGeom>
          <a:gradFill>
            <a:gsLst>
              <a:gs pos="23000">
                <a:schemeClr val="accent1"/>
              </a:gs>
              <a:gs pos="100000">
                <a:schemeClr val="accent2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0" tIns="0" rIns="0" bIns="0" rtlCol="0" anchor="t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7" name="标题 1"/>
          <p:cNvSpPr txBox="1"/>
          <p:nvPr/>
        </p:nvSpPr>
        <p:spPr>
          <a:xfrm>
            <a:off x="303423" y="920617"/>
            <a:ext cx="251257" cy="251257"/>
          </a:xfrm>
          <a:prstGeom prst="ellipse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64000">
                <a:schemeClr val="accent1"/>
              </a:gs>
            </a:gsLst>
            <a:lin ang="270000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39" name="标题 1"/>
          <p:cNvSpPr txBox="1"/>
          <p:nvPr/>
        </p:nvSpPr>
        <p:spPr>
          <a:xfrm rot="16200000">
            <a:off x="-509282" y="3238986"/>
            <a:ext cx="1932807" cy="71386"/>
          </a:xfrm>
          <a:custGeom>
            <a:avLst/>
            <a:gdLst>
              <a:gd name="connsiteX0" fmla="*/ 190642 w 1932807"/>
              <a:gd name="connsiteY0" fmla="*/ 0 h 71386"/>
              <a:gd name="connsiteX1" fmla="*/ 112967 w 1932807"/>
              <a:gd name="connsiteY1" fmla="*/ 71386 h 71386"/>
              <a:gd name="connsiteX2" fmla="*/ 0 w 1932807"/>
              <a:gd name="connsiteY2" fmla="*/ 71386 h 71386"/>
              <a:gd name="connsiteX3" fmla="*/ 77675 w 1932807"/>
              <a:gd name="connsiteY3" fmla="*/ 0 h 71386"/>
              <a:gd name="connsiteX4" fmla="*/ 384216 w 1932807"/>
              <a:gd name="connsiteY4" fmla="*/ 0 h 71386"/>
              <a:gd name="connsiteX5" fmla="*/ 306541 w 1932807"/>
              <a:gd name="connsiteY5" fmla="*/ 71386 h 71386"/>
              <a:gd name="connsiteX6" fmla="*/ 193574 w 1932807"/>
              <a:gd name="connsiteY6" fmla="*/ 71386 h 71386"/>
              <a:gd name="connsiteX7" fmla="*/ 271249 w 1932807"/>
              <a:gd name="connsiteY7" fmla="*/ 0 h 71386"/>
              <a:gd name="connsiteX8" fmla="*/ 577790 w 1932807"/>
              <a:gd name="connsiteY8" fmla="*/ 0 h 71386"/>
              <a:gd name="connsiteX9" fmla="*/ 500115 w 1932807"/>
              <a:gd name="connsiteY9" fmla="*/ 71386 h 71386"/>
              <a:gd name="connsiteX10" fmla="*/ 387148 w 1932807"/>
              <a:gd name="connsiteY10" fmla="*/ 71386 h 71386"/>
              <a:gd name="connsiteX11" fmla="*/ 464823 w 1932807"/>
              <a:gd name="connsiteY11" fmla="*/ 0 h 71386"/>
              <a:gd name="connsiteX12" fmla="*/ 771364 w 1932807"/>
              <a:gd name="connsiteY12" fmla="*/ 0 h 71386"/>
              <a:gd name="connsiteX13" fmla="*/ 693689 w 1932807"/>
              <a:gd name="connsiteY13" fmla="*/ 71386 h 71386"/>
              <a:gd name="connsiteX14" fmla="*/ 580722 w 1932807"/>
              <a:gd name="connsiteY14" fmla="*/ 71386 h 71386"/>
              <a:gd name="connsiteX15" fmla="*/ 658396 w 1932807"/>
              <a:gd name="connsiteY15" fmla="*/ 0 h 71386"/>
              <a:gd name="connsiteX16" fmla="*/ 964938 w 1932807"/>
              <a:gd name="connsiteY16" fmla="*/ 0 h 71386"/>
              <a:gd name="connsiteX17" fmla="*/ 887263 w 1932807"/>
              <a:gd name="connsiteY17" fmla="*/ 71386 h 71386"/>
              <a:gd name="connsiteX18" fmla="*/ 774296 w 1932807"/>
              <a:gd name="connsiteY18" fmla="*/ 71386 h 71386"/>
              <a:gd name="connsiteX19" fmla="*/ 851970 w 1932807"/>
              <a:gd name="connsiteY19" fmla="*/ 0 h 71386"/>
              <a:gd name="connsiteX20" fmla="*/ 1158511 w 1932807"/>
              <a:gd name="connsiteY20" fmla="*/ 0 h 71386"/>
              <a:gd name="connsiteX21" fmla="*/ 1080837 w 1932807"/>
              <a:gd name="connsiteY21" fmla="*/ 71386 h 71386"/>
              <a:gd name="connsiteX22" fmla="*/ 967870 w 1932807"/>
              <a:gd name="connsiteY22" fmla="*/ 71386 h 71386"/>
              <a:gd name="connsiteX23" fmla="*/ 1045544 w 1932807"/>
              <a:gd name="connsiteY23" fmla="*/ 0 h 71386"/>
              <a:gd name="connsiteX24" fmla="*/ 1352085 w 1932807"/>
              <a:gd name="connsiteY24" fmla="*/ 0 h 71386"/>
              <a:gd name="connsiteX25" fmla="*/ 1274411 w 1932807"/>
              <a:gd name="connsiteY25" fmla="*/ 71386 h 71386"/>
              <a:gd name="connsiteX26" fmla="*/ 1161444 w 1932807"/>
              <a:gd name="connsiteY26" fmla="*/ 71386 h 71386"/>
              <a:gd name="connsiteX27" fmla="*/ 1239118 w 1932807"/>
              <a:gd name="connsiteY27" fmla="*/ 0 h 71386"/>
              <a:gd name="connsiteX28" fmla="*/ 1545659 w 1932807"/>
              <a:gd name="connsiteY28" fmla="*/ 0 h 71386"/>
              <a:gd name="connsiteX29" fmla="*/ 1467985 w 1932807"/>
              <a:gd name="connsiteY29" fmla="*/ 71386 h 71386"/>
              <a:gd name="connsiteX30" fmla="*/ 1355017 w 1932807"/>
              <a:gd name="connsiteY30" fmla="*/ 71386 h 71386"/>
              <a:gd name="connsiteX31" fmla="*/ 1432692 w 1932807"/>
              <a:gd name="connsiteY31" fmla="*/ 0 h 71386"/>
              <a:gd name="connsiteX32" fmla="*/ 1739233 w 1932807"/>
              <a:gd name="connsiteY32" fmla="*/ 0 h 71386"/>
              <a:gd name="connsiteX33" fmla="*/ 1661559 w 1932807"/>
              <a:gd name="connsiteY33" fmla="*/ 71386 h 71386"/>
              <a:gd name="connsiteX34" fmla="*/ 1548591 w 1932807"/>
              <a:gd name="connsiteY34" fmla="*/ 71386 h 71386"/>
              <a:gd name="connsiteX35" fmla="*/ 1626266 w 1932807"/>
              <a:gd name="connsiteY35" fmla="*/ 0 h 71386"/>
              <a:gd name="connsiteX36" fmla="*/ 1932807 w 1932807"/>
              <a:gd name="connsiteY36" fmla="*/ 0 h 71386"/>
              <a:gd name="connsiteX37" fmla="*/ 1855133 w 1932807"/>
              <a:gd name="connsiteY37" fmla="*/ 71386 h 71386"/>
              <a:gd name="connsiteX38" fmla="*/ 1742165 w 1932807"/>
              <a:gd name="connsiteY38" fmla="*/ 71386 h 71386"/>
              <a:gd name="connsiteX39" fmla="*/ 1819840 w 1932807"/>
              <a:gd name="connsiteY39" fmla="*/ 0 h 71386"/>
            </a:gdLst>
            <a:ahLst/>
            <a:cxnLst/>
            <a:rect l="l" t="t" r="r" b="b"/>
            <a:pathLst>
              <a:path w="1932807" h="71386">
                <a:moveTo>
                  <a:pt x="190642" y="0"/>
                </a:moveTo>
                <a:lnTo>
                  <a:pt x="112967" y="71386"/>
                </a:lnTo>
                <a:lnTo>
                  <a:pt x="0" y="71386"/>
                </a:lnTo>
                <a:lnTo>
                  <a:pt x="77675" y="0"/>
                </a:lnTo>
                <a:close/>
                <a:moveTo>
                  <a:pt x="384216" y="0"/>
                </a:moveTo>
                <a:lnTo>
                  <a:pt x="306541" y="71386"/>
                </a:lnTo>
                <a:lnTo>
                  <a:pt x="193574" y="71386"/>
                </a:lnTo>
                <a:lnTo>
                  <a:pt x="271249" y="0"/>
                </a:lnTo>
                <a:close/>
                <a:moveTo>
                  <a:pt x="577790" y="0"/>
                </a:moveTo>
                <a:lnTo>
                  <a:pt x="500115" y="71386"/>
                </a:lnTo>
                <a:lnTo>
                  <a:pt x="387148" y="71386"/>
                </a:lnTo>
                <a:lnTo>
                  <a:pt x="464823" y="0"/>
                </a:lnTo>
                <a:close/>
                <a:moveTo>
                  <a:pt x="771364" y="0"/>
                </a:moveTo>
                <a:lnTo>
                  <a:pt x="693689" y="71386"/>
                </a:lnTo>
                <a:lnTo>
                  <a:pt x="580722" y="71386"/>
                </a:lnTo>
                <a:lnTo>
                  <a:pt x="658396" y="0"/>
                </a:lnTo>
                <a:close/>
                <a:moveTo>
                  <a:pt x="964938" y="0"/>
                </a:moveTo>
                <a:lnTo>
                  <a:pt x="887263" y="71386"/>
                </a:lnTo>
                <a:lnTo>
                  <a:pt x="774296" y="71386"/>
                </a:lnTo>
                <a:lnTo>
                  <a:pt x="851970" y="0"/>
                </a:lnTo>
                <a:close/>
                <a:moveTo>
                  <a:pt x="1158511" y="0"/>
                </a:moveTo>
                <a:lnTo>
                  <a:pt x="1080837" y="71386"/>
                </a:lnTo>
                <a:lnTo>
                  <a:pt x="967870" y="71386"/>
                </a:lnTo>
                <a:lnTo>
                  <a:pt x="1045544" y="0"/>
                </a:lnTo>
                <a:close/>
                <a:moveTo>
                  <a:pt x="1352085" y="0"/>
                </a:moveTo>
                <a:lnTo>
                  <a:pt x="1274411" y="71386"/>
                </a:lnTo>
                <a:lnTo>
                  <a:pt x="1161444" y="71386"/>
                </a:lnTo>
                <a:lnTo>
                  <a:pt x="1239118" y="0"/>
                </a:lnTo>
                <a:close/>
                <a:moveTo>
                  <a:pt x="1545659" y="0"/>
                </a:moveTo>
                <a:lnTo>
                  <a:pt x="1467985" y="71386"/>
                </a:lnTo>
                <a:lnTo>
                  <a:pt x="1355017" y="71386"/>
                </a:lnTo>
                <a:lnTo>
                  <a:pt x="1432692" y="0"/>
                </a:lnTo>
                <a:close/>
                <a:moveTo>
                  <a:pt x="1739233" y="0"/>
                </a:moveTo>
                <a:lnTo>
                  <a:pt x="1661559" y="71386"/>
                </a:lnTo>
                <a:lnTo>
                  <a:pt x="1548591" y="71386"/>
                </a:lnTo>
                <a:lnTo>
                  <a:pt x="1626266" y="0"/>
                </a:lnTo>
                <a:close/>
                <a:moveTo>
                  <a:pt x="1932807" y="0"/>
                </a:moveTo>
                <a:lnTo>
                  <a:pt x="1855133" y="71386"/>
                </a:lnTo>
                <a:lnTo>
                  <a:pt x="1742165" y="71386"/>
                </a:lnTo>
                <a:lnTo>
                  <a:pt x="1819840" y="0"/>
                </a:lnTo>
                <a:close/>
              </a:path>
            </a:pathLst>
          </a:cu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9405360" y="560916"/>
            <a:ext cx="191046" cy="123736"/>
            <a:chOff x="9405360" y="560916"/>
            <a:chExt cx="191046" cy="123736"/>
          </a:xfrm>
        </p:grpSpPr>
        <p:sp>
          <p:nvSpPr>
            <p:cNvPr id="41" name="标题 1"/>
            <p:cNvSpPr txBox="1"/>
            <p:nvPr/>
          </p:nvSpPr>
          <p:spPr>
            <a:xfrm flipV="1">
              <a:off x="9405360" y="560916"/>
              <a:ext cx="190486" cy="22899"/>
            </a:xfrm>
            <a:custGeom>
              <a:avLst/>
              <a:gdLst>
                <a:gd name="connsiteX0" fmla="*/ 9267 w 161504"/>
                <a:gd name="connsiteY0" fmla="*/ 19416 h 19415"/>
                <a:gd name="connsiteX1" fmla="*/ 152238 w 161504"/>
                <a:gd name="connsiteY1" fmla="*/ 19416 h 19415"/>
                <a:gd name="connsiteX2" fmla="*/ 152238 w 161504"/>
                <a:gd name="connsiteY2" fmla="*/ 0 h 19415"/>
                <a:gd name="connsiteX3" fmla="*/ 9267 w 161504"/>
                <a:gd name="connsiteY3" fmla="*/ 0 h 19415"/>
                <a:gd name="connsiteX4" fmla="*/ 9267 w 161504"/>
                <a:gd name="connsiteY4" fmla="*/ 19416 h 19415"/>
              </a:gdLst>
              <a:ahLst/>
              <a:cxnLst/>
              <a:rect l="l" t="t" r="r" b="b"/>
              <a:pathLst>
                <a:path w="161504" h="19415">
                  <a:moveTo>
                    <a:pt x="9267" y="19416"/>
                  </a:move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2" name="标题 1"/>
            <p:cNvSpPr txBox="1"/>
            <p:nvPr/>
          </p:nvSpPr>
          <p:spPr>
            <a:xfrm flipV="1">
              <a:off x="9405920" y="611334"/>
              <a:ext cx="148155" cy="22899"/>
            </a:xfrm>
            <a:custGeom>
              <a:avLst/>
              <a:gdLst>
                <a:gd name="connsiteX0" fmla="*/ 116348 w 125614"/>
                <a:gd name="connsiteY0" fmla="*/ 0 h 19415"/>
                <a:gd name="connsiteX1" fmla="*/ 9267 w 125614"/>
                <a:gd name="connsiteY1" fmla="*/ 0 h 19415"/>
                <a:gd name="connsiteX2" fmla="*/ 9267 w 125614"/>
                <a:gd name="connsiteY2" fmla="*/ 19416 h 19415"/>
                <a:gd name="connsiteX3" fmla="*/ 116348 w 125614"/>
                <a:gd name="connsiteY3" fmla="*/ 19416 h 19415"/>
                <a:gd name="connsiteX4" fmla="*/ 116348 w 125614"/>
                <a:gd name="connsiteY4" fmla="*/ 0 h 19415"/>
              </a:gdLst>
              <a:ahLst/>
              <a:cxnLst/>
              <a:rect l="l" t="t" r="r" b="b"/>
              <a:pathLst>
                <a:path w="125614" h="19415">
                  <a:moveTo>
                    <a:pt x="11634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16348" y="19416"/>
                  </a:lnTo>
                  <a:cubicBezTo>
                    <a:pt x="128704" y="19416"/>
                    <a:pt x="128704" y="0"/>
                    <a:pt x="11634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  <p:sp>
          <p:nvSpPr>
            <p:cNvPr id="43" name="标题 1"/>
            <p:cNvSpPr txBox="1"/>
            <p:nvPr/>
          </p:nvSpPr>
          <p:spPr>
            <a:xfrm flipV="1">
              <a:off x="9405920" y="661753"/>
              <a:ext cx="190486" cy="22899"/>
            </a:xfrm>
            <a:custGeom>
              <a:avLst/>
              <a:gdLst>
                <a:gd name="connsiteX0" fmla="*/ 152238 w 161504"/>
                <a:gd name="connsiteY0" fmla="*/ 0 h 19415"/>
                <a:gd name="connsiteX1" fmla="*/ 9267 w 161504"/>
                <a:gd name="connsiteY1" fmla="*/ 0 h 19415"/>
                <a:gd name="connsiteX2" fmla="*/ 9267 w 161504"/>
                <a:gd name="connsiteY2" fmla="*/ 19416 h 19415"/>
                <a:gd name="connsiteX3" fmla="*/ 152238 w 161504"/>
                <a:gd name="connsiteY3" fmla="*/ 19416 h 19415"/>
                <a:gd name="connsiteX4" fmla="*/ 152238 w 161504"/>
                <a:gd name="connsiteY4" fmla="*/ 0 h 19415"/>
              </a:gdLst>
              <a:ahLst/>
              <a:cxnLst/>
              <a:rect l="l" t="t" r="r" b="b"/>
              <a:pathLst>
                <a:path w="161504" h="19415">
                  <a:moveTo>
                    <a:pt x="152238" y="0"/>
                  </a:moveTo>
                  <a:lnTo>
                    <a:pt x="9267" y="0"/>
                  </a:lnTo>
                  <a:cubicBezTo>
                    <a:pt x="-3089" y="0"/>
                    <a:pt x="-3089" y="19416"/>
                    <a:pt x="9267" y="19416"/>
                  </a:cubicBezTo>
                  <a:lnTo>
                    <a:pt x="152238" y="19416"/>
                  </a:lnTo>
                  <a:cubicBezTo>
                    <a:pt x="164593" y="19416"/>
                    <a:pt x="164593" y="0"/>
                    <a:pt x="152238" y="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64000">
                  <a:schemeClr val="accent1"/>
                </a:gs>
              </a:gsLst>
              <a:lin ang="0" scaled="0"/>
            </a:gradFill>
            <a:ln w="12700" cap="sq">
              <a:noFill/>
              <a:miter/>
            </a:ln>
          </p:spPr>
          <p:txBody>
            <a:bodyPr vert="horz" wrap="square" lIns="91440" tIns="45720" rIns="91440" bIns="45720" rtlCol="0" anchor="ctr"/>
            <a:lstStyle/>
            <a:p>
              <a:pPr algn="ctr">
                <a:lnSpc>
                  <a:spcPct val="110000"/>
                </a:lnSpc>
              </a:pPr>
              <a:endParaRPr kumimoji="1" lang="zh-CN" altLang="en-US"/>
            </a:p>
          </p:txBody>
        </p:sp>
      </p:grpSp>
      <p:sp>
        <p:nvSpPr>
          <p:cNvPr id="44" name="标题 1"/>
          <p:cNvSpPr txBox="1"/>
          <p:nvPr/>
        </p:nvSpPr>
        <p:spPr>
          <a:xfrm>
            <a:off x="11406487" y="542055"/>
            <a:ext cx="161437" cy="161459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/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gradFill>
            <a:gsLst>
              <a:gs pos="0">
                <a:schemeClr val="accent2"/>
              </a:gs>
              <a:gs pos="64000">
                <a:schemeClr val="accent1"/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5" name="标题 1"/>
          <p:cNvSpPr txBox="1"/>
          <p:nvPr/>
        </p:nvSpPr>
        <p:spPr>
          <a:xfrm>
            <a:off x="9549657" y="512137"/>
            <a:ext cx="1937548" cy="22129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r>
              <a:rPr kumimoji="1" lang="en-US" altLang="zh-CN" sz="1200">
                <a:ln w="12700">
                  <a:noFill/>
                </a:ln>
                <a:solidFill>
                  <a:srgbClr val="404040">
                    <a:alpha val="60000"/>
                  </a:srgbClr>
                </a:solidFill>
                <a:latin typeface="Source Han Sans"/>
                <a:ea typeface="Source Han Sans"/>
                <a:cs typeface="Source Han Sans"/>
              </a:rPr>
              <a:t>POWERPOINT  DESIGN</a:t>
            </a:r>
            <a:endParaRPr kumimoji="1" lang="zh-CN" altLang="en-US"/>
          </a:p>
        </p:txBody>
      </p:sp>
      <p:sp>
        <p:nvSpPr>
          <p:cNvPr id="46" name="标题 1"/>
          <p:cNvSpPr txBox="1"/>
          <p:nvPr/>
        </p:nvSpPr>
        <p:spPr>
          <a:xfrm>
            <a:off x="8088931" y="4110248"/>
            <a:ext cx="2429500" cy="191900"/>
          </a:xfrm>
          <a:prstGeom prst="ellipse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49000">
                <a:schemeClr val="accent1">
                  <a:lumMod val="75000"/>
                  <a:alpha val="39000"/>
                </a:schemeClr>
              </a:gs>
              <a:gs pos="100000">
                <a:schemeClr val="accent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/>
          <a:p>
            <a:pPr algn="ctr">
              <a:lnSpc>
                <a:spcPct val="110000"/>
              </a:lnSpc>
            </a:pPr>
            <a:endParaRPr kumimoji="1" lang="zh-CN" altLang="en-US"/>
          </a:p>
        </p:txBody>
      </p:sp>
      <p:sp>
        <p:nvSpPr>
          <p:cNvPr id="48" name="标题 1"/>
          <p:cNvSpPr txBox="1"/>
          <p:nvPr/>
        </p:nvSpPr>
        <p:spPr>
          <a:xfrm>
            <a:off x="2383772" y="4726795"/>
            <a:ext cx="717908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zh-CN" altLang="en-US" sz="1600" dirty="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高博士</a:t>
            </a:r>
            <a:endParaRPr kumimoji="1" lang="zh-CN" altLang="en-US" dirty="0"/>
          </a:p>
        </p:txBody>
      </p:sp>
      <p:sp>
        <p:nvSpPr>
          <p:cNvPr id="49" name="标题 1"/>
          <p:cNvSpPr txBox="1"/>
          <p:nvPr/>
        </p:nvSpPr>
        <p:spPr>
          <a:xfrm>
            <a:off x="4953991" y="4726795"/>
            <a:ext cx="868950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000000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2025.11</a:t>
            </a:r>
            <a:endParaRPr kumimoji="1" lang="zh-CN" altLang="en-US" dirty="0"/>
          </a:p>
        </p:txBody>
      </p:sp>
      <p:sp>
        <p:nvSpPr>
          <p:cNvPr id="50" name="标题 1"/>
          <p:cNvSpPr txBox="1"/>
          <p:nvPr/>
        </p:nvSpPr>
        <p:spPr>
          <a:xfrm>
            <a:off x="1266475" y="4726795"/>
            <a:ext cx="890522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主讲人：</a:t>
            </a:r>
            <a:endParaRPr kumimoji="1" lang="zh-CN" altLang="en-US"/>
          </a:p>
        </p:txBody>
      </p:sp>
      <p:sp>
        <p:nvSpPr>
          <p:cNvPr id="51" name="标题 1"/>
          <p:cNvSpPr txBox="1"/>
          <p:nvPr/>
        </p:nvSpPr>
        <p:spPr>
          <a:xfrm>
            <a:off x="4067761" y="4726795"/>
            <a:ext cx="629371" cy="270601"/>
          </a:xfrm>
          <a:prstGeom prst="rect">
            <a:avLst/>
          </a:prstGeom>
          <a:noFill/>
          <a:ln w="12700" cap="sq">
            <a:noFill/>
            <a:miter/>
          </a:ln>
        </p:spPr>
        <p:txBody>
          <a:bodyPr vert="horz"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kumimoji="1" lang="en-US" altLang="zh-CN" sz="1600">
                <a:ln w="12700">
                  <a:noFill/>
                </a:ln>
                <a:solidFill>
                  <a:srgbClr val="FFFFFF">
                    <a:alpha val="100000"/>
                  </a:srgbClr>
                </a:solidFill>
                <a:latin typeface="Source Han Sans"/>
                <a:ea typeface="Source Han Sans"/>
                <a:cs typeface="Source Han Sans"/>
              </a:rPr>
              <a:t>时间：</a:t>
            </a:r>
            <a:endParaRPr kumimoji="1"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7712</TotalTime>
  <Words>1008</Words>
  <Application>Microsoft Office PowerPoint</Application>
  <PresentationFormat>宽屏</PresentationFormat>
  <Paragraphs>213</Paragraphs>
  <Slides>9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quote-cjk-patch</vt:lpstr>
      <vt:lpstr>Source Han Sans</vt:lpstr>
      <vt:lpstr>Source Han Sans CN Regular</vt:lpstr>
      <vt:lpstr>system-ui</vt:lpstr>
      <vt:lpstr>等线</vt:lpstr>
      <vt:lpstr>微软雅黑</vt:lpstr>
      <vt:lpstr>Arial</vt:lpstr>
      <vt:lpstr>Cambria Math</vt:lpstr>
      <vt:lpstr>Office 主题​​</vt:lpstr>
      <vt:lpstr>PowerPoint 演示文稿</vt:lpstr>
      <vt:lpstr>PowerPoint 演示文稿</vt:lpstr>
      <vt:lpstr>第七章的闭环系统回顾</vt:lpstr>
      <vt:lpstr>控制器的核心任务</vt:lpstr>
      <vt:lpstr>通过一个例子理解</vt:lpstr>
      <vt:lpstr>通过一个例子理解</vt:lpstr>
      <vt:lpstr>通过一个例子理解</vt:lpstr>
      <vt:lpstr>总结——PID 是什么？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延增 高</dc:creator>
  <cp:lastModifiedBy>延增 高</cp:lastModifiedBy>
  <cp:revision>181</cp:revision>
  <dcterms:created xsi:type="dcterms:W3CDTF">2025-05-21T06:55:53Z</dcterms:created>
  <dcterms:modified xsi:type="dcterms:W3CDTF">2026-01-14T08:27:20Z</dcterms:modified>
</cp:coreProperties>
</file>