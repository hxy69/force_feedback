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89" r:id="rId2"/>
    <p:sldId id="802" r:id="rId3"/>
    <p:sldId id="800" r:id="rId4"/>
    <p:sldId id="805" r:id="rId5"/>
    <p:sldId id="807" r:id="rId6"/>
    <p:sldId id="808" r:id="rId7"/>
    <p:sldId id="806" r:id="rId8"/>
    <p:sldId id="809" r:id="rId9"/>
    <p:sldId id="810" r:id="rId10"/>
    <p:sldId id="811" r:id="rId11"/>
    <p:sldId id="28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193D8"/>
    <a:srgbClr val="F94502"/>
    <a:srgbClr val="0194D4"/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18" autoAdjust="0"/>
    <p:restoredTop sz="96117" autoAdjust="0"/>
  </p:normalViewPr>
  <p:slideViewPr>
    <p:cSldViewPr snapToGrid="0">
      <p:cViewPr varScale="1">
        <p:scale>
          <a:sx n="106" d="100"/>
          <a:sy n="106" d="100"/>
        </p:scale>
        <p:origin x="1428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D2E5DB-863B-4C72-909B-8B419B7117A4}" type="doc">
      <dgm:prSet loTypeId="urn:microsoft.com/office/officeart/2005/8/layout/hList6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zh-CN" altLang="en-US"/>
        </a:p>
      </dgm:t>
    </dgm:pt>
    <dgm:pt modelId="{E64E6344-03F3-41EA-B2B3-D9F732B8BD60}">
      <dgm:prSet/>
      <dgm:spPr/>
      <dgm:t>
        <a:bodyPr/>
        <a:lstStyle/>
        <a:p>
          <a:r>
            <a:rPr lang="zh-CN" altLang="en-US" dirty="0"/>
            <a:t>理解</a:t>
          </a:r>
          <a:r>
            <a:rPr lang="zh-CN" altLang="en-US" b="1" dirty="0"/>
            <a:t>连续系统</a:t>
          </a:r>
          <a:r>
            <a:rPr lang="zh-CN" altLang="en-US" dirty="0"/>
            <a:t>与</a:t>
          </a:r>
          <a:r>
            <a:rPr lang="zh-CN" altLang="en-US" b="1" dirty="0"/>
            <a:t>离散系统</a:t>
          </a:r>
          <a:r>
            <a:rPr lang="zh-CN" altLang="en-US" dirty="0"/>
            <a:t>的区别 。</a:t>
          </a:r>
          <a:endParaRPr lang="zh-CN" dirty="0"/>
        </a:p>
      </dgm:t>
    </dgm:pt>
    <dgm:pt modelId="{69A6EF17-7BDA-4CB4-9F0E-5679408CF513}" type="parTrans" cxnId="{08D3F0FE-4B45-4766-B833-483B36DF029C}">
      <dgm:prSet/>
      <dgm:spPr/>
      <dgm:t>
        <a:bodyPr/>
        <a:lstStyle/>
        <a:p>
          <a:endParaRPr lang="zh-CN" altLang="en-US"/>
        </a:p>
      </dgm:t>
    </dgm:pt>
    <dgm:pt modelId="{0DC89421-7892-4BB5-8A47-F6705D342A56}" type="sibTrans" cxnId="{08D3F0FE-4B45-4766-B833-483B36DF029C}">
      <dgm:prSet/>
      <dgm:spPr/>
      <dgm:t>
        <a:bodyPr/>
        <a:lstStyle/>
        <a:p>
          <a:endParaRPr lang="zh-CN" altLang="en-US"/>
        </a:p>
      </dgm:t>
    </dgm:pt>
    <dgm:pt modelId="{E519E6D7-1EE6-41AA-93B9-CBF827FF2932}">
      <dgm:prSet/>
      <dgm:spPr/>
      <dgm:t>
        <a:bodyPr/>
        <a:lstStyle/>
        <a:p>
          <a:pPr>
            <a:buNone/>
          </a:pPr>
          <a:r>
            <a:rPr lang="zh-CN" altLang="en-US" dirty="0"/>
            <a:t>掌握</a:t>
          </a:r>
          <a:r>
            <a:rPr lang="en-US" altLang="zh-CN" dirty="0"/>
            <a:t>PID</a:t>
          </a:r>
          <a:r>
            <a:rPr lang="zh-CN" altLang="en-US" dirty="0"/>
            <a:t>算法的</a:t>
          </a:r>
          <a:r>
            <a:rPr lang="zh-CN" altLang="en-US" b="1" dirty="0"/>
            <a:t>位置式</a:t>
          </a:r>
          <a:r>
            <a:rPr lang="zh-CN" altLang="en-US" dirty="0"/>
            <a:t>与</a:t>
          </a:r>
          <a:r>
            <a:rPr lang="zh-CN" altLang="en-US" b="1" dirty="0"/>
            <a:t>增量式</a:t>
          </a:r>
          <a:r>
            <a:rPr lang="zh-CN" altLang="en-US" dirty="0"/>
            <a:t>离散化表达。</a:t>
          </a:r>
        </a:p>
      </dgm:t>
    </dgm:pt>
    <dgm:pt modelId="{4337B2DA-A96A-414B-B2CA-AE7AD7536808}" type="parTrans" cxnId="{A62F87E6-8B47-449D-924D-FD0D2455636B}">
      <dgm:prSet/>
      <dgm:spPr/>
      <dgm:t>
        <a:bodyPr/>
        <a:lstStyle/>
        <a:p>
          <a:endParaRPr lang="zh-CN" altLang="en-US"/>
        </a:p>
      </dgm:t>
    </dgm:pt>
    <dgm:pt modelId="{D50CD5AD-7200-4EA3-9E57-E817C1D83042}" type="sibTrans" cxnId="{A62F87E6-8B47-449D-924D-FD0D2455636B}">
      <dgm:prSet/>
      <dgm:spPr/>
      <dgm:t>
        <a:bodyPr/>
        <a:lstStyle/>
        <a:p>
          <a:endParaRPr lang="zh-CN" altLang="en-US"/>
        </a:p>
      </dgm:t>
    </dgm:pt>
    <dgm:pt modelId="{8CB1AB92-0D35-4D9E-910C-DC858367F493}">
      <dgm:prSet/>
      <dgm:spPr/>
      <dgm:t>
        <a:bodyPr/>
        <a:lstStyle/>
        <a:p>
          <a:pPr>
            <a:buNone/>
          </a:pPr>
          <a:r>
            <a:rPr lang="zh-CN" altLang="en-US" dirty="0"/>
            <a:t>学会编写具备</a:t>
          </a:r>
          <a:r>
            <a:rPr lang="zh-CN" altLang="en-US" b="1" dirty="0"/>
            <a:t>抗饱和（</a:t>
          </a:r>
          <a:r>
            <a:rPr lang="en-US" altLang="zh-CN" b="1" dirty="0"/>
            <a:t>Anti-windup</a:t>
          </a:r>
          <a:r>
            <a:rPr lang="zh-CN" altLang="en-US" b="1" dirty="0"/>
            <a:t>）和输出限幅</a:t>
          </a:r>
          <a:r>
            <a:rPr lang="zh-CN" altLang="en-US" dirty="0"/>
            <a:t>功能的工程化代码 </a:t>
          </a:r>
        </a:p>
      </dgm:t>
    </dgm:pt>
    <dgm:pt modelId="{4506A84B-E594-4C5E-8C7E-084225EC8365}" type="parTrans" cxnId="{6D1CA085-093A-48BB-AA50-4EEC34F8FE81}">
      <dgm:prSet/>
      <dgm:spPr/>
      <dgm:t>
        <a:bodyPr/>
        <a:lstStyle/>
        <a:p>
          <a:endParaRPr lang="zh-CN" altLang="en-US"/>
        </a:p>
      </dgm:t>
    </dgm:pt>
    <dgm:pt modelId="{7A07312F-12C2-4385-AE2C-47101AB54F62}" type="sibTrans" cxnId="{6D1CA085-093A-48BB-AA50-4EEC34F8FE81}">
      <dgm:prSet/>
      <dgm:spPr/>
      <dgm:t>
        <a:bodyPr/>
        <a:lstStyle/>
        <a:p>
          <a:endParaRPr lang="zh-CN" altLang="en-US"/>
        </a:p>
      </dgm:t>
    </dgm:pt>
    <dgm:pt modelId="{FD9A37AA-706A-46BE-8D64-B712C175099D}">
      <dgm:prSet/>
      <dgm:spPr/>
      <dgm:t>
        <a:bodyPr/>
        <a:lstStyle/>
        <a:p>
          <a:pPr>
            <a:buNone/>
          </a:pPr>
          <a:r>
            <a:rPr lang="zh-CN" altLang="en-US" dirty="0"/>
            <a:t>了解参数整定方法：试凑法、临界震荡法、自动化整定工具</a:t>
          </a:r>
        </a:p>
      </dgm:t>
    </dgm:pt>
    <dgm:pt modelId="{FA2202F0-6D0E-434D-9B5F-2914F38CFA4D}" type="parTrans" cxnId="{D6226D30-9E4B-4972-9F84-1946F94CE62E}">
      <dgm:prSet/>
      <dgm:spPr/>
      <dgm:t>
        <a:bodyPr/>
        <a:lstStyle/>
        <a:p>
          <a:endParaRPr lang="zh-CN" altLang="en-US"/>
        </a:p>
      </dgm:t>
    </dgm:pt>
    <dgm:pt modelId="{8D05C544-73A1-4424-A663-2FF93A45B749}" type="sibTrans" cxnId="{D6226D30-9E4B-4972-9F84-1946F94CE62E}">
      <dgm:prSet/>
      <dgm:spPr/>
      <dgm:t>
        <a:bodyPr/>
        <a:lstStyle/>
        <a:p>
          <a:endParaRPr lang="zh-CN" altLang="en-US"/>
        </a:p>
      </dgm:t>
    </dgm:pt>
    <dgm:pt modelId="{D7F0B5BE-4D82-4305-ACED-C2AC8C360F32}" type="pres">
      <dgm:prSet presAssocID="{8CD2E5DB-863B-4C72-909B-8B419B7117A4}" presName="Name0" presStyleCnt="0">
        <dgm:presLayoutVars>
          <dgm:dir/>
          <dgm:resizeHandles val="exact"/>
        </dgm:presLayoutVars>
      </dgm:prSet>
      <dgm:spPr/>
    </dgm:pt>
    <dgm:pt modelId="{B0F71CE1-654B-47A6-95D9-FEB1EE507755}" type="pres">
      <dgm:prSet presAssocID="{E64E6344-03F3-41EA-B2B3-D9F732B8BD60}" presName="node" presStyleLbl="node1" presStyleIdx="0" presStyleCnt="4">
        <dgm:presLayoutVars>
          <dgm:bulletEnabled val="1"/>
        </dgm:presLayoutVars>
      </dgm:prSet>
      <dgm:spPr/>
    </dgm:pt>
    <dgm:pt modelId="{757D123B-4402-46A3-AE5E-614D53367F86}" type="pres">
      <dgm:prSet presAssocID="{0DC89421-7892-4BB5-8A47-F6705D342A56}" presName="sibTrans" presStyleCnt="0"/>
      <dgm:spPr/>
    </dgm:pt>
    <dgm:pt modelId="{5702F949-BC40-45A7-8470-7965D0BB6C11}" type="pres">
      <dgm:prSet presAssocID="{E519E6D7-1EE6-41AA-93B9-CBF827FF2932}" presName="node" presStyleLbl="node1" presStyleIdx="1" presStyleCnt="4">
        <dgm:presLayoutVars>
          <dgm:bulletEnabled val="1"/>
        </dgm:presLayoutVars>
      </dgm:prSet>
      <dgm:spPr/>
    </dgm:pt>
    <dgm:pt modelId="{32E87DF7-0305-4201-BF90-4C0A102E869F}" type="pres">
      <dgm:prSet presAssocID="{D50CD5AD-7200-4EA3-9E57-E817C1D83042}" presName="sibTrans" presStyleCnt="0"/>
      <dgm:spPr/>
    </dgm:pt>
    <dgm:pt modelId="{E4643988-F7AC-4788-BB89-40BE052C303A}" type="pres">
      <dgm:prSet presAssocID="{8CB1AB92-0D35-4D9E-910C-DC858367F493}" presName="node" presStyleLbl="node1" presStyleIdx="2" presStyleCnt="4">
        <dgm:presLayoutVars>
          <dgm:bulletEnabled val="1"/>
        </dgm:presLayoutVars>
      </dgm:prSet>
      <dgm:spPr/>
    </dgm:pt>
    <dgm:pt modelId="{78428316-D4D1-44BD-94F9-21BF25409F26}" type="pres">
      <dgm:prSet presAssocID="{7A07312F-12C2-4385-AE2C-47101AB54F62}" presName="sibTrans" presStyleCnt="0"/>
      <dgm:spPr/>
    </dgm:pt>
    <dgm:pt modelId="{E519E735-CA00-4580-80EB-4C315FDF20E9}" type="pres">
      <dgm:prSet presAssocID="{FD9A37AA-706A-46BE-8D64-B712C175099D}" presName="node" presStyleLbl="node1" presStyleIdx="3" presStyleCnt="4">
        <dgm:presLayoutVars>
          <dgm:bulletEnabled val="1"/>
        </dgm:presLayoutVars>
      </dgm:prSet>
      <dgm:spPr/>
    </dgm:pt>
  </dgm:ptLst>
  <dgm:cxnLst>
    <dgm:cxn modelId="{6063292B-BD82-4C9E-BD26-2EB81A510616}" type="presOf" srcId="{8CB1AB92-0D35-4D9E-910C-DC858367F493}" destId="{E4643988-F7AC-4788-BB89-40BE052C303A}" srcOrd="0" destOrd="0" presId="urn:microsoft.com/office/officeart/2005/8/layout/hList6"/>
    <dgm:cxn modelId="{D6226D30-9E4B-4972-9F84-1946F94CE62E}" srcId="{8CD2E5DB-863B-4C72-909B-8B419B7117A4}" destId="{FD9A37AA-706A-46BE-8D64-B712C175099D}" srcOrd="3" destOrd="0" parTransId="{FA2202F0-6D0E-434D-9B5F-2914F38CFA4D}" sibTransId="{8D05C544-73A1-4424-A663-2FF93A45B749}"/>
    <dgm:cxn modelId="{6D1CA085-093A-48BB-AA50-4EEC34F8FE81}" srcId="{8CD2E5DB-863B-4C72-909B-8B419B7117A4}" destId="{8CB1AB92-0D35-4D9E-910C-DC858367F493}" srcOrd="2" destOrd="0" parTransId="{4506A84B-E594-4C5E-8C7E-084225EC8365}" sibTransId="{7A07312F-12C2-4385-AE2C-47101AB54F62}"/>
    <dgm:cxn modelId="{099DB9A1-147F-4B39-91FE-4FCEB992B7B6}" type="presOf" srcId="{E64E6344-03F3-41EA-B2B3-D9F732B8BD60}" destId="{B0F71CE1-654B-47A6-95D9-FEB1EE507755}" srcOrd="0" destOrd="0" presId="urn:microsoft.com/office/officeart/2005/8/layout/hList6"/>
    <dgm:cxn modelId="{6D6C47C8-ED7B-4D41-B306-56BBB7843A33}" type="presOf" srcId="{FD9A37AA-706A-46BE-8D64-B712C175099D}" destId="{E519E735-CA00-4580-80EB-4C315FDF20E9}" srcOrd="0" destOrd="0" presId="urn:microsoft.com/office/officeart/2005/8/layout/hList6"/>
    <dgm:cxn modelId="{A62F87E6-8B47-449D-924D-FD0D2455636B}" srcId="{8CD2E5DB-863B-4C72-909B-8B419B7117A4}" destId="{E519E6D7-1EE6-41AA-93B9-CBF827FF2932}" srcOrd="1" destOrd="0" parTransId="{4337B2DA-A96A-414B-B2CA-AE7AD7536808}" sibTransId="{D50CD5AD-7200-4EA3-9E57-E817C1D83042}"/>
    <dgm:cxn modelId="{B20A42F4-B6B7-40E6-AFC2-7B6130734B27}" type="presOf" srcId="{8CD2E5DB-863B-4C72-909B-8B419B7117A4}" destId="{D7F0B5BE-4D82-4305-ACED-C2AC8C360F32}" srcOrd="0" destOrd="0" presId="urn:microsoft.com/office/officeart/2005/8/layout/hList6"/>
    <dgm:cxn modelId="{0933CEFD-D7D4-4621-9AE3-5DE16D85F837}" type="presOf" srcId="{E519E6D7-1EE6-41AA-93B9-CBF827FF2932}" destId="{5702F949-BC40-45A7-8470-7965D0BB6C11}" srcOrd="0" destOrd="0" presId="urn:microsoft.com/office/officeart/2005/8/layout/hList6"/>
    <dgm:cxn modelId="{08D3F0FE-4B45-4766-B833-483B36DF029C}" srcId="{8CD2E5DB-863B-4C72-909B-8B419B7117A4}" destId="{E64E6344-03F3-41EA-B2B3-D9F732B8BD60}" srcOrd="0" destOrd="0" parTransId="{69A6EF17-7BDA-4CB4-9F0E-5679408CF513}" sibTransId="{0DC89421-7892-4BB5-8A47-F6705D342A56}"/>
    <dgm:cxn modelId="{D174A1A0-3266-4A5B-8866-36E16C6F6512}" type="presParOf" srcId="{D7F0B5BE-4D82-4305-ACED-C2AC8C360F32}" destId="{B0F71CE1-654B-47A6-95D9-FEB1EE507755}" srcOrd="0" destOrd="0" presId="urn:microsoft.com/office/officeart/2005/8/layout/hList6"/>
    <dgm:cxn modelId="{64B94F7F-2C34-45F3-ABCC-DB5DD0F2F3A4}" type="presParOf" srcId="{D7F0B5BE-4D82-4305-ACED-C2AC8C360F32}" destId="{757D123B-4402-46A3-AE5E-614D53367F86}" srcOrd="1" destOrd="0" presId="urn:microsoft.com/office/officeart/2005/8/layout/hList6"/>
    <dgm:cxn modelId="{5CD3496C-79AA-4466-A619-5116AE896CF4}" type="presParOf" srcId="{D7F0B5BE-4D82-4305-ACED-C2AC8C360F32}" destId="{5702F949-BC40-45A7-8470-7965D0BB6C11}" srcOrd="2" destOrd="0" presId="urn:microsoft.com/office/officeart/2005/8/layout/hList6"/>
    <dgm:cxn modelId="{DF984522-9456-455B-AD50-25BCF88DA83E}" type="presParOf" srcId="{D7F0B5BE-4D82-4305-ACED-C2AC8C360F32}" destId="{32E87DF7-0305-4201-BF90-4C0A102E869F}" srcOrd="3" destOrd="0" presId="urn:microsoft.com/office/officeart/2005/8/layout/hList6"/>
    <dgm:cxn modelId="{2DF55E6F-F416-47F3-B9DB-B8014CEE8362}" type="presParOf" srcId="{D7F0B5BE-4D82-4305-ACED-C2AC8C360F32}" destId="{E4643988-F7AC-4788-BB89-40BE052C303A}" srcOrd="4" destOrd="0" presId="urn:microsoft.com/office/officeart/2005/8/layout/hList6"/>
    <dgm:cxn modelId="{6377149B-4308-4E7C-8A03-2B535E4A647A}" type="presParOf" srcId="{D7F0B5BE-4D82-4305-ACED-C2AC8C360F32}" destId="{78428316-D4D1-44BD-94F9-21BF25409F26}" srcOrd="5" destOrd="0" presId="urn:microsoft.com/office/officeart/2005/8/layout/hList6"/>
    <dgm:cxn modelId="{0789D653-D00E-4290-92AA-A6123FD6F9FE}" type="presParOf" srcId="{D7F0B5BE-4D82-4305-ACED-C2AC8C360F32}" destId="{E519E735-CA00-4580-80EB-4C315FDF20E9}" srcOrd="6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437DCD2-B565-4945-A106-C7EF808BDB68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700C0F5F-6D57-48AA-95AD-D71F221995BF}">
      <dgm:prSet/>
      <dgm:spPr/>
      <dgm:t>
        <a:bodyPr/>
        <a:lstStyle/>
        <a:p>
          <a:r>
            <a:rPr lang="zh-CN" b="1" i="0" baseline="0">
              <a:latin typeface="微软雅黑" panose="020B0503020204020204" pitchFamily="34" charset="-122"/>
              <a:ea typeface="微软雅黑" panose="020B0503020204020204" pitchFamily="34" charset="-122"/>
            </a:rPr>
            <a:t>为什么要限幅？</a:t>
          </a:r>
          <a:r>
            <a:rPr lang="zh-CN" b="0" i="0" baseline="0">
              <a:latin typeface="微软雅黑" panose="020B0503020204020204" pitchFamily="34" charset="-122"/>
              <a:ea typeface="微软雅黑" panose="020B0503020204020204" pitchFamily="34" charset="-122"/>
            </a:rPr>
            <a:t>：</a:t>
          </a:r>
          <a:endParaRPr lang="zh-CN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0A87B51-4A31-4CB7-80E3-344B39693196}" type="parTrans" cxnId="{EB0A16B4-D019-4FC2-B409-384FC35B7490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61D7534-2312-4420-846A-C8B97140942D}" type="sibTrans" cxnId="{EB0A16B4-D019-4FC2-B409-384FC35B7490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1559909-0B7F-4DC5-99E8-61A6081E64F7}">
      <dgm:prSet/>
      <dgm:spPr/>
      <dgm:t>
        <a:bodyPr/>
        <a:lstStyle/>
        <a:p>
          <a:r>
            <a:rPr lang="zh-CN" b="0" i="0" baseline="0" dirty="0">
              <a:latin typeface="微软雅黑" panose="020B0503020204020204" pitchFamily="34" charset="-122"/>
              <a:ea typeface="微软雅黑" panose="020B0503020204020204" pitchFamily="34" charset="-122"/>
            </a:rPr>
            <a:t>电机驱动器有物理极限（如PWM不能超过100%）。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E5D9036-47B4-4C84-9894-7D46655DE6C9}" type="parTrans" cxnId="{B5E26F59-3097-4712-B6DB-4E29A983044D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DA20D73-252A-4EFE-83FC-05D4B4C4E3C1}" type="sibTrans" cxnId="{B5E26F59-3097-4712-B6DB-4E29A983044D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2B5D5B4-B6CD-4E40-ABAD-59127EFC4EDF}">
      <dgm:prSet/>
      <dgm:spPr/>
      <dgm:t>
        <a:bodyPr/>
        <a:lstStyle/>
        <a:p>
          <a:r>
            <a:rPr lang="zh-CN" b="1" i="0" baseline="0" dirty="0">
              <a:latin typeface="微软雅黑" panose="020B0503020204020204" pitchFamily="34" charset="-122"/>
              <a:ea typeface="微软雅黑" panose="020B0503020204020204" pitchFamily="34" charset="-122"/>
            </a:rPr>
            <a:t>积分饱和现象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08885DC-6BAD-4769-B02F-EF790DE9C353}" type="parTrans" cxnId="{4B4AC2E8-4D68-4707-B7F5-83F385490828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D9FCBCC-8830-42CB-B2C0-744B327F7CDD}" type="sibTrans" cxnId="{4B4AC2E8-4D68-4707-B7F5-83F385490828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8B92441-0142-43E6-892D-51F373423A73}">
      <dgm:prSet/>
      <dgm:spPr/>
      <dgm:t>
        <a:bodyPr/>
        <a:lstStyle/>
        <a:p>
          <a:r>
            <a:rPr lang="zh-CN" b="1" i="0" baseline="0" dirty="0">
              <a:latin typeface="微软雅黑" panose="020B0503020204020204" pitchFamily="34" charset="-122"/>
              <a:ea typeface="微软雅黑" panose="020B0503020204020204" pitchFamily="34" charset="-122"/>
            </a:rPr>
            <a:t>代码解决策略</a:t>
          </a:r>
          <a:r>
            <a:rPr lang="zh-CN" b="0" i="0" baseline="0" dirty="0">
              <a:latin typeface="微软雅黑" panose="020B0503020204020204" pitchFamily="34" charset="-122"/>
              <a:ea typeface="微软雅黑" panose="020B0503020204020204" pitchFamily="34" charset="-122"/>
            </a:rPr>
            <a:t>：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0424A64-B443-4837-BE8B-46FBF83A2392}" type="parTrans" cxnId="{016039AA-21B4-4101-AEB4-224A67287852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6B744C9-5243-4556-BC36-EED2CC238B21}" type="sibTrans" cxnId="{016039AA-21B4-4101-AEB4-224A67287852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1AA8C25-1B0D-426E-949F-A0A5308E4499}">
      <dgm:prSet/>
      <dgm:spPr/>
      <dgm:t>
        <a:bodyPr/>
        <a:lstStyle/>
        <a:p>
          <a:r>
            <a:rPr lang="zh-CN" b="1" i="0" baseline="0" dirty="0">
              <a:latin typeface="微软雅黑" panose="020B0503020204020204" pitchFamily="34" charset="-122"/>
              <a:ea typeface="微软雅黑" panose="020B0503020204020204" pitchFamily="34" charset="-122"/>
            </a:rPr>
            <a:t>输出限幅</a:t>
          </a:r>
          <a:r>
            <a:rPr lang="zh-CN" b="0" i="0" baseline="0" dirty="0">
              <a:latin typeface="微软雅黑" panose="020B0503020204020204" pitchFamily="34" charset="-122"/>
              <a:ea typeface="微软雅黑" panose="020B0503020204020204" pitchFamily="34" charset="-122"/>
            </a:rPr>
            <a:t>：在输出前强制约束在 [Min,Max] 区间。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1D90C06-A765-481F-BC76-3DDB42D68183}" type="parTrans" cxnId="{705F7180-3747-4A57-9D42-F5322CAF663A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D5CC92F-C46C-4AB6-BD43-45D54FDCB695}" type="sibTrans" cxnId="{705F7180-3747-4A57-9D42-F5322CAF663A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30E780C-0D16-4985-9FC2-CE8A45536CED}">
      <dgm:prSet/>
      <dgm:spPr/>
      <dgm:t>
        <a:bodyPr/>
        <a:lstStyle/>
        <a:p>
          <a:r>
            <a:rPr lang="zh-CN" b="1" i="0" baseline="0" dirty="0">
              <a:latin typeface="微软雅黑" panose="020B0503020204020204" pitchFamily="34" charset="-122"/>
              <a:ea typeface="微软雅黑" panose="020B0503020204020204" pitchFamily="34" charset="-122"/>
            </a:rPr>
            <a:t>积分限幅/抗饱和</a:t>
          </a:r>
          <a:r>
            <a:rPr lang="zh-CN" b="0" i="0" baseline="0" dirty="0">
              <a:latin typeface="微软雅黑" panose="020B0503020204020204" pitchFamily="34" charset="-122"/>
              <a:ea typeface="微软雅黑" panose="020B0503020204020204" pitchFamily="34" charset="-122"/>
            </a:rPr>
            <a:t>：当输出达到最大值时，停止累加积分项 。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3B8BBC7-6A67-40F3-A88A-377814DF8E9C}" type="parTrans" cxnId="{2B422C8C-8B06-4B56-8D1A-50569491D7AA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26E3525-3156-47A2-AA35-13776A635313}" type="sibTrans" cxnId="{2B422C8C-8B06-4B56-8D1A-50569491D7AA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ECC43AA-1880-44E7-8E61-E9B4832D933B}">
      <dgm:prSet/>
      <dgm:spPr/>
      <dgm:t>
        <a:bodyPr/>
        <a:lstStyle/>
        <a:p>
          <a:r>
            <a:rPr lang="zh-CN" b="0" i="0" baseline="0" dirty="0">
              <a:latin typeface="微软雅黑" panose="020B0503020204020204" pitchFamily="34" charset="-122"/>
              <a:ea typeface="微软雅黑" panose="020B0503020204020204" pitchFamily="34" charset="-122"/>
            </a:rPr>
            <a:t>如果电机被卡死，误差一直存在，积分项会疯涨到无穷大，导致电机脱困后依然失控猛冲 。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F8802CD-4B4D-4AFE-8ED8-D7AA3436B394}" type="parTrans" cxnId="{46F4B2F8-00D6-4F92-89E4-6D18F3EB017D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ED1146F-BD6E-4983-84A9-612EC32872A0}" type="sibTrans" cxnId="{46F4B2F8-00D6-4F92-89E4-6D18F3EB017D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B37828F-6DB7-442A-A342-8AA9FFB559F2}" type="pres">
      <dgm:prSet presAssocID="{0437DCD2-B565-4945-A106-C7EF808BDB68}" presName="linear" presStyleCnt="0">
        <dgm:presLayoutVars>
          <dgm:dir/>
          <dgm:animLvl val="lvl"/>
          <dgm:resizeHandles val="exact"/>
        </dgm:presLayoutVars>
      </dgm:prSet>
      <dgm:spPr/>
    </dgm:pt>
    <dgm:pt modelId="{A1D05E42-1DD3-43D3-97D4-3746D6753425}" type="pres">
      <dgm:prSet presAssocID="{700C0F5F-6D57-48AA-95AD-D71F221995BF}" presName="parentLin" presStyleCnt="0"/>
      <dgm:spPr/>
    </dgm:pt>
    <dgm:pt modelId="{84AAAE1B-FEFA-4175-8EB9-91691A35F0A7}" type="pres">
      <dgm:prSet presAssocID="{700C0F5F-6D57-48AA-95AD-D71F221995BF}" presName="parentLeftMargin" presStyleLbl="node1" presStyleIdx="0" presStyleCnt="3"/>
      <dgm:spPr/>
    </dgm:pt>
    <dgm:pt modelId="{495F6941-320A-4138-9A69-405A1F281FED}" type="pres">
      <dgm:prSet presAssocID="{700C0F5F-6D57-48AA-95AD-D71F221995B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0B02C43-D405-426E-8231-E7858AE98B5A}" type="pres">
      <dgm:prSet presAssocID="{700C0F5F-6D57-48AA-95AD-D71F221995BF}" presName="negativeSpace" presStyleCnt="0"/>
      <dgm:spPr/>
    </dgm:pt>
    <dgm:pt modelId="{4668845E-4164-4BFE-957E-04F241914596}" type="pres">
      <dgm:prSet presAssocID="{700C0F5F-6D57-48AA-95AD-D71F221995BF}" presName="childText" presStyleLbl="conFgAcc1" presStyleIdx="0" presStyleCnt="3">
        <dgm:presLayoutVars>
          <dgm:bulletEnabled val="1"/>
        </dgm:presLayoutVars>
      </dgm:prSet>
      <dgm:spPr/>
    </dgm:pt>
    <dgm:pt modelId="{DE7B184F-911E-442C-88FB-8BD9C005BD18}" type="pres">
      <dgm:prSet presAssocID="{161D7534-2312-4420-846A-C8B97140942D}" presName="spaceBetweenRectangles" presStyleCnt="0"/>
      <dgm:spPr/>
    </dgm:pt>
    <dgm:pt modelId="{4C43F568-C0F0-4D1C-BE67-A4D1485089CB}" type="pres">
      <dgm:prSet presAssocID="{B2B5D5B4-B6CD-4E40-ABAD-59127EFC4EDF}" presName="parentLin" presStyleCnt="0"/>
      <dgm:spPr/>
    </dgm:pt>
    <dgm:pt modelId="{91EBAF67-5292-4FC7-AB09-2FDABDDAD43C}" type="pres">
      <dgm:prSet presAssocID="{B2B5D5B4-B6CD-4E40-ABAD-59127EFC4EDF}" presName="parentLeftMargin" presStyleLbl="node1" presStyleIdx="0" presStyleCnt="3"/>
      <dgm:spPr/>
    </dgm:pt>
    <dgm:pt modelId="{892EE7B0-C779-4F44-83ED-5B86E1138B7D}" type="pres">
      <dgm:prSet presAssocID="{B2B5D5B4-B6CD-4E40-ABAD-59127EFC4ED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8037276-132F-4C99-B754-D66D632F56EC}" type="pres">
      <dgm:prSet presAssocID="{B2B5D5B4-B6CD-4E40-ABAD-59127EFC4EDF}" presName="negativeSpace" presStyleCnt="0"/>
      <dgm:spPr/>
    </dgm:pt>
    <dgm:pt modelId="{DD03B685-C514-44F2-8540-2745B222F39F}" type="pres">
      <dgm:prSet presAssocID="{B2B5D5B4-B6CD-4E40-ABAD-59127EFC4EDF}" presName="childText" presStyleLbl="conFgAcc1" presStyleIdx="1" presStyleCnt="3">
        <dgm:presLayoutVars>
          <dgm:bulletEnabled val="1"/>
        </dgm:presLayoutVars>
      </dgm:prSet>
      <dgm:spPr/>
    </dgm:pt>
    <dgm:pt modelId="{E3BD7AC7-A72A-40E1-8FE3-EE242C6DB224}" type="pres">
      <dgm:prSet presAssocID="{DD9FCBCC-8830-42CB-B2C0-744B327F7CDD}" presName="spaceBetweenRectangles" presStyleCnt="0"/>
      <dgm:spPr/>
    </dgm:pt>
    <dgm:pt modelId="{1CFF3BA1-B339-4478-82C4-91A702AAD560}" type="pres">
      <dgm:prSet presAssocID="{F8B92441-0142-43E6-892D-51F373423A73}" presName="parentLin" presStyleCnt="0"/>
      <dgm:spPr/>
    </dgm:pt>
    <dgm:pt modelId="{34CF0AE6-F8ED-4766-B885-EF213D3E780B}" type="pres">
      <dgm:prSet presAssocID="{F8B92441-0142-43E6-892D-51F373423A73}" presName="parentLeftMargin" presStyleLbl="node1" presStyleIdx="1" presStyleCnt="3"/>
      <dgm:spPr/>
    </dgm:pt>
    <dgm:pt modelId="{66BC7289-3F77-431D-9D93-690954A2CC11}" type="pres">
      <dgm:prSet presAssocID="{F8B92441-0142-43E6-892D-51F373423A73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69A1B0F-13F2-4D5C-B81A-B2A27DD12E38}" type="pres">
      <dgm:prSet presAssocID="{F8B92441-0142-43E6-892D-51F373423A73}" presName="negativeSpace" presStyleCnt="0"/>
      <dgm:spPr/>
    </dgm:pt>
    <dgm:pt modelId="{B93B62C2-52CB-4D47-82AE-CB6928C5EB57}" type="pres">
      <dgm:prSet presAssocID="{F8B92441-0142-43E6-892D-51F373423A73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9EBF6E18-965F-4473-BAD1-B76FA57B21CF}" type="presOf" srcId="{0437DCD2-B565-4945-A106-C7EF808BDB68}" destId="{BB37828F-6DB7-442A-A342-8AA9FFB559F2}" srcOrd="0" destOrd="0" presId="urn:microsoft.com/office/officeart/2005/8/layout/list1"/>
    <dgm:cxn modelId="{31179831-EF61-41F1-A8A1-EB9659505E42}" type="presOf" srcId="{B2B5D5B4-B6CD-4E40-ABAD-59127EFC4EDF}" destId="{892EE7B0-C779-4F44-83ED-5B86E1138B7D}" srcOrd="1" destOrd="0" presId="urn:microsoft.com/office/officeart/2005/8/layout/list1"/>
    <dgm:cxn modelId="{45428237-9A6A-4AD1-83A6-68B910AFEDAF}" type="presOf" srcId="{21559909-0B7F-4DC5-99E8-61A6081E64F7}" destId="{4668845E-4164-4BFE-957E-04F241914596}" srcOrd="0" destOrd="0" presId="urn:microsoft.com/office/officeart/2005/8/layout/list1"/>
    <dgm:cxn modelId="{95AFB438-2EBA-4A5C-A809-4209E056AB03}" type="presOf" srcId="{F8B92441-0142-43E6-892D-51F373423A73}" destId="{34CF0AE6-F8ED-4766-B885-EF213D3E780B}" srcOrd="0" destOrd="0" presId="urn:microsoft.com/office/officeart/2005/8/layout/list1"/>
    <dgm:cxn modelId="{B5E26F59-3097-4712-B6DB-4E29A983044D}" srcId="{700C0F5F-6D57-48AA-95AD-D71F221995BF}" destId="{21559909-0B7F-4DC5-99E8-61A6081E64F7}" srcOrd="0" destOrd="0" parTransId="{3E5D9036-47B4-4C84-9894-7D46655DE6C9}" sibTransId="{BDA20D73-252A-4EFE-83FC-05D4B4C4E3C1}"/>
    <dgm:cxn modelId="{705F7180-3747-4A57-9D42-F5322CAF663A}" srcId="{F8B92441-0142-43E6-892D-51F373423A73}" destId="{81AA8C25-1B0D-426E-949F-A0A5308E4499}" srcOrd="0" destOrd="0" parTransId="{E1D90C06-A765-481F-BC76-3DDB42D68183}" sibTransId="{DD5CC92F-C46C-4AB6-BD43-45D54FDCB695}"/>
    <dgm:cxn modelId="{2B422C8C-8B06-4B56-8D1A-50569491D7AA}" srcId="{F8B92441-0142-43E6-892D-51F373423A73}" destId="{C30E780C-0D16-4985-9FC2-CE8A45536CED}" srcOrd="1" destOrd="0" parTransId="{03B8BBC7-6A67-40F3-A88A-377814DF8E9C}" sibTransId="{B26E3525-3156-47A2-AA35-13776A635313}"/>
    <dgm:cxn modelId="{50C2FD94-E7A1-45C5-8903-B669661A47EE}" type="presOf" srcId="{F8B92441-0142-43E6-892D-51F373423A73}" destId="{66BC7289-3F77-431D-9D93-690954A2CC11}" srcOrd="1" destOrd="0" presId="urn:microsoft.com/office/officeart/2005/8/layout/list1"/>
    <dgm:cxn modelId="{016039AA-21B4-4101-AEB4-224A67287852}" srcId="{0437DCD2-B565-4945-A106-C7EF808BDB68}" destId="{F8B92441-0142-43E6-892D-51F373423A73}" srcOrd="2" destOrd="0" parTransId="{A0424A64-B443-4837-BE8B-46FBF83A2392}" sibTransId="{86B744C9-5243-4556-BC36-EED2CC238B21}"/>
    <dgm:cxn modelId="{E02352B3-37C4-4A51-89BD-09E4EAE8BE26}" type="presOf" srcId="{8ECC43AA-1880-44E7-8E61-E9B4832D933B}" destId="{DD03B685-C514-44F2-8540-2745B222F39F}" srcOrd="0" destOrd="0" presId="urn:microsoft.com/office/officeart/2005/8/layout/list1"/>
    <dgm:cxn modelId="{EB0A16B4-D019-4FC2-B409-384FC35B7490}" srcId="{0437DCD2-B565-4945-A106-C7EF808BDB68}" destId="{700C0F5F-6D57-48AA-95AD-D71F221995BF}" srcOrd="0" destOrd="0" parTransId="{B0A87B51-4A31-4CB7-80E3-344B39693196}" sibTransId="{161D7534-2312-4420-846A-C8B97140942D}"/>
    <dgm:cxn modelId="{498DCEB5-F1BF-4829-99A7-4212C2ACAF2D}" type="presOf" srcId="{700C0F5F-6D57-48AA-95AD-D71F221995BF}" destId="{495F6941-320A-4138-9A69-405A1F281FED}" srcOrd="1" destOrd="0" presId="urn:microsoft.com/office/officeart/2005/8/layout/list1"/>
    <dgm:cxn modelId="{C32213B9-E00A-4068-8FC4-50F902C34B34}" type="presOf" srcId="{C30E780C-0D16-4985-9FC2-CE8A45536CED}" destId="{B93B62C2-52CB-4D47-82AE-CB6928C5EB57}" srcOrd="0" destOrd="1" presId="urn:microsoft.com/office/officeart/2005/8/layout/list1"/>
    <dgm:cxn modelId="{EAF3E8DE-6EA0-4829-A287-43903AF885E2}" type="presOf" srcId="{81AA8C25-1B0D-426E-949F-A0A5308E4499}" destId="{B93B62C2-52CB-4D47-82AE-CB6928C5EB57}" srcOrd="0" destOrd="0" presId="urn:microsoft.com/office/officeart/2005/8/layout/list1"/>
    <dgm:cxn modelId="{E41317E2-6E59-4866-A401-9A926F1762A8}" type="presOf" srcId="{B2B5D5B4-B6CD-4E40-ABAD-59127EFC4EDF}" destId="{91EBAF67-5292-4FC7-AB09-2FDABDDAD43C}" srcOrd="0" destOrd="0" presId="urn:microsoft.com/office/officeart/2005/8/layout/list1"/>
    <dgm:cxn modelId="{4B4AC2E8-4D68-4707-B7F5-83F385490828}" srcId="{0437DCD2-B565-4945-A106-C7EF808BDB68}" destId="{B2B5D5B4-B6CD-4E40-ABAD-59127EFC4EDF}" srcOrd="1" destOrd="0" parTransId="{C08885DC-6BAD-4769-B02F-EF790DE9C353}" sibTransId="{DD9FCBCC-8830-42CB-B2C0-744B327F7CDD}"/>
    <dgm:cxn modelId="{4BDC27F2-3250-407B-99F8-4C496499B35B}" type="presOf" srcId="{700C0F5F-6D57-48AA-95AD-D71F221995BF}" destId="{84AAAE1B-FEFA-4175-8EB9-91691A35F0A7}" srcOrd="0" destOrd="0" presId="urn:microsoft.com/office/officeart/2005/8/layout/list1"/>
    <dgm:cxn modelId="{46F4B2F8-00D6-4F92-89E4-6D18F3EB017D}" srcId="{B2B5D5B4-B6CD-4E40-ABAD-59127EFC4EDF}" destId="{8ECC43AA-1880-44E7-8E61-E9B4832D933B}" srcOrd="0" destOrd="0" parTransId="{5F8802CD-4B4D-4AFE-8ED8-D7AA3436B394}" sibTransId="{8ED1146F-BD6E-4983-84A9-612EC32872A0}"/>
    <dgm:cxn modelId="{2E39EEC0-656D-44AE-8068-836AAC9E4F8B}" type="presParOf" srcId="{BB37828F-6DB7-442A-A342-8AA9FFB559F2}" destId="{A1D05E42-1DD3-43D3-97D4-3746D6753425}" srcOrd="0" destOrd="0" presId="urn:microsoft.com/office/officeart/2005/8/layout/list1"/>
    <dgm:cxn modelId="{695562FF-30A9-4C59-A2E0-C39B58A43204}" type="presParOf" srcId="{A1D05E42-1DD3-43D3-97D4-3746D6753425}" destId="{84AAAE1B-FEFA-4175-8EB9-91691A35F0A7}" srcOrd="0" destOrd="0" presId="urn:microsoft.com/office/officeart/2005/8/layout/list1"/>
    <dgm:cxn modelId="{BFA380D8-1D74-4E56-B52B-2709559DC4DA}" type="presParOf" srcId="{A1D05E42-1DD3-43D3-97D4-3746D6753425}" destId="{495F6941-320A-4138-9A69-405A1F281FED}" srcOrd="1" destOrd="0" presId="urn:microsoft.com/office/officeart/2005/8/layout/list1"/>
    <dgm:cxn modelId="{422C2BA6-FB88-4B49-9C2B-1199DAF62EE6}" type="presParOf" srcId="{BB37828F-6DB7-442A-A342-8AA9FFB559F2}" destId="{10B02C43-D405-426E-8231-E7858AE98B5A}" srcOrd="1" destOrd="0" presId="urn:microsoft.com/office/officeart/2005/8/layout/list1"/>
    <dgm:cxn modelId="{BFA20FC9-B5C4-4ABB-BE1A-959974BE50BC}" type="presParOf" srcId="{BB37828F-6DB7-442A-A342-8AA9FFB559F2}" destId="{4668845E-4164-4BFE-957E-04F241914596}" srcOrd="2" destOrd="0" presId="urn:microsoft.com/office/officeart/2005/8/layout/list1"/>
    <dgm:cxn modelId="{9C029F50-7BEC-415D-8FED-CADEF2F31D8D}" type="presParOf" srcId="{BB37828F-6DB7-442A-A342-8AA9FFB559F2}" destId="{DE7B184F-911E-442C-88FB-8BD9C005BD18}" srcOrd="3" destOrd="0" presId="urn:microsoft.com/office/officeart/2005/8/layout/list1"/>
    <dgm:cxn modelId="{CFD021E2-080C-4AEB-8A0A-EE93905CE62D}" type="presParOf" srcId="{BB37828F-6DB7-442A-A342-8AA9FFB559F2}" destId="{4C43F568-C0F0-4D1C-BE67-A4D1485089CB}" srcOrd="4" destOrd="0" presId="urn:microsoft.com/office/officeart/2005/8/layout/list1"/>
    <dgm:cxn modelId="{B4D7B154-42A4-4BDA-9DC3-849E1A8A303F}" type="presParOf" srcId="{4C43F568-C0F0-4D1C-BE67-A4D1485089CB}" destId="{91EBAF67-5292-4FC7-AB09-2FDABDDAD43C}" srcOrd="0" destOrd="0" presId="urn:microsoft.com/office/officeart/2005/8/layout/list1"/>
    <dgm:cxn modelId="{C39080C0-1323-4F5A-B61B-63348EE605EE}" type="presParOf" srcId="{4C43F568-C0F0-4D1C-BE67-A4D1485089CB}" destId="{892EE7B0-C779-4F44-83ED-5B86E1138B7D}" srcOrd="1" destOrd="0" presId="urn:microsoft.com/office/officeart/2005/8/layout/list1"/>
    <dgm:cxn modelId="{96F8773E-1D06-46FB-ACC4-29AA476D886A}" type="presParOf" srcId="{BB37828F-6DB7-442A-A342-8AA9FFB559F2}" destId="{F8037276-132F-4C99-B754-D66D632F56EC}" srcOrd="5" destOrd="0" presId="urn:microsoft.com/office/officeart/2005/8/layout/list1"/>
    <dgm:cxn modelId="{2FEC0CD2-397D-4C3D-A295-BAB7B7B7636A}" type="presParOf" srcId="{BB37828F-6DB7-442A-A342-8AA9FFB559F2}" destId="{DD03B685-C514-44F2-8540-2745B222F39F}" srcOrd="6" destOrd="0" presId="urn:microsoft.com/office/officeart/2005/8/layout/list1"/>
    <dgm:cxn modelId="{243B1417-878D-4B2B-BF1C-3D19578599A5}" type="presParOf" srcId="{BB37828F-6DB7-442A-A342-8AA9FFB559F2}" destId="{E3BD7AC7-A72A-40E1-8FE3-EE242C6DB224}" srcOrd="7" destOrd="0" presId="urn:microsoft.com/office/officeart/2005/8/layout/list1"/>
    <dgm:cxn modelId="{8ECD1096-A543-4F08-A03D-621B62800D56}" type="presParOf" srcId="{BB37828F-6DB7-442A-A342-8AA9FFB559F2}" destId="{1CFF3BA1-B339-4478-82C4-91A702AAD560}" srcOrd="8" destOrd="0" presId="urn:microsoft.com/office/officeart/2005/8/layout/list1"/>
    <dgm:cxn modelId="{8DB915FE-4970-467C-8363-57CE85B8789B}" type="presParOf" srcId="{1CFF3BA1-B339-4478-82C4-91A702AAD560}" destId="{34CF0AE6-F8ED-4766-B885-EF213D3E780B}" srcOrd="0" destOrd="0" presId="urn:microsoft.com/office/officeart/2005/8/layout/list1"/>
    <dgm:cxn modelId="{7E4F5F46-0578-4456-A81E-7213097AF31F}" type="presParOf" srcId="{1CFF3BA1-B339-4478-82C4-91A702AAD560}" destId="{66BC7289-3F77-431D-9D93-690954A2CC11}" srcOrd="1" destOrd="0" presId="urn:microsoft.com/office/officeart/2005/8/layout/list1"/>
    <dgm:cxn modelId="{0317A675-EF18-4B62-8901-5F0C9970B06D}" type="presParOf" srcId="{BB37828F-6DB7-442A-A342-8AA9FFB559F2}" destId="{569A1B0F-13F2-4D5C-B81A-B2A27DD12E38}" srcOrd="9" destOrd="0" presId="urn:microsoft.com/office/officeart/2005/8/layout/list1"/>
    <dgm:cxn modelId="{C1B72424-5893-44AF-AFC1-D451FD89B3B1}" type="presParOf" srcId="{BB37828F-6DB7-442A-A342-8AA9FFB559F2}" destId="{B93B62C2-52CB-4D47-82AE-CB6928C5EB57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ACF612A-8D33-484F-82E4-C3572B57768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4D1FC642-5C9E-4ABA-876B-54FA99B85C63}">
      <dgm:prSet/>
      <dgm:spPr/>
      <dgm:t>
        <a:bodyPr/>
        <a:lstStyle/>
        <a:p>
          <a:r>
            <a:rPr lang="zh-CN" dirty="0"/>
            <a:t>第一步 </a:t>
          </a:r>
          <a:r>
            <a:rPr lang="en-US" dirty="0"/>
            <a:t>(P)</a:t>
          </a:r>
          <a:r>
            <a:rPr lang="zh-CN" dirty="0"/>
            <a:t>： 关掉 </a:t>
          </a:r>
          <a:r>
            <a:rPr lang="en-US" dirty="0"/>
            <a:t>I </a:t>
          </a:r>
          <a:r>
            <a:rPr lang="zh-CN" dirty="0"/>
            <a:t>和 </a:t>
          </a:r>
          <a:r>
            <a:rPr lang="en-US" dirty="0"/>
            <a:t>D</a:t>
          </a:r>
          <a:r>
            <a:rPr lang="zh-CN" dirty="0"/>
            <a:t>。</a:t>
          </a:r>
        </a:p>
      </dgm:t>
    </dgm:pt>
    <dgm:pt modelId="{0228B7F8-B77D-4534-B93C-906E9BBBECDC}" type="parTrans" cxnId="{EAEB9EAE-74E5-401A-8B4B-30E91273C227}">
      <dgm:prSet/>
      <dgm:spPr/>
      <dgm:t>
        <a:bodyPr/>
        <a:lstStyle/>
        <a:p>
          <a:endParaRPr lang="zh-CN" altLang="en-US"/>
        </a:p>
      </dgm:t>
    </dgm:pt>
    <dgm:pt modelId="{86114FEB-CE3E-4369-8DE3-311B6C3BD188}" type="sibTrans" cxnId="{EAEB9EAE-74E5-401A-8B4B-30E91273C227}">
      <dgm:prSet/>
      <dgm:spPr/>
      <dgm:t>
        <a:bodyPr/>
        <a:lstStyle/>
        <a:p>
          <a:endParaRPr lang="zh-CN" altLang="en-US"/>
        </a:p>
      </dgm:t>
    </dgm:pt>
    <dgm:pt modelId="{7DFB981B-5A31-4B18-8192-871F02BF666A}">
      <dgm:prSet/>
      <dgm:spPr/>
      <dgm:t>
        <a:bodyPr/>
        <a:lstStyle/>
        <a:p>
          <a:r>
            <a:rPr lang="zh-CN" dirty="0"/>
            <a:t>第二步 </a:t>
          </a:r>
          <a:r>
            <a:rPr lang="en-US" dirty="0"/>
            <a:t>(I)</a:t>
          </a:r>
          <a:r>
            <a:rPr lang="zh-CN" dirty="0"/>
            <a:t>： 缓慢增加 </a:t>
          </a:r>
          <a:r>
            <a:rPr lang="en-US" dirty="0"/>
            <a:t>Ki​</a:t>
          </a:r>
          <a:r>
            <a:rPr lang="zh-CN" dirty="0"/>
            <a:t>，消除静态误差。</a:t>
          </a:r>
        </a:p>
      </dgm:t>
    </dgm:pt>
    <dgm:pt modelId="{BA74A5EC-7272-4CEB-A288-F69FC4FBA8F7}" type="parTrans" cxnId="{6FB52F26-340A-4EFB-9FEC-E0511B1FE63F}">
      <dgm:prSet/>
      <dgm:spPr/>
      <dgm:t>
        <a:bodyPr/>
        <a:lstStyle/>
        <a:p>
          <a:endParaRPr lang="zh-CN" altLang="en-US"/>
        </a:p>
      </dgm:t>
    </dgm:pt>
    <dgm:pt modelId="{1386DC5E-7DEA-4CCB-9817-9C836BAD283A}" type="sibTrans" cxnId="{6FB52F26-340A-4EFB-9FEC-E0511B1FE63F}">
      <dgm:prSet/>
      <dgm:spPr/>
      <dgm:t>
        <a:bodyPr/>
        <a:lstStyle/>
        <a:p>
          <a:endParaRPr lang="zh-CN" altLang="en-US"/>
        </a:p>
      </dgm:t>
    </dgm:pt>
    <dgm:pt modelId="{A9750A8B-80EE-42EC-860D-F809222607D0}">
      <dgm:prSet/>
      <dgm:spPr/>
      <dgm:t>
        <a:bodyPr/>
        <a:lstStyle/>
        <a:p>
          <a:r>
            <a:rPr lang="zh-CN" dirty="0"/>
            <a:t>第三步 </a:t>
          </a:r>
          <a:r>
            <a:rPr lang="en-US" dirty="0"/>
            <a:t>(D)</a:t>
          </a:r>
          <a:r>
            <a:rPr lang="zh-CN" dirty="0"/>
            <a:t>： 如果系统反应太激进、有超调（冲过头），加入 </a:t>
          </a:r>
          <a:r>
            <a:rPr lang="en-US" dirty="0" err="1"/>
            <a:t>Kd</a:t>
          </a:r>
          <a:r>
            <a:rPr lang="en-US" dirty="0"/>
            <a:t>​</a:t>
          </a:r>
          <a:r>
            <a:rPr lang="zh-CN" dirty="0"/>
            <a:t>。</a:t>
          </a:r>
        </a:p>
      </dgm:t>
    </dgm:pt>
    <dgm:pt modelId="{A7B2163B-07FD-44C9-8E17-DD74AC9609B5}" type="parTrans" cxnId="{DFC9ABE4-5BD4-4B10-9BD8-B6A86502C24D}">
      <dgm:prSet/>
      <dgm:spPr/>
      <dgm:t>
        <a:bodyPr/>
        <a:lstStyle/>
        <a:p>
          <a:endParaRPr lang="zh-CN" altLang="en-US"/>
        </a:p>
      </dgm:t>
    </dgm:pt>
    <dgm:pt modelId="{AE551B48-1A72-4564-BBC3-F090058AD538}" type="sibTrans" cxnId="{DFC9ABE4-5BD4-4B10-9BD8-B6A86502C24D}">
      <dgm:prSet/>
      <dgm:spPr/>
      <dgm:t>
        <a:bodyPr/>
        <a:lstStyle/>
        <a:p>
          <a:endParaRPr lang="zh-CN" altLang="en-US"/>
        </a:p>
      </dgm:t>
    </dgm:pt>
    <dgm:pt modelId="{F28A03CA-A34F-4746-B97E-7FD922AC0F4E}">
      <dgm:prSet/>
      <dgm:spPr/>
      <dgm:t>
        <a:bodyPr/>
        <a:lstStyle/>
        <a:p>
          <a:r>
            <a:rPr lang="zh-CN" dirty="0"/>
            <a:t>从小到大增加 </a:t>
          </a:r>
          <a:r>
            <a:rPr lang="en-US" dirty="0" err="1"/>
            <a:t>Kp</a:t>
          </a:r>
          <a:r>
            <a:rPr lang="en-US" dirty="0"/>
            <a:t>​</a:t>
          </a:r>
          <a:r>
            <a:rPr lang="zh-CN" dirty="0"/>
            <a:t>，直到系统出现明显振荡，然后减小到该值的 </a:t>
          </a:r>
          <a:r>
            <a:rPr lang="en-US" dirty="0"/>
            <a:t>60%</a:t>
          </a:r>
          <a:r>
            <a:rPr lang="zh-CN" dirty="0"/>
            <a:t>。</a:t>
          </a:r>
        </a:p>
      </dgm:t>
    </dgm:pt>
    <dgm:pt modelId="{4F75ECAB-4612-4C33-9176-B5481A320560}" type="parTrans" cxnId="{52C2E156-6C84-4DC9-9DA0-7957E6C32C6A}">
      <dgm:prSet/>
      <dgm:spPr/>
      <dgm:t>
        <a:bodyPr/>
        <a:lstStyle/>
        <a:p>
          <a:endParaRPr lang="zh-CN" altLang="en-US"/>
        </a:p>
      </dgm:t>
    </dgm:pt>
    <dgm:pt modelId="{1411F6A0-F4A9-4D6D-B7B1-E869EAFA1B0E}" type="sibTrans" cxnId="{52C2E156-6C84-4DC9-9DA0-7957E6C32C6A}">
      <dgm:prSet/>
      <dgm:spPr/>
      <dgm:t>
        <a:bodyPr/>
        <a:lstStyle/>
        <a:p>
          <a:endParaRPr lang="zh-CN" altLang="en-US"/>
        </a:p>
      </dgm:t>
    </dgm:pt>
    <dgm:pt modelId="{44C4721C-82B8-447D-BD69-825959576F4F}">
      <dgm:prSet/>
      <dgm:spPr/>
      <dgm:t>
        <a:bodyPr/>
        <a:lstStyle/>
        <a:p>
          <a:r>
            <a:rPr lang="zh-CN" dirty="0"/>
            <a:t>目标是让系统能稳定“停在”设定点。</a:t>
          </a:r>
        </a:p>
      </dgm:t>
    </dgm:pt>
    <dgm:pt modelId="{AB2813B2-AD32-4631-BB61-E98B94E4F9C5}" type="parTrans" cxnId="{4B2DB7C6-54A1-4555-BEA4-16F604E6DFB9}">
      <dgm:prSet/>
      <dgm:spPr/>
      <dgm:t>
        <a:bodyPr/>
        <a:lstStyle/>
        <a:p>
          <a:endParaRPr lang="zh-CN" altLang="en-US"/>
        </a:p>
      </dgm:t>
    </dgm:pt>
    <dgm:pt modelId="{76C233D1-573C-484E-9679-E2A528AACEE5}" type="sibTrans" cxnId="{4B2DB7C6-54A1-4555-BEA4-16F604E6DFB9}">
      <dgm:prSet/>
      <dgm:spPr/>
      <dgm:t>
        <a:bodyPr/>
        <a:lstStyle/>
        <a:p>
          <a:endParaRPr lang="zh-CN" altLang="en-US"/>
        </a:p>
      </dgm:t>
    </dgm:pt>
    <dgm:pt modelId="{244086D4-FD93-43AF-B4C7-0514E193D6AD}">
      <dgm:prSet/>
      <dgm:spPr/>
      <dgm:t>
        <a:bodyPr/>
        <a:lstStyle/>
        <a:p>
          <a:r>
            <a:rPr lang="zh-CN"/>
            <a:t>它像“阻尼器”，能让波形变平滑。</a:t>
          </a:r>
          <a:endParaRPr lang="zh-CN" dirty="0"/>
        </a:p>
      </dgm:t>
    </dgm:pt>
    <dgm:pt modelId="{391DE568-0627-44CE-B2D4-57F060407847}" type="parTrans" cxnId="{190F0865-406A-4F19-9142-E2D665D15305}">
      <dgm:prSet/>
      <dgm:spPr/>
      <dgm:t>
        <a:bodyPr/>
        <a:lstStyle/>
        <a:p>
          <a:endParaRPr lang="zh-CN" altLang="en-US"/>
        </a:p>
      </dgm:t>
    </dgm:pt>
    <dgm:pt modelId="{13EC3435-72D5-4827-AC79-66882475D075}" type="sibTrans" cxnId="{190F0865-406A-4F19-9142-E2D665D15305}">
      <dgm:prSet/>
      <dgm:spPr/>
      <dgm:t>
        <a:bodyPr/>
        <a:lstStyle/>
        <a:p>
          <a:endParaRPr lang="zh-CN" altLang="en-US"/>
        </a:p>
      </dgm:t>
    </dgm:pt>
    <dgm:pt modelId="{43EF2CE9-A931-4828-9460-CD2306E63034}" type="pres">
      <dgm:prSet presAssocID="{6ACF612A-8D33-484F-82E4-C3572B577682}" presName="linear" presStyleCnt="0">
        <dgm:presLayoutVars>
          <dgm:animLvl val="lvl"/>
          <dgm:resizeHandles val="exact"/>
        </dgm:presLayoutVars>
      </dgm:prSet>
      <dgm:spPr/>
    </dgm:pt>
    <dgm:pt modelId="{AA95624B-F4C3-460C-9097-D524F70454E5}" type="pres">
      <dgm:prSet presAssocID="{4D1FC642-5C9E-4ABA-876B-54FA99B85C6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755FF46-AF0B-4DCB-AB06-E6D7DBE929A7}" type="pres">
      <dgm:prSet presAssocID="{4D1FC642-5C9E-4ABA-876B-54FA99B85C63}" presName="childText" presStyleLbl="revTx" presStyleIdx="0" presStyleCnt="3">
        <dgm:presLayoutVars>
          <dgm:bulletEnabled val="1"/>
        </dgm:presLayoutVars>
      </dgm:prSet>
      <dgm:spPr/>
    </dgm:pt>
    <dgm:pt modelId="{0A96B558-7014-4452-9D1C-B08E2EF0A120}" type="pres">
      <dgm:prSet presAssocID="{7DFB981B-5A31-4B18-8192-871F02BF666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4E175B5-4CFE-47D6-9388-D7057D04485F}" type="pres">
      <dgm:prSet presAssocID="{7DFB981B-5A31-4B18-8192-871F02BF666A}" presName="childText" presStyleLbl="revTx" presStyleIdx="1" presStyleCnt="3">
        <dgm:presLayoutVars>
          <dgm:bulletEnabled val="1"/>
        </dgm:presLayoutVars>
      </dgm:prSet>
      <dgm:spPr/>
    </dgm:pt>
    <dgm:pt modelId="{D4789F98-7C41-4232-84A8-66E3F5237AE0}" type="pres">
      <dgm:prSet presAssocID="{A9750A8B-80EE-42EC-860D-F809222607D0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FD26D70-F948-437F-90FA-2998F954C196}" type="pres">
      <dgm:prSet presAssocID="{A9750A8B-80EE-42EC-860D-F809222607D0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2503EF17-876A-412F-9001-7A16AE5DA0FB}" type="presOf" srcId="{244086D4-FD93-43AF-B4C7-0514E193D6AD}" destId="{FFD26D70-F948-437F-90FA-2998F954C196}" srcOrd="0" destOrd="0" presId="urn:microsoft.com/office/officeart/2005/8/layout/vList2"/>
    <dgm:cxn modelId="{5391AF18-7148-4EEE-9918-8BD60EC696F9}" type="presOf" srcId="{4D1FC642-5C9E-4ABA-876B-54FA99B85C63}" destId="{AA95624B-F4C3-460C-9097-D524F70454E5}" srcOrd="0" destOrd="0" presId="urn:microsoft.com/office/officeart/2005/8/layout/vList2"/>
    <dgm:cxn modelId="{6FB52F26-340A-4EFB-9FEC-E0511B1FE63F}" srcId="{6ACF612A-8D33-484F-82E4-C3572B577682}" destId="{7DFB981B-5A31-4B18-8192-871F02BF666A}" srcOrd="1" destOrd="0" parTransId="{BA74A5EC-7272-4CEB-A288-F69FC4FBA8F7}" sibTransId="{1386DC5E-7DEA-4CCB-9817-9C836BAD283A}"/>
    <dgm:cxn modelId="{429ECA34-4175-4F3B-B37C-A2DE51459C00}" type="presOf" srcId="{44C4721C-82B8-447D-BD69-825959576F4F}" destId="{44E175B5-4CFE-47D6-9388-D7057D04485F}" srcOrd="0" destOrd="0" presId="urn:microsoft.com/office/officeart/2005/8/layout/vList2"/>
    <dgm:cxn modelId="{1D51CD5D-4C05-4FFA-86FF-71DE510F4DD2}" type="presOf" srcId="{6ACF612A-8D33-484F-82E4-C3572B577682}" destId="{43EF2CE9-A931-4828-9460-CD2306E63034}" srcOrd="0" destOrd="0" presId="urn:microsoft.com/office/officeart/2005/8/layout/vList2"/>
    <dgm:cxn modelId="{190F0865-406A-4F19-9142-E2D665D15305}" srcId="{A9750A8B-80EE-42EC-860D-F809222607D0}" destId="{244086D4-FD93-43AF-B4C7-0514E193D6AD}" srcOrd="0" destOrd="0" parTransId="{391DE568-0627-44CE-B2D4-57F060407847}" sibTransId="{13EC3435-72D5-4827-AC79-66882475D075}"/>
    <dgm:cxn modelId="{6B3C9B68-3C8C-47B1-977C-78CC8672E3E1}" type="presOf" srcId="{F28A03CA-A34F-4746-B97E-7FD922AC0F4E}" destId="{B755FF46-AF0B-4DCB-AB06-E6D7DBE929A7}" srcOrd="0" destOrd="0" presId="urn:microsoft.com/office/officeart/2005/8/layout/vList2"/>
    <dgm:cxn modelId="{52C2E156-6C84-4DC9-9DA0-7957E6C32C6A}" srcId="{4D1FC642-5C9E-4ABA-876B-54FA99B85C63}" destId="{F28A03CA-A34F-4746-B97E-7FD922AC0F4E}" srcOrd="0" destOrd="0" parTransId="{4F75ECAB-4612-4C33-9176-B5481A320560}" sibTransId="{1411F6A0-F4A9-4D6D-B7B1-E869EAFA1B0E}"/>
    <dgm:cxn modelId="{F0517D8F-70B3-4483-84AF-EE66BE68E5CA}" type="presOf" srcId="{7DFB981B-5A31-4B18-8192-871F02BF666A}" destId="{0A96B558-7014-4452-9D1C-B08E2EF0A120}" srcOrd="0" destOrd="0" presId="urn:microsoft.com/office/officeart/2005/8/layout/vList2"/>
    <dgm:cxn modelId="{EAEB9EAE-74E5-401A-8B4B-30E91273C227}" srcId="{6ACF612A-8D33-484F-82E4-C3572B577682}" destId="{4D1FC642-5C9E-4ABA-876B-54FA99B85C63}" srcOrd="0" destOrd="0" parTransId="{0228B7F8-B77D-4534-B93C-906E9BBBECDC}" sibTransId="{86114FEB-CE3E-4369-8DE3-311B6C3BD188}"/>
    <dgm:cxn modelId="{4B2DB7C6-54A1-4555-BEA4-16F604E6DFB9}" srcId="{7DFB981B-5A31-4B18-8192-871F02BF666A}" destId="{44C4721C-82B8-447D-BD69-825959576F4F}" srcOrd="0" destOrd="0" parTransId="{AB2813B2-AD32-4631-BB61-E98B94E4F9C5}" sibTransId="{76C233D1-573C-484E-9679-E2A528AACEE5}"/>
    <dgm:cxn modelId="{57E883E2-1AA2-40FC-8243-D9C8671F77CA}" type="presOf" srcId="{A9750A8B-80EE-42EC-860D-F809222607D0}" destId="{D4789F98-7C41-4232-84A8-66E3F5237AE0}" srcOrd="0" destOrd="0" presId="urn:microsoft.com/office/officeart/2005/8/layout/vList2"/>
    <dgm:cxn modelId="{DFC9ABE4-5BD4-4B10-9BD8-B6A86502C24D}" srcId="{6ACF612A-8D33-484F-82E4-C3572B577682}" destId="{A9750A8B-80EE-42EC-860D-F809222607D0}" srcOrd="2" destOrd="0" parTransId="{A7B2163B-07FD-44C9-8E17-DD74AC9609B5}" sibTransId="{AE551B48-1A72-4564-BBC3-F090058AD538}"/>
    <dgm:cxn modelId="{B5D961F9-2552-48CA-ACD0-179738942408}" type="presParOf" srcId="{43EF2CE9-A931-4828-9460-CD2306E63034}" destId="{AA95624B-F4C3-460C-9097-D524F70454E5}" srcOrd="0" destOrd="0" presId="urn:microsoft.com/office/officeart/2005/8/layout/vList2"/>
    <dgm:cxn modelId="{4244CC62-CCC4-4D55-93BC-7FF679A73F04}" type="presParOf" srcId="{43EF2CE9-A931-4828-9460-CD2306E63034}" destId="{B755FF46-AF0B-4DCB-AB06-E6D7DBE929A7}" srcOrd="1" destOrd="0" presId="urn:microsoft.com/office/officeart/2005/8/layout/vList2"/>
    <dgm:cxn modelId="{F1836160-5D7D-4502-8A9F-6851688295DC}" type="presParOf" srcId="{43EF2CE9-A931-4828-9460-CD2306E63034}" destId="{0A96B558-7014-4452-9D1C-B08E2EF0A120}" srcOrd="2" destOrd="0" presId="urn:microsoft.com/office/officeart/2005/8/layout/vList2"/>
    <dgm:cxn modelId="{2698A815-D52F-4408-8182-004FAAF4D924}" type="presParOf" srcId="{43EF2CE9-A931-4828-9460-CD2306E63034}" destId="{44E175B5-4CFE-47D6-9388-D7057D04485F}" srcOrd="3" destOrd="0" presId="urn:microsoft.com/office/officeart/2005/8/layout/vList2"/>
    <dgm:cxn modelId="{CC10DA6C-61F7-4989-B404-9EA50EBEA6A7}" type="presParOf" srcId="{43EF2CE9-A931-4828-9460-CD2306E63034}" destId="{D4789F98-7C41-4232-84A8-66E3F5237AE0}" srcOrd="4" destOrd="0" presId="urn:microsoft.com/office/officeart/2005/8/layout/vList2"/>
    <dgm:cxn modelId="{1457629E-A77B-4CCB-926B-25BB3BD76A9C}" type="presParOf" srcId="{43EF2CE9-A931-4828-9460-CD2306E63034}" destId="{FFD26D70-F948-437F-90FA-2998F954C196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ACF612A-8D33-484F-82E4-C3572B57768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4D1FC642-5C9E-4ABA-876B-54FA99B85C63}">
      <dgm:prSet/>
      <dgm:spPr/>
      <dgm:t>
        <a:bodyPr/>
        <a:lstStyle/>
        <a:p>
          <a:r>
            <a:rPr lang="zh-CN" altLang="en-US" dirty="0"/>
            <a:t>仅保留 </a:t>
          </a:r>
          <a:r>
            <a:rPr lang="en-US" altLang="zh-CN" dirty="0" err="1"/>
            <a:t>Kp</a:t>
          </a:r>
          <a:r>
            <a:rPr lang="en-US" altLang="zh-CN" dirty="0"/>
            <a:t>​</a:t>
          </a:r>
          <a:r>
            <a:rPr lang="zh-CN" altLang="en-US" dirty="0"/>
            <a:t>，增加到系统产生</a:t>
          </a:r>
          <a:r>
            <a:rPr lang="zh-CN" altLang="en-US" b="1" dirty="0"/>
            <a:t>等幅振荡</a:t>
          </a:r>
          <a:r>
            <a:rPr lang="zh-CN" altLang="en-US" dirty="0"/>
            <a:t>（波峰一样高）。</a:t>
          </a:r>
          <a:endParaRPr lang="zh-CN" dirty="0"/>
        </a:p>
      </dgm:t>
    </dgm:pt>
    <dgm:pt modelId="{0228B7F8-B77D-4534-B93C-906E9BBBECDC}" type="parTrans" cxnId="{EAEB9EAE-74E5-401A-8B4B-30E91273C227}">
      <dgm:prSet/>
      <dgm:spPr/>
      <dgm:t>
        <a:bodyPr/>
        <a:lstStyle/>
        <a:p>
          <a:endParaRPr lang="zh-CN" altLang="en-US"/>
        </a:p>
      </dgm:t>
    </dgm:pt>
    <dgm:pt modelId="{86114FEB-CE3E-4369-8DE3-311B6C3BD188}" type="sibTrans" cxnId="{EAEB9EAE-74E5-401A-8B4B-30E91273C227}">
      <dgm:prSet/>
      <dgm:spPr/>
      <dgm:t>
        <a:bodyPr/>
        <a:lstStyle/>
        <a:p>
          <a:endParaRPr lang="zh-CN" altLang="en-US"/>
        </a:p>
      </dgm:t>
    </dgm:pt>
    <dgm:pt modelId="{40E1E575-2F40-46F2-9F31-FD1ED233B501}">
      <dgm:prSet/>
      <dgm:spPr/>
      <dgm:t>
        <a:bodyPr/>
        <a:lstStyle/>
        <a:p>
          <a:pPr>
            <a:buNone/>
          </a:pPr>
          <a:r>
            <a:rPr lang="zh-CN" altLang="en-US"/>
            <a:t>记录此时的临界增益 </a:t>
          </a:r>
          <a:r>
            <a:rPr lang="en-US" altLang="zh-CN"/>
            <a:t>Ku​ </a:t>
          </a:r>
          <a:r>
            <a:rPr lang="zh-CN" altLang="en-US"/>
            <a:t>和振荡周期 </a:t>
          </a:r>
          <a:r>
            <a:rPr lang="en-US" altLang="zh-CN"/>
            <a:t>Tu​</a:t>
          </a:r>
          <a:r>
            <a:rPr lang="zh-CN" altLang="en-US"/>
            <a:t>。</a:t>
          </a:r>
        </a:p>
      </dgm:t>
    </dgm:pt>
    <dgm:pt modelId="{6B27F4C5-CAC7-4874-9A5E-FED09B3E9516}" type="parTrans" cxnId="{886FA6F3-A1E1-416C-9D7F-691207F710A9}">
      <dgm:prSet/>
      <dgm:spPr/>
      <dgm:t>
        <a:bodyPr/>
        <a:lstStyle/>
        <a:p>
          <a:endParaRPr lang="zh-CN" altLang="en-US"/>
        </a:p>
      </dgm:t>
    </dgm:pt>
    <dgm:pt modelId="{5EC333E7-B2D5-4F7C-9B2A-CACC5273F662}" type="sibTrans" cxnId="{886FA6F3-A1E1-416C-9D7F-691207F710A9}">
      <dgm:prSet/>
      <dgm:spPr/>
      <dgm:t>
        <a:bodyPr/>
        <a:lstStyle/>
        <a:p>
          <a:endParaRPr lang="zh-CN" altLang="en-US"/>
        </a:p>
      </dgm:t>
    </dgm:pt>
    <dgm:pt modelId="{45D8A62F-0285-4057-9F6A-C1728D2DA801}">
      <dgm:prSet/>
      <dgm:spPr/>
      <dgm:t>
        <a:bodyPr/>
        <a:lstStyle/>
        <a:p>
          <a:pPr>
            <a:buNone/>
          </a:pPr>
          <a:r>
            <a:rPr lang="zh-CN" altLang="en-US" b="1" dirty="0"/>
            <a:t>查表计算：</a:t>
          </a:r>
          <a:r>
            <a:rPr lang="zh-CN" altLang="en-US" dirty="0"/>
            <a:t> 直接套用公式，如 </a:t>
          </a:r>
          <a:r>
            <a:rPr lang="en-US" dirty="0" err="1"/>
            <a:t>Kp</a:t>
          </a:r>
          <a:r>
            <a:rPr lang="en-US" dirty="0"/>
            <a:t>​=0.6×Ku​</a:t>
          </a:r>
          <a:r>
            <a:rPr lang="zh-CN" altLang="en-US" dirty="0"/>
            <a:t>、</a:t>
          </a:r>
          <a:r>
            <a:rPr lang="en-US" dirty="0"/>
            <a:t>Ki​=1.2×Ku​/Tu​</a:t>
          </a:r>
          <a:r>
            <a:rPr lang="zh-CN" altLang="en-US" dirty="0"/>
            <a:t>、</a:t>
          </a:r>
          <a:r>
            <a:rPr lang="en-US" dirty="0" err="1"/>
            <a:t>Kd</a:t>
          </a:r>
          <a:r>
            <a:rPr lang="en-US" dirty="0"/>
            <a:t>​=0.075×Ku​×Tu​</a:t>
          </a:r>
          <a:r>
            <a:rPr lang="zh-CN" altLang="en-US" dirty="0"/>
            <a:t>等。</a:t>
          </a:r>
        </a:p>
      </dgm:t>
    </dgm:pt>
    <dgm:pt modelId="{9E03DA7F-2A95-4CFB-9AF1-87AFF39C602B}" type="parTrans" cxnId="{EC92A3E3-1700-4386-A664-5CB5735A2B62}">
      <dgm:prSet/>
      <dgm:spPr/>
      <dgm:t>
        <a:bodyPr/>
        <a:lstStyle/>
        <a:p>
          <a:endParaRPr lang="zh-CN" altLang="en-US"/>
        </a:p>
      </dgm:t>
    </dgm:pt>
    <dgm:pt modelId="{F49C29EF-0FA7-49E0-B8C5-CDD7E61DC05A}" type="sibTrans" cxnId="{EC92A3E3-1700-4386-A664-5CB5735A2B62}">
      <dgm:prSet/>
      <dgm:spPr/>
      <dgm:t>
        <a:bodyPr/>
        <a:lstStyle/>
        <a:p>
          <a:endParaRPr lang="zh-CN" altLang="en-US"/>
        </a:p>
      </dgm:t>
    </dgm:pt>
    <dgm:pt modelId="{43EF2CE9-A931-4828-9460-CD2306E63034}" type="pres">
      <dgm:prSet presAssocID="{6ACF612A-8D33-484F-82E4-C3572B577682}" presName="linear" presStyleCnt="0">
        <dgm:presLayoutVars>
          <dgm:animLvl val="lvl"/>
          <dgm:resizeHandles val="exact"/>
        </dgm:presLayoutVars>
      </dgm:prSet>
      <dgm:spPr/>
    </dgm:pt>
    <dgm:pt modelId="{AA95624B-F4C3-460C-9097-D524F70454E5}" type="pres">
      <dgm:prSet presAssocID="{4D1FC642-5C9E-4ABA-876B-54FA99B85C6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7DDAFCC-C233-41EF-8F5F-F9B551EA4529}" type="pres">
      <dgm:prSet presAssocID="{86114FEB-CE3E-4369-8DE3-311B6C3BD188}" presName="spacer" presStyleCnt="0"/>
      <dgm:spPr/>
    </dgm:pt>
    <dgm:pt modelId="{90ABC2FC-0A57-4C59-8D3A-12309F508009}" type="pres">
      <dgm:prSet presAssocID="{40E1E575-2F40-46F2-9F31-FD1ED233B50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4DCE4D1-72C8-41EC-86A1-5ED7E295AB23}" type="pres">
      <dgm:prSet presAssocID="{5EC333E7-B2D5-4F7C-9B2A-CACC5273F662}" presName="spacer" presStyleCnt="0"/>
      <dgm:spPr/>
    </dgm:pt>
    <dgm:pt modelId="{4DA30D5E-83DD-4C86-A2A1-D7AD4028FEA6}" type="pres">
      <dgm:prSet presAssocID="{45D8A62F-0285-4057-9F6A-C1728D2DA80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391AF18-7148-4EEE-9918-8BD60EC696F9}" type="presOf" srcId="{4D1FC642-5C9E-4ABA-876B-54FA99B85C63}" destId="{AA95624B-F4C3-460C-9097-D524F70454E5}" srcOrd="0" destOrd="0" presId="urn:microsoft.com/office/officeart/2005/8/layout/vList2"/>
    <dgm:cxn modelId="{1D51CD5D-4C05-4FFA-86FF-71DE510F4DD2}" type="presOf" srcId="{6ACF612A-8D33-484F-82E4-C3572B577682}" destId="{43EF2CE9-A931-4828-9460-CD2306E63034}" srcOrd="0" destOrd="0" presId="urn:microsoft.com/office/officeart/2005/8/layout/vList2"/>
    <dgm:cxn modelId="{EAEB9EAE-74E5-401A-8B4B-30E91273C227}" srcId="{6ACF612A-8D33-484F-82E4-C3572B577682}" destId="{4D1FC642-5C9E-4ABA-876B-54FA99B85C63}" srcOrd="0" destOrd="0" parTransId="{0228B7F8-B77D-4534-B93C-906E9BBBECDC}" sibTransId="{86114FEB-CE3E-4369-8DE3-311B6C3BD188}"/>
    <dgm:cxn modelId="{3EDE70E1-6520-416F-80AE-F047A6D0A8FC}" type="presOf" srcId="{40E1E575-2F40-46F2-9F31-FD1ED233B501}" destId="{90ABC2FC-0A57-4C59-8D3A-12309F508009}" srcOrd="0" destOrd="0" presId="urn:microsoft.com/office/officeart/2005/8/layout/vList2"/>
    <dgm:cxn modelId="{EC92A3E3-1700-4386-A664-5CB5735A2B62}" srcId="{6ACF612A-8D33-484F-82E4-C3572B577682}" destId="{45D8A62F-0285-4057-9F6A-C1728D2DA801}" srcOrd="2" destOrd="0" parTransId="{9E03DA7F-2A95-4CFB-9AF1-87AFF39C602B}" sibTransId="{F49C29EF-0FA7-49E0-B8C5-CDD7E61DC05A}"/>
    <dgm:cxn modelId="{1AD5EEEA-ECA8-42CE-B9D6-4CF435AD2654}" type="presOf" srcId="{45D8A62F-0285-4057-9F6A-C1728D2DA801}" destId="{4DA30D5E-83DD-4C86-A2A1-D7AD4028FEA6}" srcOrd="0" destOrd="0" presId="urn:microsoft.com/office/officeart/2005/8/layout/vList2"/>
    <dgm:cxn modelId="{886FA6F3-A1E1-416C-9D7F-691207F710A9}" srcId="{6ACF612A-8D33-484F-82E4-C3572B577682}" destId="{40E1E575-2F40-46F2-9F31-FD1ED233B501}" srcOrd="1" destOrd="0" parTransId="{6B27F4C5-CAC7-4874-9A5E-FED09B3E9516}" sibTransId="{5EC333E7-B2D5-4F7C-9B2A-CACC5273F662}"/>
    <dgm:cxn modelId="{B5D961F9-2552-48CA-ACD0-179738942408}" type="presParOf" srcId="{43EF2CE9-A931-4828-9460-CD2306E63034}" destId="{AA95624B-F4C3-460C-9097-D524F70454E5}" srcOrd="0" destOrd="0" presId="urn:microsoft.com/office/officeart/2005/8/layout/vList2"/>
    <dgm:cxn modelId="{C99EB2DA-970B-462B-B406-AA6EB564E403}" type="presParOf" srcId="{43EF2CE9-A931-4828-9460-CD2306E63034}" destId="{47DDAFCC-C233-41EF-8F5F-F9B551EA4529}" srcOrd="1" destOrd="0" presId="urn:microsoft.com/office/officeart/2005/8/layout/vList2"/>
    <dgm:cxn modelId="{19D8FBDF-292A-4AD2-AB0E-D0CA741EFF35}" type="presParOf" srcId="{43EF2CE9-A931-4828-9460-CD2306E63034}" destId="{90ABC2FC-0A57-4C59-8D3A-12309F508009}" srcOrd="2" destOrd="0" presId="urn:microsoft.com/office/officeart/2005/8/layout/vList2"/>
    <dgm:cxn modelId="{45FD4354-43F0-4D7D-B22A-25D2C7B1A5B5}" type="presParOf" srcId="{43EF2CE9-A931-4828-9460-CD2306E63034}" destId="{44DCE4D1-72C8-41EC-86A1-5ED7E295AB23}" srcOrd="3" destOrd="0" presId="urn:microsoft.com/office/officeart/2005/8/layout/vList2"/>
    <dgm:cxn modelId="{69A4EFD8-C75E-4BEB-96D0-6A450CD9D0EF}" type="presParOf" srcId="{43EF2CE9-A931-4828-9460-CD2306E63034}" destId="{4DA30D5E-83DD-4C86-A2A1-D7AD4028FEA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ACF612A-8D33-484F-82E4-C3572B57768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4D1FC642-5C9E-4ABA-876B-54FA99B85C63}">
      <dgm:prSet custT="1"/>
      <dgm:spPr/>
      <dgm:t>
        <a:bodyPr/>
        <a:lstStyle/>
        <a:p>
          <a:r>
            <a:rPr lang="zh-CN" altLang="en-US" sz="2800" b="1" dirty="0">
              <a:solidFill>
                <a:srgbClr val="FF0000"/>
              </a:solidFill>
              <a:highlight>
                <a:srgbClr val="FFFF00"/>
              </a:highlight>
            </a:rPr>
            <a:t>串口可视化</a:t>
          </a:r>
          <a:endParaRPr lang="zh-CN" altLang="en-US" sz="2800" dirty="0">
            <a:solidFill>
              <a:srgbClr val="FF0000"/>
            </a:solidFill>
            <a:highlight>
              <a:srgbClr val="FFFF00"/>
            </a:highlight>
          </a:endParaRPr>
        </a:p>
      </dgm:t>
    </dgm:pt>
    <dgm:pt modelId="{0228B7F8-B77D-4534-B93C-906E9BBBECDC}" type="parTrans" cxnId="{EAEB9EAE-74E5-401A-8B4B-30E91273C227}">
      <dgm:prSet/>
      <dgm:spPr/>
      <dgm:t>
        <a:bodyPr/>
        <a:lstStyle/>
        <a:p>
          <a:endParaRPr lang="zh-CN" altLang="en-US"/>
        </a:p>
      </dgm:t>
    </dgm:pt>
    <dgm:pt modelId="{86114FEB-CE3E-4369-8DE3-311B6C3BD188}" type="sibTrans" cxnId="{EAEB9EAE-74E5-401A-8B4B-30E91273C227}">
      <dgm:prSet/>
      <dgm:spPr/>
      <dgm:t>
        <a:bodyPr/>
        <a:lstStyle/>
        <a:p>
          <a:endParaRPr lang="zh-CN" altLang="en-US"/>
        </a:p>
      </dgm:t>
    </dgm:pt>
    <dgm:pt modelId="{D8761B2F-52BC-45CD-A58D-444B3F208BA0}">
      <dgm:prSet/>
      <dgm:spPr/>
      <dgm:t>
        <a:bodyPr/>
        <a:lstStyle/>
        <a:p>
          <a:pPr>
            <a:buNone/>
          </a:pPr>
          <a:r>
            <a:rPr lang="zh-CN" altLang="en-US" b="1" dirty="0"/>
            <a:t>自整定算法</a:t>
          </a:r>
          <a:endParaRPr lang="zh-CN" altLang="en-US" dirty="0"/>
        </a:p>
      </dgm:t>
    </dgm:pt>
    <dgm:pt modelId="{19528603-6AB9-471F-9C6D-681433975341}" type="parTrans" cxnId="{353655AF-FFA8-446D-A4D8-2D834030D786}">
      <dgm:prSet/>
      <dgm:spPr/>
      <dgm:t>
        <a:bodyPr/>
        <a:lstStyle/>
        <a:p>
          <a:endParaRPr lang="zh-CN" altLang="en-US"/>
        </a:p>
      </dgm:t>
    </dgm:pt>
    <dgm:pt modelId="{5EC5C810-4223-40AD-912D-9D5F9930B21C}" type="sibTrans" cxnId="{353655AF-FFA8-446D-A4D8-2D834030D786}">
      <dgm:prSet/>
      <dgm:spPr/>
      <dgm:t>
        <a:bodyPr/>
        <a:lstStyle/>
        <a:p>
          <a:endParaRPr lang="zh-CN" altLang="en-US"/>
        </a:p>
      </dgm:t>
    </dgm:pt>
    <dgm:pt modelId="{0E300ECC-D9FE-4D3C-9267-4DF757547EF0}">
      <dgm:prSet custT="1"/>
      <dgm:spPr/>
      <dgm:t>
        <a:bodyPr/>
        <a:lstStyle/>
        <a:p>
          <a:pPr>
            <a:buNone/>
          </a:pPr>
          <a:r>
            <a:rPr lang="zh-CN" altLang="en-US" sz="2800" b="1" dirty="0">
              <a:solidFill>
                <a:srgbClr val="FF0000"/>
              </a:solidFill>
              <a:highlight>
                <a:srgbClr val="FFFF00"/>
              </a:highlight>
            </a:rPr>
            <a:t>仿真软件</a:t>
          </a:r>
          <a:endParaRPr lang="zh-CN" altLang="en-US" sz="2800" dirty="0">
            <a:solidFill>
              <a:srgbClr val="FF0000"/>
            </a:solidFill>
            <a:highlight>
              <a:srgbClr val="FFFF00"/>
            </a:highlight>
          </a:endParaRPr>
        </a:p>
      </dgm:t>
    </dgm:pt>
    <dgm:pt modelId="{2A8192FD-8CFB-40CC-B322-9B7F82B8057C}" type="parTrans" cxnId="{339D5A87-D373-4C4E-BC13-134E53707555}">
      <dgm:prSet/>
      <dgm:spPr/>
      <dgm:t>
        <a:bodyPr/>
        <a:lstStyle/>
        <a:p>
          <a:endParaRPr lang="zh-CN" altLang="en-US"/>
        </a:p>
      </dgm:t>
    </dgm:pt>
    <dgm:pt modelId="{1EC17917-32C8-4379-9BDB-B30189DC29DC}" type="sibTrans" cxnId="{339D5A87-D373-4C4E-BC13-134E53707555}">
      <dgm:prSet/>
      <dgm:spPr/>
      <dgm:t>
        <a:bodyPr/>
        <a:lstStyle/>
        <a:p>
          <a:endParaRPr lang="zh-CN" altLang="en-US"/>
        </a:p>
      </dgm:t>
    </dgm:pt>
    <dgm:pt modelId="{27AC0304-7204-4581-8D41-8B30C74C427F}">
      <dgm:prSet/>
      <dgm:spPr/>
      <dgm:t>
        <a:bodyPr/>
        <a:lstStyle/>
        <a:p>
          <a:r>
            <a:rPr lang="zh-CN" altLang="en-US" dirty="0"/>
            <a:t>使用 </a:t>
          </a:r>
          <a:r>
            <a:rPr lang="en-US" b="1" dirty="0"/>
            <a:t>VOFA+</a:t>
          </a:r>
          <a:r>
            <a:rPr lang="en-US" dirty="0"/>
            <a:t>、</a:t>
          </a:r>
          <a:r>
            <a:rPr lang="en-US" b="1" dirty="0" err="1"/>
            <a:t>SerialPlot</a:t>
          </a:r>
          <a:r>
            <a:rPr lang="en-US" dirty="0"/>
            <a:t> </a:t>
          </a:r>
          <a:r>
            <a:rPr lang="zh-CN" altLang="en-US" dirty="0"/>
            <a:t>等工具，实时看 </a:t>
          </a:r>
          <a:r>
            <a:rPr lang="en-US" dirty="0"/>
            <a:t>Target（</a:t>
          </a:r>
          <a:r>
            <a:rPr lang="zh-CN" altLang="en-US" dirty="0"/>
            <a:t>目标）与 </a:t>
          </a:r>
          <a:r>
            <a:rPr lang="en-US" dirty="0"/>
            <a:t>Measure（</a:t>
          </a:r>
          <a:r>
            <a:rPr lang="zh-CN" altLang="en-US" dirty="0"/>
            <a:t>反馈）的曲线。</a:t>
          </a:r>
          <a:endParaRPr lang="zh-CN" dirty="0"/>
        </a:p>
      </dgm:t>
    </dgm:pt>
    <dgm:pt modelId="{97E4424A-F57A-4E46-A34B-590AFF4E9ED4}" type="parTrans" cxnId="{7AE2EEDF-8E22-48F6-A15F-8E03E2A6BD25}">
      <dgm:prSet/>
      <dgm:spPr/>
      <dgm:t>
        <a:bodyPr/>
        <a:lstStyle/>
        <a:p>
          <a:endParaRPr lang="zh-CN" altLang="en-US"/>
        </a:p>
      </dgm:t>
    </dgm:pt>
    <dgm:pt modelId="{558C3C7A-0613-424E-90F4-FDB008C63207}" type="sibTrans" cxnId="{7AE2EEDF-8E22-48F6-A15F-8E03E2A6BD25}">
      <dgm:prSet/>
      <dgm:spPr/>
      <dgm:t>
        <a:bodyPr/>
        <a:lstStyle/>
        <a:p>
          <a:endParaRPr lang="zh-CN" altLang="en-US"/>
        </a:p>
      </dgm:t>
    </dgm:pt>
    <dgm:pt modelId="{74564011-C050-4F62-AD95-FD78E4599954}">
      <dgm:prSet/>
      <dgm:spPr/>
      <dgm:t>
        <a:bodyPr/>
        <a:lstStyle/>
        <a:p>
          <a:pPr>
            <a:buNone/>
          </a:pPr>
          <a:r>
            <a:rPr lang="zh-CN" altLang="en-US" dirty="0"/>
            <a:t> 许多现代驱动器（如 </a:t>
          </a:r>
          <a:r>
            <a:rPr lang="en-US" altLang="zh-CN" dirty="0"/>
            <a:t>VFD</a:t>
          </a:r>
          <a:r>
            <a:rPr lang="zh-CN" altLang="en-US" dirty="0"/>
            <a:t>）自带 </a:t>
          </a:r>
          <a:r>
            <a:rPr lang="en-US" altLang="zh-CN" dirty="0"/>
            <a:t>Auto-Tuning </a:t>
          </a:r>
          <a:r>
            <a:rPr lang="zh-CN" altLang="en-US" dirty="0"/>
            <a:t>按钮。</a:t>
          </a:r>
        </a:p>
      </dgm:t>
    </dgm:pt>
    <dgm:pt modelId="{0FE98F09-9D01-4141-8F6B-6D3D83E4DE62}" type="parTrans" cxnId="{94432E3C-D6C7-49EE-AD15-F79ADA730E29}">
      <dgm:prSet/>
      <dgm:spPr/>
      <dgm:t>
        <a:bodyPr/>
        <a:lstStyle/>
        <a:p>
          <a:endParaRPr lang="zh-CN" altLang="en-US"/>
        </a:p>
      </dgm:t>
    </dgm:pt>
    <dgm:pt modelId="{1689C3A6-A1A0-4274-80E1-1030D4596FFE}" type="sibTrans" cxnId="{94432E3C-D6C7-49EE-AD15-F79ADA730E29}">
      <dgm:prSet/>
      <dgm:spPr/>
      <dgm:t>
        <a:bodyPr/>
        <a:lstStyle/>
        <a:p>
          <a:endParaRPr lang="zh-CN" altLang="en-US"/>
        </a:p>
      </dgm:t>
    </dgm:pt>
    <dgm:pt modelId="{E4B18978-AED0-4127-A29F-4C4F85874709}">
      <dgm:prSet/>
      <dgm:spPr/>
      <dgm:t>
        <a:bodyPr/>
        <a:lstStyle/>
        <a:p>
          <a:pPr>
            <a:buNone/>
          </a:pPr>
          <a:r>
            <a:rPr lang="zh-CN" altLang="en-US"/>
            <a:t>在 </a:t>
          </a:r>
          <a:r>
            <a:rPr lang="en-US" b="1"/>
            <a:t>MATLAB/Simulink</a:t>
          </a:r>
          <a:r>
            <a:rPr lang="en-US"/>
            <a:t> </a:t>
          </a:r>
          <a:r>
            <a:rPr lang="zh-CN" altLang="en-US"/>
            <a:t>中建模，通过算法自动寻找最优 </a:t>
          </a:r>
          <a:r>
            <a:rPr lang="en-US"/>
            <a:t>PID </a:t>
          </a:r>
          <a:r>
            <a:rPr lang="zh-CN" altLang="en-US"/>
            <a:t>系数。</a:t>
          </a:r>
          <a:endParaRPr lang="zh-CN" altLang="en-US" dirty="0"/>
        </a:p>
      </dgm:t>
    </dgm:pt>
    <dgm:pt modelId="{A2E5CF56-A0F7-4FD3-BE15-597B5DE72851}" type="parTrans" cxnId="{D3275FCE-AB0B-45A4-B0A1-06DB072539D8}">
      <dgm:prSet/>
      <dgm:spPr/>
      <dgm:t>
        <a:bodyPr/>
        <a:lstStyle/>
        <a:p>
          <a:endParaRPr lang="zh-CN" altLang="en-US"/>
        </a:p>
      </dgm:t>
    </dgm:pt>
    <dgm:pt modelId="{A494F279-357B-472D-85AE-14F884709003}" type="sibTrans" cxnId="{D3275FCE-AB0B-45A4-B0A1-06DB072539D8}">
      <dgm:prSet/>
      <dgm:spPr/>
      <dgm:t>
        <a:bodyPr/>
        <a:lstStyle/>
        <a:p>
          <a:endParaRPr lang="zh-CN" altLang="en-US"/>
        </a:p>
      </dgm:t>
    </dgm:pt>
    <dgm:pt modelId="{43EF2CE9-A931-4828-9460-CD2306E63034}" type="pres">
      <dgm:prSet presAssocID="{6ACF612A-8D33-484F-82E4-C3572B577682}" presName="linear" presStyleCnt="0">
        <dgm:presLayoutVars>
          <dgm:animLvl val="lvl"/>
          <dgm:resizeHandles val="exact"/>
        </dgm:presLayoutVars>
      </dgm:prSet>
      <dgm:spPr/>
    </dgm:pt>
    <dgm:pt modelId="{AA95624B-F4C3-460C-9097-D524F70454E5}" type="pres">
      <dgm:prSet presAssocID="{4D1FC642-5C9E-4ABA-876B-54FA99B85C6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96EC4C5-074A-4F65-B99D-0893E467DB90}" type="pres">
      <dgm:prSet presAssocID="{4D1FC642-5C9E-4ABA-876B-54FA99B85C63}" presName="childText" presStyleLbl="revTx" presStyleIdx="0" presStyleCnt="3">
        <dgm:presLayoutVars>
          <dgm:bulletEnabled val="1"/>
        </dgm:presLayoutVars>
      </dgm:prSet>
      <dgm:spPr/>
    </dgm:pt>
    <dgm:pt modelId="{61568491-A360-4FF5-AB19-5B1E3FE2589B}" type="pres">
      <dgm:prSet presAssocID="{D8761B2F-52BC-45CD-A58D-444B3F208BA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77A6ED5-71F5-4B53-A59F-F52B181E0378}" type="pres">
      <dgm:prSet presAssocID="{D8761B2F-52BC-45CD-A58D-444B3F208BA0}" presName="childText" presStyleLbl="revTx" presStyleIdx="1" presStyleCnt="3">
        <dgm:presLayoutVars>
          <dgm:bulletEnabled val="1"/>
        </dgm:presLayoutVars>
      </dgm:prSet>
      <dgm:spPr/>
    </dgm:pt>
    <dgm:pt modelId="{0975DDBA-F54B-42C4-8B6E-6A80C7A66710}" type="pres">
      <dgm:prSet presAssocID="{0E300ECC-D9FE-4D3C-9267-4DF757547EF0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C743DE0D-EA2D-4A62-870C-4B777FB30003}" type="pres">
      <dgm:prSet presAssocID="{0E300ECC-D9FE-4D3C-9267-4DF757547EF0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EA936426-8243-454F-919A-B66AC9CEDC74}" type="presOf" srcId="{74564011-C050-4F62-AD95-FD78E4599954}" destId="{177A6ED5-71F5-4B53-A59F-F52B181E0378}" srcOrd="0" destOrd="0" presId="urn:microsoft.com/office/officeart/2005/8/layout/vList2"/>
    <dgm:cxn modelId="{94432E3C-D6C7-49EE-AD15-F79ADA730E29}" srcId="{D8761B2F-52BC-45CD-A58D-444B3F208BA0}" destId="{74564011-C050-4F62-AD95-FD78E4599954}" srcOrd="0" destOrd="0" parTransId="{0FE98F09-9D01-4141-8F6B-6D3D83E4DE62}" sibTransId="{1689C3A6-A1A0-4274-80E1-1030D4596FFE}"/>
    <dgm:cxn modelId="{1D51CD5D-4C05-4FFA-86FF-71DE510F4DD2}" type="presOf" srcId="{6ACF612A-8D33-484F-82E4-C3572B577682}" destId="{43EF2CE9-A931-4828-9460-CD2306E63034}" srcOrd="0" destOrd="0" presId="urn:microsoft.com/office/officeart/2005/8/layout/vList2"/>
    <dgm:cxn modelId="{66E9F166-BB5E-444B-9786-4BA80E1FF854}" type="presOf" srcId="{E4B18978-AED0-4127-A29F-4C4F85874709}" destId="{C743DE0D-EA2D-4A62-870C-4B777FB30003}" srcOrd="0" destOrd="0" presId="urn:microsoft.com/office/officeart/2005/8/layout/vList2"/>
    <dgm:cxn modelId="{EB8E804B-D655-478B-9DD6-E592FBEBFE48}" type="presOf" srcId="{4D1FC642-5C9E-4ABA-876B-54FA99B85C63}" destId="{AA95624B-F4C3-460C-9097-D524F70454E5}" srcOrd="0" destOrd="0" presId="urn:microsoft.com/office/officeart/2005/8/layout/vList2"/>
    <dgm:cxn modelId="{B289984E-0C1E-4C5F-907C-733C9E0C42B6}" type="presOf" srcId="{27AC0304-7204-4581-8D41-8B30C74C427F}" destId="{A96EC4C5-074A-4F65-B99D-0893E467DB90}" srcOrd="0" destOrd="0" presId="urn:microsoft.com/office/officeart/2005/8/layout/vList2"/>
    <dgm:cxn modelId="{0E8A1382-0305-4831-9CD5-15BD927D949F}" type="presOf" srcId="{D8761B2F-52BC-45CD-A58D-444B3F208BA0}" destId="{61568491-A360-4FF5-AB19-5B1E3FE2589B}" srcOrd="0" destOrd="0" presId="urn:microsoft.com/office/officeart/2005/8/layout/vList2"/>
    <dgm:cxn modelId="{339D5A87-D373-4C4E-BC13-134E53707555}" srcId="{6ACF612A-8D33-484F-82E4-C3572B577682}" destId="{0E300ECC-D9FE-4D3C-9267-4DF757547EF0}" srcOrd="2" destOrd="0" parTransId="{2A8192FD-8CFB-40CC-B322-9B7F82B8057C}" sibTransId="{1EC17917-32C8-4379-9BDB-B30189DC29DC}"/>
    <dgm:cxn modelId="{EAEB9EAE-74E5-401A-8B4B-30E91273C227}" srcId="{6ACF612A-8D33-484F-82E4-C3572B577682}" destId="{4D1FC642-5C9E-4ABA-876B-54FA99B85C63}" srcOrd="0" destOrd="0" parTransId="{0228B7F8-B77D-4534-B93C-906E9BBBECDC}" sibTransId="{86114FEB-CE3E-4369-8DE3-311B6C3BD188}"/>
    <dgm:cxn modelId="{353655AF-FFA8-446D-A4D8-2D834030D786}" srcId="{6ACF612A-8D33-484F-82E4-C3572B577682}" destId="{D8761B2F-52BC-45CD-A58D-444B3F208BA0}" srcOrd="1" destOrd="0" parTransId="{19528603-6AB9-471F-9C6D-681433975341}" sibTransId="{5EC5C810-4223-40AD-912D-9D5F9930B21C}"/>
    <dgm:cxn modelId="{D3275FCE-AB0B-45A4-B0A1-06DB072539D8}" srcId="{0E300ECC-D9FE-4D3C-9267-4DF757547EF0}" destId="{E4B18978-AED0-4127-A29F-4C4F85874709}" srcOrd="0" destOrd="0" parTransId="{A2E5CF56-A0F7-4FD3-BE15-597B5DE72851}" sibTransId="{A494F279-357B-472D-85AE-14F884709003}"/>
    <dgm:cxn modelId="{7AE2EEDF-8E22-48F6-A15F-8E03E2A6BD25}" srcId="{4D1FC642-5C9E-4ABA-876B-54FA99B85C63}" destId="{27AC0304-7204-4581-8D41-8B30C74C427F}" srcOrd="0" destOrd="0" parTransId="{97E4424A-F57A-4E46-A34B-590AFF4E9ED4}" sibTransId="{558C3C7A-0613-424E-90F4-FDB008C63207}"/>
    <dgm:cxn modelId="{B761C3F4-BCD8-4421-A7C1-9D28F8BB164C}" type="presOf" srcId="{0E300ECC-D9FE-4D3C-9267-4DF757547EF0}" destId="{0975DDBA-F54B-42C4-8B6E-6A80C7A66710}" srcOrd="0" destOrd="0" presId="urn:microsoft.com/office/officeart/2005/8/layout/vList2"/>
    <dgm:cxn modelId="{D9362BD4-859A-4DD6-8348-A9E3BC6AC0C8}" type="presParOf" srcId="{43EF2CE9-A931-4828-9460-CD2306E63034}" destId="{AA95624B-F4C3-460C-9097-D524F70454E5}" srcOrd="0" destOrd="0" presId="urn:microsoft.com/office/officeart/2005/8/layout/vList2"/>
    <dgm:cxn modelId="{B2093D55-6EDA-41B4-984F-B269EFF79D38}" type="presParOf" srcId="{43EF2CE9-A931-4828-9460-CD2306E63034}" destId="{A96EC4C5-074A-4F65-B99D-0893E467DB90}" srcOrd="1" destOrd="0" presId="urn:microsoft.com/office/officeart/2005/8/layout/vList2"/>
    <dgm:cxn modelId="{ABA44925-82A1-4322-A160-D1F63D763781}" type="presParOf" srcId="{43EF2CE9-A931-4828-9460-CD2306E63034}" destId="{61568491-A360-4FF5-AB19-5B1E3FE2589B}" srcOrd="2" destOrd="0" presId="urn:microsoft.com/office/officeart/2005/8/layout/vList2"/>
    <dgm:cxn modelId="{54A9C35D-EDDA-4996-9743-3E9FA69281CC}" type="presParOf" srcId="{43EF2CE9-A931-4828-9460-CD2306E63034}" destId="{177A6ED5-71F5-4B53-A59F-F52B181E0378}" srcOrd="3" destOrd="0" presId="urn:microsoft.com/office/officeart/2005/8/layout/vList2"/>
    <dgm:cxn modelId="{998E0286-0F7D-4930-9CCC-5C5DFDCB2528}" type="presParOf" srcId="{43EF2CE9-A931-4828-9460-CD2306E63034}" destId="{0975DDBA-F54B-42C4-8B6E-6A80C7A66710}" srcOrd="4" destOrd="0" presId="urn:microsoft.com/office/officeart/2005/8/layout/vList2"/>
    <dgm:cxn modelId="{75CA14F4-8C55-4120-B3D1-42E701ADBBD9}" type="presParOf" srcId="{43EF2CE9-A931-4828-9460-CD2306E63034}" destId="{C743DE0D-EA2D-4A62-870C-4B777FB30003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F71CE1-654B-47A6-95D9-FEB1EE507755}">
      <dsp:nvSpPr>
        <dsp:cNvPr id="0" name=""/>
        <dsp:cNvSpPr/>
      </dsp:nvSpPr>
      <dsp:spPr>
        <a:xfrm rot="16200000">
          <a:off x="-1217861" y="1220477"/>
          <a:ext cx="5007428" cy="2566473"/>
        </a:xfrm>
        <a:prstGeom prst="flowChartManualOperati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0" rIns="177669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/>
            <a:t>理解</a:t>
          </a:r>
          <a:r>
            <a:rPr lang="zh-CN" altLang="en-US" sz="2800" b="1" kern="1200" dirty="0"/>
            <a:t>连续系统</a:t>
          </a:r>
          <a:r>
            <a:rPr lang="zh-CN" altLang="en-US" sz="2800" kern="1200" dirty="0"/>
            <a:t>与</a:t>
          </a:r>
          <a:r>
            <a:rPr lang="zh-CN" altLang="en-US" sz="2800" b="1" kern="1200" dirty="0"/>
            <a:t>离散系统</a:t>
          </a:r>
          <a:r>
            <a:rPr lang="zh-CN" altLang="en-US" sz="2800" kern="1200" dirty="0"/>
            <a:t>的区别 。</a:t>
          </a:r>
          <a:endParaRPr lang="zh-CN" sz="2800" kern="1200" dirty="0"/>
        </a:p>
      </dsp:txBody>
      <dsp:txXfrm rot="5400000">
        <a:off x="2616" y="1001486"/>
        <a:ext cx="2566473" cy="3004456"/>
      </dsp:txXfrm>
    </dsp:sp>
    <dsp:sp modelId="{5702F949-BC40-45A7-8470-7965D0BB6C11}">
      <dsp:nvSpPr>
        <dsp:cNvPr id="0" name=""/>
        <dsp:cNvSpPr/>
      </dsp:nvSpPr>
      <dsp:spPr>
        <a:xfrm rot="16200000">
          <a:off x="1541097" y="1220477"/>
          <a:ext cx="5007428" cy="2566473"/>
        </a:xfrm>
        <a:prstGeom prst="flowChartManualOperati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0" rIns="177669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/>
            <a:t>掌握</a:t>
          </a:r>
          <a:r>
            <a:rPr lang="en-US" altLang="zh-CN" sz="2800" kern="1200" dirty="0"/>
            <a:t>PID</a:t>
          </a:r>
          <a:r>
            <a:rPr lang="zh-CN" altLang="en-US" sz="2800" kern="1200" dirty="0"/>
            <a:t>算法的</a:t>
          </a:r>
          <a:r>
            <a:rPr lang="zh-CN" altLang="en-US" sz="2800" b="1" kern="1200" dirty="0"/>
            <a:t>位置式</a:t>
          </a:r>
          <a:r>
            <a:rPr lang="zh-CN" altLang="en-US" sz="2800" kern="1200" dirty="0"/>
            <a:t>与</a:t>
          </a:r>
          <a:r>
            <a:rPr lang="zh-CN" altLang="en-US" sz="2800" b="1" kern="1200" dirty="0"/>
            <a:t>增量式</a:t>
          </a:r>
          <a:r>
            <a:rPr lang="zh-CN" altLang="en-US" sz="2800" kern="1200" dirty="0"/>
            <a:t>离散化表达。</a:t>
          </a:r>
        </a:p>
      </dsp:txBody>
      <dsp:txXfrm rot="5400000">
        <a:off x="2761574" y="1001486"/>
        <a:ext cx="2566473" cy="3004456"/>
      </dsp:txXfrm>
    </dsp:sp>
    <dsp:sp modelId="{E4643988-F7AC-4788-BB89-40BE052C303A}">
      <dsp:nvSpPr>
        <dsp:cNvPr id="0" name=""/>
        <dsp:cNvSpPr/>
      </dsp:nvSpPr>
      <dsp:spPr>
        <a:xfrm rot="16200000">
          <a:off x="4300057" y="1220477"/>
          <a:ext cx="5007428" cy="2566473"/>
        </a:xfrm>
        <a:prstGeom prst="flowChartManualOperati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0" rIns="177669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/>
            <a:t>学会编写具备</a:t>
          </a:r>
          <a:r>
            <a:rPr lang="zh-CN" altLang="en-US" sz="2800" b="1" kern="1200" dirty="0"/>
            <a:t>抗饱和（</a:t>
          </a:r>
          <a:r>
            <a:rPr lang="en-US" altLang="zh-CN" sz="2800" b="1" kern="1200" dirty="0"/>
            <a:t>Anti-windup</a:t>
          </a:r>
          <a:r>
            <a:rPr lang="zh-CN" altLang="en-US" sz="2800" b="1" kern="1200" dirty="0"/>
            <a:t>）和输出限幅</a:t>
          </a:r>
          <a:r>
            <a:rPr lang="zh-CN" altLang="en-US" sz="2800" kern="1200" dirty="0"/>
            <a:t>功能的工程化代码 </a:t>
          </a:r>
        </a:p>
      </dsp:txBody>
      <dsp:txXfrm rot="5400000">
        <a:off x="5520534" y="1001486"/>
        <a:ext cx="2566473" cy="3004456"/>
      </dsp:txXfrm>
    </dsp:sp>
    <dsp:sp modelId="{E519E735-CA00-4580-80EB-4C315FDF20E9}">
      <dsp:nvSpPr>
        <dsp:cNvPr id="0" name=""/>
        <dsp:cNvSpPr/>
      </dsp:nvSpPr>
      <dsp:spPr>
        <a:xfrm rot="16200000">
          <a:off x="7059016" y="1220477"/>
          <a:ext cx="5007428" cy="2566473"/>
        </a:xfrm>
        <a:prstGeom prst="flowChartManualOperati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0" rIns="177669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/>
            <a:t>了解参数整定方法：试凑法、临界震荡法、自动化整定工具</a:t>
          </a:r>
        </a:p>
      </dsp:txBody>
      <dsp:txXfrm rot="5400000">
        <a:off x="8279493" y="1001486"/>
        <a:ext cx="2566473" cy="30044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68845E-4164-4BFE-957E-04F241914596}">
      <dsp:nvSpPr>
        <dsp:cNvPr id="0" name=""/>
        <dsp:cNvSpPr/>
      </dsp:nvSpPr>
      <dsp:spPr>
        <a:xfrm>
          <a:off x="0" y="398076"/>
          <a:ext cx="11734799" cy="10253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0751" tIns="437388" rIns="910751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100" b="0" i="0" kern="1200" baseline="0" dirty="0">
              <a:latin typeface="微软雅黑" panose="020B0503020204020204" pitchFamily="34" charset="-122"/>
              <a:ea typeface="微软雅黑" panose="020B0503020204020204" pitchFamily="34" charset="-122"/>
            </a:rPr>
            <a:t>电机驱动器有物理极限（如PWM不能超过100%）。</a:t>
          </a:r>
          <a:endParaRPr lang="zh-CN" sz="21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398076"/>
        <a:ext cx="11734799" cy="1025325"/>
      </dsp:txXfrm>
    </dsp:sp>
    <dsp:sp modelId="{495F6941-320A-4138-9A69-405A1F281FED}">
      <dsp:nvSpPr>
        <dsp:cNvPr id="0" name=""/>
        <dsp:cNvSpPr/>
      </dsp:nvSpPr>
      <dsp:spPr>
        <a:xfrm>
          <a:off x="586740" y="88116"/>
          <a:ext cx="8214360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0483" tIns="0" rIns="310483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100" b="1" i="0" kern="1200" baseline="0">
              <a:latin typeface="微软雅黑" panose="020B0503020204020204" pitchFamily="34" charset="-122"/>
              <a:ea typeface="微软雅黑" panose="020B0503020204020204" pitchFamily="34" charset="-122"/>
            </a:rPr>
            <a:t>为什么要限幅？</a:t>
          </a:r>
          <a:r>
            <a:rPr lang="zh-CN" sz="2100" b="0" i="0" kern="1200" baseline="0">
              <a:latin typeface="微软雅黑" panose="020B0503020204020204" pitchFamily="34" charset="-122"/>
              <a:ea typeface="微软雅黑" panose="020B0503020204020204" pitchFamily="34" charset="-122"/>
            </a:rPr>
            <a:t>：</a:t>
          </a:r>
          <a:endParaRPr lang="zh-CN" sz="2100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617002" y="118378"/>
        <a:ext cx="8153836" cy="559396"/>
      </dsp:txXfrm>
    </dsp:sp>
    <dsp:sp modelId="{DD03B685-C514-44F2-8540-2745B222F39F}">
      <dsp:nvSpPr>
        <dsp:cNvPr id="0" name=""/>
        <dsp:cNvSpPr/>
      </dsp:nvSpPr>
      <dsp:spPr>
        <a:xfrm>
          <a:off x="0" y="1846761"/>
          <a:ext cx="11734799" cy="14222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0751" tIns="437388" rIns="910751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100" b="0" i="0" kern="1200" baseline="0" dirty="0">
              <a:latin typeface="微软雅黑" panose="020B0503020204020204" pitchFamily="34" charset="-122"/>
              <a:ea typeface="微软雅黑" panose="020B0503020204020204" pitchFamily="34" charset="-122"/>
            </a:rPr>
            <a:t>如果电机被卡死，误差一直存在，积分项会疯涨到无穷大，导致电机脱困后依然失控猛冲 。</a:t>
          </a:r>
          <a:endParaRPr lang="zh-CN" sz="21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1846761"/>
        <a:ext cx="11734799" cy="1422225"/>
      </dsp:txXfrm>
    </dsp:sp>
    <dsp:sp modelId="{892EE7B0-C779-4F44-83ED-5B86E1138B7D}">
      <dsp:nvSpPr>
        <dsp:cNvPr id="0" name=""/>
        <dsp:cNvSpPr/>
      </dsp:nvSpPr>
      <dsp:spPr>
        <a:xfrm>
          <a:off x="586740" y="1536801"/>
          <a:ext cx="8214360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0483" tIns="0" rIns="310483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100" b="1" i="0" kern="1200" baseline="0" dirty="0">
              <a:latin typeface="微软雅黑" panose="020B0503020204020204" pitchFamily="34" charset="-122"/>
              <a:ea typeface="微软雅黑" panose="020B0503020204020204" pitchFamily="34" charset="-122"/>
            </a:rPr>
            <a:t>积分饱和现象</a:t>
          </a:r>
          <a:endParaRPr lang="zh-CN" sz="21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617002" y="1567063"/>
        <a:ext cx="8153836" cy="559396"/>
      </dsp:txXfrm>
    </dsp:sp>
    <dsp:sp modelId="{B93B62C2-52CB-4D47-82AE-CB6928C5EB57}">
      <dsp:nvSpPr>
        <dsp:cNvPr id="0" name=""/>
        <dsp:cNvSpPr/>
      </dsp:nvSpPr>
      <dsp:spPr>
        <a:xfrm>
          <a:off x="0" y="3692346"/>
          <a:ext cx="11734799" cy="15214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0751" tIns="437388" rIns="910751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100" b="1" i="0" kern="1200" baseline="0" dirty="0">
              <a:latin typeface="微软雅黑" panose="020B0503020204020204" pitchFamily="34" charset="-122"/>
              <a:ea typeface="微软雅黑" panose="020B0503020204020204" pitchFamily="34" charset="-122"/>
            </a:rPr>
            <a:t>输出限幅</a:t>
          </a:r>
          <a:r>
            <a:rPr lang="zh-CN" sz="2100" b="0" i="0" kern="1200" baseline="0" dirty="0">
              <a:latin typeface="微软雅黑" panose="020B0503020204020204" pitchFamily="34" charset="-122"/>
              <a:ea typeface="微软雅黑" panose="020B0503020204020204" pitchFamily="34" charset="-122"/>
            </a:rPr>
            <a:t>：在输出前强制约束在 [Min,Max] 区间。</a:t>
          </a:r>
          <a:endParaRPr lang="zh-CN" sz="21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100" b="1" i="0" kern="1200" baseline="0" dirty="0">
              <a:latin typeface="微软雅黑" panose="020B0503020204020204" pitchFamily="34" charset="-122"/>
              <a:ea typeface="微软雅黑" panose="020B0503020204020204" pitchFamily="34" charset="-122"/>
            </a:rPr>
            <a:t>积分限幅/抗饱和</a:t>
          </a:r>
          <a:r>
            <a:rPr lang="zh-CN" sz="2100" b="0" i="0" kern="1200" baseline="0" dirty="0">
              <a:latin typeface="微软雅黑" panose="020B0503020204020204" pitchFamily="34" charset="-122"/>
              <a:ea typeface="微软雅黑" panose="020B0503020204020204" pitchFamily="34" charset="-122"/>
            </a:rPr>
            <a:t>：当输出达到最大值时，停止累加积分项 。</a:t>
          </a:r>
          <a:endParaRPr lang="zh-CN" sz="21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3692346"/>
        <a:ext cx="11734799" cy="1521449"/>
      </dsp:txXfrm>
    </dsp:sp>
    <dsp:sp modelId="{66BC7289-3F77-431D-9D93-690954A2CC11}">
      <dsp:nvSpPr>
        <dsp:cNvPr id="0" name=""/>
        <dsp:cNvSpPr/>
      </dsp:nvSpPr>
      <dsp:spPr>
        <a:xfrm>
          <a:off x="586740" y="3382386"/>
          <a:ext cx="8214360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0483" tIns="0" rIns="310483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100" b="1" i="0" kern="1200" baseline="0" dirty="0">
              <a:latin typeface="微软雅黑" panose="020B0503020204020204" pitchFamily="34" charset="-122"/>
              <a:ea typeface="微软雅黑" panose="020B0503020204020204" pitchFamily="34" charset="-122"/>
            </a:rPr>
            <a:t>代码解决策略</a:t>
          </a:r>
          <a:r>
            <a:rPr lang="zh-CN" sz="2100" b="0" i="0" kern="1200" baseline="0" dirty="0">
              <a:latin typeface="微软雅黑" panose="020B0503020204020204" pitchFamily="34" charset="-122"/>
              <a:ea typeface="微软雅黑" panose="020B0503020204020204" pitchFamily="34" charset="-122"/>
            </a:rPr>
            <a:t>：</a:t>
          </a:r>
          <a:endParaRPr lang="zh-CN" sz="21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617002" y="3412648"/>
        <a:ext cx="8153836" cy="55939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95624B-F4C3-460C-9097-D524F70454E5}">
      <dsp:nvSpPr>
        <dsp:cNvPr id="0" name=""/>
        <dsp:cNvSpPr/>
      </dsp:nvSpPr>
      <dsp:spPr>
        <a:xfrm>
          <a:off x="0" y="37362"/>
          <a:ext cx="10688441" cy="6844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600" kern="1200" dirty="0"/>
            <a:t>第一步 </a:t>
          </a:r>
          <a:r>
            <a:rPr lang="en-US" sz="2600" kern="1200" dirty="0"/>
            <a:t>(P)</a:t>
          </a:r>
          <a:r>
            <a:rPr lang="zh-CN" sz="2600" kern="1200" dirty="0"/>
            <a:t>： 关掉 </a:t>
          </a:r>
          <a:r>
            <a:rPr lang="en-US" sz="2600" kern="1200" dirty="0"/>
            <a:t>I </a:t>
          </a:r>
          <a:r>
            <a:rPr lang="zh-CN" sz="2600" kern="1200" dirty="0"/>
            <a:t>和 </a:t>
          </a:r>
          <a:r>
            <a:rPr lang="en-US" sz="2600" kern="1200" dirty="0"/>
            <a:t>D</a:t>
          </a:r>
          <a:r>
            <a:rPr lang="zh-CN" sz="2600" kern="1200" dirty="0"/>
            <a:t>。</a:t>
          </a:r>
        </a:p>
      </dsp:txBody>
      <dsp:txXfrm>
        <a:off x="33412" y="70774"/>
        <a:ext cx="10621617" cy="617626"/>
      </dsp:txXfrm>
    </dsp:sp>
    <dsp:sp modelId="{B755FF46-AF0B-4DCB-AB06-E6D7DBE929A7}">
      <dsp:nvSpPr>
        <dsp:cNvPr id="0" name=""/>
        <dsp:cNvSpPr/>
      </dsp:nvSpPr>
      <dsp:spPr>
        <a:xfrm>
          <a:off x="0" y="721812"/>
          <a:ext cx="10688441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9358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2000" kern="1200" dirty="0"/>
            <a:t>从小到大增加 </a:t>
          </a:r>
          <a:r>
            <a:rPr lang="en-US" sz="2000" kern="1200" dirty="0" err="1"/>
            <a:t>Kp</a:t>
          </a:r>
          <a:r>
            <a:rPr lang="en-US" sz="2000" kern="1200" dirty="0"/>
            <a:t>​</a:t>
          </a:r>
          <a:r>
            <a:rPr lang="zh-CN" sz="2000" kern="1200" dirty="0"/>
            <a:t>，直到系统出现明显振荡，然后减小到该值的 </a:t>
          </a:r>
          <a:r>
            <a:rPr lang="en-US" sz="2000" kern="1200" dirty="0"/>
            <a:t>60%</a:t>
          </a:r>
          <a:r>
            <a:rPr lang="zh-CN" sz="2000" kern="1200" dirty="0"/>
            <a:t>。</a:t>
          </a:r>
        </a:p>
      </dsp:txBody>
      <dsp:txXfrm>
        <a:off x="0" y="721812"/>
        <a:ext cx="10688441" cy="430560"/>
      </dsp:txXfrm>
    </dsp:sp>
    <dsp:sp modelId="{0A96B558-7014-4452-9D1C-B08E2EF0A120}">
      <dsp:nvSpPr>
        <dsp:cNvPr id="0" name=""/>
        <dsp:cNvSpPr/>
      </dsp:nvSpPr>
      <dsp:spPr>
        <a:xfrm>
          <a:off x="0" y="1152372"/>
          <a:ext cx="10688441" cy="6844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600" kern="1200" dirty="0"/>
            <a:t>第二步 </a:t>
          </a:r>
          <a:r>
            <a:rPr lang="en-US" sz="2600" kern="1200" dirty="0"/>
            <a:t>(I)</a:t>
          </a:r>
          <a:r>
            <a:rPr lang="zh-CN" sz="2600" kern="1200" dirty="0"/>
            <a:t>： 缓慢增加 </a:t>
          </a:r>
          <a:r>
            <a:rPr lang="en-US" sz="2600" kern="1200" dirty="0"/>
            <a:t>Ki​</a:t>
          </a:r>
          <a:r>
            <a:rPr lang="zh-CN" sz="2600" kern="1200" dirty="0"/>
            <a:t>，消除静态误差。</a:t>
          </a:r>
        </a:p>
      </dsp:txBody>
      <dsp:txXfrm>
        <a:off x="33412" y="1185784"/>
        <a:ext cx="10621617" cy="617626"/>
      </dsp:txXfrm>
    </dsp:sp>
    <dsp:sp modelId="{44E175B5-4CFE-47D6-9388-D7057D04485F}">
      <dsp:nvSpPr>
        <dsp:cNvPr id="0" name=""/>
        <dsp:cNvSpPr/>
      </dsp:nvSpPr>
      <dsp:spPr>
        <a:xfrm>
          <a:off x="0" y="1836822"/>
          <a:ext cx="10688441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9358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2000" kern="1200" dirty="0"/>
            <a:t>目标是让系统能稳定“停在”设定点。</a:t>
          </a:r>
        </a:p>
      </dsp:txBody>
      <dsp:txXfrm>
        <a:off x="0" y="1836822"/>
        <a:ext cx="10688441" cy="430560"/>
      </dsp:txXfrm>
    </dsp:sp>
    <dsp:sp modelId="{D4789F98-7C41-4232-84A8-66E3F5237AE0}">
      <dsp:nvSpPr>
        <dsp:cNvPr id="0" name=""/>
        <dsp:cNvSpPr/>
      </dsp:nvSpPr>
      <dsp:spPr>
        <a:xfrm>
          <a:off x="0" y="2267382"/>
          <a:ext cx="10688441" cy="6844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600" kern="1200" dirty="0"/>
            <a:t>第三步 </a:t>
          </a:r>
          <a:r>
            <a:rPr lang="en-US" sz="2600" kern="1200" dirty="0"/>
            <a:t>(D)</a:t>
          </a:r>
          <a:r>
            <a:rPr lang="zh-CN" sz="2600" kern="1200" dirty="0"/>
            <a:t>： 如果系统反应太激进、有超调（冲过头），加入 </a:t>
          </a:r>
          <a:r>
            <a:rPr lang="en-US" sz="2600" kern="1200" dirty="0" err="1"/>
            <a:t>Kd</a:t>
          </a:r>
          <a:r>
            <a:rPr lang="en-US" sz="2600" kern="1200" dirty="0"/>
            <a:t>​</a:t>
          </a:r>
          <a:r>
            <a:rPr lang="zh-CN" sz="2600" kern="1200" dirty="0"/>
            <a:t>。</a:t>
          </a:r>
        </a:p>
      </dsp:txBody>
      <dsp:txXfrm>
        <a:off x="33412" y="2300794"/>
        <a:ext cx="10621617" cy="617626"/>
      </dsp:txXfrm>
    </dsp:sp>
    <dsp:sp modelId="{FFD26D70-F948-437F-90FA-2998F954C196}">
      <dsp:nvSpPr>
        <dsp:cNvPr id="0" name=""/>
        <dsp:cNvSpPr/>
      </dsp:nvSpPr>
      <dsp:spPr>
        <a:xfrm>
          <a:off x="0" y="2951833"/>
          <a:ext cx="10688441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9358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2000" kern="1200"/>
            <a:t>它像“阻尼器”，能让波形变平滑。</a:t>
          </a:r>
          <a:endParaRPr lang="zh-CN" sz="2000" kern="1200" dirty="0"/>
        </a:p>
      </dsp:txBody>
      <dsp:txXfrm>
        <a:off x="0" y="2951833"/>
        <a:ext cx="10688441" cy="4305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95624B-F4C3-460C-9097-D524F70454E5}">
      <dsp:nvSpPr>
        <dsp:cNvPr id="0" name=""/>
        <dsp:cNvSpPr/>
      </dsp:nvSpPr>
      <dsp:spPr>
        <a:xfrm>
          <a:off x="0" y="8515"/>
          <a:ext cx="5538712" cy="9523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kern="1200" dirty="0"/>
            <a:t>仅保留 </a:t>
          </a:r>
          <a:r>
            <a:rPr lang="en-US" altLang="zh-CN" sz="2200" kern="1200" dirty="0" err="1"/>
            <a:t>Kp</a:t>
          </a:r>
          <a:r>
            <a:rPr lang="en-US" altLang="zh-CN" sz="2200" kern="1200" dirty="0"/>
            <a:t>​</a:t>
          </a:r>
          <a:r>
            <a:rPr lang="zh-CN" altLang="en-US" sz="2200" kern="1200" dirty="0"/>
            <a:t>，增加到系统产生</a:t>
          </a:r>
          <a:r>
            <a:rPr lang="zh-CN" altLang="en-US" sz="2200" b="1" kern="1200" dirty="0"/>
            <a:t>等幅振荡</a:t>
          </a:r>
          <a:r>
            <a:rPr lang="zh-CN" altLang="en-US" sz="2200" kern="1200" dirty="0"/>
            <a:t>（波峰一样高）。</a:t>
          </a:r>
          <a:endParaRPr lang="zh-CN" sz="2200" kern="1200" dirty="0"/>
        </a:p>
      </dsp:txBody>
      <dsp:txXfrm>
        <a:off x="46491" y="55006"/>
        <a:ext cx="5445730" cy="859398"/>
      </dsp:txXfrm>
    </dsp:sp>
    <dsp:sp modelId="{90ABC2FC-0A57-4C59-8D3A-12309F508009}">
      <dsp:nvSpPr>
        <dsp:cNvPr id="0" name=""/>
        <dsp:cNvSpPr/>
      </dsp:nvSpPr>
      <dsp:spPr>
        <a:xfrm>
          <a:off x="0" y="1024255"/>
          <a:ext cx="5538712" cy="9523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kern="1200"/>
            <a:t>记录此时的临界增益 </a:t>
          </a:r>
          <a:r>
            <a:rPr lang="en-US" altLang="zh-CN" sz="2200" kern="1200"/>
            <a:t>Ku​ </a:t>
          </a:r>
          <a:r>
            <a:rPr lang="zh-CN" altLang="en-US" sz="2200" kern="1200"/>
            <a:t>和振荡周期 </a:t>
          </a:r>
          <a:r>
            <a:rPr lang="en-US" altLang="zh-CN" sz="2200" kern="1200"/>
            <a:t>Tu​</a:t>
          </a:r>
          <a:r>
            <a:rPr lang="zh-CN" altLang="en-US" sz="2200" kern="1200"/>
            <a:t>。</a:t>
          </a:r>
        </a:p>
      </dsp:txBody>
      <dsp:txXfrm>
        <a:off x="46491" y="1070746"/>
        <a:ext cx="5445730" cy="859398"/>
      </dsp:txXfrm>
    </dsp:sp>
    <dsp:sp modelId="{4DA30D5E-83DD-4C86-A2A1-D7AD4028FEA6}">
      <dsp:nvSpPr>
        <dsp:cNvPr id="0" name=""/>
        <dsp:cNvSpPr/>
      </dsp:nvSpPr>
      <dsp:spPr>
        <a:xfrm>
          <a:off x="0" y="2039995"/>
          <a:ext cx="5538712" cy="9523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b="1" kern="1200" dirty="0"/>
            <a:t>查表计算：</a:t>
          </a:r>
          <a:r>
            <a:rPr lang="zh-CN" altLang="en-US" sz="2200" kern="1200" dirty="0"/>
            <a:t> 直接套用公式，如 </a:t>
          </a:r>
          <a:r>
            <a:rPr lang="en-US" sz="2200" kern="1200" dirty="0" err="1"/>
            <a:t>Kp</a:t>
          </a:r>
          <a:r>
            <a:rPr lang="en-US" sz="2200" kern="1200" dirty="0"/>
            <a:t>​=0.6×Ku​</a:t>
          </a:r>
          <a:r>
            <a:rPr lang="zh-CN" altLang="en-US" sz="2200" kern="1200" dirty="0"/>
            <a:t>、</a:t>
          </a:r>
          <a:r>
            <a:rPr lang="en-US" sz="2200" kern="1200" dirty="0"/>
            <a:t>Ki​=1.2×Ku​/Tu​</a:t>
          </a:r>
          <a:r>
            <a:rPr lang="zh-CN" altLang="en-US" sz="2200" kern="1200" dirty="0"/>
            <a:t>、</a:t>
          </a:r>
          <a:r>
            <a:rPr lang="en-US" sz="2200" kern="1200" dirty="0" err="1"/>
            <a:t>Kd</a:t>
          </a:r>
          <a:r>
            <a:rPr lang="en-US" sz="2200" kern="1200" dirty="0"/>
            <a:t>​=0.075×Ku​×Tu​</a:t>
          </a:r>
          <a:r>
            <a:rPr lang="zh-CN" altLang="en-US" sz="2200" kern="1200" dirty="0"/>
            <a:t>等。</a:t>
          </a:r>
        </a:p>
      </dsp:txBody>
      <dsp:txXfrm>
        <a:off x="46491" y="2086486"/>
        <a:ext cx="5445730" cy="85939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95624B-F4C3-460C-9097-D524F70454E5}">
      <dsp:nvSpPr>
        <dsp:cNvPr id="0" name=""/>
        <dsp:cNvSpPr/>
      </dsp:nvSpPr>
      <dsp:spPr>
        <a:xfrm>
          <a:off x="0" y="28520"/>
          <a:ext cx="10688441" cy="7400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b="1" kern="1200" dirty="0">
              <a:solidFill>
                <a:srgbClr val="FF0000"/>
              </a:solidFill>
              <a:highlight>
                <a:srgbClr val="FFFF00"/>
              </a:highlight>
            </a:rPr>
            <a:t>串口可视化</a:t>
          </a:r>
          <a:endParaRPr lang="zh-CN" altLang="en-US" sz="2800" kern="1200" dirty="0">
            <a:solidFill>
              <a:srgbClr val="FF0000"/>
            </a:solidFill>
            <a:highlight>
              <a:srgbClr val="FFFF00"/>
            </a:highlight>
          </a:endParaRPr>
        </a:p>
      </dsp:txBody>
      <dsp:txXfrm>
        <a:off x="36125" y="64645"/>
        <a:ext cx="10616191" cy="667774"/>
      </dsp:txXfrm>
    </dsp:sp>
    <dsp:sp modelId="{A96EC4C5-074A-4F65-B99D-0893E467DB90}">
      <dsp:nvSpPr>
        <dsp:cNvPr id="0" name=""/>
        <dsp:cNvSpPr/>
      </dsp:nvSpPr>
      <dsp:spPr>
        <a:xfrm>
          <a:off x="0" y="768545"/>
          <a:ext cx="10688441" cy="380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9358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1800" kern="1200" dirty="0"/>
            <a:t>使用 </a:t>
          </a:r>
          <a:r>
            <a:rPr lang="en-US" sz="1800" b="1" kern="1200" dirty="0"/>
            <a:t>VOFA+</a:t>
          </a:r>
          <a:r>
            <a:rPr lang="en-US" sz="1800" kern="1200" dirty="0"/>
            <a:t>、</a:t>
          </a:r>
          <a:r>
            <a:rPr lang="en-US" sz="1800" b="1" kern="1200" dirty="0" err="1"/>
            <a:t>SerialPlot</a:t>
          </a:r>
          <a:r>
            <a:rPr lang="en-US" sz="1800" kern="1200" dirty="0"/>
            <a:t> </a:t>
          </a:r>
          <a:r>
            <a:rPr lang="zh-CN" altLang="en-US" sz="1800" kern="1200" dirty="0"/>
            <a:t>等工具，实时看 </a:t>
          </a:r>
          <a:r>
            <a:rPr lang="en-US" sz="1800" kern="1200" dirty="0"/>
            <a:t>Target（</a:t>
          </a:r>
          <a:r>
            <a:rPr lang="zh-CN" altLang="en-US" sz="1800" kern="1200" dirty="0"/>
            <a:t>目标）与 </a:t>
          </a:r>
          <a:r>
            <a:rPr lang="en-US" sz="1800" kern="1200" dirty="0"/>
            <a:t>Measure（</a:t>
          </a:r>
          <a:r>
            <a:rPr lang="zh-CN" altLang="en-US" sz="1800" kern="1200" dirty="0"/>
            <a:t>反馈）的曲线。</a:t>
          </a:r>
          <a:endParaRPr lang="zh-CN" sz="1800" kern="1200" dirty="0"/>
        </a:p>
      </dsp:txBody>
      <dsp:txXfrm>
        <a:off x="0" y="768545"/>
        <a:ext cx="10688441" cy="380880"/>
      </dsp:txXfrm>
    </dsp:sp>
    <dsp:sp modelId="{61568491-A360-4FF5-AB19-5B1E3FE2589B}">
      <dsp:nvSpPr>
        <dsp:cNvPr id="0" name=""/>
        <dsp:cNvSpPr/>
      </dsp:nvSpPr>
      <dsp:spPr>
        <a:xfrm>
          <a:off x="0" y="1149425"/>
          <a:ext cx="10688441" cy="7400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300" b="1" kern="1200" dirty="0"/>
            <a:t>自整定算法</a:t>
          </a:r>
          <a:endParaRPr lang="zh-CN" altLang="en-US" sz="2300" kern="1200" dirty="0"/>
        </a:p>
      </dsp:txBody>
      <dsp:txXfrm>
        <a:off x="36125" y="1185550"/>
        <a:ext cx="10616191" cy="667774"/>
      </dsp:txXfrm>
    </dsp:sp>
    <dsp:sp modelId="{177A6ED5-71F5-4B53-A59F-F52B181E0378}">
      <dsp:nvSpPr>
        <dsp:cNvPr id="0" name=""/>
        <dsp:cNvSpPr/>
      </dsp:nvSpPr>
      <dsp:spPr>
        <a:xfrm>
          <a:off x="0" y="1889450"/>
          <a:ext cx="10688441" cy="380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9358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zh-CN" altLang="en-US" sz="1800" kern="1200" dirty="0"/>
            <a:t> 许多现代驱动器（如 </a:t>
          </a:r>
          <a:r>
            <a:rPr lang="en-US" altLang="zh-CN" sz="1800" kern="1200" dirty="0"/>
            <a:t>VFD</a:t>
          </a:r>
          <a:r>
            <a:rPr lang="zh-CN" altLang="en-US" sz="1800" kern="1200" dirty="0"/>
            <a:t>）自带 </a:t>
          </a:r>
          <a:r>
            <a:rPr lang="en-US" altLang="zh-CN" sz="1800" kern="1200" dirty="0"/>
            <a:t>Auto-Tuning </a:t>
          </a:r>
          <a:r>
            <a:rPr lang="zh-CN" altLang="en-US" sz="1800" kern="1200" dirty="0"/>
            <a:t>按钮。</a:t>
          </a:r>
        </a:p>
      </dsp:txBody>
      <dsp:txXfrm>
        <a:off x="0" y="1889450"/>
        <a:ext cx="10688441" cy="380880"/>
      </dsp:txXfrm>
    </dsp:sp>
    <dsp:sp modelId="{0975DDBA-F54B-42C4-8B6E-6A80C7A66710}">
      <dsp:nvSpPr>
        <dsp:cNvPr id="0" name=""/>
        <dsp:cNvSpPr/>
      </dsp:nvSpPr>
      <dsp:spPr>
        <a:xfrm>
          <a:off x="0" y="2270330"/>
          <a:ext cx="10688441" cy="7400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b="1" kern="1200" dirty="0">
              <a:solidFill>
                <a:srgbClr val="FF0000"/>
              </a:solidFill>
              <a:highlight>
                <a:srgbClr val="FFFF00"/>
              </a:highlight>
            </a:rPr>
            <a:t>仿真软件</a:t>
          </a:r>
          <a:endParaRPr lang="zh-CN" altLang="en-US" sz="2800" kern="1200" dirty="0">
            <a:solidFill>
              <a:srgbClr val="FF0000"/>
            </a:solidFill>
            <a:highlight>
              <a:srgbClr val="FFFF00"/>
            </a:highlight>
          </a:endParaRPr>
        </a:p>
      </dsp:txBody>
      <dsp:txXfrm>
        <a:off x="36125" y="2306455"/>
        <a:ext cx="10616191" cy="667774"/>
      </dsp:txXfrm>
    </dsp:sp>
    <dsp:sp modelId="{C743DE0D-EA2D-4A62-870C-4B777FB30003}">
      <dsp:nvSpPr>
        <dsp:cNvPr id="0" name=""/>
        <dsp:cNvSpPr/>
      </dsp:nvSpPr>
      <dsp:spPr>
        <a:xfrm>
          <a:off x="0" y="3010355"/>
          <a:ext cx="10688441" cy="380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9358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zh-CN" altLang="en-US" sz="1800" kern="1200"/>
            <a:t>在 </a:t>
          </a:r>
          <a:r>
            <a:rPr lang="en-US" sz="1800" b="1" kern="1200"/>
            <a:t>MATLAB/Simulink</a:t>
          </a:r>
          <a:r>
            <a:rPr lang="en-US" sz="1800" kern="1200"/>
            <a:t> </a:t>
          </a:r>
          <a:r>
            <a:rPr lang="zh-CN" altLang="en-US" sz="1800" kern="1200"/>
            <a:t>中建模，通过算法自动寻找最优 </a:t>
          </a:r>
          <a:r>
            <a:rPr lang="en-US" sz="1800" kern="1200"/>
            <a:t>PID </a:t>
          </a:r>
          <a:r>
            <a:rPr lang="zh-CN" altLang="en-US" sz="1800" kern="1200"/>
            <a:t>系数。</a:t>
          </a:r>
          <a:endParaRPr lang="zh-CN" altLang="en-US" sz="1800" kern="1200" dirty="0"/>
        </a:p>
      </dsp:txBody>
      <dsp:txXfrm>
        <a:off x="0" y="3010355"/>
        <a:ext cx="10688441" cy="3808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875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6677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078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759DE-F316-88BA-5B67-DCF4224FB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305C667-A7B3-EB26-B415-C6063BCA6A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A5BD9EB-4EE7-9D54-E7FE-77EFE6B9B6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FB81FF-9D84-3E4B-5080-84427EFF37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19645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622AB-E850-55D6-BF70-AFD49BA98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A35DC59-E56D-8CC8-AD96-B891A3C5D2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952B885-EF80-29AB-AA5A-2EDEAF719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901B8C-A88D-B88F-003C-4692EBD192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60597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38028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72EE9-0B0A-BB5E-9299-C017AF189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47F151-790E-5C60-EAC1-34E1CC6E9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96AECB-05A3-B382-9E64-8D6BBEBB3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54E931-82B3-66FA-4302-8B72BDBC95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2344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98010-6D3A-00E5-A9FA-DECFFB45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1EFDD-F9A5-E1E7-5D12-813C0ADE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61DEB-E866-A6CB-C9D9-D70CB857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4FA6D-3848-FE75-BFDB-ED698F7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C8086-56EA-2D74-D57B-897B28C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4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112188" y="374795"/>
            <a:ext cx="10528876" cy="390527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08F08C6-3C39-9C11-0725-75CC7427A6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6927" y="208572"/>
            <a:ext cx="568252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2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84" y="374795"/>
            <a:ext cx="3974034" cy="390527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</p:spTree>
    <p:extLst>
      <p:ext uri="{BB962C8B-B14F-4D97-AF65-F5344CB8AC3E}">
        <p14:creationId xmlns:p14="http://schemas.microsoft.com/office/powerpoint/2010/main" val="82118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7C869B-A0BA-D6AE-D0D4-11E1B53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A2620-29DE-CD42-F733-2907E2386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A470E-780F-8158-CABC-A03E9BA79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EB5A9A-13CC-4F73-B43A-1D8F85083558}" type="datetimeFigureOut">
              <a:rPr lang="zh-CN" altLang="en-US" smtClean="0"/>
              <a:pPr/>
              <a:t>2026/1/24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2838F-97EC-E402-AA26-CEB2CE7D7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2C9C5-7D1E-DCC5-EC29-F23101B58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9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1" r:id="rId3"/>
    <p:sldLayoutId id="214748366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标题 1"/>
          <p:cNvSpPr txBox="1"/>
          <p:nvPr/>
        </p:nvSpPr>
        <p:spPr>
          <a:xfrm>
            <a:off x="443436" y="50357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4DA22E79-CE64-2DFE-BA96-AAD1C92B5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61" y="249848"/>
            <a:ext cx="568252" cy="722971"/>
          </a:xfrm>
          <a:prstGeom prst="rect">
            <a:avLst/>
          </a:prstGeom>
        </p:spPr>
      </p:pic>
      <p:sp>
        <p:nvSpPr>
          <p:cNvPr id="56" name="标题 1">
            <a:extLst>
              <a:ext uri="{FF2B5EF4-FFF2-40B4-BE49-F238E27FC236}">
                <a16:creationId xmlns:a16="http://schemas.microsoft.com/office/drawing/2014/main" id="{3E23DABD-351E-E28C-D66B-970AFEBBEDFF}"/>
              </a:ext>
            </a:extLst>
          </p:cNvPr>
          <p:cNvSpPr txBox="1"/>
          <p:nvPr/>
        </p:nvSpPr>
        <p:spPr>
          <a:xfrm>
            <a:off x="2055953" y="2818708"/>
            <a:ext cx="7601657" cy="89333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kumimoji="1" lang="zh-CN" altLang="en-US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嵌入式（单片机）系统中的</a:t>
            </a:r>
            <a:r>
              <a:rPr kumimoji="1" lang="en-US" altLang="zh-CN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PID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97B368E-A7CA-382B-CDAA-BCB48B30880B}"/>
              </a:ext>
            </a:extLst>
          </p:cNvPr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009C039-412F-F46F-73A2-007DE4586162}"/>
              </a:ext>
            </a:extLst>
          </p:cNvPr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B16617C9-0B65-19CB-A449-FE7201FF3230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91F4996C-216D-A58E-B51D-F934E91657D8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2051DA12-8F5E-043E-B013-630975152B47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8" name="标题 1">
            <a:extLst>
              <a:ext uri="{FF2B5EF4-FFF2-40B4-BE49-F238E27FC236}">
                <a16:creationId xmlns:a16="http://schemas.microsoft.com/office/drawing/2014/main" id="{C6AF0379-367A-0305-C0CF-CAACD139A808}"/>
              </a:ext>
            </a:extLst>
          </p:cNvPr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E7383071-5452-D100-93D8-A8B3C57DDEC8}"/>
              </a:ext>
            </a:extLst>
          </p:cNvPr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r>
              <a:rPr kumimoji="1" lang="zh-CN" altLang="en-US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电机开发教程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A9E283A-0844-3A11-F79D-90E3F8FFBA93}"/>
              </a:ext>
            </a:extLst>
          </p:cNvPr>
          <p:cNvSpPr txBox="1"/>
          <p:nvPr/>
        </p:nvSpPr>
        <p:spPr>
          <a:xfrm>
            <a:off x="1749598" y="2271335"/>
            <a:ext cx="2460153" cy="54737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【09-05】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1065B79-D9FB-31EB-D83B-1DCAD60DE970}"/>
              </a:ext>
            </a:extLst>
          </p:cNvPr>
          <p:cNvSpPr txBox="1"/>
          <p:nvPr/>
        </p:nvSpPr>
        <p:spPr>
          <a:xfrm>
            <a:off x="3848782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7D81CDC7-1EC0-EBB6-2724-E1CB98E1C542}"/>
              </a:ext>
            </a:extLst>
          </p:cNvPr>
          <p:cNvSpPr txBox="1"/>
          <p:nvPr/>
        </p:nvSpPr>
        <p:spPr>
          <a:xfrm>
            <a:off x="4175906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DF89CA-9DC5-5479-F9F5-74BC96FCA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/>
              <a:t>学习目标</a:t>
            </a:r>
          </a:p>
        </p:txBody>
      </p:sp>
      <p:graphicFrame>
        <p:nvGraphicFramePr>
          <p:cNvPr id="3" name="内容占位符 2">
            <a:extLst>
              <a:ext uri="{FF2B5EF4-FFF2-40B4-BE49-F238E27FC236}">
                <a16:creationId xmlns:a16="http://schemas.microsoft.com/office/drawing/2014/main" id="{4418066D-7B8A-06B6-8BF8-68AAD7754025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017319441"/>
              </p:ext>
            </p:extLst>
          </p:nvPr>
        </p:nvGraphicFramePr>
        <p:xfrm>
          <a:off x="792480" y="1306286"/>
          <a:ext cx="10848583" cy="50074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54865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6EF45-B8C8-A58C-4E29-E141193BC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03FA229-6591-F6A4-A727-47150D92F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 从“数学”到“时钟”</a:t>
            </a:r>
            <a:r>
              <a:rPr lang="en-US" altLang="zh-CN" dirty="0"/>
              <a:t>——</a:t>
            </a:r>
            <a:r>
              <a:rPr lang="zh-CN" altLang="en-US" dirty="0"/>
              <a:t>离散化处理</a:t>
            </a:r>
          </a:p>
        </p:txBody>
      </p:sp>
      <p:pic>
        <p:nvPicPr>
          <p:cNvPr id="26" name="内容占位符 25">
            <a:extLst>
              <a:ext uri="{FF2B5EF4-FFF2-40B4-BE49-F238E27FC236}">
                <a16:creationId xmlns:a16="http://schemas.microsoft.com/office/drawing/2014/main" id="{E4C8371D-BD56-066A-2D65-72624467A87D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386" y="1156136"/>
            <a:ext cx="9252640" cy="2912868"/>
          </a:xfrm>
        </p:spPr>
      </p:pic>
    </p:spTree>
    <p:extLst>
      <p:ext uri="{BB962C8B-B14F-4D97-AF65-F5344CB8AC3E}">
        <p14:creationId xmlns:p14="http://schemas.microsoft.com/office/powerpoint/2010/main" val="2811269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0715F-63FE-6F61-0F73-8CA636393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06492E2-8391-BB84-0BF6-CF9F25B54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两种核心算法对比</a:t>
            </a:r>
            <a:r>
              <a:rPr lang="en-US" altLang="zh-CN" dirty="0"/>
              <a:t>——</a:t>
            </a:r>
            <a:r>
              <a:rPr lang="zh-CN" altLang="en-US" dirty="0"/>
              <a:t>位置式和增量式</a:t>
            </a:r>
          </a:p>
        </p:txBody>
      </p:sp>
      <p:graphicFrame>
        <p:nvGraphicFramePr>
          <p:cNvPr id="9" name="内容占位符 8">
            <a:extLst>
              <a:ext uri="{FF2B5EF4-FFF2-40B4-BE49-F238E27FC236}">
                <a16:creationId xmlns:a16="http://schemas.microsoft.com/office/drawing/2014/main" id="{A8D4866B-36FA-4390-2719-BF9F78070670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149114685"/>
              </p:ext>
            </p:extLst>
          </p:nvPr>
        </p:nvGraphicFramePr>
        <p:xfrm>
          <a:off x="962819" y="1725136"/>
          <a:ext cx="10515600" cy="246888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894681">
                  <a:extLst>
                    <a:ext uri="{9D8B030D-6E8A-4147-A177-3AD203B41FA5}">
                      <a16:colId xmlns:a16="http://schemas.microsoft.com/office/drawing/2014/main" val="3500086892"/>
                    </a:ext>
                  </a:extLst>
                </a:gridCol>
                <a:gridCol w="3708400">
                  <a:extLst>
                    <a:ext uri="{9D8B030D-6E8A-4147-A177-3AD203B41FA5}">
                      <a16:colId xmlns:a16="http://schemas.microsoft.com/office/drawing/2014/main" val="3711382656"/>
                    </a:ext>
                  </a:extLst>
                </a:gridCol>
                <a:gridCol w="4912519">
                  <a:extLst>
                    <a:ext uri="{9D8B030D-6E8A-4147-A177-3AD203B41FA5}">
                      <a16:colId xmlns:a16="http://schemas.microsoft.com/office/drawing/2014/main" val="25696793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>
                          <a:effectLst/>
                        </a:rPr>
                        <a:t>特性</a:t>
                      </a:r>
                      <a:endParaRPr lang="zh-CN" altLang="en-US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>
                          <a:effectLst/>
                        </a:rPr>
                        <a:t>位置式 </a:t>
                      </a:r>
                      <a:r>
                        <a:rPr lang="en-US" b="1" dirty="0">
                          <a:effectLst/>
                        </a:rPr>
                        <a:t>PID (Positional)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>
                          <a:effectLst/>
                        </a:rPr>
                        <a:t>增量式 </a:t>
                      </a:r>
                      <a:r>
                        <a:rPr lang="en-US" b="1" dirty="0">
                          <a:effectLst/>
                        </a:rPr>
                        <a:t>PID (Incremental)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6265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计算结果</a:t>
                      </a:r>
                      <a:endParaRPr lang="zh-CN" alt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  <a:latin typeface="Google Sans Text"/>
                        </a:rPr>
                        <a:t>全量输出，需从零开始累加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  <a:latin typeface="Google Sans Text"/>
                        </a:rPr>
                        <a:t>增量输出，只关心当前偏差的变化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891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优点</a:t>
                      </a:r>
                      <a:endParaRPr lang="zh-CN" alt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逻辑直观，带“记忆”功能 </a:t>
                      </a:r>
                      <a:endParaRPr lang="zh-CN" alt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无需累加误差，计算量小，切换手动</a:t>
                      </a:r>
                      <a:r>
                        <a:rPr lang="en-US" altLang="zh-CN">
                          <a:effectLst/>
                        </a:rPr>
                        <a:t>/</a:t>
                      </a:r>
                      <a:r>
                        <a:rPr lang="zh-CN" altLang="en-US">
                          <a:effectLst/>
                        </a:rPr>
                        <a:t>自动平滑</a:t>
                      </a:r>
                      <a:endParaRPr lang="zh-CN" alt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9879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 dirty="0">
                          <a:effectLst/>
                        </a:rPr>
                        <a:t>缺点</a:t>
                      </a:r>
                      <a:endParaRPr lang="zh-CN" altLang="en-US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容易产生</a:t>
                      </a:r>
                      <a:r>
                        <a:rPr lang="zh-CN" altLang="en-US" b="1" dirty="0">
                          <a:effectLst/>
                        </a:rPr>
                        <a:t>积分饱和</a:t>
                      </a:r>
                      <a:r>
                        <a:rPr lang="zh-CN" altLang="en-US" dirty="0">
                          <a:effectLst/>
                        </a:rPr>
                        <a:t> </a:t>
                      </a:r>
                      <a:endParaRPr lang="zh-CN" altLang="en-US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物理意义相对抽象</a:t>
                      </a:r>
                      <a:endParaRPr lang="zh-CN" altLang="en-US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7180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  <a:latin typeface="Google Sans Text"/>
                        </a:rPr>
                        <a:t>故障影响</a:t>
                      </a:r>
                      <a:endParaRPr lang="zh-CN" alt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  <a:latin typeface="Google Sans Text"/>
                        </a:rPr>
                        <a:t>如果程序崩溃复位，输出可能剧烈波动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  <a:latin typeface="Google Sans Text"/>
                        </a:rPr>
                        <a:t>如果增量计算失效，输出通常保持在上一时刻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3808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适用场景</a:t>
                      </a:r>
                      <a:endParaRPr lang="zh-CN" alt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 dirty="0">
                          <a:effectLst/>
                          <a:latin typeface="Google Sans Text"/>
                        </a:rPr>
                        <a:t>位置控制</a:t>
                      </a:r>
                      <a:r>
                        <a:rPr lang="zh-CN" altLang="en-US" dirty="0">
                          <a:effectLst/>
                          <a:latin typeface="Google Sans Text"/>
                        </a:rPr>
                        <a:t>（如舵机角度、丝杠位置）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 dirty="0">
                          <a:effectLst/>
                          <a:latin typeface="Google Sans Text"/>
                        </a:rPr>
                        <a:t>速度控制</a:t>
                      </a:r>
                      <a:r>
                        <a:rPr lang="zh-CN" altLang="en-US" dirty="0">
                          <a:effectLst/>
                          <a:latin typeface="Google Sans Text"/>
                        </a:rPr>
                        <a:t>（如电机转速、变频器调速）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52075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7390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8F5B1-56F1-7FB3-C99A-F65C87E7D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607EF24-1BCC-9855-0824-7FD83ED51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</a:t>
            </a:r>
            <a:r>
              <a:rPr lang="zh-CN" altLang="en-US" dirty="0"/>
              <a:t> 抗饱和与限幅</a:t>
            </a:r>
          </a:p>
        </p:txBody>
      </p:sp>
      <p:graphicFrame>
        <p:nvGraphicFramePr>
          <p:cNvPr id="6" name="图示 5">
            <a:extLst>
              <a:ext uri="{FF2B5EF4-FFF2-40B4-BE49-F238E27FC236}">
                <a16:creationId xmlns:a16="http://schemas.microsoft.com/office/drawing/2014/main" id="{68043EB4-B821-2FA7-85F4-68CEEEBCDB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406293"/>
              </p:ext>
            </p:extLst>
          </p:nvPr>
        </p:nvGraphicFramePr>
        <p:xfrm>
          <a:off x="228600" y="1039536"/>
          <a:ext cx="11734800" cy="53019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7128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F1FB9E-35C1-3E6A-9692-D9E2B4342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</a:t>
            </a:r>
            <a:r>
              <a:rPr lang="zh-CN" altLang="en-US" dirty="0"/>
              <a:t> 代码模板（</a:t>
            </a:r>
            <a:r>
              <a:rPr lang="en-US" altLang="zh-CN" dirty="0"/>
              <a:t>C</a:t>
            </a:r>
            <a:r>
              <a:rPr lang="zh-CN" altLang="en-US" dirty="0"/>
              <a:t>语言）</a:t>
            </a:r>
            <a:r>
              <a:rPr lang="en-US" altLang="zh-CN" dirty="0"/>
              <a:t>——</a:t>
            </a:r>
            <a:r>
              <a:rPr lang="zh-CN" altLang="en-US" dirty="0"/>
              <a:t>位置式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C33A0668-FEDB-B8CA-3A5D-F1B4C2BF67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507" y="765322"/>
            <a:ext cx="8940881" cy="6092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345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A8F7E-ABCF-13FA-71F1-5AE281A1C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923158A1-C324-89E6-D498-905FA29DB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 </a:t>
            </a:r>
            <a:r>
              <a:rPr lang="zh-CN" altLang="en-US" dirty="0"/>
              <a:t>代码模板（</a:t>
            </a:r>
            <a:r>
              <a:rPr lang="en-US" altLang="zh-CN" dirty="0"/>
              <a:t>C</a:t>
            </a:r>
            <a:r>
              <a:rPr lang="zh-CN" altLang="en-US" dirty="0"/>
              <a:t>语言）</a:t>
            </a:r>
            <a:r>
              <a:rPr lang="en-US" altLang="zh-CN" dirty="0"/>
              <a:t>——</a:t>
            </a:r>
            <a:r>
              <a:rPr lang="zh-CN" altLang="en-US" dirty="0"/>
              <a:t>增量式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6194E61F-6987-AF8D-CD7A-1ED141472B36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65" y="965200"/>
            <a:ext cx="6066335" cy="5860406"/>
          </a:xfrm>
        </p:spPr>
      </p:pic>
    </p:spTree>
    <p:extLst>
      <p:ext uri="{BB962C8B-B14F-4D97-AF65-F5344CB8AC3E}">
        <p14:creationId xmlns:p14="http://schemas.microsoft.com/office/powerpoint/2010/main" val="1501305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3D81A9-715B-5627-C30E-34E145119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 </a:t>
            </a:r>
            <a:r>
              <a:rPr lang="zh-CN" altLang="en-US" dirty="0"/>
              <a:t>参数整定方法</a:t>
            </a:r>
            <a:r>
              <a:rPr lang="en-US" altLang="zh-CN" dirty="0"/>
              <a:t>——</a:t>
            </a:r>
            <a:r>
              <a:rPr lang="zh-CN" altLang="en-US" dirty="0"/>
              <a:t>试凑法</a:t>
            </a:r>
          </a:p>
        </p:txBody>
      </p:sp>
      <p:graphicFrame>
        <p:nvGraphicFramePr>
          <p:cNvPr id="11" name="内容占位符 10">
            <a:extLst>
              <a:ext uri="{FF2B5EF4-FFF2-40B4-BE49-F238E27FC236}">
                <a16:creationId xmlns:a16="http://schemas.microsoft.com/office/drawing/2014/main" id="{A74DEA9D-E05F-4FC7-DB8F-32AAE267ED56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699177677"/>
              </p:ext>
            </p:extLst>
          </p:nvPr>
        </p:nvGraphicFramePr>
        <p:xfrm>
          <a:off x="952624" y="1892174"/>
          <a:ext cx="10688441" cy="34197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3D0549BC-AAE8-3A15-AEAE-0C58D9602799}"/>
              </a:ext>
            </a:extLst>
          </p:cNvPr>
          <p:cNvSpPr txBox="1"/>
          <p:nvPr/>
        </p:nvSpPr>
        <p:spPr>
          <a:xfrm>
            <a:off x="1112188" y="5427201"/>
            <a:ext cx="60975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口诀：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决定快慢，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负责精准，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负责平稳。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F1E7F3B-79C4-BB8B-F4FD-3E52E602DB3D}"/>
              </a:ext>
            </a:extLst>
          </p:cNvPr>
          <p:cNvSpPr txBox="1"/>
          <p:nvPr/>
        </p:nvSpPr>
        <p:spPr>
          <a:xfrm>
            <a:off x="1112188" y="1176738"/>
            <a:ext cx="60975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核心逻辑：先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最后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6D75B8E-2A6F-6CC6-56E6-B25473906D51}"/>
              </a:ext>
            </a:extLst>
          </p:cNvPr>
          <p:cNvSpPr txBox="1"/>
          <p:nvPr/>
        </p:nvSpPr>
        <p:spPr>
          <a:xfrm>
            <a:off x="952624" y="6024063"/>
            <a:ext cx="105288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调参就像调淋浴水温。</a:t>
            </a:r>
            <a:r>
              <a:rPr lang="en-US" altLang="zh-CN" dirty="0"/>
              <a:t>P </a:t>
            </a:r>
            <a:r>
              <a:rPr lang="zh-CN" altLang="en-US" dirty="0"/>
              <a:t>是猛拧龙头（快但忽冷忽热），</a:t>
            </a:r>
            <a:r>
              <a:rPr lang="en-US" altLang="zh-CN" dirty="0"/>
              <a:t>I </a:t>
            </a:r>
            <a:r>
              <a:rPr lang="zh-CN" altLang="en-US" dirty="0"/>
              <a:t>是根据温差微调（准但反应慢），</a:t>
            </a:r>
            <a:r>
              <a:rPr lang="en-US" altLang="zh-CN" dirty="0"/>
              <a:t>D </a:t>
            </a:r>
            <a:r>
              <a:rPr lang="zh-CN" altLang="en-US" dirty="0"/>
              <a:t>是看到水温变化太快提前关小（预判）。</a:t>
            </a:r>
          </a:p>
        </p:txBody>
      </p:sp>
    </p:spTree>
    <p:extLst>
      <p:ext uri="{BB962C8B-B14F-4D97-AF65-F5344CB8AC3E}">
        <p14:creationId xmlns:p14="http://schemas.microsoft.com/office/powerpoint/2010/main" val="3336795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9F01E-048B-97EC-97D8-9F39185A7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7A3B97-B330-5979-7260-301B8E2B6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 </a:t>
            </a:r>
            <a:r>
              <a:rPr lang="zh-CN" altLang="en-US" dirty="0"/>
              <a:t>参数整定方法</a:t>
            </a:r>
            <a:r>
              <a:rPr lang="en-US" altLang="zh-CN" dirty="0"/>
              <a:t>——</a:t>
            </a:r>
            <a:r>
              <a:rPr lang="zh-CN" altLang="en-US" dirty="0"/>
              <a:t>临界震荡法</a:t>
            </a:r>
          </a:p>
        </p:txBody>
      </p:sp>
      <p:graphicFrame>
        <p:nvGraphicFramePr>
          <p:cNvPr id="11" name="内容占位符 10">
            <a:extLst>
              <a:ext uri="{FF2B5EF4-FFF2-40B4-BE49-F238E27FC236}">
                <a16:creationId xmlns:a16="http://schemas.microsoft.com/office/drawing/2014/main" id="{E1E07E21-C8E2-5AC5-ACA0-E5D6EC3AE9C0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933461751"/>
              </p:ext>
            </p:extLst>
          </p:nvPr>
        </p:nvGraphicFramePr>
        <p:xfrm>
          <a:off x="726288" y="1786095"/>
          <a:ext cx="5538712" cy="30008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69CFEC34-87DC-86B3-C4E6-02F8535DCEED}"/>
              </a:ext>
            </a:extLst>
          </p:cNvPr>
          <p:cNvSpPr txBox="1"/>
          <p:nvPr/>
        </p:nvSpPr>
        <p:spPr>
          <a:xfrm>
            <a:off x="952623" y="5183014"/>
            <a:ext cx="60975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优点：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适合新手，给出一个科学的“起步参数”。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6605CC2-88D6-C904-FDE5-45FD40A43928}"/>
              </a:ext>
            </a:extLst>
          </p:cNvPr>
          <p:cNvSpPr txBox="1"/>
          <p:nvPr/>
        </p:nvSpPr>
        <p:spPr>
          <a:xfrm>
            <a:off x="1112188" y="1176738"/>
            <a:ext cx="60975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核心逻辑：通过“极限”算参数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2E48B88-F0DB-0909-AFD2-CB304A13FFA9}"/>
              </a:ext>
            </a:extLst>
          </p:cNvPr>
          <p:cNvSpPr txBox="1"/>
          <p:nvPr/>
        </p:nvSpPr>
        <p:spPr>
          <a:xfrm>
            <a:off x="952623" y="5836874"/>
            <a:ext cx="10688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必须限幅</a:t>
            </a:r>
            <a:r>
              <a:rPr lang="zh-CN" altLang="en-US" dirty="0"/>
              <a:t>。否则一旦 </a:t>
            </a:r>
            <a:r>
              <a:rPr lang="en-US" altLang="zh-CN" dirty="0" err="1">
                <a:effectLst/>
              </a:rPr>
              <a:t>Kp</a:t>
            </a:r>
            <a:r>
              <a:rPr lang="zh-CN" altLang="en-US" dirty="0"/>
              <a:t>​ 给太大，电机可能瞬间高速飞出或导致过流烧毁驱动板。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1DFEB1A-43BB-2C0D-49BF-D8116F806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8018" y="1274876"/>
            <a:ext cx="4913045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非等幅（衰减）：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波动越来越小，最后平稳（说明 Kp​ 还没到极限）。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非等幅（发散）：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波动越来越大，系统直接失控飞出（说明 Kp​ 过大了）。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等幅振荡：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系统像钟摆一样，以恒定的频率和幅度在目标值上下摆动，既不缩小也不放大。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FCCE7E7-0811-1EF2-0F5A-1A5224B258F3}"/>
              </a:ext>
            </a:extLst>
          </p:cNvPr>
          <p:cNvSpPr txBox="1"/>
          <p:nvPr/>
        </p:nvSpPr>
        <p:spPr>
          <a:xfrm>
            <a:off x="6728018" y="2850775"/>
            <a:ext cx="491304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在实验室调电机时，你可以通过以下三个特征来判断：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看波形（最直观）：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使用串口示波器（如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VOFA+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）。观察实际速度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位置曲线。如果连续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5-10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个波峰的高度几乎完全一致，没有明显的变小（衰减）或变大（发散），这就是等幅振荡。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听声音：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电机在等幅振荡时，会发出持续的、有节奏的“嗡嗡”声或机械震动声，频率固定，不会消失。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摸手感（慎用）：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如果是低速电机，用手摸电机轴，能感觉到它在设定位置反复抖动，力度恒定。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9FFC733-5D7C-9B93-FF71-D5A42936D84E}"/>
              </a:ext>
            </a:extLst>
          </p:cNvPr>
          <p:cNvCxnSpPr>
            <a:cxnSpLocks/>
          </p:cNvCxnSpPr>
          <p:nvPr/>
        </p:nvCxnSpPr>
        <p:spPr>
          <a:xfrm>
            <a:off x="6545655" y="2732299"/>
            <a:ext cx="564634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FD1F0ED8-505B-3CDC-BA1E-5C18B78A21A3}"/>
              </a:ext>
            </a:extLst>
          </p:cNvPr>
          <p:cNvCxnSpPr>
            <a:cxnSpLocks/>
          </p:cNvCxnSpPr>
          <p:nvPr/>
        </p:nvCxnSpPr>
        <p:spPr>
          <a:xfrm>
            <a:off x="6545655" y="1376127"/>
            <a:ext cx="0" cy="350597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2644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BF521-8D36-6C9D-BFF8-97AFCB3DB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59B22E-397B-DD12-FC27-015C494D4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 </a:t>
            </a:r>
            <a:r>
              <a:rPr lang="zh-CN" altLang="en-US" dirty="0"/>
              <a:t>参数整定方法</a:t>
            </a:r>
            <a:r>
              <a:rPr lang="en-US" altLang="zh-CN" dirty="0"/>
              <a:t>——</a:t>
            </a:r>
            <a:r>
              <a:rPr lang="zh-CN" altLang="en-US" dirty="0"/>
              <a:t>自动化整定工具</a:t>
            </a:r>
          </a:p>
        </p:txBody>
      </p:sp>
      <p:graphicFrame>
        <p:nvGraphicFramePr>
          <p:cNvPr id="11" name="内容占位符 10">
            <a:extLst>
              <a:ext uri="{FF2B5EF4-FFF2-40B4-BE49-F238E27FC236}">
                <a16:creationId xmlns:a16="http://schemas.microsoft.com/office/drawing/2014/main" id="{D2352A7F-DF10-1725-C295-DB33D3BEA17B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927363246"/>
              </p:ext>
            </p:extLst>
          </p:nvPr>
        </p:nvGraphicFramePr>
        <p:xfrm>
          <a:off x="952624" y="1892174"/>
          <a:ext cx="10688441" cy="34197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6B09377F-DD26-E141-667D-AEFF98D831E3}"/>
              </a:ext>
            </a:extLst>
          </p:cNvPr>
          <p:cNvSpPr txBox="1"/>
          <p:nvPr/>
        </p:nvSpPr>
        <p:spPr>
          <a:xfrm>
            <a:off x="1112188" y="1176738"/>
            <a:ext cx="60975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核心逻辑：让计算机调计算机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66728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6071C5-AB2F-24FA-038E-C8B59E561172}"/>
              </a:ext>
            </a:extLst>
          </p:cNvPr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2025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POWERPOINT  DESIGN</a:t>
            </a: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2026.1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6532</TotalTime>
  <Words>895</Words>
  <Application>Microsoft Office PowerPoint</Application>
  <PresentationFormat>宽屏</PresentationFormat>
  <Paragraphs>86</Paragraphs>
  <Slides>11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Google Sans Text</vt:lpstr>
      <vt:lpstr>Source Han Sans</vt:lpstr>
      <vt:lpstr>Source Han Sans CN Regular</vt:lpstr>
      <vt:lpstr>等线</vt:lpstr>
      <vt:lpstr>微软雅黑</vt:lpstr>
      <vt:lpstr>Arial</vt:lpstr>
      <vt:lpstr>Office 主题​​</vt:lpstr>
      <vt:lpstr>PowerPoint 演示文稿</vt:lpstr>
      <vt:lpstr>学习目标</vt:lpstr>
      <vt:lpstr>1. 从“数学”到“时钟”——离散化处理</vt:lpstr>
      <vt:lpstr>2.两种核心算法对比——位置式和增量式</vt:lpstr>
      <vt:lpstr>3. 抗饱和与限幅</vt:lpstr>
      <vt:lpstr>4. 代码模板（C语言）——位置式</vt:lpstr>
      <vt:lpstr>5. 代码模板（C语言）——增量式</vt:lpstr>
      <vt:lpstr>6. 参数整定方法——试凑法</vt:lpstr>
      <vt:lpstr>6. 参数整定方法——临界震荡法</vt:lpstr>
      <vt:lpstr>6. 参数整定方法——自动化整定工具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176</cp:revision>
  <dcterms:created xsi:type="dcterms:W3CDTF">2025-05-21T06:55:53Z</dcterms:created>
  <dcterms:modified xsi:type="dcterms:W3CDTF">2026-01-24T03:10:41Z</dcterms:modified>
</cp:coreProperties>
</file>