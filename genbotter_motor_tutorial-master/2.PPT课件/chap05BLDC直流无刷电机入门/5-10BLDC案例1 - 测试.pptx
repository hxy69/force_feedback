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9" r:id="rId2"/>
    <p:sldId id="806" r:id="rId3"/>
    <p:sldId id="28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6238" autoAdjust="0"/>
  </p:normalViewPr>
  <p:slideViewPr>
    <p:cSldViewPr snapToGrid="0">
      <p:cViewPr varScale="1">
        <p:scale>
          <a:sx n="119" d="100"/>
          <a:sy n="119" d="100"/>
        </p:scale>
        <p:origin x="96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848766" y="4726795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39612" y="2818707"/>
            <a:ext cx="4364935" cy="131392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BLDC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（下）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30000"/>
              </a:lnSpc>
            </a:pPr>
            <a:r>
              <a:rPr kumimoji="1" lang="en-US" altLang="zh-CN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32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测试代码</a:t>
            </a:r>
            <a:endParaRPr kumimoji="1" lang="en-US" altLang="zh-CN" sz="32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【05-10】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B48303-D1E8-62AA-F672-674819AD8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4217" r="3208" b="4511"/>
          <a:stretch>
            <a:fillRect/>
          </a:stretch>
        </p:blipFill>
        <p:spPr>
          <a:xfrm rot="5400000">
            <a:off x="6551252" y="2077462"/>
            <a:ext cx="2740564" cy="199313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F92DA5-8D32-5D50-5C3E-8B64F43B1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6" t="2890" r="13453" b="207"/>
          <a:stretch>
            <a:fillRect/>
          </a:stretch>
        </p:blipFill>
        <p:spPr>
          <a:xfrm>
            <a:off x="5668733" y="1726092"/>
            <a:ext cx="1174915" cy="872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C525F-06CC-DEB5-EB90-AFC92AB9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DF5CC6-ECF6-DEC7-24FA-424E57A5F31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515835" y="1084918"/>
            <a:ext cx="5573962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b="1" dirty="0"/>
              <a:t>模块化 </a:t>
            </a:r>
            <a:r>
              <a:rPr lang="en-US" altLang="zh-CN" b="1" dirty="0"/>
              <a:t>+ </a:t>
            </a:r>
            <a:r>
              <a:rPr lang="zh-CN" altLang="en-US" b="1" dirty="0"/>
              <a:t>状态机 </a:t>
            </a:r>
            <a:r>
              <a:rPr lang="en-US" altLang="zh-CN" b="1" dirty="0"/>
              <a:t>+ </a:t>
            </a:r>
            <a:r>
              <a:rPr lang="zh-CN" altLang="en-US" b="1" dirty="0"/>
              <a:t>定时器驱动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864D84-927A-BF1B-88D9-645ABAEB08F4}"/>
              </a:ext>
            </a:extLst>
          </p:cNvPr>
          <p:cNvGraphicFramePr>
            <a:graphicFrameLocks noGrp="1"/>
          </p:cNvGraphicFramePr>
          <p:nvPr/>
        </p:nvGraphicFramePr>
        <p:xfrm>
          <a:off x="0" y="1885335"/>
          <a:ext cx="7218862" cy="22255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09431">
                  <a:extLst>
                    <a:ext uri="{9D8B030D-6E8A-4147-A177-3AD203B41FA5}">
                      <a16:colId xmlns:a16="http://schemas.microsoft.com/office/drawing/2014/main" val="1712384234"/>
                    </a:ext>
                  </a:extLst>
                </a:gridCol>
                <a:gridCol w="3609431">
                  <a:extLst>
                    <a:ext uri="{9D8B030D-6E8A-4147-A177-3AD203B41FA5}">
                      <a16:colId xmlns:a16="http://schemas.microsoft.com/office/drawing/2014/main" val="1507953498"/>
                    </a:ext>
                  </a:extLst>
                </a:gridCol>
              </a:tblGrid>
              <a:tr h="372805">
                <a:tc>
                  <a:txBody>
                    <a:bodyPr/>
                    <a:lstStyle/>
                    <a:p>
                      <a:pPr algn="ctr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状态</a:t>
                      </a: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说明</a:t>
                      </a: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248377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IDLE（</a:t>
                      </a:r>
                      <a:r>
                        <a:rPr lang="zh-CN" altLang="en-US" b="0">
                          <a:effectLst/>
                        </a:rPr>
                        <a:t>空闲）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电机停止，等待按键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2632073667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STEP_FORWARD（</a:t>
                      </a:r>
                      <a:r>
                        <a:rPr lang="zh-CN" altLang="en-US" b="0" dirty="0">
                          <a:effectLst/>
                        </a:rPr>
                        <a:t>正向单步）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b="0" dirty="0">
                          <a:effectLst/>
                        </a:rPr>
                        <a:t>K0</a:t>
                      </a:r>
                      <a:r>
                        <a:rPr lang="zh-CN" altLang="en-US" b="0" dirty="0">
                          <a:effectLst/>
                        </a:rPr>
                        <a:t>触发，执行一步后返回</a:t>
                      </a:r>
                      <a:r>
                        <a:rPr lang="en-US" b="0" dirty="0">
                          <a:effectLst/>
                        </a:rPr>
                        <a:t>IDLE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975335489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STEP_BACKWARD（</a:t>
                      </a:r>
                      <a:r>
                        <a:rPr lang="zh-CN" altLang="en-US" b="0" dirty="0">
                          <a:effectLst/>
                        </a:rPr>
                        <a:t>反向单步）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b="0" dirty="0">
                          <a:effectLst/>
                        </a:rPr>
                        <a:t>K1</a:t>
                      </a:r>
                      <a:r>
                        <a:rPr lang="zh-CN" altLang="en-US" b="0" dirty="0">
                          <a:effectLst/>
                        </a:rPr>
                        <a:t>触发，执行一步后返回</a:t>
                      </a:r>
                      <a:r>
                        <a:rPr lang="en-US" b="0" dirty="0">
                          <a:effectLst/>
                        </a:rPr>
                        <a:t>IDLE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60555163"/>
                  </a:ext>
                </a:extLst>
              </a:tr>
              <a:tr h="451218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CONTINUOUS_RUN（</a:t>
                      </a:r>
                      <a:r>
                        <a:rPr lang="zh-CN" altLang="en-US" b="0" dirty="0">
                          <a:effectLst/>
                        </a:rPr>
                        <a:t>连续运行）</a:t>
                      </a: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按</a:t>
                      </a:r>
                      <a:r>
                        <a:rPr lang="en-US" altLang="zh-CN" b="0" dirty="0">
                          <a:effectLst/>
                        </a:rPr>
                        <a:t>K2</a:t>
                      </a:r>
                      <a:r>
                        <a:rPr lang="zh-CN" altLang="en-US" b="0" dirty="0">
                          <a:effectLst/>
                        </a:rPr>
                        <a:t>启动，持续自动换向</a:t>
                      </a: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336782054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1F3DD64-2316-FE62-AF09-96EBF6A78835}"/>
              </a:ext>
            </a:extLst>
          </p:cNvPr>
          <p:cNvSpPr txBox="1"/>
          <p:nvPr/>
        </p:nvSpPr>
        <p:spPr>
          <a:xfrm>
            <a:off x="1036863" y="4313379"/>
            <a:ext cx="980530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时间控制：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使用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TIM3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的 </a:t>
            </a:r>
            <a:r>
              <a:rPr lang="en-US" altLang="zh-CN" b="1" i="0" dirty="0">
                <a:solidFill>
                  <a:srgbClr val="2C2C36"/>
                </a:solidFill>
                <a:effectLst/>
                <a:latin typeface="system-ui"/>
              </a:rPr>
              <a:t>1ms </a:t>
            </a:r>
            <a:r>
              <a:rPr lang="zh-CN" altLang="en-US" b="1" i="0" dirty="0">
                <a:solidFill>
                  <a:srgbClr val="2C2C36"/>
                </a:solidFill>
                <a:effectLst/>
                <a:latin typeface="system-ui"/>
              </a:rPr>
              <a:t>定时中断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 作为时间基准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在中断中判断：如果处于“连续运行”状态，则每隔一定时间（如</a:t>
            </a:r>
            <a:r>
              <a:rPr lang="en-US" altLang="zh-CN" b="0" i="0" dirty="0">
                <a:solidFill>
                  <a:srgbClr val="2C2C36"/>
                </a:solidFill>
                <a:effectLst/>
                <a:latin typeface="system-ui"/>
              </a:rPr>
              <a:t>50ms</a:t>
            </a: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）自动执行一次换向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C2C36"/>
                </a:solidFill>
                <a:effectLst/>
                <a:latin typeface="system-ui"/>
              </a:rPr>
              <a:t>单步操作在主循环中处理，不依赖中断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48043EF-9B44-041E-3D8A-B220163E2EE3}"/>
              </a:ext>
            </a:extLst>
          </p:cNvPr>
          <p:cNvGraphicFramePr>
            <a:graphicFrameLocks noGrp="1"/>
          </p:cNvGraphicFramePr>
          <p:nvPr/>
        </p:nvGraphicFramePr>
        <p:xfrm>
          <a:off x="7480662" y="1885335"/>
          <a:ext cx="4502331" cy="176744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41418">
                  <a:extLst>
                    <a:ext uri="{9D8B030D-6E8A-4147-A177-3AD203B41FA5}">
                      <a16:colId xmlns:a16="http://schemas.microsoft.com/office/drawing/2014/main" val="1521905143"/>
                    </a:ext>
                  </a:extLst>
                </a:gridCol>
                <a:gridCol w="2960913">
                  <a:extLst>
                    <a:ext uri="{9D8B030D-6E8A-4147-A177-3AD203B41FA5}">
                      <a16:colId xmlns:a16="http://schemas.microsoft.com/office/drawing/2014/main" val="2106599771"/>
                    </a:ext>
                  </a:extLst>
                </a:gridCol>
              </a:tblGrid>
              <a:tr h="395845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LED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状态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功能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76200" marB="7620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101554"/>
                  </a:ext>
                </a:extLst>
              </a:tr>
              <a:tr h="47910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LED1 (PE0)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运行状态：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亮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连续运行中，灭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停止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551270687"/>
                  </a:ext>
                </a:extLst>
              </a:tr>
              <a:tr h="47910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LED2 (PE1)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方向指示：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algn="l" defTabSz="914400" rtl="0" eaLnBrk="1" fontAlgn="b" latinLnBrk="0" hangingPunct="1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亮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正转，灭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反转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414959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769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5843</TotalTime>
  <Words>280</Words>
  <Application>Microsoft Office PowerPoint</Application>
  <PresentationFormat>宽屏</PresentationFormat>
  <Paragraphs>43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Source Han Sans</vt:lpstr>
      <vt:lpstr>Source Han Sans CN Regular</vt:lpstr>
      <vt:lpstr>system-ui</vt:lpstr>
      <vt:lpstr>等线</vt:lpstr>
      <vt:lpstr>微软雅黑</vt:lpstr>
      <vt:lpstr>Arial</vt:lpstr>
      <vt:lpstr>Office 主题​​</vt:lpstr>
      <vt:lpstr>PowerPoint 演示文稿</vt:lpstr>
      <vt:lpstr>需求分析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143</cp:revision>
  <dcterms:created xsi:type="dcterms:W3CDTF">2025-05-21T06:55:53Z</dcterms:created>
  <dcterms:modified xsi:type="dcterms:W3CDTF">2025-09-15T10:05:02Z</dcterms:modified>
</cp:coreProperties>
</file>