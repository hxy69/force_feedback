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9" r:id="rId2"/>
    <p:sldId id="804" r:id="rId3"/>
    <p:sldId id="805" r:id="rId4"/>
    <p:sldId id="806" r:id="rId5"/>
    <p:sldId id="807" r:id="rId6"/>
    <p:sldId id="809" r:id="rId7"/>
    <p:sldId id="28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0C799-82E2-412A-984B-9D7826A830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EAD0FEB-F251-467E-836A-7E60581CCA77}">
      <dgm:prSet/>
      <dgm:spPr/>
      <dgm:t>
        <a:bodyPr/>
        <a:lstStyle/>
        <a:p>
          <a:r>
            <a:rPr lang="zh-CN" b="0" i="0" baseline="0"/>
            <a:t>六步换向原理（120°导通）</a:t>
          </a:r>
          <a:endParaRPr lang="zh-CN"/>
        </a:p>
      </dgm:t>
    </dgm:pt>
    <dgm:pt modelId="{B83240C6-C38B-4505-91B2-C7A447A45D3D}" type="parTrans" cxnId="{61B5D8F8-B805-49E9-9E18-4AC4AFDC70EA}">
      <dgm:prSet/>
      <dgm:spPr/>
      <dgm:t>
        <a:bodyPr/>
        <a:lstStyle/>
        <a:p>
          <a:endParaRPr lang="zh-CN" altLang="en-US"/>
        </a:p>
      </dgm:t>
    </dgm:pt>
    <dgm:pt modelId="{757FC58B-E6EA-4697-9F97-0C5788C31CCC}" type="sibTrans" cxnId="{61B5D8F8-B805-49E9-9E18-4AC4AFDC70EA}">
      <dgm:prSet/>
      <dgm:spPr/>
      <dgm:t>
        <a:bodyPr/>
        <a:lstStyle/>
        <a:p>
          <a:endParaRPr lang="zh-CN" altLang="en-US"/>
        </a:p>
      </dgm:t>
    </dgm:pt>
    <dgm:pt modelId="{97BF42C6-CB32-40B2-855A-1B7DDB05632F}">
      <dgm:prSet/>
      <dgm:spPr/>
      <dgm:t>
        <a:bodyPr/>
        <a:lstStyle/>
        <a:p>
          <a:r>
            <a:rPr lang="zh-CN" b="0" i="0" baseline="0"/>
            <a:t>六步换向表格（6步导通顺序）</a:t>
          </a:r>
          <a:endParaRPr lang="zh-CN"/>
        </a:p>
      </dgm:t>
    </dgm:pt>
    <dgm:pt modelId="{B68041D8-F2DE-4AD3-88F8-675C867EB8D1}" type="parTrans" cxnId="{36306A54-606C-4581-BBD5-7FE2BF1531E9}">
      <dgm:prSet/>
      <dgm:spPr/>
      <dgm:t>
        <a:bodyPr/>
        <a:lstStyle/>
        <a:p>
          <a:endParaRPr lang="zh-CN" altLang="en-US"/>
        </a:p>
      </dgm:t>
    </dgm:pt>
    <dgm:pt modelId="{991CBEB7-35B5-45A2-909A-193ABFDA8035}" type="sibTrans" cxnId="{36306A54-606C-4581-BBD5-7FE2BF1531E9}">
      <dgm:prSet/>
      <dgm:spPr/>
      <dgm:t>
        <a:bodyPr/>
        <a:lstStyle/>
        <a:p>
          <a:endParaRPr lang="zh-CN" altLang="en-US"/>
        </a:p>
      </dgm:t>
    </dgm:pt>
    <dgm:pt modelId="{2A8ACA63-4B67-4E94-BE1F-519AFBFEDEE5}">
      <dgm:prSet/>
      <dgm:spPr/>
      <dgm:t>
        <a:bodyPr/>
        <a:lstStyle/>
        <a:p>
          <a:r>
            <a:rPr lang="zh-CN" b="0" i="0" baseline="0"/>
            <a:t>三相PWM波形示意图</a:t>
          </a:r>
          <a:endParaRPr lang="zh-CN"/>
        </a:p>
      </dgm:t>
    </dgm:pt>
    <dgm:pt modelId="{6392BC56-72C3-4406-84AC-73DE11A3BA70}" type="parTrans" cxnId="{36D0A919-E052-43AE-B3E3-033006A78EAB}">
      <dgm:prSet/>
      <dgm:spPr/>
      <dgm:t>
        <a:bodyPr/>
        <a:lstStyle/>
        <a:p>
          <a:endParaRPr lang="zh-CN" altLang="en-US"/>
        </a:p>
      </dgm:t>
    </dgm:pt>
    <dgm:pt modelId="{FBCE1C35-E6AA-4A6C-A201-6576DF022590}" type="sibTrans" cxnId="{36D0A919-E052-43AE-B3E3-033006A78EAB}">
      <dgm:prSet/>
      <dgm:spPr/>
      <dgm:t>
        <a:bodyPr/>
        <a:lstStyle/>
        <a:p>
          <a:endParaRPr lang="zh-CN" altLang="en-US"/>
        </a:p>
      </dgm:t>
    </dgm:pt>
    <dgm:pt modelId="{DEE01799-722F-4830-BD57-E5748A847B6D}">
      <dgm:prSet/>
      <dgm:spPr/>
      <dgm:t>
        <a:bodyPr/>
        <a:lstStyle/>
        <a:p>
          <a:r>
            <a:rPr lang="zh-CN" b="0" i="0" baseline="0" dirty="0"/>
            <a:t>控制方式对比：六步 vs 正弦波 vs FOC</a:t>
          </a:r>
          <a:endParaRPr lang="zh-CN" dirty="0"/>
        </a:p>
      </dgm:t>
    </dgm:pt>
    <dgm:pt modelId="{F0379EA2-14FD-452F-8D83-7FFB6423701F}" type="parTrans" cxnId="{9A05CB65-8B1F-4299-9EEA-FD053CFF9D22}">
      <dgm:prSet/>
      <dgm:spPr/>
      <dgm:t>
        <a:bodyPr/>
        <a:lstStyle/>
        <a:p>
          <a:endParaRPr lang="zh-CN" altLang="en-US"/>
        </a:p>
      </dgm:t>
    </dgm:pt>
    <dgm:pt modelId="{5278B80D-73A4-46DD-AE07-2B0BE157FD6A}" type="sibTrans" cxnId="{9A05CB65-8B1F-4299-9EEA-FD053CFF9D22}">
      <dgm:prSet/>
      <dgm:spPr/>
      <dgm:t>
        <a:bodyPr/>
        <a:lstStyle/>
        <a:p>
          <a:endParaRPr lang="zh-CN" altLang="en-US"/>
        </a:p>
      </dgm:t>
    </dgm:pt>
    <dgm:pt modelId="{E835876C-26EC-4BB2-BF4E-F1C12A978361}" type="pres">
      <dgm:prSet presAssocID="{2BA0C799-82E2-412A-984B-9D7826A830EF}" presName="linear" presStyleCnt="0">
        <dgm:presLayoutVars>
          <dgm:animLvl val="lvl"/>
          <dgm:resizeHandles val="exact"/>
        </dgm:presLayoutVars>
      </dgm:prSet>
      <dgm:spPr/>
    </dgm:pt>
    <dgm:pt modelId="{9A77F55D-D6A9-4AD4-830A-A4D755C3702F}" type="pres">
      <dgm:prSet presAssocID="{1EAD0FEB-F251-467E-836A-7E60581CCA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9A86736-FCEA-4398-B151-174455E6C5EE}" type="pres">
      <dgm:prSet presAssocID="{757FC58B-E6EA-4697-9F97-0C5788C31CCC}" presName="spacer" presStyleCnt="0"/>
      <dgm:spPr/>
    </dgm:pt>
    <dgm:pt modelId="{4C114F75-6803-4104-9130-DC696C7B8601}" type="pres">
      <dgm:prSet presAssocID="{97BF42C6-CB32-40B2-855A-1B7DDB0563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6BBBC0F-A614-443B-A66D-F39508516E64}" type="pres">
      <dgm:prSet presAssocID="{991CBEB7-35B5-45A2-909A-193ABFDA8035}" presName="spacer" presStyleCnt="0"/>
      <dgm:spPr/>
    </dgm:pt>
    <dgm:pt modelId="{31071048-2818-4A37-A754-497796AD91AF}" type="pres">
      <dgm:prSet presAssocID="{2A8ACA63-4B67-4E94-BE1F-519AFBFEDE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BD2FF1-9FC8-4EC5-9636-49E34DD7F715}" type="pres">
      <dgm:prSet presAssocID="{FBCE1C35-E6AA-4A6C-A201-6576DF022590}" presName="spacer" presStyleCnt="0"/>
      <dgm:spPr/>
    </dgm:pt>
    <dgm:pt modelId="{5B50C542-6791-497C-B178-4AFE4A073291}" type="pres">
      <dgm:prSet presAssocID="{DEE01799-722F-4830-BD57-E5748A847B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A963907-2186-4F53-87E5-B94D14702973}" type="presOf" srcId="{97BF42C6-CB32-40B2-855A-1B7DDB05632F}" destId="{4C114F75-6803-4104-9130-DC696C7B8601}" srcOrd="0" destOrd="0" presId="urn:microsoft.com/office/officeart/2005/8/layout/vList2"/>
    <dgm:cxn modelId="{36D0A919-E052-43AE-B3E3-033006A78EAB}" srcId="{2BA0C799-82E2-412A-984B-9D7826A830EF}" destId="{2A8ACA63-4B67-4E94-BE1F-519AFBFEDEE5}" srcOrd="2" destOrd="0" parTransId="{6392BC56-72C3-4406-84AC-73DE11A3BA70}" sibTransId="{FBCE1C35-E6AA-4A6C-A201-6576DF022590}"/>
    <dgm:cxn modelId="{9A05CB65-8B1F-4299-9EEA-FD053CFF9D22}" srcId="{2BA0C799-82E2-412A-984B-9D7826A830EF}" destId="{DEE01799-722F-4830-BD57-E5748A847B6D}" srcOrd="3" destOrd="0" parTransId="{F0379EA2-14FD-452F-8D83-7FFB6423701F}" sibTransId="{5278B80D-73A4-46DD-AE07-2B0BE157FD6A}"/>
    <dgm:cxn modelId="{36306A54-606C-4581-BBD5-7FE2BF1531E9}" srcId="{2BA0C799-82E2-412A-984B-9D7826A830EF}" destId="{97BF42C6-CB32-40B2-855A-1B7DDB05632F}" srcOrd="1" destOrd="0" parTransId="{B68041D8-F2DE-4AD3-88F8-675C867EB8D1}" sibTransId="{991CBEB7-35B5-45A2-909A-193ABFDA8035}"/>
    <dgm:cxn modelId="{142B8159-2277-437E-8D87-2A2F11D47EEC}" type="presOf" srcId="{DEE01799-722F-4830-BD57-E5748A847B6D}" destId="{5B50C542-6791-497C-B178-4AFE4A073291}" srcOrd="0" destOrd="0" presId="urn:microsoft.com/office/officeart/2005/8/layout/vList2"/>
    <dgm:cxn modelId="{2CFA3AA4-81E0-43F9-863D-273C52AA20AC}" type="presOf" srcId="{2BA0C799-82E2-412A-984B-9D7826A830EF}" destId="{E835876C-26EC-4BB2-BF4E-F1C12A978361}" srcOrd="0" destOrd="0" presId="urn:microsoft.com/office/officeart/2005/8/layout/vList2"/>
    <dgm:cxn modelId="{E933D2CE-A298-4675-9716-44B7738CC7AF}" type="presOf" srcId="{2A8ACA63-4B67-4E94-BE1F-519AFBFEDEE5}" destId="{31071048-2818-4A37-A754-497796AD91AF}" srcOrd="0" destOrd="0" presId="urn:microsoft.com/office/officeart/2005/8/layout/vList2"/>
    <dgm:cxn modelId="{61B5D8F8-B805-49E9-9E18-4AC4AFDC70EA}" srcId="{2BA0C799-82E2-412A-984B-9D7826A830EF}" destId="{1EAD0FEB-F251-467E-836A-7E60581CCA77}" srcOrd="0" destOrd="0" parTransId="{B83240C6-C38B-4505-91B2-C7A447A45D3D}" sibTransId="{757FC58B-E6EA-4697-9F97-0C5788C31CCC}"/>
    <dgm:cxn modelId="{843823FD-A0A8-4C2C-91A0-1BDE97D9D687}" type="presOf" srcId="{1EAD0FEB-F251-467E-836A-7E60581CCA77}" destId="{9A77F55D-D6A9-4AD4-830A-A4D755C3702F}" srcOrd="0" destOrd="0" presId="urn:microsoft.com/office/officeart/2005/8/layout/vList2"/>
    <dgm:cxn modelId="{A29C819F-1F3A-4B35-A354-8689327067E6}" type="presParOf" srcId="{E835876C-26EC-4BB2-BF4E-F1C12A978361}" destId="{9A77F55D-D6A9-4AD4-830A-A4D755C3702F}" srcOrd="0" destOrd="0" presId="urn:microsoft.com/office/officeart/2005/8/layout/vList2"/>
    <dgm:cxn modelId="{AAFF76D8-79BD-40E0-A844-D033813E44C9}" type="presParOf" srcId="{E835876C-26EC-4BB2-BF4E-F1C12A978361}" destId="{89A86736-FCEA-4398-B151-174455E6C5EE}" srcOrd="1" destOrd="0" presId="urn:microsoft.com/office/officeart/2005/8/layout/vList2"/>
    <dgm:cxn modelId="{E4919E91-5391-4896-8E0A-DE5988AC842A}" type="presParOf" srcId="{E835876C-26EC-4BB2-BF4E-F1C12A978361}" destId="{4C114F75-6803-4104-9130-DC696C7B8601}" srcOrd="2" destOrd="0" presId="urn:microsoft.com/office/officeart/2005/8/layout/vList2"/>
    <dgm:cxn modelId="{C5D1B31B-AE6A-4866-B0A4-2AB958AF4A02}" type="presParOf" srcId="{E835876C-26EC-4BB2-BF4E-F1C12A978361}" destId="{16BBBC0F-A614-443B-A66D-F39508516E64}" srcOrd="3" destOrd="0" presId="urn:microsoft.com/office/officeart/2005/8/layout/vList2"/>
    <dgm:cxn modelId="{336AA45B-31D6-4062-959B-016C6B851C3F}" type="presParOf" srcId="{E835876C-26EC-4BB2-BF4E-F1C12A978361}" destId="{31071048-2818-4A37-A754-497796AD91AF}" srcOrd="4" destOrd="0" presId="urn:microsoft.com/office/officeart/2005/8/layout/vList2"/>
    <dgm:cxn modelId="{09F254C3-023C-4561-B619-7870DE877982}" type="presParOf" srcId="{E835876C-26EC-4BB2-BF4E-F1C12A978361}" destId="{79BD2FF1-9FC8-4EC5-9636-49E34DD7F715}" srcOrd="5" destOrd="0" presId="urn:microsoft.com/office/officeart/2005/8/layout/vList2"/>
    <dgm:cxn modelId="{FE7494A3-26D1-48B0-BA5F-8ECA28D7BA5A}" type="presParOf" srcId="{E835876C-26EC-4BB2-BF4E-F1C12A978361}" destId="{5B50C542-6791-497C-B178-4AFE4A07329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7F55D-D6A9-4AD4-830A-A4D755C3702F}">
      <dsp:nvSpPr>
        <dsp:cNvPr id="0" name=""/>
        <dsp:cNvSpPr/>
      </dsp:nvSpPr>
      <dsp:spPr>
        <a:xfrm>
          <a:off x="0" y="888180"/>
          <a:ext cx="5517844" cy="631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0" i="0" kern="1200" baseline="0"/>
            <a:t>六步换向原理（120°导通）</a:t>
          </a:r>
          <a:endParaRPr lang="zh-CN" sz="2400" kern="1200"/>
        </a:p>
      </dsp:txBody>
      <dsp:txXfrm>
        <a:off x="30842" y="919022"/>
        <a:ext cx="5456160" cy="570115"/>
      </dsp:txXfrm>
    </dsp:sp>
    <dsp:sp modelId="{4C114F75-6803-4104-9130-DC696C7B8601}">
      <dsp:nvSpPr>
        <dsp:cNvPr id="0" name=""/>
        <dsp:cNvSpPr/>
      </dsp:nvSpPr>
      <dsp:spPr>
        <a:xfrm>
          <a:off x="0" y="1589100"/>
          <a:ext cx="5517844" cy="631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0" i="0" kern="1200" baseline="0"/>
            <a:t>六步换向表格（6步导通顺序）</a:t>
          </a:r>
          <a:endParaRPr lang="zh-CN" sz="2400" kern="1200"/>
        </a:p>
      </dsp:txBody>
      <dsp:txXfrm>
        <a:off x="30842" y="1619942"/>
        <a:ext cx="5456160" cy="570115"/>
      </dsp:txXfrm>
    </dsp:sp>
    <dsp:sp modelId="{31071048-2818-4A37-A754-497796AD91AF}">
      <dsp:nvSpPr>
        <dsp:cNvPr id="0" name=""/>
        <dsp:cNvSpPr/>
      </dsp:nvSpPr>
      <dsp:spPr>
        <a:xfrm>
          <a:off x="0" y="2290020"/>
          <a:ext cx="5517844" cy="631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0" i="0" kern="1200" baseline="0"/>
            <a:t>三相PWM波形示意图</a:t>
          </a:r>
          <a:endParaRPr lang="zh-CN" sz="2400" kern="1200"/>
        </a:p>
      </dsp:txBody>
      <dsp:txXfrm>
        <a:off x="30842" y="2320862"/>
        <a:ext cx="5456160" cy="570115"/>
      </dsp:txXfrm>
    </dsp:sp>
    <dsp:sp modelId="{5B50C542-6791-497C-B178-4AFE4A073291}">
      <dsp:nvSpPr>
        <dsp:cNvPr id="0" name=""/>
        <dsp:cNvSpPr/>
      </dsp:nvSpPr>
      <dsp:spPr>
        <a:xfrm>
          <a:off x="0" y="2990940"/>
          <a:ext cx="5517844" cy="631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0" i="0" kern="1200" baseline="0" dirty="0"/>
            <a:t>控制方式对比：六步 vs 正弦波 vs FOC</a:t>
          </a:r>
          <a:endParaRPr lang="zh-CN" sz="2400" kern="1200" dirty="0"/>
        </a:p>
      </dsp:txBody>
      <dsp:txXfrm>
        <a:off x="30842" y="3021782"/>
        <a:ext cx="5456160" cy="570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这就是团结的力量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0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18518" y="4841733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5330854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BLDC</a:t>
            </a:r>
            <a:r>
              <a:rPr kumimoji="1" lang="zh-CN" altLang="en-US" sz="36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六步换向控制梳理</a:t>
            </a:r>
            <a:endParaRPr kumimoji="1" lang="en-US" altLang="zh-CN" sz="36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【05-05】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B48303-D1E8-62AA-F672-674819AD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6954732" y="2239385"/>
            <a:ext cx="2740564" cy="19931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4F92DA5-8D32-5D50-5C3E-8B64F43B1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" t="2890" r="13453" b="207"/>
          <a:stretch>
            <a:fillRect/>
          </a:stretch>
        </p:blipFill>
        <p:spPr>
          <a:xfrm>
            <a:off x="6107869" y="1883520"/>
            <a:ext cx="1174915" cy="872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06430-0F64-3BAD-A3B5-20B34711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sz="3600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BCE4C639-D85E-DFD9-40EA-35E578B4DCD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878461154"/>
              </p:ext>
            </p:extLst>
          </p:nvPr>
        </p:nvGraphicFramePr>
        <p:xfrm>
          <a:off x="952626" y="1053858"/>
          <a:ext cx="5517844" cy="4510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FBCFC13-85BD-06BA-8C8A-745B178FF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157" y="2607267"/>
            <a:ext cx="55178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电机要转起来，控制什么？（线圈电流相位+大小）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如何决定电机的方向？（通电顺序）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76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C1D3C-721C-C049-C256-8709BA97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六步换向原理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B34758-0403-7F5B-B145-40E1037074BD}"/>
              </a:ext>
            </a:extLst>
          </p:cNvPr>
          <p:cNvSpPr txBox="1"/>
          <p:nvPr/>
        </p:nvSpPr>
        <p:spPr>
          <a:xfrm>
            <a:off x="583474" y="1201810"/>
            <a:ext cx="5512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是最常见的 </a:t>
            </a:r>
            <a:r>
              <a:rPr lang="en-US" altLang="zh-CN" dirty="0"/>
              <a:t>BLDC </a:t>
            </a:r>
            <a:r>
              <a:rPr lang="zh-CN" altLang="en-US" dirty="0"/>
              <a:t>控制方法，又叫</a:t>
            </a:r>
            <a:r>
              <a:rPr lang="en-US" altLang="zh-CN" dirty="0"/>
              <a:t>120°</a:t>
            </a:r>
            <a:r>
              <a:rPr lang="zh-CN" altLang="en-US" dirty="0"/>
              <a:t>导通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1D4C004-4F5A-9226-EB2F-48F3DB254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474" y="3131845"/>
            <a:ext cx="418011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每次只有两相导通：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一相正极 (+)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一相负极 (–)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一相悬空 (Z)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换向顺序决定转动方向（正转 / 反转）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716508-365B-0B28-6A49-BDB2FB757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464" y="2007631"/>
            <a:ext cx="7126536" cy="372575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CD69D44-9A98-BFC1-A966-A7E18786B81F}"/>
              </a:ext>
            </a:extLst>
          </p:cNvPr>
          <p:cNvSpPr txBox="1"/>
          <p:nvPr/>
        </p:nvSpPr>
        <p:spPr>
          <a:xfrm>
            <a:off x="583474" y="1851136"/>
            <a:ext cx="4481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每一相在一个电气周期（</a:t>
            </a:r>
            <a:r>
              <a:rPr lang="en-US" altLang="zh-CN" dirty="0"/>
              <a:t>360°</a:t>
            </a:r>
            <a:r>
              <a:rPr lang="zh-CN" altLang="en-US" dirty="0"/>
              <a:t>电角度）里，有 </a:t>
            </a:r>
            <a:r>
              <a:rPr lang="en-US" altLang="zh-CN" b="1" dirty="0"/>
              <a:t>120°</a:t>
            </a:r>
            <a:r>
              <a:rPr lang="zh-CN" altLang="en-US" b="1" dirty="0"/>
              <a:t>角度范围流入电流</a:t>
            </a:r>
            <a:r>
              <a:rPr lang="zh-CN" altLang="en-US" dirty="0"/>
              <a:t>，其他时间不流入电流。</a:t>
            </a:r>
          </a:p>
        </p:txBody>
      </p:sp>
    </p:spTree>
    <p:extLst>
      <p:ext uri="{BB962C8B-B14F-4D97-AF65-F5344CB8AC3E}">
        <p14:creationId xmlns:p14="http://schemas.microsoft.com/office/powerpoint/2010/main" val="411941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E5A3A-5CDB-8781-F4B2-C0545B23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六步换向表格（</a:t>
            </a:r>
            <a:r>
              <a:rPr lang="en-US" altLang="zh-CN" dirty="0"/>
              <a:t>6</a:t>
            </a:r>
            <a:r>
              <a:rPr lang="zh-CN" altLang="en-US" dirty="0"/>
              <a:t>步导通顺序）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B88FF3C3-63DF-0849-F348-34DEAB04D4D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734143127"/>
              </p:ext>
            </p:extLst>
          </p:nvPr>
        </p:nvGraphicFramePr>
        <p:xfrm>
          <a:off x="629715" y="1558221"/>
          <a:ext cx="4630260" cy="283960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57565">
                  <a:extLst>
                    <a:ext uri="{9D8B030D-6E8A-4147-A177-3AD203B41FA5}">
                      <a16:colId xmlns:a16="http://schemas.microsoft.com/office/drawing/2014/main" val="3165033115"/>
                    </a:ext>
                  </a:extLst>
                </a:gridCol>
                <a:gridCol w="1157565">
                  <a:extLst>
                    <a:ext uri="{9D8B030D-6E8A-4147-A177-3AD203B41FA5}">
                      <a16:colId xmlns:a16="http://schemas.microsoft.com/office/drawing/2014/main" val="796232649"/>
                    </a:ext>
                  </a:extLst>
                </a:gridCol>
                <a:gridCol w="1157565">
                  <a:extLst>
                    <a:ext uri="{9D8B030D-6E8A-4147-A177-3AD203B41FA5}">
                      <a16:colId xmlns:a16="http://schemas.microsoft.com/office/drawing/2014/main" val="1080201156"/>
                    </a:ext>
                  </a:extLst>
                </a:gridCol>
                <a:gridCol w="1157565">
                  <a:extLst>
                    <a:ext uri="{9D8B030D-6E8A-4147-A177-3AD203B41FA5}">
                      <a16:colId xmlns:a16="http://schemas.microsoft.com/office/drawing/2014/main" val="2233447427"/>
                    </a:ext>
                  </a:extLst>
                </a:gridCol>
              </a:tblGrid>
              <a:tr h="40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U</a:t>
                      </a:r>
                      <a:r>
                        <a:rPr lang="zh-CN" altLang="en-US" dirty="0"/>
                        <a:t>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V</a:t>
                      </a:r>
                      <a:r>
                        <a:rPr lang="zh-CN" altLang="en-US" dirty="0"/>
                        <a:t>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W</a:t>
                      </a:r>
                      <a:r>
                        <a:rPr lang="zh-CN" altLang="en-US" dirty="0"/>
                        <a:t>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328961"/>
                  </a:ext>
                </a:extLst>
              </a:tr>
              <a:tr h="40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384091"/>
                  </a:ext>
                </a:extLst>
              </a:tr>
              <a:tr h="40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30264"/>
                  </a:ext>
                </a:extLst>
              </a:tr>
              <a:tr h="40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504525"/>
                  </a:ext>
                </a:extLst>
              </a:tr>
              <a:tr h="40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030842"/>
                  </a:ext>
                </a:extLst>
              </a:tr>
              <a:tr h="40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856869"/>
                  </a:ext>
                </a:extLst>
              </a:tr>
              <a:tr h="40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537442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F79B3D37-8287-EA6C-F45F-2BEDFA06E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05" y="4728879"/>
            <a:ext cx="511193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“+” → 上桥臂导通（相线接正电压）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“–” → 下桥臂导通（相线接负电压）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“Z” → 悬空，不导通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正转顺序：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→ 2 → 3 → 4 → 5 → 6 → 循环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反转顺序：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 → 5 → 4 → 3 → 2 → 1 → 循环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DC2BBEC-9B0E-B301-AA21-E75CBB40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271" y="1734365"/>
            <a:ext cx="6164883" cy="248731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A7E86B8-6099-7349-54A6-022462154EE9}"/>
              </a:ext>
            </a:extLst>
          </p:cNvPr>
          <p:cNvSpPr txBox="1"/>
          <p:nvPr/>
        </p:nvSpPr>
        <p:spPr>
          <a:xfrm>
            <a:off x="11562285" y="20640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U</a:t>
            </a:r>
            <a:r>
              <a:rPr lang="zh-CN" altLang="en-US" dirty="0"/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3B7144-01FE-4822-12CC-D1AEB43273B2}"/>
              </a:ext>
            </a:extLst>
          </p:cNvPr>
          <p:cNvSpPr txBox="1"/>
          <p:nvPr/>
        </p:nvSpPr>
        <p:spPr>
          <a:xfrm>
            <a:off x="10334376" y="3518388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V</a:t>
            </a:r>
            <a:r>
              <a:rPr lang="zh-CN" altLang="en-US" dirty="0"/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83A6D6-7199-FC14-1821-A2DE8311D4F2}"/>
              </a:ext>
            </a:extLst>
          </p:cNvPr>
          <p:cNvSpPr txBox="1"/>
          <p:nvPr/>
        </p:nvSpPr>
        <p:spPr>
          <a:xfrm>
            <a:off x="11749720" y="3518388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W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88310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7485B-4B33-3189-101E-B8DB967D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三相</a:t>
            </a:r>
            <a:r>
              <a:rPr lang="en-US" altLang="zh-CN" dirty="0"/>
              <a:t>PWM</a:t>
            </a:r>
            <a:r>
              <a:rPr lang="zh-CN" altLang="en-US" dirty="0"/>
              <a:t>波形示意图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9772556E-A73D-01FB-8280-2F3A95E83BB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0" y="1065235"/>
            <a:ext cx="8081553" cy="401554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4A11165-4A0D-3CFB-3E6E-EAE0C6D9F335}"/>
              </a:ext>
            </a:extLst>
          </p:cNvPr>
          <p:cNvSpPr txBox="1"/>
          <p:nvPr/>
        </p:nvSpPr>
        <p:spPr>
          <a:xfrm>
            <a:off x="8233956" y="2153654"/>
            <a:ext cx="226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dirty="0"/>
              <a:t>哪一个桥臂输出 </a:t>
            </a:r>
            <a:r>
              <a:rPr lang="en-US" altLang="zh-CN" sz="1400" dirty="0"/>
              <a:t>PWM</a:t>
            </a:r>
            <a:r>
              <a:rPr lang="zh-CN" altLang="en-US" sz="1400" dirty="0"/>
              <a:t>，</a:t>
            </a:r>
            <a:endParaRPr lang="en-US" altLang="zh-CN" sz="1400" dirty="0"/>
          </a:p>
          <a:p>
            <a:pPr>
              <a:buNone/>
            </a:pPr>
            <a:r>
              <a:rPr lang="zh-CN" altLang="en-US" sz="1400" dirty="0"/>
              <a:t>哪一个桥臂保持固定开通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C437E7-E498-D1AF-2854-B2CDD802280F}"/>
              </a:ext>
            </a:extLst>
          </p:cNvPr>
          <p:cNvSpPr txBox="1"/>
          <p:nvPr/>
        </p:nvSpPr>
        <p:spPr>
          <a:xfrm>
            <a:off x="8233956" y="1065235"/>
            <a:ext cx="3722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三相全桥驱动</a:t>
            </a:r>
            <a:endParaRPr lang="en-US" altLang="zh-CN" dirty="0"/>
          </a:p>
          <a:p>
            <a:r>
              <a:rPr lang="zh-CN" altLang="en-US" dirty="0"/>
              <a:t>每相都有高桥臂（</a:t>
            </a:r>
            <a:r>
              <a:rPr lang="en-US" altLang="zh-CN" dirty="0"/>
              <a:t>H</a:t>
            </a:r>
            <a:r>
              <a:rPr lang="zh-CN" altLang="en-US" dirty="0"/>
              <a:t>）和低桥臂（</a:t>
            </a:r>
            <a:r>
              <a:rPr lang="en-US" altLang="zh-CN" dirty="0"/>
              <a:t>L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5EB278D-D29E-B004-F20C-69E57F3A6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890460"/>
              </p:ext>
            </p:extLst>
          </p:nvPr>
        </p:nvGraphicFramePr>
        <p:xfrm>
          <a:off x="5756365" y="3361508"/>
          <a:ext cx="6287589" cy="3015017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846218">
                  <a:extLst>
                    <a:ext uri="{9D8B030D-6E8A-4147-A177-3AD203B41FA5}">
                      <a16:colId xmlns:a16="http://schemas.microsoft.com/office/drawing/2014/main" val="2556133421"/>
                    </a:ext>
                  </a:extLst>
                </a:gridCol>
                <a:gridCol w="2838994">
                  <a:extLst>
                    <a:ext uri="{9D8B030D-6E8A-4147-A177-3AD203B41FA5}">
                      <a16:colId xmlns:a16="http://schemas.microsoft.com/office/drawing/2014/main" val="2454793843"/>
                    </a:ext>
                  </a:extLst>
                </a:gridCol>
                <a:gridCol w="1602377">
                  <a:extLst>
                    <a:ext uri="{9D8B030D-6E8A-4147-A177-3AD203B41FA5}">
                      <a16:colId xmlns:a16="http://schemas.microsoft.com/office/drawing/2014/main" val="1856950876"/>
                    </a:ext>
                  </a:extLst>
                </a:gridCol>
              </a:tblGrid>
              <a:tr h="381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PWM </a:t>
                      </a:r>
                      <a:r>
                        <a:rPr lang="zh-CN" altLang="en-US" sz="1600" dirty="0"/>
                        <a:t>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特点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应用场景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967976"/>
                  </a:ext>
                </a:extLst>
              </a:tr>
              <a:tr h="658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PWM – ON 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ON – PWM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单边调制，简单实现，开关损耗低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六步换向常用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788104"/>
                  </a:ext>
                </a:extLst>
              </a:tr>
              <a:tr h="658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H_ON – L_PWM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高桥常导通，低桥 </a:t>
                      </a:r>
                      <a:r>
                        <a:rPr lang="en-US" altLang="zh-CN" sz="1600"/>
                        <a:t>PWM</a:t>
                      </a:r>
                      <a:r>
                        <a:rPr lang="zh-CN" altLang="en-US" sz="1600"/>
                        <a:t>，驱动简单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六步换向、低端控制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619729"/>
                  </a:ext>
                </a:extLst>
              </a:tr>
              <a:tr h="658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H_PWM – L_ON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高桥 </a:t>
                      </a:r>
                      <a:r>
                        <a:rPr lang="en-US" altLang="zh-CN" sz="1600"/>
                        <a:t>PWM</a:t>
                      </a:r>
                      <a:r>
                        <a:rPr lang="zh-CN" altLang="en-US" sz="1600"/>
                        <a:t>，低桥常导通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六步换向，部分驱动器习惯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886356"/>
                  </a:ext>
                </a:extLst>
              </a:tr>
              <a:tr h="658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H_PWM – L_PWM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双边调制，电压利用率高，波形更平滑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正弦波控制、</a:t>
                      </a:r>
                      <a:r>
                        <a:rPr lang="en-US" altLang="zh-CN" sz="1600" dirty="0"/>
                        <a:t>FOC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37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08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8AEED-DABC-9C90-C4B6-7C677291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还有其它控制方式么？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DB72157A-0F5C-52A0-6E8A-D41A54D73D9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48101597"/>
              </p:ext>
            </p:extLst>
          </p:nvPr>
        </p:nvGraphicFramePr>
        <p:xfrm>
          <a:off x="363251" y="1478278"/>
          <a:ext cx="10801138" cy="160389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798">
                  <a:extLst>
                    <a:ext uri="{9D8B030D-6E8A-4147-A177-3AD203B41FA5}">
                      <a16:colId xmlns:a16="http://schemas.microsoft.com/office/drawing/2014/main" val="2273470200"/>
                    </a:ext>
                  </a:extLst>
                </a:gridCol>
                <a:gridCol w="2874585">
                  <a:extLst>
                    <a:ext uri="{9D8B030D-6E8A-4147-A177-3AD203B41FA5}">
                      <a16:colId xmlns:a16="http://schemas.microsoft.com/office/drawing/2014/main" val="3258721590"/>
                    </a:ext>
                  </a:extLst>
                </a:gridCol>
                <a:gridCol w="2577737">
                  <a:extLst>
                    <a:ext uri="{9D8B030D-6E8A-4147-A177-3AD203B41FA5}">
                      <a16:colId xmlns:a16="http://schemas.microsoft.com/office/drawing/2014/main" val="1692339952"/>
                    </a:ext>
                  </a:extLst>
                </a:gridCol>
                <a:gridCol w="2159726">
                  <a:extLst>
                    <a:ext uri="{9D8B030D-6E8A-4147-A177-3AD203B41FA5}">
                      <a16:colId xmlns:a16="http://schemas.microsoft.com/office/drawing/2014/main" val="3758196584"/>
                    </a:ext>
                  </a:extLst>
                </a:gridCol>
                <a:gridCol w="1515292">
                  <a:extLst>
                    <a:ext uri="{9D8B030D-6E8A-4147-A177-3AD203B41FA5}">
                      <a16:colId xmlns:a16="http://schemas.microsoft.com/office/drawing/2014/main" val="191537588"/>
                    </a:ext>
                  </a:extLst>
                </a:gridCol>
              </a:tblGrid>
              <a:tr h="391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控制方式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优点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缺点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应用阶段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难度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200424"/>
                  </a:ext>
                </a:extLst>
              </a:tr>
              <a:tr h="429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六步换向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实现简单、硬件需求低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转矩脉动大、噪音大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入门、低成本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163251"/>
                  </a:ext>
                </a:extLst>
              </a:tr>
              <a:tr h="391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正弦波控制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转矩平稳、噪音小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实现复杂、成本高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中端产品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⭐⭐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960340"/>
                  </a:ext>
                </a:extLst>
              </a:tr>
              <a:tr h="391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</a:t>
                      </a:r>
                      <a:r>
                        <a:rPr lang="zh-CN" altLang="en-US"/>
                        <a:t>控制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精准、高效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算法</a:t>
                      </a:r>
                      <a:r>
                        <a:rPr lang="en-US" altLang="zh-CN"/>
                        <a:t>&amp;</a:t>
                      </a:r>
                      <a:r>
                        <a:rPr lang="zh-CN" altLang="en-US"/>
                        <a:t>硬件要求高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高端工业应用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⭐⭐⭐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938431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B9A20C5-4092-12ED-DCC3-40FD41FF1F91}"/>
              </a:ext>
            </a:extLst>
          </p:cNvPr>
          <p:cNvSpPr txBox="1"/>
          <p:nvPr/>
        </p:nvSpPr>
        <p:spPr>
          <a:xfrm>
            <a:off x="1051228" y="58590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接下来，采用六步换向</a:t>
            </a:r>
            <a:r>
              <a:rPr lang="en-US" altLang="zh-CN" b="1" dirty="0"/>
              <a:t>+PWM</a:t>
            </a:r>
            <a:r>
              <a:rPr lang="zh-CN" altLang="en-US" b="1" dirty="0"/>
              <a:t>调速做个案例。</a:t>
            </a:r>
            <a:endParaRPr lang="zh-CN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076F4E5-5250-901A-4DCF-45CD01686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50" y="3588398"/>
            <a:ext cx="1168070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六步换向：梯形方波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zh-CN" altLang="en-US" sz="1600" dirty="0"/>
              <a:t>梯形电流，转矩脉动大；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正弦波控制：</a:t>
            </a:r>
            <a:r>
              <a:rPr lang="zh-CN" altLang="en-US" sz="1600" dirty="0"/>
              <a:t>连续变化呈正弦波，使定子磁场旋转平滑，与转子磁场保持同步，从而产生恒定转矩。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 控制：</a:t>
            </a:r>
            <a:r>
              <a:rPr lang="en-US" altLang="zh-CN" sz="1600" dirty="0"/>
              <a:t>FOC </a:t>
            </a:r>
            <a:r>
              <a:rPr lang="zh-CN" altLang="en-US" sz="1600" dirty="0"/>
              <a:t>可以</a:t>
            </a:r>
            <a:r>
              <a:rPr lang="zh-CN" altLang="en-US" sz="1600" b="1" dirty="0"/>
              <a:t>直接、独立地控制产生转矩的电流（</a:t>
            </a:r>
            <a:r>
              <a:rPr lang="en-US" altLang="zh-CN" sz="1600" b="1" dirty="0" err="1"/>
              <a:t>Iq</a:t>
            </a:r>
            <a:r>
              <a:rPr lang="zh-CN" altLang="en-US" sz="1600" b="1" dirty="0"/>
              <a:t>）和产生磁场的电流（</a:t>
            </a:r>
            <a:r>
              <a:rPr lang="en-US" altLang="zh-CN" sz="1600" b="1" dirty="0"/>
              <a:t>Id</a:t>
            </a:r>
            <a:r>
              <a:rPr lang="zh-CN" altLang="en-US" sz="1600" b="1" dirty="0"/>
              <a:t>）</a:t>
            </a:r>
            <a:r>
              <a:rPr lang="zh-CN" altLang="en-US" sz="1600" dirty="0"/>
              <a:t>，实现高效、平稳、可调转矩。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02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5712</TotalTime>
  <Words>685</Words>
  <Application>Microsoft Office PowerPoint</Application>
  <PresentationFormat>宽屏</PresentationFormat>
  <Paragraphs>118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目录</vt:lpstr>
      <vt:lpstr>1. 六步换向原理</vt:lpstr>
      <vt:lpstr>2. 六步换向表格（6步导通顺序）</vt:lpstr>
      <vt:lpstr>3.三相PWM波形示意图</vt:lpstr>
      <vt:lpstr>4. 还有其它控制方式么？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130</cp:revision>
  <dcterms:created xsi:type="dcterms:W3CDTF">2025-05-21T06:55:53Z</dcterms:created>
  <dcterms:modified xsi:type="dcterms:W3CDTF">2025-09-13T01:37:10Z</dcterms:modified>
</cp:coreProperties>
</file>