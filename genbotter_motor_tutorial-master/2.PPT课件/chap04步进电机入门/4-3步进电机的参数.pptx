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89" r:id="rId2"/>
    <p:sldId id="802" r:id="rId3"/>
    <p:sldId id="800" r:id="rId4"/>
    <p:sldId id="805" r:id="rId5"/>
    <p:sldId id="799" r:id="rId6"/>
    <p:sldId id="804" r:id="rId7"/>
    <p:sldId id="806" r:id="rId8"/>
    <p:sldId id="807" r:id="rId9"/>
    <p:sldId id="808" r:id="rId10"/>
    <p:sldId id="809" r:id="rId11"/>
    <p:sldId id="810" r:id="rId12"/>
    <p:sldId id="811" r:id="rId13"/>
    <p:sldId id="813" r:id="rId14"/>
    <p:sldId id="286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18" autoAdjust="0"/>
    <p:restoredTop sz="83859" autoAdjust="0"/>
  </p:normalViewPr>
  <p:slideViewPr>
    <p:cSldViewPr snapToGrid="0">
      <p:cViewPr varScale="1">
        <p:scale>
          <a:sx n="92" d="100"/>
          <a:sy n="92" d="100"/>
        </p:scale>
        <p:origin x="195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用脚步丈量距离，每一步的误差都会累加。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打靶，每次打靶都是新的开始，误差不会累积。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768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例如：大学新手，有些容易摆烂，就是因为一下子新开的课程太多了，超过了他的最大空载启动频率。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935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步进电机的最大空载运行频率通常比最大空载启动频率更大。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大学新生渡过大一的懵逼阶段，到大二大三上强度，更容易接受的。所以，暑假也要适当卷一下，不要完全停摆。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921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3" y="374795"/>
            <a:ext cx="9365925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14359AF-FEC0-3E4B-67E8-5AE8DE0A05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805" y="110274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97591" y="2818708"/>
            <a:ext cx="4332956" cy="69698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参数和术语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【04-03】</a:t>
            </a:r>
            <a:endParaRPr kumimoji="1" lang="en-US" altLang="zh-CN" sz="2800" b="1" dirty="0">
              <a:ln w="127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3899745D-6A7C-4590-3D56-61F248E000BD}"/>
              </a:ext>
            </a:extLst>
          </p:cNvPr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3" name="标题 1">
            <a:extLst>
              <a:ext uri="{FF2B5EF4-FFF2-40B4-BE49-F238E27FC236}">
                <a16:creationId xmlns:a16="http://schemas.microsoft.com/office/drawing/2014/main" id="{B05FC5DC-CA08-5AF0-5DDC-1CE657061415}"/>
              </a:ext>
            </a:extLst>
          </p:cNvPr>
          <p:cNvSpPr txBox="1"/>
          <p:nvPr/>
        </p:nvSpPr>
        <p:spPr>
          <a:xfrm>
            <a:off x="7393155" y="4841733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D7B95813-215B-FC51-D995-5DE4F932E4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223" y="1830102"/>
            <a:ext cx="3013310" cy="25649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3" y="374795"/>
            <a:ext cx="8951365" cy="390527"/>
          </a:xfrm>
        </p:spPr>
        <p:txBody>
          <a:bodyPr/>
          <a:lstStyle/>
          <a:p>
            <a:r>
              <a:rPr lang="en-US" altLang="zh-CN" sz="3600" dirty="0"/>
              <a:t>1. </a:t>
            </a:r>
            <a:r>
              <a:rPr lang="zh-CN" altLang="en-US" sz="3600" dirty="0"/>
              <a:t>了解步进电机参数的意义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955338-922B-DEA8-3E57-3DB3EF8E94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04754" y="1053857"/>
            <a:ext cx="8436311" cy="5345255"/>
          </a:xfrm>
        </p:spPr>
        <p:txBody>
          <a:bodyPr/>
          <a:lstStyle/>
          <a:p>
            <a:r>
              <a:rPr lang="zh-CN" altLang="en-US" dirty="0"/>
              <a:t>参数就是电机的 “简历”！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举例子：</a:t>
            </a:r>
          </a:p>
          <a:p>
            <a:pPr marL="1333302" lvl="1" indent="-342900">
              <a:buFont typeface="Wingdings" panose="05000000000000000000" pitchFamily="2" charset="2"/>
              <a:buChar char="Ø"/>
            </a:pPr>
            <a:r>
              <a:rPr lang="en-US" altLang="zh-CN" dirty="0"/>
              <a:t>3D </a:t>
            </a:r>
            <a:r>
              <a:rPr lang="zh-CN" altLang="en-US" dirty="0"/>
              <a:t>打印机选电机：步距角太大→打印错位；扭矩太小→挤不动耗材</a:t>
            </a:r>
          </a:p>
          <a:p>
            <a:pPr marL="1333302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机械臂选电机：转速太慢→动作卡顿；电流太高→烧坏电路</a:t>
            </a:r>
          </a:p>
          <a:p>
            <a:endParaRPr lang="en-US" altLang="zh-CN" dirty="0"/>
          </a:p>
          <a:p>
            <a:r>
              <a:rPr lang="zh-CN" altLang="en-US" b="1" dirty="0"/>
              <a:t>所以，参数决定电机“能不能用、好不好用”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ACFD050-93D6-7CA7-E676-2E02483A0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25" y="1715802"/>
            <a:ext cx="3245587" cy="276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86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81DF77E-F915-6381-7919-A3B86BB97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2.1 </a:t>
            </a:r>
            <a:r>
              <a:rPr lang="zh-CN" altLang="en-US" sz="3600" dirty="0"/>
              <a:t>静态参数</a:t>
            </a:r>
            <a:r>
              <a:rPr lang="en-US" altLang="zh-CN" sz="3600" dirty="0"/>
              <a:t>——</a:t>
            </a:r>
            <a:r>
              <a:rPr lang="zh-CN" altLang="en-US" sz="3600" dirty="0"/>
              <a:t>相数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97E6AD3E-9D6D-149B-FF3C-779AD1D48DB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4" y="4186290"/>
            <a:ext cx="10688441" cy="2212822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dirty="0"/>
              <a:t>定义：产生 </a:t>
            </a:r>
            <a:r>
              <a:rPr lang="en-US" altLang="zh-CN" dirty="0"/>
              <a:t>N</a:t>
            </a:r>
            <a:r>
              <a:rPr lang="zh-CN" altLang="en-US" dirty="0"/>
              <a:t>、</a:t>
            </a:r>
            <a:r>
              <a:rPr lang="en-US" altLang="zh-CN" dirty="0"/>
              <a:t>S </a:t>
            </a:r>
            <a:r>
              <a:rPr lang="zh-CN" altLang="en-US" dirty="0"/>
              <a:t>对极磁场的激磁线圈对数（</a:t>
            </a:r>
            <a:r>
              <a:rPr lang="en-US" altLang="zh-CN" dirty="0"/>
              <a:t>= </a:t>
            </a:r>
            <a:r>
              <a:rPr lang="zh-CN" altLang="en-US" dirty="0"/>
              <a:t>线圈组数）</a:t>
            </a:r>
          </a:p>
          <a:p>
            <a:r>
              <a:rPr lang="zh-CN" altLang="en-US" dirty="0"/>
              <a:t>关键：相数越多→步距角越小，（其它条件相同）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相数多意味着定子上能产生的磁场方向组合就越多。在通电时，能够更精细地控制转子的转动角度。因为定子可以通过不同相绕组的通电组合，产生更密集的磁场分布，从而让转子每次转动的角度更小 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834BB59-31AC-A763-4B33-55D8D377C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597" y="1016658"/>
            <a:ext cx="2238102" cy="2255794"/>
          </a:xfrm>
          <a:prstGeom prst="rect">
            <a:avLst/>
          </a:prstGeom>
        </p:spPr>
      </p:pic>
      <p:sp>
        <p:nvSpPr>
          <p:cNvPr id="2" name="内容占位符 6">
            <a:extLst>
              <a:ext uri="{FF2B5EF4-FFF2-40B4-BE49-F238E27FC236}">
                <a16:creationId xmlns:a16="http://schemas.microsoft.com/office/drawing/2014/main" id="{79960E03-34C3-F500-6A02-25EC08779B30}"/>
              </a:ext>
            </a:extLst>
          </p:cNvPr>
          <p:cNvSpPr txBox="1">
            <a:spLocks/>
          </p:cNvSpPr>
          <p:nvPr/>
        </p:nvSpPr>
        <p:spPr>
          <a:xfrm>
            <a:off x="3379971" y="1101935"/>
            <a:ext cx="4936715" cy="1266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457109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990402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52369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213317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74265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这里的</a:t>
            </a:r>
            <a:r>
              <a:rPr lang="en-US" altLang="zh-CN" dirty="0"/>
              <a:t>A2</a:t>
            </a:r>
            <a:r>
              <a:rPr lang="zh-CN" altLang="en-US" dirty="0"/>
              <a:t>，实际上是</a:t>
            </a:r>
            <a:r>
              <a:rPr lang="en-US" altLang="zh-CN" dirty="0"/>
              <a:t>-A</a:t>
            </a:r>
          </a:p>
        </p:txBody>
      </p:sp>
      <p:pic>
        <p:nvPicPr>
          <p:cNvPr id="4" name="内容占位符 7">
            <a:extLst>
              <a:ext uri="{FF2B5EF4-FFF2-40B4-BE49-F238E27FC236}">
                <a16:creationId xmlns:a16="http://schemas.microsoft.com/office/drawing/2014/main" id="{ADAE79DD-5D27-42F0-6B96-B42E18A0F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365" y="1016658"/>
            <a:ext cx="2450179" cy="283301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909869B-BF4F-9BDE-65AF-C6832CB3158F}"/>
              </a:ext>
            </a:extLst>
          </p:cNvPr>
          <p:cNvSpPr txBox="1"/>
          <p:nvPr/>
        </p:nvSpPr>
        <p:spPr>
          <a:xfrm>
            <a:off x="2273291" y="285823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6783CD-0B7D-7A4E-E39E-DFDBA9CE4517}"/>
              </a:ext>
            </a:extLst>
          </p:cNvPr>
          <p:cNvSpPr txBox="1"/>
          <p:nvPr/>
        </p:nvSpPr>
        <p:spPr>
          <a:xfrm>
            <a:off x="2270731" y="2108337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41930-DB78-007E-FE30-A29004B76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0A4798-E1C6-9CA8-55DC-18E3FF42B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2.2 </a:t>
            </a:r>
            <a:r>
              <a:rPr lang="zh-CN" altLang="en-US" sz="3600" dirty="0"/>
              <a:t>静态参数</a:t>
            </a:r>
            <a:r>
              <a:rPr lang="en-US" altLang="zh-CN" sz="3600" dirty="0"/>
              <a:t>——</a:t>
            </a:r>
            <a:r>
              <a:rPr lang="zh-CN" altLang="en-US" sz="3600" dirty="0"/>
              <a:t>拍数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40523A1-2D25-A211-A7EC-A2F039C3803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4" y="3525578"/>
            <a:ext cx="10688441" cy="2873534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dirty="0"/>
              <a:t>定义：步进电机完成一次完整的磁场周期性变化（对应电机转子完成一个特定步距角转动），所需要的电脉冲触发次数或绕组通电状态切换的序列周期数，常用“</a:t>
            </a:r>
            <a:r>
              <a:rPr lang="en-US" altLang="zh-CN" dirty="0"/>
              <a:t>N” </a:t>
            </a:r>
            <a:r>
              <a:rPr lang="zh-CN" altLang="en-US" dirty="0"/>
              <a:t>表示。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关键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r>
              <a:rPr lang="zh-CN" altLang="en-US" dirty="0"/>
              <a:t>拍数越多→步距角越小，（其它条件相同）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和电机相数、绕组通电方式（如单拍、双拍、单双拍混合等）相关，决定电机运行时的细分精度、步距角等关键运行特性，是描述步进电机电 </a:t>
            </a:r>
            <a:r>
              <a:rPr lang="en-US" altLang="zh-CN" dirty="0"/>
              <a:t>- </a:t>
            </a:r>
            <a:r>
              <a:rPr lang="zh-CN" altLang="en-US" dirty="0"/>
              <a:t>机械转换控制规律的重要参数。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00F503D-4DFC-747D-1266-874BB7E24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222" y="1018448"/>
            <a:ext cx="1904618" cy="2254004"/>
          </a:xfrm>
          <a:prstGeom prst="rect">
            <a:avLst/>
          </a:prstGeom>
        </p:spPr>
      </p:pic>
      <p:sp>
        <p:nvSpPr>
          <p:cNvPr id="4" name="内容占位符 6">
            <a:extLst>
              <a:ext uri="{FF2B5EF4-FFF2-40B4-BE49-F238E27FC236}">
                <a16:creationId xmlns:a16="http://schemas.microsoft.com/office/drawing/2014/main" id="{AA3BA2B7-CA9A-9E45-C947-860D1F54B9DE}"/>
              </a:ext>
            </a:extLst>
          </p:cNvPr>
          <p:cNvSpPr txBox="1">
            <a:spLocks/>
          </p:cNvSpPr>
          <p:nvPr/>
        </p:nvSpPr>
        <p:spPr>
          <a:xfrm>
            <a:off x="3467057" y="1018448"/>
            <a:ext cx="8176303" cy="2254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457109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990402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52369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213317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74265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两相单四拍：</a:t>
            </a:r>
            <a:r>
              <a:rPr lang="en-US" altLang="zh-CN" sz="2400" dirty="0"/>
              <a:t>A</a:t>
            </a:r>
            <a:r>
              <a:rPr lang="zh-CN" altLang="en-US" sz="2400" dirty="0"/>
              <a:t>、</a:t>
            </a:r>
            <a:r>
              <a:rPr lang="en-US" altLang="zh-CN" sz="2400" dirty="0"/>
              <a:t>B</a:t>
            </a:r>
            <a:r>
              <a:rPr lang="zh-CN" altLang="en-US" sz="2400" dirty="0"/>
              <a:t>、</a:t>
            </a:r>
            <a:r>
              <a:rPr lang="en-US" altLang="zh-CN" sz="2400" dirty="0"/>
              <a:t>-A</a:t>
            </a:r>
            <a:r>
              <a:rPr lang="zh-CN" altLang="en-US" sz="2400" dirty="0"/>
              <a:t>、</a:t>
            </a:r>
            <a:r>
              <a:rPr lang="en-US" altLang="zh-CN" sz="2400" dirty="0"/>
              <a:t>-B</a:t>
            </a:r>
          </a:p>
          <a:p>
            <a:r>
              <a:rPr lang="zh-CN" altLang="en-US" sz="2400" dirty="0"/>
              <a:t>两相八拍：</a:t>
            </a:r>
            <a:r>
              <a:rPr lang="en-US" altLang="zh-CN" sz="2400" dirty="0"/>
              <a:t>A</a:t>
            </a:r>
            <a:r>
              <a:rPr lang="zh-CN" altLang="en-US" sz="2400" dirty="0"/>
              <a:t>、</a:t>
            </a:r>
            <a:r>
              <a:rPr lang="en-US" altLang="zh-CN" sz="2400" dirty="0"/>
              <a:t>AB</a:t>
            </a:r>
            <a:r>
              <a:rPr lang="zh-CN" altLang="en-US" sz="2400" dirty="0"/>
              <a:t>、</a:t>
            </a:r>
            <a:r>
              <a:rPr lang="en-US" altLang="zh-CN" sz="2400" dirty="0"/>
              <a:t>B</a:t>
            </a:r>
            <a:r>
              <a:rPr lang="zh-CN" altLang="en-US" sz="2400" dirty="0"/>
              <a:t>、</a:t>
            </a:r>
            <a:r>
              <a:rPr lang="en-US" altLang="zh-CN" sz="2400" dirty="0"/>
              <a:t>B-A</a:t>
            </a:r>
            <a:r>
              <a:rPr lang="zh-CN" altLang="en-US" sz="2400" dirty="0"/>
              <a:t>、</a:t>
            </a:r>
            <a:r>
              <a:rPr lang="en-US" altLang="zh-CN" sz="2400" dirty="0"/>
              <a:t>-A</a:t>
            </a:r>
            <a:r>
              <a:rPr lang="zh-CN" altLang="en-US" sz="2400" dirty="0"/>
              <a:t>、</a:t>
            </a:r>
            <a:r>
              <a:rPr lang="en-US" altLang="zh-CN" sz="2400" dirty="0"/>
              <a:t>-A-B</a:t>
            </a:r>
            <a:r>
              <a:rPr lang="zh-CN" altLang="en-US" sz="2400" dirty="0"/>
              <a:t>、</a:t>
            </a:r>
            <a:r>
              <a:rPr lang="en-US" altLang="zh-CN" sz="2400" dirty="0"/>
              <a:t>-B</a:t>
            </a:r>
            <a:r>
              <a:rPr lang="zh-CN" altLang="en-US" sz="2400" dirty="0"/>
              <a:t>、</a:t>
            </a:r>
            <a:r>
              <a:rPr lang="en-US" altLang="zh-CN" sz="2400" dirty="0"/>
              <a:t>-BA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15031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F782C-1284-81FB-1CB2-9DDCB957C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3DDFB14-0C9E-E66B-3FB6-874C4BD30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3" y="374795"/>
            <a:ext cx="8097925" cy="390527"/>
          </a:xfrm>
        </p:spPr>
        <p:txBody>
          <a:bodyPr/>
          <a:lstStyle/>
          <a:p>
            <a:r>
              <a:rPr lang="en-US" altLang="zh-CN" sz="3200" dirty="0"/>
              <a:t>2.3 </a:t>
            </a:r>
            <a:r>
              <a:rPr lang="zh-CN" altLang="en-US" sz="3200" dirty="0"/>
              <a:t>静态参数</a:t>
            </a:r>
            <a:r>
              <a:rPr lang="en-US" altLang="zh-CN" sz="3200" dirty="0"/>
              <a:t>——</a:t>
            </a:r>
            <a:r>
              <a:rPr lang="zh-CN" altLang="en-US" sz="3200" dirty="0"/>
              <a:t>步距角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DF34CD-C614-23F3-C304-8514B9EFE6B3}"/>
              </a:ext>
            </a:extLst>
          </p:cNvPr>
          <p:cNvSpPr txBox="1"/>
          <p:nvPr/>
        </p:nvSpPr>
        <p:spPr>
          <a:xfrm>
            <a:off x="469108" y="2948966"/>
            <a:ext cx="2559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同一个步进电机，驱动方式不同可能有不一样的步距角。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1A3446-3201-C436-73BD-6BD99943F00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78926" y="1053858"/>
            <a:ext cx="8262139" cy="1819972"/>
          </a:xfrm>
        </p:spPr>
        <p:txBody>
          <a:bodyPr/>
          <a:lstStyle/>
          <a:p>
            <a:r>
              <a:rPr lang="zh-CN" altLang="en-US" dirty="0"/>
              <a:t>一个脉冲信号所对应的电机转动的角度，可以简单理解为一个脉冲信号驱动的角度。</a:t>
            </a:r>
            <a:endParaRPr lang="en-US" altLang="zh-CN" dirty="0"/>
          </a:p>
          <a:p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23D0F8A5-0FCB-A960-5C59-E2FF514C85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10734" y="2495117"/>
                <a:ext cx="8262139" cy="143091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457109" algn="l" defTabSz="914400" rtl="0" eaLnBrk="1" latinLnBrk="0" hangingPunct="1">
                  <a:lnSpc>
                    <a:spcPct val="13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2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990402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2pPr>
                <a:lvl3pPr marL="1523695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3pPr>
                <a:lvl4pPr marL="2133173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4pPr>
                <a:lvl5pPr marL="2742651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步距角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360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转子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齿数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运行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拍数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23D0F8A5-0FCB-A960-5C59-E2FF514C8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0734" y="2495117"/>
                <a:ext cx="8262139" cy="14309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92D9F851-CD7F-C6D4-C64D-6DC6FFCE69D0}"/>
              </a:ext>
            </a:extLst>
          </p:cNvPr>
          <p:cNvSpPr txBox="1"/>
          <p:nvPr/>
        </p:nvSpPr>
        <p:spPr>
          <a:xfrm>
            <a:off x="3378927" y="4184609"/>
            <a:ext cx="82621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Inter"/>
              </a:rPr>
              <a:t>例如，常规的二相或四相步进电机，若转子齿为 </a:t>
            </a:r>
            <a:r>
              <a:rPr lang="en-US" altLang="zh-CN" b="0" i="0" dirty="0">
                <a:effectLst/>
                <a:latin typeface="Inter"/>
              </a:rPr>
              <a:t>50 </a:t>
            </a:r>
            <a:r>
              <a:rPr lang="zh-CN" altLang="en-US" b="0" i="0" dirty="0">
                <a:effectLst/>
                <a:latin typeface="Inter"/>
              </a:rPr>
              <a:t>齿，四拍运行时，步距角 </a:t>
            </a:r>
            <a:r>
              <a:rPr lang="en-US" altLang="zh-CN" b="0" i="0" dirty="0">
                <a:effectLst/>
                <a:latin typeface="Inter"/>
              </a:rPr>
              <a:t>θ=360°/</a:t>
            </a:r>
            <a:r>
              <a:rPr lang="zh-CN" altLang="en-US" b="0" i="0" dirty="0">
                <a:effectLst/>
                <a:latin typeface="Inter"/>
              </a:rPr>
              <a:t>（</a:t>
            </a:r>
            <a:r>
              <a:rPr lang="en-US" altLang="zh-CN" b="0" i="0" dirty="0">
                <a:effectLst/>
                <a:latin typeface="Inter"/>
              </a:rPr>
              <a:t>50×4</a:t>
            </a:r>
            <a:r>
              <a:rPr lang="zh-CN" altLang="en-US" b="0" i="0" dirty="0">
                <a:effectLst/>
                <a:latin typeface="Inter"/>
              </a:rPr>
              <a:t>）</a:t>
            </a:r>
            <a:r>
              <a:rPr lang="en-US" altLang="zh-CN" b="0" i="0" dirty="0">
                <a:effectLst/>
                <a:latin typeface="Inter"/>
              </a:rPr>
              <a:t>=1.8°</a:t>
            </a:r>
            <a:r>
              <a:rPr lang="zh-CN" altLang="en-US" b="0" i="0" dirty="0">
                <a:effectLst/>
                <a:latin typeface="Inter"/>
              </a:rPr>
              <a:t>；八拍运行时，步距角 </a:t>
            </a:r>
            <a:r>
              <a:rPr lang="en-US" altLang="zh-CN" b="0" i="0" dirty="0">
                <a:effectLst/>
                <a:latin typeface="Inter"/>
              </a:rPr>
              <a:t>θ=360°/</a:t>
            </a:r>
            <a:r>
              <a:rPr lang="zh-CN" altLang="en-US" b="0" i="0" dirty="0">
                <a:effectLst/>
                <a:latin typeface="Inter"/>
              </a:rPr>
              <a:t>（</a:t>
            </a:r>
            <a:r>
              <a:rPr lang="en-US" altLang="zh-CN" b="0" i="0" dirty="0">
                <a:effectLst/>
                <a:latin typeface="Inter"/>
              </a:rPr>
              <a:t>50×8</a:t>
            </a:r>
            <a:r>
              <a:rPr lang="zh-CN" altLang="en-US" b="0" i="0" dirty="0">
                <a:effectLst/>
                <a:latin typeface="Inter"/>
              </a:rPr>
              <a:t>）</a:t>
            </a:r>
            <a:r>
              <a:rPr lang="en-US" altLang="zh-CN" b="0" i="0" dirty="0">
                <a:effectLst/>
                <a:latin typeface="Inter"/>
              </a:rPr>
              <a:t>=0.9°</a:t>
            </a:r>
            <a:r>
              <a:rPr lang="zh-CN" altLang="en-US" b="0" i="0" dirty="0">
                <a:effectLst/>
                <a:latin typeface="Inter"/>
              </a:rPr>
              <a:t>。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2E710A-B0B9-3F37-A883-F4A40C040E56}"/>
              </a:ext>
            </a:extLst>
          </p:cNvPr>
          <p:cNvSpPr txBox="1"/>
          <p:nvPr/>
        </p:nvSpPr>
        <p:spPr>
          <a:xfrm>
            <a:off x="3378927" y="5367294"/>
            <a:ext cx="8262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Inter"/>
              </a:rPr>
              <a:t>同一个电机，因驱动方式不同，步距角可能不一样。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86F6F3B-A06D-D6B9-D248-E70ED1ABB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187" y="1183694"/>
            <a:ext cx="2991643" cy="1736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485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06430-0F64-3BAD-A3B5-20B347111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3" y="374795"/>
            <a:ext cx="7862793" cy="390527"/>
          </a:xfrm>
        </p:spPr>
        <p:txBody>
          <a:bodyPr/>
          <a:lstStyle/>
          <a:p>
            <a:r>
              <a:rPr lang="en-US" altLang="zh-CN" sz="3200" dirty="0"/>
              <a:t>2.4 </a:t>
            </a:r>
            <a:r>
              <a:rPr lang="zh-CN" altLang="en-US" sz="3200" dirty="0"/>
              <a:t>静态参数</a:t>
            </a:r>
            <a:r>
              <a:rPr lang="en-US" altLang="zh-CN" sz="3200" dirty="0"/>
              <a:t>——</a:t>
            </a:r>
            <a:r>
              <a:rPr lang="zh-CN" altLang="en-US" sz="3200" dirty="0"/>
              <a:t>定位转矩、保持转矩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9DEEE02-E554-2559-A7C4-1DCADB9CAA2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1489" y="2706123"/>
            <a:ext cx="1698466" cy="144575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E53C879-1C9C-D2AF-6F92-ABD2F2F8A2D2}"/>
              </a:ext>
            </a:extLst>
          </p:cNvPr>
          <p:cNvSpPr txBox="1"/>
          <p:nvPr/>
        </p:nvSpPr>
        <p:spPr>
          <a:xfrm>
            <a:off x="722810" y="1690460"/>
            <a:ext cx="6688183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保持转矩（静转矩）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是指电机各相绕组通额定电流，且处于静态锁定状态时，电机所能输出的最大转矩。是电机选型 时最重要的参数之一。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定位转矩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是指电机各相绕组不通电且处于开路状态时，由于混合式电机转子上有永磁材料产生磁场，从而 产生的转矩。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一般定位转矩远小于保持转矩。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906CA46-77AD-0F1A-0EFC-0AE8630E842E}"/>
              </a:ext>
            </a:extLst>
          </p:cNvPr>
          <p:cNvSpPr txBox="1"/>
          <p:nvPr/>
        </p:nvSpPr>
        <p:spPr>
          <a:xfrm>
            <a:off x="722810" y="5312118"/>
            <a:ext cx="111992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保持转矩是电机通电 “使劲刹车” 能抗住的最大力气，定位转矩是断电后 “自然卡住” 的微弱劲儿，前者比后者 “力气大得多”。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1769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0B7722-5893-F2A6-6EEE-F6874E9B5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4" y="374795"/>
            <a:ext cx="10318610" cy="390527"/>
          </a:xfrm>
        </p:spPr>
        <p:txBody>
          <a:bodyPr/>
          <a:lstStyle/>
          <a:p>
            <a:r>
              <a:rPr lang="en-US" altLang="zh-CN" sz="3200" dirty="0"/>
              <a:t>3.1 </a:t>
            </a:r>
            <a:r>
              <a:rPr lang="zh-CN" altLang="en-US" sz="3200" dirty="0"/>
              <a:t>动态参数</a:t>
            </a:r>
            <a:r>
              <a:rPr lang="en-US" altLang="zh-CN" sz="3200" dirty="0"/>
              <a:t>——</a:t>
            </a:r>
            <a:r>
              <a:rPr lang="zh-CN" altLang="en-US" sz="3200" dirty="0"/>
              <a:t>步距角精度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BB45EE-8C7A-D8EA-D9A6-BFDA76214C4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9557" y="1192217"/>
            <a:ext cx="6980725" cy="1200329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动态指标是电机</a:t>
            </a:r>
            <a:r>
              <a:rPr lang="zh-CN" altLang="en-US" sz="2400" b="1" dirty="0">
                <a:solidFill>
                  <a:srgbClr val="FF0000"/>
                </a:solidFill>
              </a:rPr>
              <a:t>运转时的性能参数</a:t>
            </a:r>
            <a:endParaRPr lang="en-US" altLang="zh-CN" sz="2400" dirty="0"/>
          </a:p>
          <a:p>
            <a:r>
              <a:rPr lang="zh-CN" altLang="en-US" sz="2400" dirty="0"/>
              <a:t>（静态是 “简历”，动态是 “工作表现”）</a:t>
            </a:r>
          </a:p>
          <a:p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E3B25D-3BE9-AFA8-D073-A84EF45BE66E}"/>
              </a:ext>
            </a:extLst>
          </p:cNvPr>
          <p:cNvSpPr txBox="1"/>
          <p:nvPr/>
        </p:nvSpPr>
        <p:spPr>
          <a:xfrm>
            <a:off x="793469" y="2980145"/>
            <a:ext cx="1025640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定义：理论步距角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vs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实际步距角的误差（误差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步距角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×100%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zh-CN" sz="2400" b="0" i="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关键：误差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不积累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（单次误差≠全程误差，步进电机天生优势）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zh-CN" sz="2400" b="0" i="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8FA786-6FBB-71EF-F939-A09241430911}"/>
              </a:ext>
            </a:extLst>
          </p:cNvPr>
          <p:cNvSpPr txBox="1"/>
          <p:nvPr/>
        </p:nvSpPr>
        <p:spPr>
          <a:xfrm>
            <a:off x="793469" y="4773721"/>
            <a:ext cx="111952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effectLst/>
                <a:latin typeface="Inter"/>
              </a:rPr>
              <a:t>通常用 “</a:t>
            </a:r>
            <a:r>
              <a:rPr lang="en-US" altLang="zh-CN" sz="2400" b="0" i="0" dirty="0">
                <a:effectLst/>
                <a:latin typeface="Inter"/>
              </a:rPr>
              <a:t>±X%” </a:t>
            </a:r>
            <a:r>
              <a:rPr lang="zh-CN" altLang="en-US" sz="2400" b="0" i="0" dirty="0">
                <a:effectLst/>
                <a:latin typeface="Inter"/>
              </a:rPr>
              <a:t>或 “</a:t>
            </a:r>
            <a:r>
              <a:rPr lang="en-US" altLang="zh-CN" sz="2400" b="0" i="0" dirty="0">
                <a:effectLst/>
                <a:latin typeface="Inter"/>
              </a:rPr>
              <a:t>±X </a:t>
            </a:r>
            <a:r>
              <a:rPr lang="zh-CN" altLang="en-US" sz="2400" b="0" i="0" dirty="0">
                <a:effectLst/>
                <a:latin typeface="Inter"/>
              </a:rPr>
              <a:t>角分” 表示（</a:t>
            </a:r>
            <a:r>
              <a:rPr lang="en-US" altLang="zh-CN" sz="2400" b="0" i="0" dirty="0">
                <a:effectLst/>
                <a:latin typeface="Inter"/>
              </a:rPr>
              <a:t>1°=60 </a:t>
            </a:r>
            <a:r>
              <a:rPr lang="zh-CN" altLang="en-US" sz="2400" b="0" i="0" dirty="0">
                <a:effectLst/>
                <a:latin typeface="Inter"/>
              </a:rPr>
              <a:t>角分）。</a:t>
            </a:r>
            <a:endParaRPr lang="en-US" altLang="zh-CN" sz="2400" b="0" i="0" dirty="0">
              <a:effectLst/>
              <a:latin typeface="Inter"/>
            </a:endParaRPr>
          </a:p>
          <a:p>
            <a:r>
              <a:rPr lang="zh-CN" altLang="en-US" sz="2400" b="0" i="0" dirty="0">
                <a:effectLst/>
                <a:latin typeface="Inter"/>
              </a:rPr>
              <a:t>例如某电机标注步距角精度为 </a:t>
            </a:r>
            <a:r>
              <a:rPr lang="en-US" altLang="zh-CN" sz="2400" b="0" i="0" dirty="0">
                <a:effectLst/>
                <a:latin typeface="Inter"/>
              </a:rPr>
              <a:t>±5%</a:t>
            </a:r>
            <a:r>
              <a:rPr lang="zh-CN" altLang="en-US" sz="2400" b="0" i="0" dirty="0">
                <a:effectLst/>
                <a:latin typeface="Inter"/>
              </a:rPr>
              <a:t>，则 </a:t>
            </a:r>
            <a:r>
              <a:rPr lang="en-US" altLang="zh-CN" sz="2400" b="0" i="0" dirty="0">
                <a:effectLst/>
                <a:latin typeface="Inter"/>
              </a:rPr>
              <a:t>1.8° </a:t>
            </a:r>
            <a:r>
              <a:rPr lang="zh-CN" altLang="en-US" sz="2400" b="0" i="0" dirty="0">
                <a:effectLst/>
                <a:latin typeface="Inter"/>
              </a:rPr>
              <a:t>步距角的实际偏差允许范围为 </a:t>
            </a:r>
            <a:r>
              <a:rPr lang="en-US" altLang="zh-CN" sz="2400" b="0" i="0" dirty="0">
                <a:effectLst/>
                <a:latin typeface="Inter"/>
              </a:rPr>
              <a:t>±0.09°</a:t>
            </a:r>
            <a:r>
              <a:rPr lang="zh-CN" altLang="en-US" sz="2400" b="0" i="0" dirty="0">
                <a:effectLst/>
                <a:latin typeface="Inter"/>
              </a:rPr>
              <a:t>（即 </a:t>
            </a:r>
            <a:r>
              <a:rPr lang="en-US" altLang="zh-CN" sz="2400" b="0" i="0" dirty="0">
                <a:effectLst/>
                <a:latin typeface="Inter"/>
              </a:rPr>
              <a:t>1.71°~1.89°</a:t>
            </a:r>
            <a:r>
              <a:rPr lang="zh-CN" altLang="en-US" sz="2400" b="0" i="0" dirty="0">
                <a:effectLst/>
                <a:latin typeface="Inter"/>
              </a:rPr>
              <a:t>）。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75294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1CD0E-181B-C348-CE75-F69502E90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97F97B-6080-5A92-9A74-C9F74B57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4" y="374795"/>
            <a:ext cx="10318610" cy="390527"/>
          </a:xfrm>
        </p:spPr>
        <p:txBody>
          <a:bodyPr/>
          <a:lstStyle/>
          <a:p>
            <a:r>
              <a:rPr lang="en-US" altLang="zh-CN" sz="3200" dirty="0"/>
              <a:t>3.2 </a:t>
            </a:r>
            <a:r>
              <a:rPr lang="zh-CN" altLang="en-US" sz="3200" dirty="0"/>
              <a:t>动态参数</a:t>
            </a:r>
            <a:r>
              <a:rPr lang="en-US" altLang="zh-CN" sz="3200" dirty="0"/>
              <a:t>——</a:t>
            </a:r>
            <a:r>
              <a:rPr lang="zh-CN" altLang="en-US" sz="3200" dirty="0"/>
              <a:t>失步（丢步）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7F813020-550F-D37E-66B9-F6ECD859FAD5}"/>
              </a:ext>
            </a:extLst>
          </p:cNvPr>
          <p:cNvSpPr txBox="1">
            <a:spLocks noGrp="1"/>
          </p:cNvSpPr>
          <p:nvPr>
            <p:ph sz="quarter" idx="10"/>
          </p:nvPr>
        </p:nvSpPr>
        <p:spPr>
          <a:xfrm>
            <a:off x="952499" y="1054101"/>
            <a:ext cx="10848203" cy="1718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定义：实际步数≠理论步数（电机 “数错步子”）</a:t>
            </a:r>
          </a:p>
          <a:p>
            <a:r>
              <a:rPr lang="zh-CN" altLang="en-US" dirty="0"/>
              <a:t>原因：负载太大（拉不动）</a:t>
            </a:r>
            <a:r>
              <a:rPr lang="en-US" altLang="zh-CN" dirty="0"/>
              <a:t>/ </a:t>
            </a:r>
            <a:r>
              <a:rPr lang="zh-CN" altLang="en-US" dirty="0"/>
              <a:t>频率过快（跟不上指令）</a:t>
            </a:r>
          </a:p>
          <a:p>
            <a:r>
              <a:rPr lang="zh-CN" altLang="en-US" dirty="0"/>
              <a:t>后果：定位飘移（如 </a:t>
            </a:r>
            <a:r>
              <a:rPr lang="en-US" altLang="zh-CN" dirty="0"/>
              <a:t>3D </a:t>
            </a:r>
            <a:r>
              <a:rPr lang="zh-CN" altLang="en-US" dirty="0"/>
              <a:t>打印层错位、机械臂关节偏差）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8F67520-113B-89CD-74CA-06504444EB2C}"/>
              </a:ext>
            </a:extLst>
          </p:cNvPr>
          <p:cNvSpPr txBox="1"/>
          <p:nvPr/>
        </p:nvSpPr>
        <p:spPr>
          <a:xfrm>
            <a:off x="355256" y="3232996"/>
            <a:ext cx="11836743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buNone/>
            </a:pPr>
            <a:r>
              <a:rPr lang="en-US" altLang="zh-CN" sz="2000" b="1" i="0" dirty="0">
                <a:solidFill>
                  <a:srgbClr val="000000"/>
                </a:solidFill>
                <a:effectLst/>
                <a:latin typeface="Inter"/>
              </a:rPr>
              <a:t>3D </a:t>
            </a:r>
            <a:r>
              <a:rPr lang="zh-CN" altLang="en-US" sz="2000" b="1" i="0" dirty="0">
                <a:solidFill>
                  <a:srgbClr val="000000"/>
                </a:solidFill>
                <a:effectLst/>
                <a:latin typeface="Inter"/>
              </a:rPr>
              <a:t>打印机为例：</a:t>
            </a:r>
          </a:p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000" b="1" i="0" dirty="0">
                <a:solidFill>
                  <a:srgbClr val="000000"/>
                </a:solidFill>
                <a:effectLst/>
                <a:latin typeface="Inter"/>
              </a:rPr>
              <a:t>场景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：在打印复杂模型，模型中有较多悬空和薄壁部分，打印过程中喷头需频繁快速移动、启停。</a:t>
            </a:r>
          </a:p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000" b="1" i="0" dirty="0">
                <a:solidFill>
                  <a:srgbClr val="000000"/>
                </a:solidFill>
                <a:effectLst/>
                <a:latin typeface="Inter"/>
              </a:rPr>
              <a:t>表现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：步进电机驱动喷头在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Inter"/>
              </a:rPr>
              <a:t>X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轴和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Inter"/>
              </a:rPr>
              <a:t>Y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轴方向移动时，可能出现打印的线条错位、不连续，原本应该是平滑的曲线变得参差不齐。比如最终打印出来的圆形边缘出现了明显的锯齿状。</a:t>
            </a:r>
          </a:p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000" b="1" i="0" dirty="0">
                <a:solidFill>
                  <a:srgbClr val="000000"/>
                </a:solidFill>
                <a:effectLst/>
                <a:latin typeface="Inter"/>
              </a:rPr>
              <a:t>原因分析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：一方面，打印复杂模型时，喷头的运动速度和加速度变化频繁，对步进电机的扭矩要求高，若电机的扭矩不足，就容易在高速或加速过程中失步；另一方面，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Inter"/>
              </a:rPr>
              <a:t>3D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打印机长时间连续工作，电机发热导致电机性能下降，引起失步。</a:t>
            </a:r>
          </a:p>
        </p:txBody>
      </p:sp>
    </p:spTree>
    <p:extLst>
      <p:ext uri="{BB962C8B-B14F-4D97-AF65-F5344CB8AC3E}">
        <p14:creationId xmlns:p14="http://schemas.microsoft.com/office/powerpoint/2010/main" val="1490208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F8AE2-8B7C-015A-620B-EEF69F621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750E02-3DE8-AB2F-7710-535AA4AC3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4" y="374795"/>
            <a:ext cx="10318610" cy="390527"/>
          </a:xfrm>
        </p:spPr>
        <p:txBody>
          <a:bodyPr/>
          <a:lstStyle/>
          <a:p>
            <a:r>
              <a:rPr lang="en-US" altLang="zh-CN" sz="3200" dirty="0"/>
              <a:t>3.3 </a:t>
            </a:r>
            <a:r>
              <a:rPr lang="zh-CN" altLang="en-US" sz="3200" dirty="0"/>
              <a:t>动态参数</a:t>
            </a:r>
            <a:r>
              <a:rPr lang="en-US" altLang="zh-CN" sz="3200" dirty="0"/>
              <a:t>——</a:t>
            </a:r>
            <a:r>
              <a:rPr lang="zh-CN" altLang="en-US" sz="3200" dirty="0"/>
              <a:t>失调角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972FC64A-8E51-D7CD-25A4-15544ED6466A}"/>
              </a:ext>
            </a:extLst>
          </p:cNvPr>
          <p:cNvSpPr txBox="1">
            <a:spLocks noGrp="1"/>
          </p:cNvSpPr>
          <p:nvPr>
            <p:ph sz="quarter" idx="10"/>
          </p:nvPr>
        </p:nvSpPr>
        <p:spPr>
          <a:xfrm>
            <a:off x="153304" y="1239916"/>
            <a:ext cx="9732101" cy="1005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定义：转子齿轴线 </a:t>
            </a:r>
            <a:r>
              <a:rPr lang="en-US" altLang="zh-CN" sz="2400" dirty="0"/>
              <a:t>vs </a:t>
            </a:r>
            <a:r>
              <a:rPr lang="zh-CN" altLang="en-US" sz="2400" dirty="0"/>
              <a:t>定子齿轴线的偏移角（天生存在，无法消除）</a:t>
            </a:r>
          </a:p>
          <a:p>
            <a:r>
              <a:rPr lang="zh-CN" altLang="en-US" sz="2400" dirty="0"/>
              <a:t>关键：细分驱动</a:t>
            </a:r>
            <a:r>
              <a:rPr lang="zh-CN" altLang="en-US" sz="2400" b="1" dirty="0"/>
              <a:t>解决不了</a:t>
            </a:r>
            <a:r>
              <a:rPr lang="zh-CN" altLang="en-US" sz="2400" dirty="0"/>
              <a:t>失调角误差（因为是物理错位）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01AF6C-07E8-8D70-020F-1A0915D1CDF8}"/>
              </a:ext>
            </a:extLst>
          </p:cNvPr>
          <p:cNvSpPr txBox="1"/>
          <p:nvPr/>
        </p:nvSpPr>
        <p:spPr>
          <a:xfrm>
            <a:off x="596398" y="2720298"/>
            <a:ext cx="1123538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AutoNum type="arabicPeriod"/>
            </a:pPr>
            <a:r>
              <a:rPr lang="zh-CN" altLang="en-US" sz="20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永磁式步进电机的定位偏差</a:t>
            </a:r>
            <a:endParaRPr lang="en-US" altLang="zh-CN" sz="2000" b="1" i="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2000" b="1" i="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：一台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57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系列永磁步进电机，步距角为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1.8°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，理论上每接收一个脉冲，转子应精确旋转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1.8°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并稳定在对应齿槽位置。</a:t>
            </a:r>
            <a:endParaRPr lang="en-US" altLang="zh-CN" sz="2000" b="0" i="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sz="2000" b="0" i="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失调角表现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：用角度仪测量发现，电机在接收脉冲后，实际稳定位置比理论位置始终超前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0.1°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（即失调角为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+ 0.1°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），且无论正转还是反转，这个偏差方向和大小基本固定。多次重复测试后，偏差值波动极小（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±0.01°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），属于系统性偏差。</a:t>
            </a:r>
            <a:endParaRPr lang="en-US" altLang="zh-CN" sz="2000" b="0" i="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sz="2000" b="0" i="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原因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：电机转子永磁体</a:t>
            </a:r>
            <a:r>
              <a:rPr lang="zh-CN" altLang="en-US" sz="2400" b="1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充磁不均匀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，或定子齿槽与转子磁极的相对位置存在微小</a:t>
            </a:r>
            <a:r>
              <a:rPr lang="zh-CN" altLang="en-US" sz="2400" b="1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加工误差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，导致转子稳定时的磁吸力平衡点偏离理论几何中心，形成固定失调角。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9C8B0A5-2151-FD41-8E57-8BA7F1B8A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430" y="1239915"/>
            <a:ext cx="2035266" cy="203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312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0BF85-3974-D397-650F-A140B77FE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8206E-A7A9-1415-6388-A133D688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4" y="374795"/>
            <a:ext cx="10318610" cy="390527"/>
          </a:xfrm>
        </p:spPr>
        <p:txBody>
          <a:bodyPr/>
          <a:lstStyle/>
          <a:p>
            <a:r>
              <a:rPr lang="en-US" altLang="zh-CN" sz="3200" dirty="0"/>
              <a:t>3.4 </a:t>
            </a:r>
            <a:r>
              <a:rPr lang="zh-CN" altLang="en-US" sz="3200" dirty="0"/>
              <a:t>动态参数</a:t>
            </a:r>
            <a:r>
              <a:rPr lang="en-US" altLang="zh-CN" sz="3200" dirty="0"/>
              <a:t>——</a:t>
            </a:r>
            <a:r>
              <a:rPr lang="zh-CN" altLang="en-US" sz="3200" dirty="0"/>
              <a:t>最大空载起动频率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5AFC276D-0DB8-20CD-CC0B-5FA217AE1AC7}"/>
              </a:ext>
            </a:extLst>
          </p:cNvPr>
          <p:cNvSpPr txBox="1">
            <a:spLocks noGrp="1"/>
          </p:cNvSpPr>
          <p:nvPr>
            <p:ph sz="quarter" idx="10"/>
          </p:nvPr>
        </p:nvSpPr>
        <p:spPr>
          <a:xfrm>
            <a:off x="952500" y="1054100"/>
            <a:ext cx="10688638" cy="1005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定义：不加负载时，能直接启动的</a:t>
            </a:r>
            <a:r>
              <a:rPr lang="zh-CN" altLang="en-US" sz="2400" b="1" dirty="0"/>
              <a:t>最高频率</a:t>
            </a:r>
            <a:r>
              <a:rPr lang="zh-CN" altLang="en-US" sz="2400" dirty="0"/>
              <a:t>（“起步临界值”）</a:t>
            </a:r>
          </a:p>
          <a:p>
            <a:r>
              <a:rPr lang="zh-CN" altLang="en-US" sz="2400" dirty="0"/>
              <a:t>关键：超频率→无法启动（电机 “懵圈”：指令太快，反应不过来）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D221A7D-E2B6-F518-0079-7447AB518094}"/>
              </a:ext>
            </a:extLst>
          </p:cNvPr>
          <p:cNvSpPr txBox="1"/>
          <p:nvPr/>
        </p:nvSpPr>
        <p:spPr>
          <a:xfrm>
            <a:off x="1282014" y="3428999"/>
            <a:ext cx="100913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effectLst/>
                <a:latin typeface="Inter"/>
              </a:rPr>
              <a:t>例如，某款步进电机的最大空载起动频率为 </a:t>
            </a:r>
            <a:r>
              <a:rPr lang="en-US" altLang="zh-CN" sz="2400" b="0" i="0" dirty="0">
                <a:effectLst/>
                <a:latin typeface="Inter"/>
              </a:rPr>
              <a:t>500PPS</a:t>
            </a:r>
            <a:r>
              <a:rPr lang="zh-CN" altLang="en-US" sz="2400" b="0" i="0" dirty="0">
                <a:effectLst/>
                <a:latin typeface="Inter"/>
              </a:rPr>
              <a:t>，当输入脉冲频率达到 </a:t>
            </a:r>
            <a:r>
              <a:rPr lang="en-US" altLang="zh-CN" sz="2400" b="0" i="0" dirty="0">
                <a:effectLst/>
                <a:latin typeface="Inter"/>
              </a:rPr>
              <a:t>600PPS </a:t>
            </a:r>
            <a:r>
              <a:rPr lang="zh-CN" altLang="en-US" sz="2400" b="0" i="0" dirty="0">
                <a:effectLst/>
                <a:latin typeface="Inter"/>
              </a:rPr>
              <a:t>时，电机就可能无法顺利启动，即便启动了也可能无法按照预期的步数转动。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79262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619AA-E951-3D01-8695-DD379F0E1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05A208-0D52-C38D-EE80-9BFCF1E16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4" y="374795"/>
            <a:ext cx="10318610" cy="390527"/>
          </a:xfrm>
        </p:spPr>
        <p:txBody>
          <a:bodyPr/>
          <a:lstStyle/>
          <a:p>
            <a:r>
              <a:rPr lang="en-US" altLang="zh-CN" sz="3200" dirty="0"/>
              <a:t>3.5 </a:t>
            </a:r>
            <a:r>
              <a:rPr lang="zh-CN" altLang="en-US" sz="3200" dirty="0"/>
              <a:t>动态参数</a:t>
            </a:r>
            <a:r>
              <a:rPr lang="en-US" altLang="zh-CN" sz="3200" dirty="0"/>
              <a:t>——</a:t>
            </a:r>
            <a:r>
              <a:rPr lang="zh-CN" altLang="en-US" sz="3200" dirty="0"/>
              <a:t>最大空载运行频率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F162D4F-49EC-A546-01EA-B3DFD8758BB2}"/>
              </a:ext>
            </a:extLst>
          </p:cNvPr>
          <p:cNvSpPr txBox="1">
            <a:spLocks noGrp="1"/>
          </p:cNvSpPr>
          <p:nvPr>
            <p:ph sz="quarter" idx="10"/>
          </p:nvPr>
        </p:nvSpPr>
        <p:spPr>
          <a:xfrm>
            <a:off x="952500" y="1054100"/>
            <a:ext cx="10688638" cy="1725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定义：不带负载时，能稳定运行的</a:t>
            </a:r>
            <a:r>
              <a:rPr lang="zh-CN" altLang="en-US" b="1" dirty="0"/>
              <a:t>最高频率</a:t>
            </a:r>
            <a:r>
              <a:rPr lang="zh-CN" altLang="en-US" dirty="0"/>
              <a:t>（“极速临界值”）</a:t>
            </a:r>
          </a:p>
          <a:p>
            <a:r>
              <a:rPr lang="zh-CN" altLang="en-US" dirty="0"/>
              <a:t>区别：起频是 “启动门槛”，运频是 “维持速度的门槛”（起频＜运频）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026834E-5AD3-7586-0821-8B1830CF5631}"/>
              </a:ext>
            </a:extLst>
          </p:cNvPr>
          <p:cNvSpPr txBox="1"/>
          <p:nvPr/>
        </p:nvSpPr>
        <p:spPr>
          <a:xfrm>
            <a:off x="854653" y="4534114"/>
            <a:ext cx="10786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最大空载运行频率通常比最大空载启动频率更大。</a:t>
            </a:r>
            <a:r>
              <a:rPr lang="zh-CN" altLang="en-US" b="0" i="0" dirty="0">
                <a:effectLst/>
                <a:latin typeface="Inter"/>
              </a:rPr>
              <a:t>例如，某款步进电机最大空载启动频率可能为 </a:t>
            </a:r>
            <a:r>
              <a:rPr lang="en-US" altLang="zh-CN" b="0" i="0" dirty="0">
                <a:effectLst/>
                <a:latin typeface="Inter"/>
              </a:rPr>
              <a:t>500Hz</a:t>
            </a:r>
            <a:r>
              <a:rPr lang="zh-CN" altLang="en-US" b="0" i="0" dirty="0">
                <a:effectLst/>
                <a:latin typeface="Inter"/>
              </a:rPr>
              <a:t>，而最大空载运行频率可达 </a:t>
            </a:r>
            <a:r>
              <a:rPr lang="en-US" altLang="zh-CN" b="0" i="0" dirty="0">
                <a:effectLst/>
                <a:latin typeface="Inter"/>
              </a:rPr>
              <a:t>5000Hz</a:t>
            </a:r>
            <a:r>
              <a:rPr lang="zh-CN" altLang="en-US" b="0" i="0" dirty="0">
                <a:effectLst/>
                <a:latin typeface="Inter"/>
              </a:rPr>
              <a:t>。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25A278-8BC5-71C6-C566-5A0AEABEBE67}"/>
              </a:ext>
            </a:extLst>
          </p:cNvPr>
          <p:cNvSpPr txBox="1"/>
          <p:nvPr/>
        </p:nvSpPr>
        <p:spPr>
          <a:xfrm>
            <a:off x="854651" y="3521471"/>
            <a:ext cx="10688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Inter"/>
              </a:rPr>
              <a:t>电机需在该频率下连续运行时，转子能始终准确跟随定子磁场的旋转，无丢步、无明显发热或振动。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5810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4ED91-5570-661B-92E2-111ACD166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A1BF67-DA58-BDA7-A050-ACFB5E3A5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4" y="374795"/>
            <a:ext cx="10318610" cy="390527"/>
          </a:xfrm>
        </p:spPr>
        <p:txBody>
          <a:bodyPr/>
          <a:lstStyle/>
          <a:p>
            <a:r>
              <a:rPr lang="en-US" altLang="zh-CN" sz="3200" dirty="0"/>
              <a:t>3.6 </a:t>
            </a:r>
            <a:r>
              <a:rPr lang="zh-CN" altLang="en-US" sz="3200" dirty="0"/>
              <a:t>动态参数</a:t>
            </a:r>
            <a:r>
              <a:rPr lang="en-US" altLang="zh-CN" sz="3200" dirty="0"/>
              <a:t>——</a:t>
            </a:r>
            <a:r>
              <a:rPr lang="zh-CN" altLang="en-US" sz="3200" dirty="0"/>
              <a:t>运行转矩特性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002011A7-2297-53B1-AB5C-F5DFD0A59E1E}"/>
              </a:ext>
            </a:extLst>
          </p:cNvPr>
          <p:cNvSpPr txBox="1">
            <a:spLocks noGrp="1"/>
          </p:cNvSpPr>
          <p:nvPr>
            <p:ph sz="quarter" idx="10"/>
          </p:nvPr>
        </p:nvSpPr>
        <p:spPr>
          <a:xfrm>
            <a:off x="952500" y="1054100"/>
            <a:ext cx="10688638" cy="2278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核心：步进电机的转矩随运行状态（如转速、脉冲频率等）会发生变化的特性</a:t>
            </a:r>
          </a:p>
          <a:p>
            <a:r>
              <a:rPr lang="zh-CN" altLang="en-US" dirty="0"/>
              <a:t>关键：步进电机的输出转矩与脉冲频率密切相关，通常随着脉冲频率的升高，转矩会逐渐下降。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C680BB-5591-EAF1-1D5C-43608566D6A8}"/>
              </a:ext>
            </a:extLst>
          </p:cNvPr>
          <p:cNvSpPr txBox="1"/>
          <p:nvPr/>
        </p:nvSpPr>
        <p:spPr>
          <a:xfrm>
            <a:off x="1054784" y="3808972"/>
            <a:ext cx="61149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当脉冲频率升高时，绕组的电感会限制电流达到峰值，进而降低扭矩输出。同时，电机转动时各相绕组会形成反向电动势，脉冲频率越高，反向电动势越大，也会使相电流减小，导致转矩下降。此外，脉冲频率增加还会使电机铁芯中的涡流损耗增加，也会导致输出转矩下降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6AEE9F-63BE-591D-36A5-44983E530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726" y="3493663"/>
            <a:ext cx="4596016" cy="210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521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1BA74-3247-2792-4930-C673684EC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C06A5D-3FD2-238A-6A0E-8B0889785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4" y="374795"/>
            <a:ext cx="10318610" cy="390527"/>
          </a:xfrm>
        </p:spPr>
        <p:txBody>
          <a:bodyPr/>
          <a:lstStyle/>
          <a:p>
            <a:r>
              <a:rPr lang="en-US" altLang="zh-CN" sz="3200" dirty="0"/>
              <a:t>3 </a:t>
            </a:r>
            <a:r>
              <a:rPr lang="zh-CN" altLang="en-US" sz="3200" dirty="0"/>
              <a:t>动态参数总结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94CBEC9D-E8F3-415C-3545-0E3D25B2051B}"/>
              </a:ext>
            </a:extLst>
          </p:cNvPr>
          <p:cNvSpPr txBox="1">
            <a:spLocks noGrp="1"/>
          </p:cNvSpPr>
          <p:nvPr>
            <p:ph sz="quarter" idx="10"/>
          </p:nvPr>
        </p:nvSpPr>
        <p:spPr>
          <a:xfrm>
            <a:off x="952500" y="1054100"/>
            <a:ext cx="10688638" cy="2278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精度：步距角误差（单次不积累）</a:t>
            </a:r>
          </a:p>
          <a:p>
            <a:r>
              <a:rPr lang="zh-CN" altLang="en-US" dirty="0"/>
              <a:t>稳定：失步（负载 </a:t>
            </a:r>
            <a:r>
              <a:rPr lang="en-US" altLang="zh-CN" dirty="0"/>
              <a:t>/ </a:t>
            </a:r>
            <a:r>
              <a:rPr lang="zh-CN" altLang="en-US" dirty="0"/>
              <a:t>频率超限）、失调角（物理错位）</a:t>
            </a:r>
          </a:p>
          <a:p>
            <a:r>
              <a:rPr lang="zh-CN" altLang="en-US" dirty="0"/>
              <a:t>速度：起频（启动门槛）、运频（极速门槛）</a:t>
            </a:r>
          </a:p>
          <a:p>
            <a:r>
              <a:rPr lang="zh-CN" altLang="en-US" dirty="0"/>
              <a:t>力矩：平均电流、频率等决定动态转矩</a:t>
            </a:r>
          </a:p>
        </p:txBody>
      </p:sp>
    </p:spTree>
    <p:extLst>
      <p:ext uri="{BB962C8B-B14F-4D97-AF65-F5344CB8AC3E}">
        <p14:creationId xmlns:p14="http://schemas.microsoft.com/office/powerpoint/2010/main" val="2189277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2025.8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4752</TotalTime>
  <Words>1541</Words>
  <Application>Microsoft Office PowerPoint</Application>
  <PresentationFormat>宽屏</PresentationFormat>
  <Paragraphs>104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Inter</vt:lpstr>
      <vt:lpstr>Source Han Sans</vt:lpstr>
      <vt:lpstr>Source Han Sans CN Regular</vt:lpstr>
      <vt:lpstr>等线</vt:lpstr>
      <vt:lpstr>微软雅黑</vt:lpstr>
      <vt:lpstr>Arial</vt:lpstr>
      <vt:lpstr>Cambria Math</vt:lpstr>
      <vt:lpstr>Wingdings</vt:lpstr>
      <vt:lpstr>Office 主题​​</vt:lpstr>
      <vt:lpstr>PowerPoint 演示文稿</vt:lpstr>
      <vt:lpstr>1. 了解步进电机参数的意义</vt:lpstr>
      <vt:lpstr>2.1 静态参数——相数</vt:lpstr>
      <vt:lpstr>2.2 静态参数——拍数</vt:lpstr>
      <vt:lpstr>2.3 静态参数——步距角</vt:lpstr>
      <vt:lpstr>2.4 静态参数——定位转矩、保持转矩</vt:lpstr>
      <vt:lpstr>3.1 动态参数——步距角精度</vt:lpstr>
      <vt:lpstr>3.2 动态参数——失步（丢步）</vt:lpstr>
      <vt:lpstr>3.3 动态参数——失调角</vt:lpstr>
      <vt:lpstr>3.4 动态参数——最大空载起动频率</vt:lpstr>
      <vt:lpstr>3.5 动态参数——最大空载运行频率</vt:lpstr>
      <vt:lpstr>3.6 动态参数——运行转矩特性</vt:lpstr>
      <vt:lpstr>3 动态参数总结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127</cp:revision>
  <dcterms:created xsi:type="dcterms:W3CDTF">2025-05-21T06:55:53Z</dcterms:created>
  <dcterms:modified xsi:type="dcterms:W3CDTF">2025-08-12T06:15:33Z</dcterms:modified>
</cp:coreProperties>
</file>